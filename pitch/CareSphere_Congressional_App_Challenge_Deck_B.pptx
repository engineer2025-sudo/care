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embeddedFontLst>
    <p:embeddedFont>
      <p:font typeface="Plus Jakarta Sans" panose="00000000000000000000" pitchFamily="34" charset="0"/>
      <p:regular r:id="rId21"/>
      <p:bold r:id="rId22"/>
    </p:embeddedFont>
    <p:embeddedFont>
      <p:font typeface="Plus Jakarta Sans Medium" panose="00000000000000000000" pitchFamily="34" charset="0"/>
      <p:regular r:id="rId23"/>
    </p:embeddedFont>
    <p:embeddedFont>
      <p:font typeface="Plus Jakarta Sans ExtraBold" panose="00000000000000000000" pitchFamily="34" charset="0"/>
      <p:regular r:id="rId24"/>
    </p:embeddedFont>
    <p:embeddedFont>
      <p:font typeface="JetBrains Mono" panose="02000009000000000000" pitchFamily="49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[0:00–0:14] Hi, I'm [NAME], a [GRADE] at [SCHOOL] in [CITY], California. This is CareSphere AI — a private care companion for older adults, autistic people and their families, on iPhone and on the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[0:14–0:26] (Your story in one sentence — name a specific person, a specific moment. E.g.: My grandmother lives alone, and every call started the same way: did you take your pills? did you talk to anyone today?) So I built the app I wished she had: calm, honest, and private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[0:26–0:39] One in four older adults is socially isolated — a twenty-nine percent higher risk of early death. One in thirty-one children is autistic. Half of long-term medications aren't taken as prescribed. And sixty-three million family caregivers hold it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[0:39–0:47] Today a family juggles four apps — four accounts, four clouds — and none of them was designed for autistic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[0:47–0:57] CareSphere is one calm app with five tabs — Overview, Activities, Coffee Circles, Care Circle and Vitals — with no server behind any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[0:57–1:42] Let me show you. (Switch to the screen recording — six shots, see VIDEO_SCRIPT.md: mood check-in and routine; medication reminder and Taken; Bluetooth pairing or the labeled demo plus Export CSV; Pattern Recall and the Rain soundscape; join a Coffee Circle; build and download a visit brief.)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[1:42–1:53] What makes it different isn't a feature — it's four rules in the code: never fabricate a reading, never send anything automatically, calm by default, private by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[1:53–2:01] It's built for three people at once: older adults, autistic teens and adults, and the caregivers who support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[2:01–2:12] Everything stays on the device: AES-256 encryption, Bluetooth and HealthKit read locally, and a 1.5-billion-parameter model that answers health questions offline. Zero accounts, zero servers, zero trackers.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[2:12–2:23] It's React and JavaScript on the web, Swift and SwiftUI on iPhone — Web Bluetooth, HealthKit, CryptoKit and llama.cpp. Eleven thousand lines, seventeen tests, three public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[2:23–2:35] The hardest problem was keeping Bluetooth honest: notifications arrive late and out of order, so I label every sample live or simulated at the source and drop stale sessions with a generation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[2:35–2:47] Version 2.0 starts with co-design sessions with autistic people, people living with dementia and caregivers, then a TestFlight beta and sensor history in the visit brief — still with no server. (Deliberately not planned: cloud sync, a clinician portal or a drug-interaction checker — not without clinical review.)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[2:47–2:53] CareSphere AI — care that stays yours. The code and install guide are on GitHub.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-2194560"/>
            <a:ext cx="8229600" cy="8229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421892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" y="13350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CONGRESSIONAL APP CHALLENGE 2026  ·  [CA-XX]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>
                <a:solidFill>
                  <a:srgbClr val="FFFFFF"/>
                </a:solidFill>
                <a:latin typeface="Plus Jakarta Sans ExtraBold"/>
              </a:rPr>
              <a:t>CareSphere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6E288"/>
                </a:solidFill>
                <a:latin typeface="Plus Jakarta Sans Medium"/>
              </a:rPr>
              <a:t>Connected care for independent living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D7E0F2"/>
                </a:solidFill>
                <a:latin typeface="Plus Jakarta Sans"/>
              </a:rPr>
              <a:t>A private care companion for older adults, autistic people and the families who care for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81728"/>
            <a:ext cx="457200" cy="36576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Plus Jakarta Sans"/>
              </a:rPr>
              <a:t>[Student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85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[School]  ·  [City], California  ·  [email@example.com]</a:t>
            </a:r>
          </a:p>
        </p:txBody>
      </p:sp>
      <p:pic>
        <p:nvPicPr>
          <p:cNvPr id="12" name="Picture 11" descr="phone-vi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6949440" y="1325880"/>
            <a:ext cx="2932206" cy="5760720"/>
          </a:xfrm>
          <a:prstGeom prst="rect">
            <a:avLst/>
          </a:prstGeom>
        </p:spPr>
      </p:pic>
      <p:pic>
        <p:nvPicPr>
          <p:cNvPr id="13" name="Picture 12" descr="phone-over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3258007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WHY I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1828800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0" b="0">
                <a:solidFill>
                  <a:srgbClr val="06E288">
                    <a:alpha val="30000"/>
                  </a:srgbClr>
                </a:solidFill>
                <a:latin typeface="Plus Jakarta Sans ExtraBold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30936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>
                <a:solidFill>
                  <a:srgbClr val="FFFFFF"/>
                </a:solidFill>
                <a:latin typeface="Plus Jakarta Sans Medium"/>
              </a:rPr>
              <a:t>[Your story in one or two sentences — e.g. My grandmother lives alone, and every call started the same way: did you take your pills? did you talk to anyone today?]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6E288"/>
                </a:solidFill>
                <a:latin typeface="Plus Jakarta Sans"/>
              </a:rPr>
              <a:t>— [Student Name], [grade], [School]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93A4C7"/>
                </a:solidFill>
                <a:latin typeface="Plus Jakarta Sans"/>
              </a:rPr>
              <a:t>So I built the app I wished she had: </a:t>
            </a:r>
            <a:r>
              <a:rPr sz="1800" b="1">
                <a:solidFill>
                  <a:srgbClr val="FFFFFF"/>
                </a:solidFill>
                <a:latin typeface="Plus Jakarta Sans"/>
              </a:rPr>
              <a:t>calm, honest, and private by design.</a:t>
            </a:r>
          </a:p>
        </p:txBody>
      </p:sp>
      <p:pic>
        <p:nvPicPr>
          <p:cNvPr id="9" name="Picture 8" descr="crop-m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371600"/>
            <a:ext cx="3749039" cy="2755544"/>
          </a:xfrm>
          <a:prstGeom prst="roundRect">
            <a:avLst>
              <a:gd name="adj" fmla="val 5442"/>
            </a:avLst>
          </a:prstGeom>
        </p:spPr>
      </p:pic>
      <p:pic>
        <p:nvPicPr>
          <p:cNvPr id="10" name="Picture 9" descr="crop-to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886200"/>
            <a:ext cx="3017520" cy="1273016"/>
          </a:xfrm>
          <a:prstGeom prst="roundRect">
            <a:avLst>
              <a:gd name="adj" fmla="val 9481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02</a:t>
            </a:r>
          </a:p>
        </p:txBody>
      </p:sp>
      <p:pic>
        <p:nvPicPr>
          <p:cNvPr id="12" name="Picture 11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Growing older — or growing up autistic — too often means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facing care alone.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1 in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older adults are socially isolated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NASEM ·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19218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1 in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218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children are autistic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9218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CDC ·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2468880"/>
            <a:ext cx="3393338" cy="2743200"/>
          </a:xfrm>
          <a:prstGeom prst="roundRect">
            <a:avLst>
              <a:gd name="adj" fmla="val 733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6876" y="2743200"/>
            <a:ext cx="275325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b="0">
                <a:solidFill>
                  <a:srgbClr val="FFFFFF"/>
                </a:solidFill>
                <a:latin typeface="Plus Jakarta Sans ExtraBold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86200"/>
            <a:ext cx="275325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06E288"/>
                </a:solidFill>
                <a:latin typeface="Plus Jakarta Sans Medium"/>
              </a:rPr>
              <a:t>of long-term medicines aren’t taken as prescribed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76" y="4846320"/>
            <a:ext cx="275325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JetBrains Mono"/>
              </a:rPr>
              <a:t>WHO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59552"/>
            <a:ext cx="54864" cy="384048"/>
          </a:xfrm>
          <a:prstGeom prst="roundRect">
            <a:avLst>
              <a:gd name="adj" fmla="val 50000"/>
            </a:avLst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559552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D7E0F2"/>
                </a:solidFill>
                <a:latin typeface="Plus Jakarta Sans"/>
              </a:rPr>
              <a:t>Behind them: </a:t>
            </a:r>
            <a:r>
              <a:rPr sz="1700" b="1">
                <a:solidFill>
                  <a:srgbClr val="FFFFFF"/>
                </a:solidFill>
                <a:latin typeface="Plus Jakarta Sans"/>
              </a:rPr>
              <a:t>63 million</a:t>
            </a:r>
            <a:r>
              <a:rPr sz="1700" b="0">
                <a:solidFill>
                  <a:srgbClr val="D7E0F2"/>
                </a:solidFill>
                <a:latin typeface="Plus Jakarta Sans"/>
              </a:rPr>
              <a:t> family caregivers.  </a:t>
            </a:r>
            <a:r>
              <a:rPr sz="1700" b="0">
                <a:solidFill>
                  <a:srgbClr val="93A4C7"/>
                </a:solidFill>
                <a:latin typeface="Plus Jakarta Sans"/>
              </a:rPr>
              <a:t>AARP &amp; NAC,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03</a:t>
            </a:r>
          </a:p>
        </p:txBody>
      </p:sp>
      <p:pic>
        <p:nvPicPr>
          <p:cNvPr id="21" name="Picture 20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>
                <a:solidFill>
                  <a:srgbClr val="FFFFFF"/>
                </a:solidFill>
                <a:latin typeface="Plus Jakarta Sans ExtraBold"/>
              </a:rPr>
              <a:t>Four apps. Four accounts. </a:t>
            </a:r>
            <a:r>
              <a:rPr sz="3600" b="0">
                <a:solidFill>
                  <a:srgbClr val="06E288"/>
                </a:solidFill>
                <a:latin typeface="Plus Jakarta Sans ExtraBold"/>
              </a:rPr>
              <a:t>Four clouds.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2240279"/>
            <a:ext cx="3916375" cy="3840480"/>
          </a:xfrm>
          <a:prstGeom prst="roundRect">
            <a:avLst>
              <a:gd name="adj" fmla="val 5238"/>
            </a:avLst>
          </a:prstGeom>
          <a:solidFill>
            <a:srgbClr val="06E288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THE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31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06E288"/>
                </a:solidFill>
                <a:latin typeface="Plus Jakarta Sans"/>
              </a:rPr>
              <a:t>CARESPHERE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27889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95351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Medication 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95351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D7E0F2"/>
                </a:solidFill>
                <a:latin typeface="Plus Jakarta Sans"/>
              </a:rPr>
              <a:t>Medisafe  </a:t>
            </a:r>
            <a:r>
              <a:rPr sz="1600" b="0">
                <a:solidFill>
                  <a:srgbClr val="93A4C7"/>
                </a:solidFill>
                <a:latin typeface="Plus Jakarta Sans"/>
              </a:rPr>
              <a:t>account ·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953512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 Medium"/>
              </a:rPr>
              <a:t>Overview tab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447287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611879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Video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11879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D7E0F2"/>
                </a:solidFill>
                <a:latin typeface="Plus Jakarta Sans"/>
              </a:rPr>
              <a:t>FaceTime  </a:t>
            </a:r>
            <a:r>
              <a:rPr sz="1600" b="0">
                <a:solidFill>
                  <a:srgbClr val="93A4C7"/>
                </a:solidFill>
                <a:latin typeface="Plus Jakarta Sans"/>
              </a:rPr>
              <a:t>account ·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611879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 Medium"/>
              </a:rPr>
              <a:t>Coffee Circles · Jitsi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105656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2702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Health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2702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D7E0F2"/>
                </a:solidFill>
                <a:latin typeface="Plus Jakarta Sans"/>
              </a:rPr>
              <a:t>MyChart  </a:t>
            </a:r>
            <a:r>
              <a:rPr sz="1600" b="0">
                <a:solidFill>
                  <a:srgbClr val="93A4C7"/>
                </a:solidFill>
                <a:latin typeface="Plus Jakarta Sans"/>
              </a:rPr>
              <a:t>account ·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270248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 Medium"/>
              </a:rPr>
              <a:t>Visit brief · .txt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764024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92861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Family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2861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D7E0F2"/>
                </a:solidFill>
                <a:latin typeface="Plus Jakarta Sans"/>
              </a:rPr>
              <a:t>CaringBridge  </a:t>
            </a:r>
            <a:r>
              <a:rPr sz="1600" b="0">
                <a:solidFill>
                  <a:srgbClr val="93A4C7"/>
                </a:solidFill>
                <a:latin typeface="Plus Jakarta Sans"/>
              </a:rPr>
              <a:t>account ·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928616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6E288"/>
                </a:solidFill>
                <a:latin typeface="Plus Jakarta Sans Medium"/>
              </a:rPr>
              <a:t>Care Circle notes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422392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60527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60527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93A4C7"/>
                </a:solidFill>
                <a:latin typeface="Plus Jakarta Sans"/>
              </a:rPr>
              <a:t>4 apps · 4 accounts · 4 clouds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605272"/>
            <a:ext cx="36420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6E288"/>
                </a:solidFill>
                <a:latin typeface="Plus Jakarta Sans"/>
              </a:rPr>
              <a:t>1 app · 0 accounts · 0 clouds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5F7299"/>
                </a:solidFill>
                <a:latin typeface="Plus Jakarta Sans"/>
              </a:rPr>
              <a:t>None of the four was designed for autistic users.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04</a:t>
            </a:r>
          </a:p>
        </p:txBody>
      </p:sp>
      <p:pic>
        <p:nvPicPr>
          <p:cNvPr id="32" name="Picture 31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33" name="TextBox 3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One calm app. Five tabs.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Zero servers.</a:t>
            </a:r>
          </a:p>
        </p:txBody>
      </p:sp>
      <p:pic>
        <p:nvPicPr>
          <p:cNvPr id="6" name="Picture 5" descr="phon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965960" cy="38623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69212" y="1874519"/>
            <a:ext cx="12905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212" y="1874519"/>
            <a:ext cx="12905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OVERVIEW</a:t>
            </a:r>
          </a:p>
        </p:txBody>
      </p:sp>
      <p:pic>
        <p:nvPicPr>
          <p:cNvPr id="9" name="Picture 8" descr="phone-activ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193" y="2606040"/>
            <a:ext cx="1965960" cy="38623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40836" y="1874519"/>
            <a:ext cx="13286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0836" y="1874519"/>
            <a:ext cx="13286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ACTIVITIES</a:t>
            </a:r>
          </a:p>
        </p:txBody>
      </p:sp>
      <p:pic>
        <p:nvPicPr>
          <p:cNvPr id="12" name="Picture 11" descr="phone-circ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867" y="2331720"/>
            <a:ext cx="1965960" cy="3862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83860" y="1874519"/>
            <a:ext cx="1823973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83860" y="1874519"/>
            <a:ext cx="1823973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COFFEE CIRCLES</a:t>
            </a:r>
          </a:p>
        </p:txBody>
      </p:sp>
      <p:pic>
        <p:nvPicPr>
          <p:cNvPr id="15" name="Picture 14" descr="phone-c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541" y="2606040"/>
            <a:ext cx="1965960" cy="38623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33284" y="1874519"/>
            <a:ext cx="15064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33284" y="1874519"/>
            <a:ext cx="15064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CARE CIRCLE</a:t>
            </a:r>
          </a:p>
        </p:txBody>
      </p:sp>
      <p:pic>
        <p:nvPicPr>
          <p:cNvPr id="18" name="Picture 17" descr="phone-vita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4215" y="2331720"/>
            <a:ext cx="1965960" cy="38623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981133" y="1874519"/>
            <a:ext cx="9921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81133" y="1874519"/>
            <a:ext cx="9921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VITALS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05</a:t>
            </a:r>
          </a:p>
        </p:txBody>
      </p:sp>
      <p:pic>
        <p:nvPicPr>
          <p:cNvPr id="22" name="Picture 21" descr="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Let’s see it.</a:t>
            </a:r>
          </a:p>
        </p:txBody>
      </p:sp>
      <p:pic>
        <p:nvPicPr>
          <p:cNvPr id="6" name="Picture 5" descr="web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83080"/>
            <a:ext cx="6766560" cy="4819916"/>
          </a:xfrm>
          <a:prstGeom prst="rect">
            <a:avLst/>
          </a:prstGeom>
        </p:spPr>
      </p:pic>
      <p:pic>
        <p:nvPicPr>
          <p:cNvPr id="7" name="Picture 6" descr="phone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57400"/>
            <a:ext cx="230387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32520" y="1874519"/>
            <a:ext cx="27276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SIX SHOTS · ONE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860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Mood check-in &amp; routine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79806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98064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Reminder → Taken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3101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310128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D7E0F2"/>
                </a:solidFill>
                <a:latin typeface="Plus Jakarta Sans"/>
              </a:rPr>
              <a:t>Pair a sensor · export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22191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822191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Pattern Recall · 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33425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334256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Join a Coffee Circle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8463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06E288"/>
                </a:solidFill>
                <a:latin typeface="JetBrains Mono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46320"/>
            <a:ext cx="231617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D7E0F2"/>
                </a:solidFill>
                <a:latin typeface="Plus Jakarta Sans"/>
              </a:rPr>
              <a:t>Build the visit brief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5532120"/>
            <a:ext cx="22811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32520" y="5532120"/>
            <a:ext cx="22811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SAME APP · TWO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06</a:t>
            </a:r>
          </a:p>
        </p:txBody>
      </p:sp>
      <p:pic>
        <p:nvPicPr>
          <p:cNvPr id="24" name="Picture 23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5" name="TextBox 24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50">
        <p:push dir="l"/>
      </p:transition>
    </mc:Choice>
    <mc:Fallback>
      <p:transition spd="med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Four rules,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written into the code.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3317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60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328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Never fabricate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5786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every reading labeled where it is born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96896"/>
            <a:ext cx="229209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2596896"/>
            <a:ext cx="229209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'LIVE_BLE' : 'SIMULATED'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2461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5204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472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Nothing sent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4930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93A4C7"/>
                </a:solidFill>
                <a:latin typeface="Plus Jakarta Sans"/>
              </a:rPr>
              <a:t>a person always taps Send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511296"/>
            <a:ext cx="270484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1040" y="3511296"/>
            <a:ext cx="270484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navigator.share() · ShareLink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1605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434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616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Calm by 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44074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no timers, scores or auto-advance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425696"/>
            <a:ext cx="1879345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4425696"/>
            <a:ext cx="1879345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Untimed · No scores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0749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349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760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Private by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3218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93A4C7"/>
                </a:solidFill>
                <a:latin typeface="Plus Jakarta Sans"/>
              </a:rPr>
              <a:t>no account, no server, encrypted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5340096"/>
            <a:ext cx="2126996" cy="347472"/>
          </a:xfrm>
          <a:prstGeom prst="roundRect">
            <a:avLst>
              <a:gd name="adj" fmla="val 50000"/>
            </a:avLst>
          </a:prstGeom>
          <a:solidFill>
            <a:srgbClr val="06E28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5340096"/>
            <a:ext cx="2126996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06E288"/>
                </a:solidFill>
                <a:latin typeface="JetBrains Mono"/>
              </a:rPr>
              <a:t>'AES-GCM', length: 256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5989320"/>
            <a:ext cx="10728655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07</a:t>
            </a:r>
          </a:p>
        </p:txBody>
      </p:sp>
      <p:pic>
        <p:nvPicPr>
          <p:cNvPr id="32" name="Picture 31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33" name="TextBox 3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WHO IT’S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Built for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three people</a:t>
            </a:r>
            <a:r>
              <a:rPr sz="3800" b="0">
                <a:solidFill>
                  <a:srgbClr val="FFFFFF"/>
                </a:solidFill>
                <a:latin typeface="Plus Jakarta Sans ExtraBold"/>
              </a:rPr>
              <a:t> at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Older adults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routines, reminders, real company</a:t>
            </a:r>
          </a:p>
        </p:txBody>
      </p:sp>
      <p:pic>
        <p:nvPicPr>
          <p:cNvPr id="9" name="Picture 8" descr="phone-overview.png"/>
          <p:cNvPicPr>
            <a:picLocks noChangeAspect="1"/>
          </p:cNvPicPr>
          <p:nvPr/>
        </p:nvPicPr>
        <p:blipFill>
          <a:blip r:embed="rId3"/>
          <a:srcRect b="50025"/>
          <a:stretch>
            <a:fillRect/>
          </a:stretch>
        </p:blipFill>
        <p:spPr>
          <a:xfrm>
            <a:off x="1155649" y="3611880"/>
            <a:ext cx="251460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14418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34458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Autistic teens &amp; adults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4458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predictable, untimed, sensory-calm</a:t>
            </a:r>
          </a:p>
        </p:txBody>
      </p:sp>
      <p:pic>
        <p:nvPicPr>
          <p:cNvPr id="13" name="Picture 12" descr="phone-activities.png"/>
          <p:cNvPicPr>
            <a:picLocks noChangeAspect="1"/>
          </p:cNvPicPr>
          <p:nvPr/>
        </p:nvPicPr>
        <p:blipFill>
          <a:blip r:embed="rId4"/>
          <a:srcRect b="50025"/>
          <a:stretch>
            <a:fillRect/>
          </a:stretch>
        </p:blipFill>
        <p:spPr>
          <a:xfrm>
            <a:off x="4838547" y="3611880"/>
            <a:ext cx="2514600" cy="2468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97316" y="2240280"/>
            <a:ext cx="3362858" cy="3840480"/>
          </a:xfrm>
          <a:prstGeom prst="roundRect">
            <a:avLst>
              <a:gd name="adj" fmla="val 5982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7356" y="2532888"/>
            <a:ext cx="27227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Plus Jakarta Sans"/>
              </a:rPr>
              <a:t>Family caregivers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2953512"/>
            <a:ext cx="272277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93A4C7"/>
                </a:solidFill>
                <a:latin typeface="Plus Jakarta Sans"/>
              </a:rPr>
              <a:t>notes and a brief they can trust</a:t>
            </a:r>
          </a:p>
        </p:txBody>
      </p:sp>
      <p:pic>
        <p:nvPicPr>
          <p:cNvPr id="17" name="Picture 16" descr="phone-visitbrief.png"/>
          <p:cNvPicPr>
            <a:picLocks noChangeAspect="1"/>
          </p:cNvPicPr>
          <p:nvPr/>
        </p:nvPicPr>
        <p:blipFill>
          <a:blip r:embed="rId5"/>
          <a:srcRect b="50025"/>
          <a:stretch>
            <a:fillRect/>
          </a:stretch>
        </p:blipFill>
        <p:spPr>
          <a:xfrm>
            <a:off x="8521446" y="3611880"/>
            <a:ext cx="251460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08</a:t>
            </a:r>
          </a:p>
        </p:txBody>
      </p:sp>
      <p:pic>
        <p:nvPicPr>
          <p:cNvPr id="19" name="Picture 18" descr="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Everything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stays on the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6675120" cy="3794760"/>
          </a:xfrm>
          <a:prstGeom prst="roundRect">
            <a:avLst>
              <a:gd name="adj" fmla="val 10843"/>
            </a:avLst>
          </a:prstGeom>
          <a:solidFill>
            <a:srgbClr val="0A1324">
              <a:alpha val="35000"/>
            </a:srgbClr>
          </a:solidFill>
          <a:ln w="19050">
            <a:solidFill>
              <a:srgbClr val="06E288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51560" y="2514600"/>
            <a:ext cx="1538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538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spc="100">
                <a:solidFill>
                  <a:srgbClr val="06E288"/>
                </a:solidFill>
                <a:latin typeface="Plus Jakarta Sans"/>
              </a:rPr>
              <a:t>ON THE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5272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BLE 0x180D · HealthKit, read-only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420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2536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Health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536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Qwen2.5-1.5B · llama.cpp, offline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6840" y="301752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98008" y="321868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Plus Jakarta Sans"/>
              </a:rPr>
              <a:t>Encrypted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354787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AES-256-GCM · Face ID 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5272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Web Audio · untimed, unscored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420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2536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Visit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536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fields you pick · exact preview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6840" y="4297680"/>
            <a:ext cx="1889759" cy="1097280"/>
          </a:xfrm>
          <a:prstGeom prst="roundRect">
            <a:avLst>
              <a:gd name="adj" fmla="val 13333"/>
            </a:avLst>
          </a:prstGeom>
          <a:solidFill>
            <a:srgbClr val="0A1324">
              <a:alpha val="6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98008" y="4498848"/>
            <a:ext cx="152399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Plus Jakarta Sans"/>
              </a:rPr>
              <a:t>Coffee Circles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8008" y="4828032"/>
            <a:ext cx="1523999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3A4C7"/>
                </a:solidFill>
                <a:latin typeface="Plus Jakarta Sans"/>
              </a:rPr>
              <a:t>links to real Jitsi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28600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WHAT LEAVES THE DEVICE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299008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09560" y="269748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Live video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4495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only while you are in a Jitsi room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6640" y="3858768"/>
            <a:ext cx="393192" cy="0"/>
          </a:xfrm>
          <a:prstGeom prst="line">
            <a:avLst/>
          </a:prstGeom>
          <a:ln w="15875">
            <a:solidFill>
              <a:srgbClr val="06E2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09560" y="356616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Plus Jakarta Sans"/>
              </a:rPr>
              <a:t>A visit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91363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93A4C7"/>
                </a:solidFill>
                <a:latin typeface="Plus Jakarta Sans"/>
              </a:rPr>
              <a:t>only when you tap 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526280"/>
            <a:ext cx="35506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NEVER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846320"/>
            <a:ext cx="118872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FFFFFF"/>
                </a:solidFill>
                <a:latin typeface="Plus Jakarta Sans ExtraBold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54742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trackers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09</a:t>
            </a:r>
          </a:p>
        </p:txBody>
      </p:sp>
      <p:pic>
        <p:nvPicPr>
          <p:cNvPr id="42" name="Picture 41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3" name="TextBox 42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HOW IT’S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Two clients. One promise.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No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Web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9013" y="2615184"/>
            <a:ext cx="13667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49013" y="2615184"/>
            <a:ext cx="13667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154680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6196" y="3154680"/>
            <a:ext cx="736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76196" y="3154680"/>
            <a:ext cx="736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Vite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3982" y="3154680"/>
            <a:ext cx="10665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03982" y="3154680"/>
            <a:ext cx="10665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Tailwind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1968" y="3154680"/>
            <a:ext cx="14602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61968" y="3154680"/>
            <a:ext cx="14602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Bluetooth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557016"/>
            <a:ext cx="11490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11490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Audio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92096" y="3557016"/>
            <a:ext cx="12443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292096" y="3557016"/>
            <a:ext cx="12443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Web Crypto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7882" y="3557016"/>
            <a:ext cx="14792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27882" y="3557016"/>
            <a:ext cx="14792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installable PWA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2286000"/>
            <a:ext cx="5204307" cy="2148840"/>
          </a:xfrm>
          <a:prstGeom prst="roundRect">
            <a:avLst>
              <a:gd name="adj" fmla="val 9361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75907" y="2560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Plus Jakarta Sans"/>
              </a:rPr>
              <a:t>iPhone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36911" y="2615184"/>
            <a:ext cx="90322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236911" y="2615184"/>
            <a:ext cx="9032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00">
                <a:solidFill>
                  <a:srgbClr val="06E288"/>
                </a:solidFill>
                <a:latin typeface="Plus Jakarta Sans"/>
              </a:rPr>
              <a:t>SWIFT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75907" y="3154680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75907" y="3154680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SwiftUI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7043" y="3154680"/>
            <a:ext cx="10157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37043" y="3154680"/>
            <a:ext cx="10157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HealthKit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4229" y="31546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44229" y="3154680"/>
            <a:ext cx="1453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CoreBluetooth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5907" y="3557016"/>
            <a:ext cx="1060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75907" y="3557016"/>
            <a:ext cx="1060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CryptoKit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7543" y="3557016"/>
            <a:ext cx="8696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27543" y="3557016"/>
            <a:ext cx="8696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Face 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8679" y="3557016"/>
            <a:ext cx="10728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8679" y="3557016"/>
            <a:ext cx="1072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llama.cpp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75907" y="3959352"/>
            <a:ext cx="142214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75907" y="3959352"/>
            <a:ext cx="142214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Sherpa-ONNX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89493" y="3959352"/>
            <a:ext cx="933196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89493" y="3959352"/>
            <a:ext cx="9331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D7E0F2"/>
                </a:solidFill>
                <a:latin typeface="Plus Jakarta Sans Medium"/>
              </a:rPr>
              <a:t>Jitsi SDK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05840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11,400+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lines of code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82263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56583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17 / 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6583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tests passing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3007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07327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07327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CI pipelines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83751" y="4709160"/>
            <a:ext cx="2476423" cy="1325880"/>
          </a:xfrm>
          <a:prstGeom prst="roundRect">
            <a:avLst>
              <a:gd name="adj" fmla="val 15172"/>
            </a:avLst>
          </a:prstGeom>
          <a:solidFill>
            <a:srgbClr val="0A1324">
              <a:alpha val="4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58071" y="4873752"/>
            <a:ext cx="1927783" cy="57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8071" y="5471159"/>
            <a:ext cx="1927783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6E288"/>
                </a:solidFill>
                <a:latin typeface="Plus Jakarta Sans Medium"/>
              </a:rPr>
              <a:t>public releases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10</a:t>
            </a:r>
          </a:p>
        </p:txBody>
      </p:sp>
      <p:pic>
        <p:nvPicPr>
          <p:cNvPr id="57" name="Picture 5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58" name="TextBox 57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HARDEST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FFFFFF"/>
                </a:solidFill>
                <a:latin typeface="Plus Jakarta Sans ExtraBold"/>
              </a:rPr>
              <a:t>Making Bluetooth </a:t>
            </a:r>
            <a:r>
              <a:rPr sz="3800" b="0">
                <a:solidFill>
                  <a:srgbClr val="06E288"/>
                </a:solidFill>
                <a:latin typeface="Plus Jakarta Sans ExtraBold"/>
              </a:rPr>
              <a:t>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D7E0F2"/>
                </a:solidFill>
                <a:latin typeface="Plus Jakarta Sans"/>
              </a:rPr>
              <a:t>Heart-rate notifications arrive late and out of order — a stale sensor could repaint a new card with a wrong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564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1071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Parse the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947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service 0x180D · flags byte → 8/16-bit BPM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251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7939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Label at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each sample is born LIVE or SIMULATED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937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06E28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4807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Plus Jakarta Sans"/>
              </a:rPr>
              <a:t>Drop stale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321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a generation counter ignores old pairings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5059375" cy="3200400"/>
          </a:xfrm>
          <a:prstGeom prst="roundRect">
            <a:avLst>
              <a:gd name="adj" fmla="val 6285"/>
            </a:avLst>
          </a:prstGeom>
          <a:solidFill>
            <a:srgbClr val="0A1324">
              <a:alpha val="7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0" y="2267712"/>
            <a:ext cx="4327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06E288"/>
                </a:solidFill>
                <a:latin typeface="JetBrains Mono"/>
              </a:rPr>
              <a:t>src/lib/bluetooth.js  </a:t>
            </a:r>
            <a:r>
              <a:rPr sz="1100" b="0">
                <a:solidFill>
                  <a:srgbClr val="93A4C7"/>
                </a:solidFill>
                <a:latin typeface="JetBrains Mono"/>
              </a:rPr>
              <a:t>·  src/App.jsx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33472"/>
            <a:ext cx="4327855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flags = dv.getUint8(0)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bpm = flags &amp; 0x1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? dv.getUint16(1, true)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: dv.getUint8(1)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(bpm &gt; 20 &amp;&amp; bpm &lt; 250) onReading(bpm)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const source 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hrModeRef.current === 'live'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? 'LIVE_BLE' : 'SIMULATED'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if (generation !==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  hrConnectionGenerationRef.current)</a:t>
            </a:r>
          </a:p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D7E0F2"/>
                </a:solidFill>
                <a:latin typeface="JetBrains Mono"/>
              </a:rPr>
              <a:t>  return</a:t>
            </a:r>
          </a:p>
        </p:txBody>
      </p:sp>
      <p:pic>
        <p:nvPicPr>
          <p:cNvPr id="19" name="Picture 18" descr="crop-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75" y="4846320"/>
            <a:ext cx="2743200" cy="1664255"/>
          </a:xfrm>
          <a:prstGeom prst="roundRect">
            <a:avLst>
              <a:gd name="adj" fmla="val 6593"/>
            </a:avLst>
          </a:prstGeom>
        </p:spPr>
      </p:pic>
      <p:sp>
        <p:nvSpPr>
          <p:cNvPr id="20" name="TextBox 19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11</a:t>
            </a:r>
          </a:p>
        </p:txBody>
      </p:sp>
      <p:pic>
        <p:nvPicPr>
          <p:cNvPr id="21" name="Picture 20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Backdrop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1520" y="617220"/>
            <a:ext cx="118872" cy="118872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5303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spc="160">
                <a:solidFill>
                  <a:srgbClr val="06E288"/>
                </a:solidFill>
                <a:latin typeface="Plus Jakarta Sans"/>
              </a:rPr>
              <a:t>WHERE IT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>
                <a:solidFill>
                  <a:srgbClr val="06E288"/>
                </a:solidFill>
                <a:latin typeface="Plus Jakarta Sans ExtraBold"/>
              </a:rPr>
              <a:t>Six weeks</a:t>
            </a:r>
            <a:r>
              <a:rPr sz="3800" b="0">
                <a:solidFill>
                  <a:srgbClr val="FFFFFF"/>
                </a:solidFill>
                <a:latin typeface="Plus Jakarta Sans ExtraBold"/>
              </a:rPr>
              <a:t> from first commit to v2.2.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246120"/>
            <a:ext cx="6718810" cy="0"/>
          </a:xfrm>
          <a:prstGeom prst="line">
            <a:avLst/>
          </a:prstGeom>
          <a:ln w="25400">
            <a:solidFill>
              <a:srgbClr val="06E2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24650" y="3246120"/>
            <a:ext cx="3461205" cy="0"/>
          </a:xfrm>
          <a:prstGeom prst="line">
            <a:avLst/>
          </a:prstGeom>
          <a:ln w="15875">
            <a:solidFill>
              <a:srgbClr val="FFFFFF">
                <a:alpha val="3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25641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5443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65245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5046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4848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4650" y="3337560"/>
            <a:ext cx="0" cy="9144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6803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6406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Sep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6010" y="348386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F7299"/>
                </a:solidFill>
                <a:latin typeface="Plus Jakarta Sans"/>
              </a:rPr>
              <a:t>Oct 14</a:t>
            </a:r>
          </a:p>
        </p:txBody>
      </p:sp>
      <p:sp>
        <p:nvSpPr>
          <p:cNvPr id="19" name="Oval 18"/>
          <p:cNvSpPr/>
          <p:nvPr/>
        </p:nvSpPr>
        <p:spPr>
          <a:xfrm>
            <a:off x="90525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First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repo created</a:t>
            </a:r>
          </a:p>
        </p:txBody>
      </p:sp>
      <p:sp>
        <p:nvSpPr>
          <p:cNvPr id="22" name="Oval 21"/>
          <p:cNvSpPr/>
          <p:nvPr/>
        </p:nvSpPr>
        <p:spPr>
          <a:xfrm>
            <a:off x="186508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27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v1.0 + v2.0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27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first public releases</a:t>
            </a:r>
          </a:p>
        </p:txBody>
      </p:sp>
      <p:sp>
        <p:nvSpPr>
          <p:cNvPr id="25" name="Oval 24"/>
          <p:cNvSpPr/>
          <p:nvPr/>
        </p:nvSpPr>
        <p:spPr>
          <a:xfrm>
            <a:off x="5064519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50703" y="2194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0703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release · Sep 28</a:t>
            </a:r>
          </a:p>
        </p:txBody>
      </p:sp>
      <p:sp>
        <p:nvSpPr>
          <p:cNvPr id="28" name="Oval 27"/>
          <p:cNvSpPr/>
          <p:nvPr/>
        </p:nvSpPr>
        <p:spPr>
          <a:xfrm>
            <a:off x="7624066" y="3145536"/>
            <a:ext cx="201168" cy="201168"/>
          </a:xfrm>
          <a:prstGeom prst="ellipse">
            <a:avLst/>
          </a:prstGeom>
          <a:solidFill>
            <a:srgbClr val="06E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10250" y="38130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Plus Jakarta Sans"/>
              </a:rPr>
              <a:t>v2.2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0250" y="4142231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iOS + web, building in CI</a:t>
            </a:r>
          </a:p>
        </p:txBody>
      </p:sp>
      <p:sp>
        <p:nvSpPr>
          <p:cNvPr id="31" name="Oval 30"/>
          <p:cNvSpPr/>
          <p:nvPr/>
        </p:nvSpPr>
        <p:spPr>
          <a:xfrm>
            <a:off x="11094415" y="3154679"/>
            <a:ext cx="182880" cy="182880"/>
          </a:xfrm>
          <a:prstGeom prst="ellipse">
            <a:avLst/>
          </a:prstGeom>
          <a:solidFill>
            <a:srgbClr val="0A1324"/>
          </a:solidFill>
          <a:ln w="15875">
            <a:solidFill>
              <a:srgbClr val="06E2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905695" y="2194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6E288"/>
                </a:solidFill>
                <a:latin typeface="Plus Jakarta Sans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25328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93A4C7"/>
                </a:solidFill>
                <a:latin typeface="Plus Jakarta Sans"/>
              </a:rPr>
              <a:t>co-design → TestFlight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12700">
            <a:solidFill>
              <a:srgbClr val="06E28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06E288"/>
                </a:solidFill>
                <a:latin typeface="Plus Jakarta Sans"/>
              </a:rPr>
              <a:t>NEXT · V2.0 OF THIS ENTRY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Co-design sessions with autistic people, people living with dementia and caregivers; TestFlight beta.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99178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673498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THEN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3498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Sensor history in the visit brief · encrypted backup · Spanish · caregiver-paced reminders.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66836" y="4709160"/>
            <a:ext cx="3393338" cy="1417320"/>
          </a:xfrm>
          <a:prstGeom prst="roundRect">
            <a:avLst>
              <a:gd name="adj" fmla="val 14193"/>
            </a:avLst>
          </a:prstGeom>
          <a:solidFill>
            <a:srgbClr val="0A1324">
              <a:alpha val="55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41156" y="4892040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140">
                <a:solidFill>
                  <a:srgbClr val="5F7299"/>
                </a:solidFill>
                <a:latin typeface="Plus Jakarta Sans"/>
              </a:rPr>
              <a:t>DELIBERATELY 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5193792"/>
            <a:ext cx="2844698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D7E0F2"/>
                </a:solidFill>
                <a:latin typeface="Plus Jakarta Sans"/>
              </a:rPr>
              <a:t>Cloud sync, a clinician portal or a drug-interaction checker — not without clinical review.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8495" y="292608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200" b="0">
                <a:solidFill>
                  <a:srgbClr val="FFFFFF">
                    <a:alpha val="7000"/>
                  </a:srgbClr>
                </a:solidFill>
                <a:latin typeface="Plus Jakarta Sans ExtraBold"/>
              </a:rPr>
              <a:t>12</a:t>
            </a:r>
          </a:p>
        </p:txBody>
      </p:sp>
      <p:pic>
        <p:nvPicPr>
          <p:cNvPr id="44" name="Picture 43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382512"/>
            <a:ext cx="237744" cy="237744"/>
          </a:xfrm>
          <a:prstGeom prst="roundRect">
            <a:avLst>
              <a:gd name="adj" fmla="val 26923"/>
            </a:avLst>
          </a:prstGeom>
        </p:spPr>
      </p:pic>
      <p:sp>
        <p:nvSpPr>
          <p:cNvPr id="45" name="TextBox 44"/>
          <p:cNvSpPr txBox="1"/>
          <p:nvPr/>
        </p:nvSpPr>
        <p:spPr>
          <a:xfrm>
            <a:off x="1060704" y="64008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spc="60">
                <a:solidFill>
                  <a:srgbClr val="5F7299"/>
                </a:solidFill>
                <a:latin typeface="Plus Jakarta Sans"/>
              </a:rPr>
              <a:t>CareSphere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733"/>
            </a:gs>
            <a:gs pos="100000">
              <a:srgbClr val="0F2659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7" y="-3291840"/>
            <a:ext cx="8686800" cy="8686800"/>
          </a:xfrm>
          <a:prstGeom prst="rect">
            <a:avLst/>
          </a:prstGeom>
        </p:spPr>
      </p:pic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67" y="1143000"/>
            <a:ext cx="822960" cy="822960"/>
          </a:xfrm>
          <a:prstGeom prst="roundRect">
            <a:avLst>
              <a:gd name="adj" fmla="val 24444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731520" y="2240280"/>
            <a:ext cx="1072865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0" b="0">
                <a:solidFill>
                  <a:srgbClr val="FFFFFF"/>
                </a:solidFill>
                <a:latin typeface="Plus Jakarta Sans ExtraBold"/>
              </a:rPr>
              <a:t>Care that stays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291840"/>
            <a:ext cx="7985455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D7E0F2"/>
                </a:solidFill>
                <a:latin typeface="Plus Jakarta Sans"/>
              </a:rPr>
              <a:t>Connected, calm and private — with no account, no server and no fabricated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7956" y="4206240"/>
            <a:ext cx="18620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157956" y="4206240"/>
            <a:ext cx="18620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TRY THE 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2910" y="4206240"/>
            <a:ext cx="17350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02910" y="4206240"/>
            <a:ext cx="17350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READ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20864" y="4206240"/>
            <a:ext cx="1912874" cy="329184"/>
          </a:xfrm>
          <a:prstGeom prst="roundRect">
            <a:avLst>
              <a:gd name="adj" fmla="val 50000"/>
            </a:avLst>
          </a:prstGeom>
          <a:solidFill>
            <a:srgbClr val="06E28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20864" y="4206240"/>
            <a:ext cx="191287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spc="100">
                <a:solidFill>
                  <a:srgbClr val="06E288"/>
                </a:solidFill>
                <a:latin typeface="Plus Jakarta Sans"/>
              </a:rPr>
              <a:t>WATCH THE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FFFFFF"/>
                </a:solidFill>
                <a:latin typeface="Plus Jakarta Sans"/>
              </a:rPr>
              <a:t>github.com/engineer2025-sudo/Care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93A4C7"/>
                </a:solidFill>
                <a:latin typeface="Plus Jakarta Sans"/>
              </a:rPr>
              <a:t>[Student Name]  ·  [email@example.com]  ·  [School], [City], California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5F7299"/>
                </a:solidFill>
                <a:latin typeface="Plus Jakarta Sans"/>
              </a:rPr>
              <a:t>Demo video: [YouTube link]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34295" y="685800"/>
            <a:ext cx="1325880" cy="1645920"/>
          </a:xfrm>
          <a:prstGeom prst="roundRect">
            <a:avLst>
              <a:gd name="adj" fmla="val 15172"/>
            </a:avLst>
          </a:prstGeom>
          <a:solidFill>
            <a:srgbClr val="0A1324">
              <a:alpha val="50000"/>
            </a:srgbClr>
          </a:solidFill>
          <a:ln w="9525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9743" y="841248"/>
            <a:ext cx="1014984" cy="1014984"/>
          </a:xfrm>
          <a:prstGeom prst="roundRect">
            <a:avLst>
              <a:gd name="adj" fmla="val 7207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10134295" y="1929384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spc="80">
                <a:solidFill>
                  <a:srgbClr val="5F7299"/>
                </a:solidFill>
                <a:latin typeface="Plus Jakarta Sans"/>
              </a:rPr>
              <a:t>scan for source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 thruBlk="1"/>
      </p:transition>
    </mc:Choice>
    <mc:Fallback>
      <p:transition spd="slow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