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embeddedFontLst>
    <p:embeddedFont>
      <p:font typeface="Plus Jakarta Sans" panose="00000000000000000000" pitchFamily="34" charset="0"/>
      <p:regular r:id="rId21"/>
      <p:bold r:id="rId22"/>
    </p:embeddedFont>
    <p:embeddedFont>
      <p:font typeface="Plus Jakarta Sans Medium" panose="00000000000000000000" pitchFamily="34" charset="0"/>
      <p:regular r:id="rId23"/>
    </p:embeddedFont>
    <p:embeddedFont>
      <p:font typeface="Plus Jakarta Sans ExtraBold" panose="00000000000000000000" pitchFamily="34" charset="0"/>
      <p:regular r:id="rId24"/>
    </p:embeddedFont>
    <p:embeddedFont>
      <p:font typeface="JetBrains Mono" panose="02000009000000000000" pitchFamily="49" charset="0"/>
      <p:regular r:id="rId2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font" Target="fonts/font1.fntdata"/><Relationship Id="rId22" Type="http://schemas.openxmlformats.org/officeDocument/2006/relationships/font" Target="fonts/font2.fntdata"/><Relationship Id="rId23" Type="http://schemas.openxmlformats.org/officeDocument/2006/relationships/font" Target="fonts/font3.fntdata"/><Relationship Id="rId24" Type="http://schemas.openxmlformats.org/officeDocument/2006/relationships/font" Target="fonts/font4.fntdata"/><Relationship Id="rId25" Type="http://schemas.openxmlformats.org/officeDocument/2006/relationships/font" Target="fonts/font5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[0:00–0:14] Hi, I'm Arnav Kochar, a [GRADE] at [SCHOOL] in [CITY], California. This is CareSphere AI — a private care companion for older adults, autistic people and their families, on iPhone and on the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[0:14–0:26] (Your story in one sentence — name a specific person, a specific moment. E.g.: My grandmother lives alone, and every call started the same way: did you take your pills? did you talk to anyone today?) So I built the app I wished she had: calm, honest, and private by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[0:26–0:39] One in four older adults is socially isolated — a twenty-nine percent higher risk of early death. One in thirty-one children is autistic. Half of long-term medications aren't taken as prescribed. And sixty-three million family caregivers hold it all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[0:39–0:47] Today a family juggles four apps — four accounts, four clouds — and none of them was designed for autistic users.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[0:47–0:57] CareSphere is one calm app with five tabs — Overview, Activities, Coffee Circles, Care Circle and Vitals — with no server behind any of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[0:57–1:42] Let me show you. (Switch to the screen recording — six shots, see VIDEO_SCRIPT.md: mood check-in and routine; medication reminder and Taken; Bluetooth pairing or the labeled demo plus Export CSV; Pattern Recall and the Rain soundscape; join a Coffee Circle; build and download a visit brief.)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[1:42–1:53] What makes it different isn't a feature — it's four rules in the code: never fabricate a reading, never send anything automatically, calm by default, private by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[1:53–2:01] It's built for three people at once: older adults, autistic teens and adults, and the caregivers who support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[2:01–2:12] Everything stays on the device: AES-256 encryption, Bluetooth and HealthKit read locally, and a 1.5-billion-parameter model that answers health questions offline. Zero accounts, zero servers, zero trackers.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[2:12–2:23] It's React and JavaScript on the web, Swift and SwiftUI on iPhone — Web Bluetooth, HealthKit, CryptoKit and llama.cpp. Eleven thousand lines, seventeen tests, three public releases.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[2:23–2:35] The hardest problem was keeping Bluetooth honest: notifications arrive late and out of order, so I label every sample live or simulated at the source and drop stale sessions with a generation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[2:35–2:47] Version 2.0 starts with co-design sessions with autistic people, people living with dementia and caregivers, then a TestFlight beta and sensor history in the visit brief — still with no server. (Deliberately not planned: cloud sync, a clinician portal or a drug-interaction checker — not without clinical review.)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[2:47–2:53] CareSphere AI — care that stays yours. The code and install guide are on GitHub.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3.png"/><Relationship Id="rId8" Type="http://schemas.openxmlformats.org/officeDocument/2006/relationships/image" Target="../media/image7.png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12.png"/><Relationship Id="rId6" Type="http://schemas.openxmlformats.org/officeDocument/2006/relationships/image" Target="../media/image7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5" Type="http://schemas.openxmlformats.org/officeDocument/2006/relationships/image" Target="../media/image14.png"/><Relationship Id="rId6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m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  <p:pic>
        <p:nvPicPr>
          <p:cNvPr id="3" name="Picture 2" descr="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-2194560"/>
            <a:ext cx="8229600" cy="822960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731520" y="1421892"/>
            <a:ext cx="118872" cy="118872"/>
          </a:xfrm>
          <a:prstGeom prst="ellipse">
            <a:avLst/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69264" y="1335024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CONGRESSIONAL APP CHALLENGE 2026  ·  CA-10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667512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7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6400" b="0">
                <a:solidFill>
                  <a:srgbClr val="FFFFFF"/>
                </a:solidFill>
                <a:latin typeface="Plus Jakarta Sans ExtraBold"/>
              </a:rPr>
              <a:t>CareSphere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66751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600" b="0">
                <a:solidFill>
                  <a:srgbClr val="06E288"/>
                </a:solidFill>
                <a:latin typeface="Plus Jakarta Sans Medium"/>
              </a:rPr>
              <a:t>Connected care for independent living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11880"/>
            <a:ext cx="54864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6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0">
                <a:solidFill>
                  <a:srgbClr val="D7E0F2"/>
                </a:solidFill>
                <a:latin typeface="Plus Jakarta Sans"/>
              </a:rPr>
              <a:t>A private care companion for older adults, autistic people and the families who care for them.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681728"/>
            <a:ext cx="457200" cy="36576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20" y="4919472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FFFFFF"/>
                </a:solidFill>
                <a:latin typeface="Plus Jakarta Sans"/>
              </a:rPr>
              <a:t>Arnav Kochar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85232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93A4C7"/>
                </a:solidFill>
                <a:latin typeface="Plus Jakarta Sans"/>
              </a:rPr>
              <a:t>[School]  ·  [City], California  ·  kochar4646@gmail.com</a:t>
            </a:r>
          </a:p>
        </p:txBody>
      </p:sp>
      <p:pic>
        <p:nvPicPr>
          <p:cNvPr id="12" name="Picture 11" descr="phone-vi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21120000">
            <a:off x="6949440" y="1325880"/>
            <a:ext cx="2932206" cy="5760720"/>
          </a:xfrm>
          <a:prstGeom prst="rect">
            <a:avLst/>
          </a:prstGeom>
        </p:spPr>
      </p:pic>
      <p:pic>
        <p:nvPicPr>
          <p:cNvPr id="13" name="Picture 12" descr="phone-overvie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0" y="914400"/>
            <a:ext cx="3258007" cy="64008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Backdrop" descr="bg-m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31520" y="617220"/>
            <a:ext cx="118872" cy="118872"/>
          </a:xfrm>
          <a:prstGeom prst="ellipse">
            <a:avLst/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69264" y="5303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WHY I BUILT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66928"/>
            <a:ext cx="1828800" cy="2468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0" b="0">
                <a:solidFill>
                  <a:srgbClr val="06E288">
                    <a:alpha val="30000"/>
                  </a:srgbClr>
                </a:solidFill>
                <a:latin typeface="Plus Jakarta Sans ExtraBold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6309360" cy="2651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0">
                <a:solidFill>
                  <a:srgbClr val="FFFFFF"/>
                </a:solidFill>
                <a:latin typeface="Plus Jakarta Sans Medium"/>
              </a:rPr>
              <a:t>[Your story in one or two sentences — e.g. My grandmother lives alone, and every call started the same way: did you take your pills? did you talk to anyone today?]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6E288"/>
                </a:solidFill>
                <a:latin typeface="Plus Jakarta Sans"/>
              </a:rPr>
              <a:t>— Arnav Kochar, [grade], [School]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6309360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0">
                <a:solidFill>
                  <a:srgbClr val="93A4C7"/>
                </a:solidFill>
                <a:latin typeface="Plus Jakarta Sans"/>
              </a:rPr>
              <a:t>So I built the app I wished she had: </a:t>
            </a:r>
            <a:r>
              <a:rPr sz="1800" b="1">
                <a:solidFill>
                  <a:srgbClr val="FFFFFF"/>
                </a:solidFill>
                <a:latin typeface="Plus Jakarta Sans"/>
              </a:rPr>
              <a:t>calm, honest, and private by design.</a:t>
            </a:r>
          </a:p>
        </p:txBody>
      </p:sp>
      <p:pic>
        <p:nvPicPr>
          <p:cNvPr id="9" name="Picture 8" descr="crop-me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79" y="1371600"/>
            <a:ext cx="3749039" cy="2755544"/>
          </a:xfrm>
          <a:prstGeom prst="roundRect">
            <a:avLst>
              <a:gd name="adj" fmla="val 5442"/>
            </a:avLst>
          </a:prstGeom>
        </p:spPr>
      </p:pic>
      <p:pic>
        <p:nvPicPr>
          <p:cNvPr id="10" name="Picture 9" descr="crop-toa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3886200"/>
            <a:ext cx="3017520" cy="1273016"/>
          </a:xfrm>
          <a:prstGeom prst="roundRect">
            <a:avLst>
              <a:gd name="adj" fmla="val 9481"/>
            </a:avLst>
          </a:prstGeom>
        </p:spPr>
      </p:pic>
      <p:sp>
        <p:nvSpPr>
          <p:cNvPr id="11" name="TextBox 10"/>
          <p:cNvSpPr txBox="1"/>
          <p:nvPr/>
        </p:nvSpPr>
        <p:spPr>
          <a:xfrm>
            <a:off x="9448495" y="292608"/>
            <a:ext cx="201168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200" b="0">
                <a:solidFill>
                  <a:srgbClr val="FFFFFF">
                    <a:alpha val="7000"/>
                  </a:srgbClr>
                </a:solidFill>
                <a:latin typeface="Plus Jakarta Sans ExtraBold"/>
              </a:rPr>
              <a:t>02</a:t>
            </a:r>
          </a:p>
        </p:txBody>
      </p:sp>
      <p:pic>
        <p:nvPicPr>
          <p:cNvPr id="12" name="Picture 11" descr="ic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13" name="TextBox 12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Backdrop" descr="bg-m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31520" y="617220"/>
            <a:ext cx="118872" cy="118872"/>
          </a:xfrm>
          <a:prstGeom prst="ellipse">
            <a:avLst/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69264" y="5303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96112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1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800" b="0">
                <a:solidFill>
                  <a:srgbClr val="FFFFFF"/>
                </a:solidFill>
                <a:latin typeface="Plus Jakarta Sans ExtraBold"/>
              </a:rPr>
              <a:t>Growing older — or growing up autistic — too often means </a:t>
            </a:r>
            <a:r>
              <a:rPr sz="3800" b="0">
                <a:solidFill>
                  <a:srgbClr val="06E288"/>
                </a:solidFill>
                <a:latin typeface="Plus Jakarta Sans ExtraBold"/>
              </a:rPr>
              <a:t>facing care alone.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68880"/>
            <a:ext cx="3393338" cy="2743200"/>
          </a:xfrm>
          <a:prstGeom prst="roundRect">
            <a:avLst>
              <a:gd name="adj" fmla="val 7333"/>
            </a:avLst>
          </a:prstGeom>
          <a:solidFill>
            <a:srgbClr val="0A1324">
              <a:alpha val="55000"/>
            </a:srgbClr>
          </a:solidFill>
          <a:ln w="9525">
            <a:solidFill>
              <a:srgbClr val="FFFF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2743200"/>
            <a:ext cx="2753258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400" b="0">
                <a:solidFill>
                  <a:srgbClr val="FFFFFF"/>
                </a:solidFill>
                <a:latin typeface="Plus Jakarta Sans ExtraBold"/>
              </a:rPr>
              <a:t>1 in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886200"/>
            <a:ext cx="2753258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6E288"/>
                </a:solidFill>
                <a:latin typeface="Plus Jakarta Sans Medium"/>
              </a:rPr>
              <a:t>older adults are socially isolated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846320"/>
            <a:ext cx="275325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5F7299"/>
                </a:solidFill>
                <a:latin typeface="JetBrains Mono"/>
              </a:rPr>
              <a:t>NASEM · 2020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2743200"/>
          </a:xfrm>
          <a:prstGeom prst="roundRect">
            <a:avLst>
              <a:gd name="adj" fmla="val 7333"/>
            </a:avLst>
          </a:prstGeom>
          <a:solidFill>
            <a:srgbClr val="0A1324">
              <a:alpha val="55000"/>
            </a:srgbClr>
          </a:solidFill>
          <a:ln w="9525">
            <a:solidFill>
              <a:srgbClr val="FFFF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719218" y="2743200"/>
            <a:ext cx="2753258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400" b="0">
                <a:solidFill>
                  <a:srgbClr val="FFFFFF"/>
                </a:solidFill>
                <a:latin typeface="Plus Jakarta Sans ExtraBold"/>
              </a:rPr>
              <a:t>1 in 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9218" y="3886200"/>
            <a:ext cx="2753258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6E288"/>
                </a:solidFill>
                <a:latin typeface="Plus Jakarta Sans Medium"/>
              </a:rPr>
              <a:t>children are autistic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19218" y="4846320"/>
            <a:ext cx="275325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5F7299"/>
                </a:solidFill>
                <a:latin typeface="JetBrains Mono"/>
              </a:rPr>
              <a:t>CDC ·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6836" y="2468880"/>
            <a:ext cx="3393338" cy="2743200"/>
          </a:xfrm>
          <a:prstGeom prst="roundRect">
            <a:avLst>
              <a:gd name="adj" fmla="val 7333"/>
            </a:avLst>
          </a:prstGeom>
          <a:solidFill>
            <a:srgbClr val="0A1324">
              <a:alpha val="55000"/>
            </a:srgbClr>
          </a:solidFill>
          <a:ln w="9525">
            <a:solidFill>
              <a:srgbClr val="FFFF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386876" y="2743200"/>
            <a:ext cx="2753258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7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400" b="0">
                <a:solidFill>
                  <a:srgbClr val="FFFFFF"/>
                </a:solidFill>
                <a:latin typeface="Plus Jakarta Sans ExtraBold"/>
              </a:rPr>
              <a:t>50%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3886200"/>
            <a:ext cx="2753258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6E288"/>
                </a:solidFill>
                <a:latin typeface="Plus Jakarta Sans Medium"/>
              </a:rPr>
              <a:t>of long-term medicines aren’t taken as prescribed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6876" y="4846320"/>
            <a:ext cx="2753258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5F7299"/>
                </a:solidFill>
                <a:latin typeface="JetBrains Mono"/>
              </a:rPr>
              <a:t>WHO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559552"/>
            <a:ext cx="54864" cy="384048"/>
          </a:xfrm>
          <a:prstGeom prst="roundRect">
            <a:avLst>
              <a:gd name="adj" fmla="val 50000"/>
            </a:avLst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0120" y="5559552"/>
            <a:ext cx="91440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D7E0F2"/>
                </a:solidFill>
                <a:latin typeface="Plus Jakarta Sans"/>
              </a:rPr>
              <a:t>Behind them: </a:t>
            </a:r>
            <a:r>
              <a:rPr sz="1700" b="1">
                <a:solidFill>
                  <a:srgbClr val="FFFFFF"/>
                </a:solidFill>
                <a:latin typeface="Plus Jakarta Sans"/>
              </a:rPr>
              <a:t>63 million</a:t>
            </a:r>
            <a:r>
              <a:rPr sz="1700" b="0">
                <a:solidFill>
                  <a:srgbClr val="D7E0F2"/>
                </a:solidFill>
                <a:latin typeface="Plus Jakarta Sans"/>
              </a:rPr>
              <a:t> family caregivers.  </a:t>
            </a:r>
            <a:r>
              <a:rPr sz="1700" b="0">
                <a:solidFill>
                  <a:srgbClr val="93A4C7"/>
                </a:solidFill>
                <a:latin typeface="Plus Jakarta Sans"/>
              </a:rPr>
              <a:t>AARP &amp; NAC, 2025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48495" y="292608"/>
            <a:ext cx="201168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200" b="0">
                <a:solidFill>
                  <a:srgbClr val="FFFFFF">
                    <a:alpha val="7000"/>
                  </a:srgbClr>
                </a:solidFill>
                <a:latin typeface="Plus Jakarta Sans ExtraBold"/>
              </a:rPr>
              <a:t>03</a:t>
            </a:r>
          </a:p>
        </p:txBody>
      </p:sp>
      <p:pic>
        <p:nvPicPr>
          <p:cNvPr id="21" name="Picture 20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22" name="TextBox 21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Backdrop" descr="bg-m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31520" y="617220"/>
            <a:ext cx="118872" cy="118872"/>
          </a:xfrm>
          <a:prstGeom prst="ellipse">
            <a:avLst/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69264" y="5303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96112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600" b="0">
                <a:solidFill>
                  <a:srgbClr val="FFFFFF"/>
                </a:solidFill>
                <a:latin typeface="Plus Jakarta Sans ExtraBold"/>
              </a:rPr>
              <a:t>Four apps. Four accounts. </a:t>
            </a:r>
            <a:r>
              <a:rPr sz="3600" b="0">
                <a:solidFill>
                  <a:srgbClr val="06E288"/>
                </a:solidFill>
                <a:latin typeface="Plus Jakarta Sans ExtraBold"/>
              </a:rPr>
              <a:t>Four clouds.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43800" y="2240279"/>
            <a:ext cx="3916375" cy="3840480"/>
          </a:xfrm>
          <a:prstGeom prst="roundRect">
            <a:avLst>
              <a:gd name="adj" fmla="val 5238"/>
            </a:avLst>
          </a:prstGeom>
          <a:solidFill>
            <a:srgbClr val="06E288">
              <a:alpha val="7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140">
                <a:solidFill>
                  <a:srgbClr val="5F7299"/>
                </a:solidFill>
                <a:latin typeface="Plus Jakarta Sans"/>
              </a:rPr>
              <a:t>THE NEED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140">
                <a:solidFill>
                  <a:srgbClr val="5F7299"/>
                </a:solidFill>
                <a:latin typeface="Plus Jakarta Sans"/>
              </a:rPr>
              <a:t>TODAY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331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140">
                <a:solidFill>
                  <a:srgbClr val="06E288"/>
                </a:solidFill>
                <a:latin typeface="Plus Jakarta Sans"/>
              </a:rPr>
              <a:t>CARESPHERE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31520" y="2788920"/>
            <a:ext cx="10728655" cy="0"/>
          </a:xfrm>
          <a:prstGeom prst="line">
            <a:avLst/>
          </a:prstGeom>
          <a:ln w="9525">
            <a:solidFill>
              <a:srgbClr val="FFFFFF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31520" y="2953512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Plus Jakarta Sans"/>
              </a:rPr>
              <a:t>Medication reminders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953512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D7E0F2"/>
                </a:solidFill>
                <a:latin typeface="Plus Jakarta Sans"/>
              </a:rPr>
              <a:t>Medisafe  </a:t>
            </a:r>
            <a:r>
              <a:rPr sz="1600" b="0">
                <a:solidFill>
                  <a:srgbClr val="93A4C7"/>
                </a:solidFill>
                <a:latin typeface="Plus Jakarta Sans"/>
              </a:rPr>
              <a:t>account · cloud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953512"/>
            <a:ext cx="364205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6E288"/>
                </a:solidFill>
                <a:latin typeface="Plus Jakarta Sans Medium"/>
              </a:rPr>
              <a:t>Overview tab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31520" y="3447287"/>
            <a:ext cx="10728655" cy="0"/>
          </a:xfrm>
          <a:prstGeom prst="line">
            <a:avLst/>
          </a:prstGeom>
          <a:ln w="9525">
            <a:solidFill>
              <a:srgbClr val="FFFFFF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1520" y="3611879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Plus Jakarta Sans"/>
              </a:rPr>
              <a:t>Video calls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611879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D7E0F2"/>
                </a:solidFill>
                <a:latin typeface="Plus Jakarta Sans"/>
              </a:rPr>
              <a:t>FaceTime  </a:t>
            </a:r>
            <a:r>
              <a:rPr sz="1600" b="0">
                <a:solidFill>
                  <a:srgbClr val="93A4C7"/>
                </a:solidFill>
                <a:latin typeface="Plus Jakarta Sans"/>
              </a:rPr>
              <a:t>account · cloud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611879"/>
            <a:ext cx="364205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6E288"/>
                </a:solidFill>
                <a:latin typeface="Plus Jakarta Sans Medium"/>
              </a:rPr>
              <a:t>Coffee Circles · Jitsi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105656"/>
            <a:ext cx="10728655" cy="0"/>
          </a:xfrm>
          <a:prstGeom prst="line">
            <a:avLst/>
          </a:prstGeom>
          <a:ln w="9525">
            <a:solidFill>
              <a:srgbClr val="FFFFFF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27024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Plus Jakarta Sans"/>
              </a:rPr>
              <a:t>Health record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4270248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D7E0F2"/>
                </a:solidFill>
                <a:latin typeface="Plus Jakarta Sans"/>
              </a:rPr>
              <a:t>MyChart  </a:t>
            </a:r>
            <a:r>
              <a:rPr sz="1600" b="0">
                <a:solidFill>
                  <a:srgbClr val="93A4C7"/>
                </a:solidFill>
                <a:latin typeface="Plus Jakarta Sans"/>
              </a:rPr>
              <a:t>account · cloud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4270248"/>
            <a:ext cx="364205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6E288"/>
                </a:solidFill>
                <a:latin typeface="Plus Jakarta Sans Medium"/>
              </a:rPr>
              <a:t>Visit brief · .txt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1520" y="4764024"/>
            <a:ext cx="10728655" cy="0"/>
          </a:xfrm>
          <a:prstGeom prst="line">
            <a:avLst/>
          </a:prstGeom>
          <a:ln w="9525">
            <a:solidFill>
              <a:srgbClr val="FFFFFF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31520" y="4928616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Plus Jakarta Sans"/>
              </a:rPr>
              <a:t>Family updates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928616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D7E0F2"/>
                </a:solidFill>
                <a:latin typeface="Plus Jakarta Sans"/>
              </a:rPr>
              <a:t>CaringBridge  </a:t>
            </a:r>
            <a:r>
              <a:rPr sz="1600" b="0">
                <a:solidFill>
                  <a:srgbClr val="93A4C7"/>
                </a:solidFill>
                <a:latin typeface="Plus Jakarta Sans"/>
              </a:rPr>
              <a:t>account · cloud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928616"/>
            <a:ext cx="364205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6E288"/>
                </a:solidFill>
                <a:latin typeface="Plus Jakarta Sans Medium"/>
              </a:rPr>
              <a:t>Care Circle notes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31520" y="5422392"/>
            <a:ext cx="10728655" cy="0"/>
          </a:xfrm>
          <a:prstGeom prst="line">
            <a:avLst/>
          </a:prstGeom>
          <a:ln w="9525">
            <a:solidFill>
              <a:srgbClr val="FFFFFF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31520" y="5605272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Plus Jakarta Sans"/>
              </a:rPr>
              <a:t>Total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5605272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93A4C7"/>
                </a:solidFill>
                <a:latin typeface="Plus Jakarta Sans"/>
              </a:rPr>
              <a:t>4 apps · 4 accounts · 4 clouds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605272"/>
            <a:ext cx="3642055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6E288"/>
                </a:solidFill>
                <a:latin typeface="Plus Jakarta Sans"/>
              </a:rPr>
              <a:t>1 app · 0 accounts · 0 clouds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6053328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5F7299"/>
                </a:solidFill>
                <a:latin typeface="Plus Jakarta Sans"/>
              </a:rPr>
              <a:t>None of the four was designed for autistic users.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48495" y="292608"/>
            <a:ext cx="201168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200" b="0">
                <a:solidFill>
                  <a:srgbClr val="FFFFFF">
                    <a:alpha val="7000"/>
                  </a:srgbClr>
                </a:solidFill>
                <a:latin typeface="Plus Jakarta Sans ExtraBold"/>
              </a:rPr>
              <a:t>04</a:t>
            </a:r>
          </a:p>
        </p:txBody>
      </p:sp>
      <p:pic>
        <p:nvPicPr>
          <p:cNvPr id="32" name="Picture 31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33" name="TextBox 32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Backdrop" descr="bg-m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31520" y="617220"/>
            <a:ext cx="118872" cy="118872"/>
          </a:xfrm>
          <a:prstGeom prst="ellipse">
            <a:avLst/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69264" y="5303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96112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1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800" b="0">
                <a:solidFill>
                  <a:srgbClr val="FFFFFF"/>
                </a:solidFill>
                <a:latin typeface="Plus Jakarta Sans ExtraBold"/>
              </a:rPr>
              <a:t>One calm app. Five tabs. </a:t>
            </a:r>
            <a:r>
              <a:rPr sz="3800" b="0">
                <a:solidFill>
                  <a:srgbClr val="06E288"/>
                </a:solidFill>
                <a:latin typeface="Plus Jakarta Sans ExtraBold"/>
              </a:rPr>
              <a:t>Zero servers.</a:t>
            </a:r>
          </a:p>
        </p:txBody>
      </p:sp>
      <p:pic>
        <p:nvPicPr>
          <p:cNvPr id="6" name="Picture 5" descr="phone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31720"/>
            <a:ext cx="1965960" cy="386239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069212" y="1874519"/>
            <a:ext cx="1290574" cy="329184"/>
          </a:xfrm>
          <a:prstGeom prst="roundRect">
            <a:avLst>
              <a:gd name="adj" fmla="val 50000"/>
            </a:avLst>
          </a:prstGeom>
          <a:solidFill>
            <a:srgbClr val="06E28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69212" y="1874519"/>
            <a:ext cx="129057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spc="100">
                <a:solidFill>
                  <a:srgbClr val="06E288"/>
                </a:solidFill>
                <a:latin typeface="Plus Jakarta Sans"/>
              </a:rPr>
              <a:t>OVERVIEW</a:t>
            </a:r>
          </a:p>
        </p:txBody>
      </p:sp>
      <p:pic>
        <p:nvPicPr>
          <p:cNvPr id="9" name="Picture 8" descr="phone-activiti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2193" y="2606040"/>
            <a:ext cx="1965960" cy="386239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240836" y="1874519"/>
            <a:ext cx="1328674" cy="329184"/>
          </a:xfrm>
          <a:prstGeom prst="roundRect">
            <a:avLst>
              <a:gd name="adj" fmla="val 50000"/>
            </a:avLst>
          </a:prstGeom>
          <a:solidFill>
            <a:srgbClr val="06E28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240836" y="1874519"/>
            <a:ext cx="132867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spc="100">
                <a:solidFill>
                  <a:srgbClr val="06E288"/>
                </a:solidFill>
                <a:latin typeface="Plus Jakarta Sans"/>
              </a:rPr>
              <a:t>ACTIVITIES</a:t>
            </a:r>
          </a:p>
        </p:txBody>
      </p:sp>
      <p:pic>
        <p:nvPicPr>
          <p:cNvPr id="12" name="Picture 11" descr="phone-circ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2867" y="2331720"/>
            <a:ext cx="1965960" cy="386239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83860" y="1874519"/>
            <a:ext cx="1823973" cy="329184"/>
          </a:xfrm>
          <a:prstGeom prst="roundRect">
            <a:avLst>
              <a:gd name="adj" fmla="val 50000"/>
            </a:avLst>
          </a:prstGeom>
          <a:solidFill>
            <a:srgbClr val="06E28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83860" y="1874519"/>
            <a:ext cx="1823973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spc="100">
                <a:solidFill>
                  <a:srgbClr val="06E288"/>
                </a:solidFill>
                <a:latin typeface="Plus Jakarta Sans"/>
              </a:rPr>
              <a:t>COFFEE CIRCLES</a:t>
            </a:r>
          </a:p>
        </p:txBody>
      </p:sp>
      <p:pic>
        <p:nvPicPr>
          <p:cNvPr id="15" name="Picture 14" descr="phone-ca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03541" y="2606040"/>
            <a:ext cx="1965960" cy="3862396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7533284" y="1874519"/>
            <a:ext cx="1506474" cy="329184"/>
          </a:xfrm>
          <a:prstGeom prst="roundRect">
            <a:avLst>
              <a:gd name="adj" fmla="val 50000"/>
            </a:avLst>
          </a:prstGeom>
          <a:solidFill>
            <a:srgbClr val="06E28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533284" y="1874519"/>
            <a:ext cx="150647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spc="100">
                <a:solidFill>
                  <a:srgbClr val="06E288"/>
                </a:solidFill>
                <a:latin typeface="Plus Jakarta Sans"/>
              </a:rPr>
              <a:t>CARE CIRCLE</a:t>
            </a:r>
          </a:p>
        </p:txBody>
      </p:sp>
      <p:pic>
        <p:nvPicPr>
          <p:cNvPr id="18" name="Picture 17" descr="phone-vital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94215" y="2331720"/>
            <a:ext cx="1965960" cy="3862396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9981133" y="1874519"/>
            <a:ext cx="992124" cy="329184"/>
          </a:xfrm>
          <a:prstGeom prst="roundRect">
            <a:avLst>
              <a:gd name="adj" fmla="val 50000"/>
            </a:avLst>
          </a:prstGeom>
          <a:solidFill>
            <a:srgbClr val="06E28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981133" y="1874519"/>
            <a:ext cx="99212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spc="100">
                <a:solidFill>
                  <a:srgbClr val="06E288"/>
                </a:solidFill>
                <a:latin typeface="Plus Jakarta Sans"/>
              </a:rPr>
              <a:t>VITALS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292608"/>
            <a:ext cx="201168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200" b="0">
                <a:solidFill>
                  <a:srgbClr val="FFFFFF">
                    <a:alpha val="7000"/>
                  </a:srgbClr>
                </a:solidFill>
                <a:latin typeface="Plus Jakarta Sans ExtraBold"/>
              </a:rPr>
              <a:t>05</a:t>
            </a:r>
          </a:p>
        </p:txBody>
      </p:sp>
      <p:pic>
        <p:nvPicPr>
          <p:cNvPr id="22" name="Picture 21" descr="ic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23" name="TextBox 22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Backdrop" descr="bg-m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31520" y="617220"/>
            <a:ext cx="118872" cy="118872"/>
          </a:xfrm>
          <a:prstGeom prst="ellipse">
            <a:avLst/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69264" y="5303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96112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1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800" b="0">
                <a:solidFill>
                  <a:srgbClr val="FFFFFF"/>
                </a:solidFill>
                <a:latin typeface="Plus Jakarta Sans ExtraBold"/>
              </a:rPr>
              <a:t>Let’s see it.</a:t>
            </a:r>
          </a:p>
        </p:txBody>
      </p:sp>
      <p:pic>
        <p:nvPicPr>
          <p:cNvPr id="6" name="Picture 5" descr="web-overvie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783080"/>
            <a:ext cx="6766560" cy="4819916"/>
          </a:xfrm>
          <a:prstGeom prst="rect">
            <a:avLst/>
          </a:prstGeom>
        </p:spPr>
      </p:pic>
      <p:pic>
        <p:nvPicPr>
          <p:cNvPr id="7" name="Picture 6" descr="phone-over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2057400"/>
            <a:ext cx="2303876" cy="4526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732520" y="1874519"/>
            <a:ext cx="27276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140">
                <a:solidFill>
                  <a:srgbClr val="5F7299"/>
                </a:solidFill>
                <a:latin typeface="Plus Jakarta Sans"/>
              </a:rPr>
              <a:t>SIX SHOTS · ONE TAKE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286000"/>
            <a:ext cx="4114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06E288"/>
                </a:solidFill>
                <a:latin typeface="JetBrains Mono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286000"/>
            <a:ext cx="2316175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D7E0F2"/>
                </a:solidFill>
                <a:latin typeface="Plus Jakarta Sans"/>
              </a:rPr>
              <a:t>Mood check-in &amp; routine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2798064"/>
            <a:ext cx="4114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06E288"/>
                </a:solidFill>
                <a:latin typeface="JetBrains Mono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2798064"/>
            <a:ext cx="2316175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D7E0F2"/>
                </a:solidFill>
                <a:latin typeface="Plus Jakarta Sans"/>
              </a:rPr>
              <a:t>Reminder → Taken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20" y="3310128"/>
            <a:ext cx="4114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06E288"/>
                </a:solidFill>
                <a:latin typeface="JetBrains Mono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3310128"/>
            <a:ext cx="2316175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D7E0F2"/>
                </a:solidFill>
                <a:latin typeface="Plus Jakarta Sans"/>
              </a:rPr>
              <a:t>Pair a sensor · export 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32520" y="3822191"/>
            <a:ext cx="4114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06E288"/>
                </a:solidFill>
                <a:latin typeface="JetBrains Mono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822191"/>
            <a:ext cx="2316175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D7E0F2"/>
                </a:solidFill>
                <a:latin typeface="Plus Jakarta Sans"/>
              </a:rPr>
              <a:t>Pattern Recall · 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4334256"/>
            <a:ext cx="4114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06E288"/>
                </a:solidFill>
                <a:latin typeface="JetBrains Mono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4334256"/>
            <a:ext cx="2316175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D7E0F2"/>
                </a:solidFill>
                <a:latin typeface="Plus Jakarta Sans"/>
              </a:rPr>
              <a:t>Join a Coffee Circle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4846320"/>
            <a:ext cx="41148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06E288"/>
                </a:solidFill>
                <a:latin typeface="JetBrains Mono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4846320"/>
            <a:ext cx="2316175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D7E0F2"/>
                </a:solidFill>
                <a:latin typeface="Plus Jakarta Sans"/>
              </a:rPr>
              <a:t>Build the visit brief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32520" y="5532120"/>
            <a:ext cx="2281174" cy="329184"/>
          </a:xfrm>
          <a:prstGeom prst="roundRect">
            <a:avLst>
              <a:gd name="adj" fmla="val 50000"/>
            </a:avLst>
          </a:prstGeom>
          <a:solidFill>
            <a:srgbClr val="06E28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732520" y="5532120"/>
            <a:ext cx="228117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spc="100">
                <a:solidFill>
                  <a:srgbClr val="06E288"/>
                </a:solidFill>
                <a:latin typeface="Plus Jakarta Sans"/>
              </a:rPr>
              <a:t>SAME APP · TWO CLIENTS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8495" y="292608"/>
            <a:ext cx="201168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200" b="0">
                <a:solidFill>
                  <a:srgbClr val="FFFFFF">
                    <a:alpha val="7000"/>
                  </a:srgbClr>
                </a:solidFill>
                <a:latin typeface="Plus Jakarta Sans ExtraBold"/>
              </a:rPr>
              <a:t>06</a:t>
            </a:r>
          </a:p>
        </p:txBody>
      </p:sp>
      <p:pic>
        <p:nvPicPr>
          <p:cNvPr id="24" name="Picture 23" descr="ic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25" name="TextBox 24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50">
        <p:push dir="l"/>
      </p:transition>
    </mc:Choice>
    <mc:Fallback>
      <p:transition spd="med">
        <p:push dir="l"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Backdrop" descr="bg-m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31520" y="617220"/>
            <a:ext cx="118872" cy="118872"/>
          </a:xfrm>
          <a:prstGeom prst="ellipse">
            <a:avLst/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69264" y="5303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WHAT MAKES IT DIFFERENT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96112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1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800" b="0">
                <a:solidFill>
                  <a:srgbClr val="FFFFFF"/>
                </a:solidFill>
                <a:latin typeface="Plus Jakarta Sans ExtraBold"/>
              </a:rPr>
              <a:t>Four rules, </a:t>
            </a:r>
            <a:r>
              <a:rPr sz="3800" b="0">
                <a:solidFill>
                  <a:srgbClr val="06E288"/>
                </a:solidFill>
                <a:latin typeface="Plus Jakarta Sans ExtraBold"/>
              </a:rPr>
              <a:t>written into the code.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31520" y="2331720"/>
            <a:ext cx="10728655" cy="0"/>
          </a:xfrm>
          <a:prstGeom prst="line">
            <a:avLst/>
          </a:prstGeom>
          <a:ln w="9525">
            <a:solidFill>
              <a:srgbClr val="FFFFFF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31520" y="2606039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06E288"/>
                </a:solidFill>
                <a:latin typeface="JetBrains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253288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FFFFFF"/>
                </a:solidFill>
                <a:latin typeface="Plus Jakarta Sans"/>
              </a:rPr>
              <a:t>Never fabricate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59" y="257860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8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93A4C7"/>
                </a:solidFill>
                <a:latin typeface="Plus Jakarta Sans"/>
              </a:rPr>
              <a:t>every reading labeled where it is born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2596896"/>
            <a:ext cx="2292095" cy="347472"/>
          </a:xfrm>
          <a:prstGeom prst="roundRect">
            <a:avLst>
              <a:gd name="adj" fmla="val 50000"/>
            </a:avLst>
          </a:prstGeom>
          <a:solidFill>
            <a:srgbClr val="06E288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321040" y="2596896"/>
            <a:ext cx="2292095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06E288"/>
                </a:solidFill>
                <a:latin typeface="JetBrains Mono"/>
              </a:rPr>
              <a:t>'LIVE_BLE' : 'SIMULATED'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31520" y="3246120"/>
            <a:ext cx="10728655" cy="0"/>
          </a:xfrm>
          <a:prstGeom prst="line">
            <a:avLst/>
          </a:prstGeom>
          <a:ln w="9525">
            <a:solidFill>
              <a:srgbClr val="FFFFFF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31520" y="3520439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06E288"/>
                </a:solidFill>
                <a:latin typeface="JetBrains Mono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344728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Nothing sent automatically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59" y="349300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>
                <a:solidFill>
                  <a:srgbClr val="93A4C7"/>
                </a:solidFill>
                <a:latin typeface="Plus Jakarta Sans"/>
              </a:rPr>
              <a:t>a person always taps Send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3511296"/>
            <a:ext cx="2704845" cy="347472"/>
          </a:xfrm>
          <a:prstGeom prst="roundRect">
            <a:avLst>
              <a:gd name="adj" fmla="val 50000"/>
            </a:avLst>
          </a:prstGeom>
          <a:solidFill>
            <a:srgbClr val="06E288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321040" y="3511296"/>
            <a:ext cx="2704845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06E288"/>
                </a:solidFill>
                <a:latin typeface="JetBrains Mono"/>
              </a:rPr>
              <a:t>navigator.share() · ShareLink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31520" y="4160520"/>
            <a:ext cx="10728655" cy="0"/>
          </a:xfrm>
          <a:prstGeom prst="line">
            <a:avLst/>
          </a:prstGeom>
          <a:ln w="9525">
            <a:solidFill>
              <a:srgbClr val="FFFFFF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44348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06E288"/>
                </a:solidFill>
                <a:latin typeface="JetBrains Mono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36168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FFFFFF"/>
                </a:solidFill>
                <a:latin typeface="Plus Jakarta Sans"/>
              </a:rPr>
              <a:t>Calm by default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59" y="440740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5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93A4C7"/>
                </a:solidFill>
                <a:latin typeface="Plus Jakarta Sans"/>
              </a:rPr>
              <a:t>no timers, scores or auto-advance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4425696"/>
            <a:ext cx="1879345" cy="347472"/>
          </a:xfrm>
          <a:prstGeom prst="roundRect">
            <a:avLst>
              <a:gd name="adj" fmla="val 50000"/>
            </a:avLst>
          </a:prstGeom>
          <a:solidFill>
            <a:srgbClr val="06E288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21040" y="4425696"/>
            <a:ext cx="1879345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06E288"/>
                </a:solidFill>
                <a:latin typeface="JetBrains Mono"/>
              </a:rPr>
              <a:t>Untimed · No scores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31520" y="5074920"/>
            <a:ext cx="10728655" cy="0"/>
          </a:xfrm>
          <a:prstGeom prst="line">
            <a:avLst/>
          </a:prstGeom>
          <a:ln w="9525">
            <a:solidFill>
              <a:srgbClr val="FFFFFF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31520" y="5349240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06E288"/>
                </a:solidFill>
                <a:latin typeface="JetBrains Mono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527608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FFFFFF"/>
                </a:solidFill>
                <a:latin typeface="Plus Jakarta Sans"/>
              </a:rPr>
              <a:t>Private by architecture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59" y="532180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50" b="0">
                <a:solidFill>
                  <a:srgbClr val="93A4C7"/>
                </a:solidFill>
                <a:latin typeface="Plus Jakarta Sans"/>
              </a:rPr>
              <a:t>no account, no server, encrypted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21040" y="5340096"/>
            <a:ext cx="2126996" cy="347472"/>
          </a:xfrm>
          <a:prstGeom prst="roundRect">
            <a:avLst>
              <a:gd name="adj" fmla="val 50000"/>
            </a:avLst>
          </a:prstGeom>
          <a:solidFill>
            <a:srgbClr val="06E288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8321040" y="5340096"/>
            <a:ext cx="2126996" cy="34747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06E288"/>
                </a:solidFill>
                <a:latin typeface="JetBrains Mono"/>
              </a:rPr>
              <a:t>'AES-GCM', length: 256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31520" y="5989320"/>
            <a:ext cx="10728655" cy="0"/>
          </a:xfrm>
          <a:prstGeom prst="line">
            <a:avLst/>
          </a:prstGeom>
          <a:ln w="9525">
            <a:solidFill>
              <a:srgbClr val="FFFFFF">
                <a:alpha val="1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9448495" y="292608"/>
            <a:ext cx="201168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200" b="0">
                <a:solidFill>
                  <a:srgbClr val="FFFFFF">
                    <a:alpha val="7000"/>
                  </a:srgbClr>
                </a:solidFill>
                <a:latin typeface="Plus Jakarta Sans ExtraBold"/>
              </a:rPr>
              <a:t>07</a:t>
            </a:r>
          </a:p>
        </p:txBody>
      </p:sp>
      <p:pic>
        <p:nvPicPr>
          <p:cNvPr id="32" name="Picture 31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33" name="TextBox 32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Backdrop" descr="bg-m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31520" y="617220"/>
            <a:ext cx="118872" cy="118872"/>
          </a:xfrm>
          <a:prstGeom prst="ellipse">
            <a:avLst/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69264" y="5303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WHO IT’S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96112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1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800" b="0">
                <a:solidFill>
                  <a:srgbClr val="FFFFFF"/>
                </a:solidFill>
                <a:latin typeface="Plus Jakarta Sans ExtraBold"/>
              </a:rPr>
              <a:t>Built for </a:t>
            </a:r>
            <a:r>
              <a:rPr sz="3800" b="0">
                <a:solidFill>
                  <a:srgbClr val="06E288"/>
                </a:solidFill>
                <a:latin typeface="Plus Jakarta Sans ExtraBold"/>
              </a:rPr>
              <a:t>three people</a:t>
            </a:r>
            <a:r>
              <a:rPr sz="3800" b="0">
                <a:solidFill>
                  <a:srgbClr val="FFFFFF"/>
                </a:solidFill>
                <a:latin typeface="Plus Jakarta Sans ExtraBold"/>
              </a:rPr>
              <a:t> at once.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3362858" cy="3840480"/>
          </a:xfrm>
          <a:prstGeom prst="roundRect">
            <a:avLst>
              <a:gd name="adj" fmla="val 5982"/>
            </a:avLst>
          </a:prstGeom>
          <a:solidFill>
            <a:srgbClr val="0A1324">
              <a:alpha val="55000"/>
            </a:srgbClr>
          </a:solidFill>
          <a:ln w="9525">
            <a:solidFill>
              <a:srgbClr val="FFFF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2532888"/>
            <a:ext cx="272277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Older adults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953512"/>
            <a:ext cx="27227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93A4C7"/>
                </a:solidFill>
                <a:latin typeface="Plus Jakarta Sans"/>
              </a:rPr>
              <a:t>routines, reminders, real company</a:t>
            </a:r>
          </a:p>
        </p:txBody>
      </p:sp>
      <p:pic>
        <p:nvPicPr>
          <p:cNvPr id="9" name="Picture 8" descr="phone-overview.png"/>
          <p:cNvPicPr>
            <a:picLocks noChangeAspect="1"/>
          </p:cNvPicPr>
          <p:nvPr/>
        </p:nvPicPr>
        <p:blipFill>
          <a:blip r:embed="rId3"/>
          <a:srcRect b="50025"/>
          <a:stretch>
            <a:fillRect/>
          </a:stretch>
        </p:blipFill>
        <p:spPr>
          <a:xfrm>
            <a:off x="1155649" y="3611880"/>
            <a:ext cx="2514600" cy="24688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414418" y="2240280"/>
            <a:ext cx="3362858" cy="3840480"/>
          </a:xfrm>
          <a:prstGeom prst="roundRect">
            <a:avLst>
              <a:gd name="adj" fmla="val 5982"/>
            </a:avLst>
          </a:prstGeom>
          <a:solidFill>
            <a:srgbClr val="0A1324">
              <a:alpha val="55000"/>
            </a:srgbClr>
          </a:solidFill>
          <a:ln w="9525">
            <a:solidFill>
              <a:srgbClr val="FFFF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734458" y="2532888"/>
            <a:ext cx="272277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FFFFFF"/>
                </a:solidFill>
                <a:latin typeface="Plus Jakarta Sans"/>
              </a:rPr>
              <a:t>Autistic teens &amp; adults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4458" y="2953512"/>
            <a:ext cx="27227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93A4C7"/>
                </a:solidFill>
                <a:latin typeface="Plus Jakarta Sans"/>
              </a:rPr>
              <a:t>predictable, untimed, sensory-calm</a:t>
            </a:r>
          </a:p>
        </p:txBody>
      </p:sp>
      <p:pic>
        <p:nvPicPr>
          <p:cNvPr id="13" name="Picture 12" descr="phone-activities.png"/>
          <p:cNvPicPr>
            <a:picLocks noChangeAspect="1"/>
          </p:cNvPicPr>
          <p:nvPr/>
        </p:nvPicPr>
        <p:blipFill>
          <a:blip r:embed="rId4"/>
          <a:srcRect b="50025"/>
          <a:stretch>
            <a:fillRect/>
          </a:stretch>
        </p:blipFill>
        <p:spPr>
          <a:xfrm>
            <a:off x="4838547" y="3611880"/>
            <a:ext cx="2514600" cy="24688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097316" y="2240280"/>
            <a:ext cx="3362858" cy="3840480"/>
          </a:xfrm>
          <a:prstGeom prst="roundRect">
            <a:avLst>
              <a:gd name="adj" fmla="val 5982"/>
            </a:avLst>
          </a:prstGeom>
          <a:solidFill>
            <a:srgbClr val="0A1324">
              <a:alpha val="55000"/>
            </a:srgbClr>
          </a:solidFill>
          <a:ln w="9525">
            <a:solidFill>
              <a:srgbClr val="FFFF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417356" y="2532888"/>
            <a:ext cx="2722778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>
                <a:solidFill>
                  <a:srgbClr val="FFFFFF"/>
                </a:solidFill>
                <a:latin typeface="Plus Jakarta Sans"/>
              </a:rPr>
              <a:t>Family caregivers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7356" y="2953512"/>
            <a:ext cx="2722778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93A4C7"/>
                </a:solidFill>
                <a:latin typeface="Plus Jakarta Sans"/>
              </a:rPr>
              <a:t>notes and a brief they can trust</a:t>
            </a:r>
          </a:p>
        </p:txBody>
      </p:sp>
      <p:pic>
        <p:nvPicPr>
          <p:cNvPr id="17" name="Picture 16" descr="phone-visitbrief.png"/>
          <p:cNvPicPr>
            <a:picLocks noChangeAspect="1"/>
          </p:cNvPicPr>
          <p:nvPr/>
        </p:nvPicPr>
        <p:blipFill>
          <a:blip r:embed="rId5"/>
          <a:srcRect b="50025"/>
          <a:stretch>
            <a:fillRect/>
          </a:stretch>
        </p:blipFill>
        <p:spPr>
          <a:xfrm>
            <a:off x="8521446" y="3611880"/>
            <a:ext cx="2514600" cy="24688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448495" y="292608"/>
            <a:ext cx="201168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200" b="0">
                <a:solidFill>
                  <a:srgbClr val="FFFFFF">
                    <a:alpha val="7000"/>
                  </a:srgbClr>
                </a:solidFill>
                <a:latin typeface="Plus Jakarta Sans ExtraBold"/>
              </a:rPr>
              <a:t>08</a:t>
            </a:r>
          </a:p>
        </p:txBody>
      </p:sp>
      <p:pic>
        <p:nvPicPr>
          <p:cNvPr id="19" name="Picture 18" descr="ic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20" name="TextBox 19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Backdrop" descr="bg-m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31520" y="617220"/>
            <a:ext cx="118872" cy="118872"/>
          </a:xfrm>
          <a:prstGeom prst="ellipse">
            <a:avLst/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69264" y="5303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PRIVACY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96112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1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800" b="0">
                <a:solidFill>
                  <a:srgbClr val="FFFFFF"/>
                </a:solidFill>
                <a:latin typeface="Plus Jakarta Sans ExtraBold"/>
              </a:rPr>
              <a:t>Everything </a:t>
            </a:r>
            <a:r>
              <a:rPr sz="3800" b="0">
                <a:solidFill>
                  <a:srgbClr val="06E288"/>
                </a:solidFill>
                <a:latin typeface="Plus Jakarta Sans ExtraBold"/>
              </a:rPr>
              <a:t>stays on the device.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40280"/>
            <a:ext cx="6675120" cy="3794760"/>
          </a:xfrm>
          <a:prstGeom prst="roundRect">
            <a:avLst>
              <a:gd name="adj" fmla="val 10843"/>
            </a:avLst>
          </a:prstGeom>
          <a:solidFill>
            <a:srgbClr val="0A1324">
              <a:alpha val="35000"/>
            </a:srgbClr>
          </a:solidFill>
          <a:ln w="19050">
            <a:solidFill>
              <a:srgbClr val="06E288">
                <a:alpha val="5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1051560" y="2514600"/>
            <a:ext cx="1538224" cy="329184"/>
          </a:xfrm>
          <a:prstGeom prst="roundRect">
            <a:avLst>
              <a:gd name="adj" fmla="val 50000"/>
            </a:avLst>
          </a:prstGeom>
          <a:solidFill>
            <a:srgbClr val="06E28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51560" y="2514600"/>
            <a:ext cx="153822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spc="100">
                <a:solidFill>
                  <a:srgbClr val="06E288"/>
                </a:solidFill>
                <a:latin typeface="Plus Jakarta Sans"/>
              </a:rPr>
              <a:t>ON THE DEVICE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3017520"/>
            <a:ext cx="1889759" cy="1097280"/>
          </a:xfrm>
          <a:prstGeom prst="roundRect">
            <a:avLst>
              <a:gd name="adj" fmla="val 13333"/>
            </a:avLst>
          </a:prstGeom>
          <a:solidFill>
            <a:srgbClr val="0A1324">
              <a:alpha val="60000"/>
            </a:srgbClr>
          </a:solidFill>
          <a:ln w="9525">
            <a:solidFill>
              <a:srgbClr val="FFFF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252728" y="3218688"/>
            <a:ext cx="15239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Vitals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52728" y="3547872"/>
            <a:ext cx="152399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93A4C7"/>
                </a:solidFill>
                <a:latin typeface="Plus Jakarta Sans"/>
              </a:rPr>
              <a:t>BLE 0x180D · HealthKit, read-only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24200" y="3017520"/>
            <a:ext cx="1889759" cy="1097280"/>
          </a:xfrm>
          <a:prstGeom prst="roundRect">
            <a:avLst>
              <a:gd name="adj" fmla="val 13333"/>
            </a:avLst>
          </a:prstGeom>
          <a:solidFill>
            <a:srgbClr val="0A1324">
              <a:alpha val="60000"/>
            </a:srgbClr>
          </a:solidFill>
          <a:ln w="9525">
            <a:solidFill>
              <a:srgbClr val="FFFF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325368" y="3218688"/>
            <a:ext cx="15239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Health Guide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25368" y="3547872"/>
            <a:ext cx="152399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93A4C7"/>
                </a:solidFill>
                <a:latin typeface="Plus Jakarta Sans"/>
              </a:rPr>
              <a:t>Qwen2.5-1.5B · llama.cpp, offline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96840" y="3017520"/>
            <a:ext cx="1889759" cy="1097280"/>
          </a:xfrm>
          <a:prstGeom prst="roundRect">
            <a:avLst>
              <a:gd name="adj" fmla="val 13333"/>
            </a:avLst>
          </a:prstGeom>
          <a:solidFill>
            <a:srgbClr val="0A1324">
              <a:alpha val="60000"/>
            </a:srgbClr>
          </a:solidFill>
          <a:ln w="9525">
            <a:solidFill>
              <a:srgbClr val="FFFF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5398008" y="3218688"/>
            <a:ext cx="15239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1">
                <a:solidFill>
                  <a:srgbClr val="FFFFFF"/>
                </a:solidFill>
                <a:latin typeface="Plus Jakarta Sans"/>
              </a:rPr>
              <a:t>Encrypted store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8008" y="3547872"/>
            <a:ext cx="152399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93A4C7"/>
                </a:solidFill>
                <a:latin typeface="Plus Jakarta Sans"/>
              </a:rPr>
              <a:t>AES-256-GCM · Face ID lock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1560" y="4297680"/>
            <a:ext cx="1889759" cy="1097280"/>
          </a:xfrm>
          <a:prstGeom prst="roundRect">
            <a:avLst>
              <a:gd name="adj" fmla="val 13333"/>
            </a:avLst>
          </a:prstGeom>
          <a:solidFill>
            <a:srgbClr val="0A1324">
              <a:alpha val="60000"/>
            </a:srgbClr>
          </a:solidFill>
          <a:ln w="9525">
            <a:solidFill>
              <a:srgbClr val="FFFF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52728" y="4498848"/>
            <a:ext cx="15239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Activities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2728" y="4828032"/>
            <a:ext cx="152399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93A4C7"/>
                </a:solidFill>
                <a:latin typeface="Plus Jakarta Sans"/>
              </a:rPr>
              <a:t>Web Audio · untimed, unscored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24200" y="4297680"/>
            <a:ext cx="1889759" cy="1097280"/>
          </a:xfrm>
          <a:prstGeom prst="roundRect">
            <a:avLst>
              <a:gd name="adj" fmla="val 13333"/>
            </a:avLst>
          </a:prstGeom>
          <a:solidFill>
            <a:srgbClr val="0A1324">
              <a:alpha val="60000"/>
            </a:srgbClr>
          </a:solidFill>
          <a:ln w="9525">
            <a:solidFill>
              <a:srgbClr val="FFFF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325368" y="4498848"/>
            <a:ext cx="15239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Visit brief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25368" y="4828032"/>
            <a:ext cx="152399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93A4C7"/>
                </a:solidFill>
                <a:latin typeface="Plus Jakarta Sans"/>
              </a:rPr>
              <a:t>fields you pick · exact preview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96840" y="4297680"/>
            <a:ext cx="1889759" cy="1097280"/>
          </a:xfrm>
          <a:prstGeom prst="roundRect">
            <a:avLst>
              <a:gd name="adj" fmla="val 13333"/>
            </a:avLst>
          </a:prstGeom>
          <a:solidFill>
            <a:srgbClr val="0A1324">
              <a:alpha val="60000"/>
            </a:srgbClr>
          </a:solidFill>
          <a:ln w="9525">
            <a:solidFill>
              <a:srgbClr val="FFFF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5398008" y="4498848"/>
            <a:ext cx="1523999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FFFFFF"/>
                </a:solidFill>
                <a:latin typeface="Plus Jakarta Sans"/>
              </a:rPr>
              <a:t>Coffee Circles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8008" y="4828032"/>
            <a:ext cx="1523999" cy="502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93A4C7"/>
                </a:solidFill>
                <a:latin typeface="Plus Jakarta Sans"/>
              </a:rPr>
              <a:t>links to real Jitsi rooms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09560" y="2286000"/>
            <a:ext cx="35506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140">
                <a:solidFill>
                  <a:srgbClr val="5F7299"/>
                </a:solidFill>
                <a:latin typeface="Plus Jakarta Sans"/>
              </a:rPr>
              <a:t>WHAT LEAVES THE DEVICE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406640" y="2990088"/>
            <a:ext cx="393192" cy="0"/>
          </a:xfrm>
          <a:prstGeom prst="line">
            <a:avLst/>
          </a:prstGeom>
          <a:ln w="15875">
            <a:solidFill>
              <a:srgbClr val="06E28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909560" y="2697480"/>
            <a:ext cx="35506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Plus Jakarta Sans"/>
              </a:rPr>
              <a:t>Live video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3044952"/>
            <a:ext cx="35506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93A4C7"/>
                </a:solidFill>
                <a:latin typeface="Plus Jakarta Sans"/>
              </a:rPr>
              <a:t>only while you are in a Jitsi room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406640" y="3858768"/>
            <a:ext cx="393192" cy="0"/>
          </a:xfrm>
          <a:prstGeom prst="line">
            <a:avLst/>
          </a:prstGeom>
          <a:ln w="15875">
            <a:solidFill>
              <a:srgbClr val="06E288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909560" y="3566160"/>
            <a:ext cx="35506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FFFFFF"/>
                </a:solidFill>
                <a:latin typeface="Plus Jakarta Sans"/>
              </a:rPr>
              <a:t>A visit brief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09560" y="3913632"/>
            <a:ext cx="355061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93A4C7"/>
                </a:solidFill>
                <a:latin typeface="Plus Jakarta Sans"/>
              </a:rPr>
              <a:t>only when you tap Share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4526280"/>
            <a:ext cx="355061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140">
                <a:solidFill>
                  <a:srgbClr val="5F7299"/>
                </a:solidFill>
                <a:latin typeface="Plus Jakarta Sans"/>
              </a:rPr>
              <a:t>NEVER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09560" y="4846320"/>
            <a:ext cx="118872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0">
                <a:solidFill>
                  <a:srgbClr val="FFFFFF"/>
                </a:solidFill>
                <a:latin typeface="Plus Jakarta Sans ExtraBold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474208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06E288"/>
                </a:solidFill>
                <a:latin typeface="Plus Jakarta Sans Medium"/>
              </a:rPr>
              <a:t>accounts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4846320"/>
            <a:ext cx="118872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0">
                <a:solidFill>
                  <a:srgbClr val="FFFFFF"/>
                </a:solidFill>
                <a:latin typeface="Plus Jakarta Sans ExtraBold"/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5474208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06E288"/>
                </a:solidFill>
                <a:latin typeface="Plus Jakarta Sans Medium"/>
              </a:rPr>
              <a:t>servers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4846320"/>
            <a:ext cx="1188720" cy="609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0">
                <a:solidFill>
                  <a:srgbClr val="FFFFFF"/>
                </a:solidFill>
                <a:latin typeface="Plus Jakarta Sans ExtraBold"/>
              </a:rP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5474208"/>
            <a:ext cx="118872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06E288"/>
                </a:solidFill>
                <a:latin typeface="Plus Jakarta Sans Medium"/>
              </a:rPr>
              <a:t>trackers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48495" y="292608"/>
            <a:ext cx="201168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200" b="0">
                <a:solidFill>
                  <a:srgbClr val="FFFFFF">
                    <a:alpha val="7000"/>
                  </a:srgbClr>
                </a:solidFill>
                <a:latin typeface="Plus Jakarta Sans ExtraBold"/>
              </a:rPr>
              <a:t>09</a:t>
            </a:r>
          </a:p>
        </p:txBody>
      </p:sp>
      <p:pic>
        <p:nvPicPr>
          <p:cNvPr id="42" name="Picture 41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43" name="TextBox 42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Backdrop" descr="bg-m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31520" y="617220"/>
            <a:ext cx="118872" cy="118872"/>
          </a:xfrm>
          <a:prstGeom prst="ellipse">
            <a:avLst/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69264" y="5303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HOW IT’S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96112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1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800" b="0">
                <a:solidFill>
                  <a:srgbClr val="FFFFFF"/>
                </a:solidFill>
                <a:latin typeface="Plus Jakarta Sans ExtraBold"/>
              </a:rPr>
              <a:t>Two clients. One promise. </a:t>
            </a:r>
            <a:r>
              <a:rPr sz="3800" b="0">
                <a:solidFill>
                  <a:srgbClr val="06E288"/>
                </a:solidFill>
                <a:latin typeface="Plus Jakarta Sans ExtraBold"/>
              </a:rPr>
              <a:t>No server.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5204307" cy="2148840"/>
          </a:xfrm>
          <a:prstGeom prst="roundRect">
            <a:avLst>
              <a:gd name="adj" fmla="val 9361"/>
            </a:avLst>
          </a:prstGeom>
          <a:solidFill>
            <a:srgbClr val="0A1324">
              <a:alpha val="55000"/>
            </a:srgbClr>
          </a:solidFill>
          <a:ln w="9525">
            <a:solidFill>
              <a:srgbClr val="FFFF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51560" y="25603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Web 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49013" y="2615184"/>
            <a:ext cx="1366774" cy="329184"/>
          </a:xfrm>
          <a:prstGeom prst="roundRect">
            <a:avLst>
              <a:gd name="adj" fmla="val 50000"/>
            </a:avLst>
          </a:prstGeom>
          <a:solidFill>
            <a:srgbClr val="06E28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249013" y="2615184"/>
            <a:ext cx="136677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100">
                <a:solidFill>
                  <a:srgbClr val="06E288"/>
                </a:solidFill>
                <a:latin typeface="Plus Jakarta Sans"/>
              </a:rPr>
              <a:t>JAVASCRIPT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3154680"/>
            <a:ext cx="933196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51560" y="3154680"/>
            <a:ext cx="9331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D7E0F2"/>
                </a:solidFill>
                <a:latin typeface="Plus Jakarta Sans Medium"/>
              </a:rPr>
              <a:t>React 18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76196" y="3154680"/>
            <a:ext cx="736346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076196" y="3154680"/>
            <a:ext cx="73634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D7E0F2"/>
                </a:solidFill>
                <a:latin typeface="Plus Jakarta Sans Medium"/>
              </a:rPr>
              <a:t>Vite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03982" y="3154680"/>
            <a:ext cx="1066546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2903982" y="3154680"/>
            <a:ext cx="106654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D7E0F2"/>
                </a:solidFill>
                <a:latin typeface="Plus Jakarta Sans Medium"/>
              </a:rPr>
              <a:t>Tailwind 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1968" y="3154680"/>
            <a:ext cx="1460246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061968" y="3154680"/>
            <a:ext cx="146024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D7E0F2"/>
                </a:solidFill>
                <a:latin typeface="Plus Jakarta Sans Medium"/>
              </a:rPr>
              <a:t>Web Bluetooth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51560" y="3557016"/>
            <a:ext cx="1149096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051560" y="3557016"/>
            <a:ext cx="11490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D7E0F2"/>
                </a:solidFill>
                <a:latin typeface="Plus Jakarta Sans Medium"/>
              </a:rPr>
              <a:t>Web Audio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92096" y="3557016"/>
            <a:ext cx="1244346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2292096" y="3557016"/>
            <a:ext cx="124434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D7E0F2"/>
                </a:solidFill>
                <a:latin typeface="Plus Jakarta Sans Medium"/>
              </a:rPr>
              <a:t>Web Crypto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27882" y="3557016"/>
            <a:ext cx="1479296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627882" y="3557016"/>
            <a:ext cx="14792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D7E0F2"/>
                </a:solidFill>
                <a:latin typeface="Plus Jakarta Sans Medium"/>
              </a:rPr>
              <a:t>installable PWA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5867" y="2286000"/>
            <a:ext cx="5204307" cy="2148840"/>
          </a:xfrm>
          <a:prstGeom prst="roundRect">
            <a:avLst>
              <a:gd name="adj" fmla="val 9361"/>
            </a:avLst>
          </a:prstGeom>
          <a:solidFill>
            <a:srgbClr val="0A1324">
              <a:alpha val="55000"/>
            </a:srgbClr>
          </a:solidFill>
          <a:ln w="9525">
            <a:solidFill>
              <a:srgbClr val="FFFF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575907" y="25603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200" b="1">
                <a:solidFill>
                  <a:srgbClr val="FFFFFF"/>
                </a:solidFill>
                <a:latin typeface="Plus Jakarta Sans"/>
              </a:rPr>
              <a:t>iPhone app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36911" y="2615184"/>
            <a:ext cx="903224" cy="329184"/>
          </a:xfrm>
          <a:prstGeom prst="roundRect">
            <a:avLst>
              <a:gd name="adj" fmla="val 50000"/>
            </a:avLst>
          </a:prstGeom>
          <a:solidFill>
            <a:srgbClr val="06E28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236911" y="2615184"/>
            <a:ext cx="90322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100">
                <a:solidFill>
                  <a:srgbClr val="06E288"/>
                </a:solidFill>
                <a:latin typeface="Plus Jakarta Sans"/>
              </a:rPr>
              <a:t>SWIFT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75907" y="3154680"/>
            <a:ext cx="869696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575907" y="3154680"/>
            <a:ext cx="8696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D7E0F2"/>
                </a:solidFill>
                <a:latin typeface="Plus Jakarta Sans Medium"/>
              </a:rPr>
              <a:t>SwiftUI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37043" y="3154680"/>
            <a:ext cx="1015746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537043" y="3154680"/>
            <a:ext cx="101574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D7E0F2"/>
                </a:solidFill>
                <a:latin typeface="Plus Jakarta Sans Medium"/>
              </a:rPr>
              <a:t>HealthKit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44229" y="3154680"/>
            <a:ext cx="1453896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644229" y="3154680"/>
            <a:ext cx="1453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D7E0F2"/>
                </a:solidFill>
                <a:latin typeface="Plus Jakarta Sans Medium"/>
              </a:rPr>
              <a:t>CoreBluetooth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75907" y="3557016"/>
            <a:ext cx="1060196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575907" y="3557016"/>
            <a:ext cx="10601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D7E0F2"/>
                </a:solidFill>
                <a:latin typeface="Plus Jakarta Sans Medium"/>
              </a:rPr>
              <a:t>CryptoKit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727543" y="3557016"/>
            <a:ext cx="869696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7727543" y="3557016"/>
            <a:ext cx="8696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D7E0F2"/>
                </a:solidFill>
                <a:latin typeface="Plus Jakarta Sans Medium"/>
              </a:rPr>
              <a:t>Face ID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688679" y="3557016"/>
            <a:ext cx="1072896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8688679" y="3557016"/>
            <a:ext cx="10728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D7E0F2"/>
                </a:solidFill>
                <a:latin typeface="Plus Jakarta Sans Medium"/>
              </a:rPr>
              <a:t>llama.cpp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75907" y="3959352"/>
            <a:ext cx="1422146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575907" y="3959352"/>
            <a:ext cx="142214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D7E0F2"/>
                </a:solidFill>
                <a:latin typeface="Plus Jakarta Sans Medium"/>
              </a:rPr>
              <a:t>Sherpa-ONNX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089493" y="3959352"/>
            <a:ext cx="933196" cy="310896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8089493" y="3959352"/>
            <a:ext cx="933196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D7E0F2"/>
                </a:solidFill>
                <a:latin typeface="Plus Jakarta Sans Medium"/>
              </a:rPr>
              <a:t>Jitsi SDK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" y="4709160"/>
            <a:ext cx="2476423" cy="1325880"/>
          </a:xfrm>
          <a:prstGeom prst="roundRect">
            <a:avLst>
              <a:gd name="adj" fmla="val 15172"/>
            </a:avLst>
          </a:prstGeom>
          <a:solidFill>
            <a:srgbClr val="0A1324">
              <a:alpha val="40000"/>
            </a:srgbClr>
          </a:solidFill>
          <a:ln w="9525">
            <a:solidFill>
              <a:srgbClr val="FFFF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1005840" y="4873752"/>
            <a:ext cx="1927783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800" b="0">
                <a:solidFill>
                  <a:srgbClr val="FFFFFF"/>
                </a:solidFill>
                <a:latin typeface="Plus Jakarta Sans ExtraBold"/>
              </a:rPr>
              <a:t>11,400+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5840" y="5471159"/>
            <a:ext cx="1927783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06E288"/>
                </a:solidFill>
                <a:latin typeface="Plus Jakarta Sans Medium"/>
              </a:rPr>
              <a:t>lines of code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82263" y="4709160"/>
            <a:ext cx="2476423" cy="1325880"/>
          </a:xfrm>
          <a:prstGeom prst="roundRect">
            <a:avLst>
              <a:gd name="adj" fmla="val 15172"/>
            </a:avLst>
          </a:prstGeom>
          <a:solidFill>
            <a:srgbClr val="0A1324">
              <a:alpha val="40000"/>
            </a:srgbClr>
          </a:solidFill>
          <a:ln w="9525">
            <a:solidFill>
              <a:srgbClr val="FFFF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3756583" y="4873752"/>
            <a:ext cx="1927783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800" b="0">
                <a:solidFill>
                  <a:srgbClr val="FFFFFF"/>
                </a:solidFill>
                <a:latin typeface="Plus Jakarta Sans ExtraBold"/>
              </a:rPr>
              <a:t>17 / 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56583" y="5471159"/>
            <a:ext cx="1927783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06E288"/>
                </a:solidFill>
                <a:latin typeface="Plus Jakarta Sans Medium"/>
              </a:rPr>
              <a:t>tests passing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233007" y="4709160"/>
            <a:ext cx="2476423" cy="1325880"/>
          </a:xfrm>
          <a:prstGeom prst="roundRect">
            <a:avLst>
              <a:gd name="adj" fmla="val 15172"/>
            </a:avLst>
          </a:prstGeom>
          <a:solidFill>
            <a:srgbClr val="0A1324">
              <a:alpha val="40000"/>
            </a:srgbClr>
          </a:solidFill>
          <a:ln w="9525">
            <a:solidFill>
              <a:srgbClr val="FFFF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6507327" y="4873752"/>
            <a:ext cx="1927783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800" b="0">
                <a:solidFill>
                  <a:srgbClr val="FFFFFF"/>
                </a:solidFill>
                <a:latin typeface="Plus Jakarta Sans ExtraBold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07327" y="5471159"/>
            <a:ext cx="1927783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06E288"/>
                </a:solidFill>
                <a:latin typeface="Plus Jakarta Sans Medium"/>
              </a:rPr>
              <a:t>CI pipelines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83751" y="4709160"/>
            <a:ext cx="2476423" cy="1325880"/>
          </a:xfrm>
          <a:prstGeom prst="roundRect">
            <a:avLst>
              <a:gd name="adj" fmla="val 15172"/>
            </a:avLst>
          </a:prstGeom>
          <a:solidFill>
            <a:srgbClr val="0A1324">
              <a:alpha val="40000"/>
            </a:srgbClr>
          </a:solidFill>
          <a:ln w="9525">
            <a:solidFill>
              <a:srgbClr val="FFFF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258071" y="4873752"/>
            <a:ext cx="1927783" cy="579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800" b="0">
                <a:solidFill>
                  <a:srgbClr val="FFFFFF"/>
                </a:solidFill>
                <a:latin typeface="Plus Jakarta Sans ExtraBold"/>
              </a:rPr>
              <a:t>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58071" y="5471159"/>
            <a:ext cx="1927783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06E288"/>
                </a:solidFill>
                <a:latin typeface="Plus Jakarta Sans Medium"/>
              </a:rPr>
              <a:t>public releases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448495" y="292608"/>
            <a:ext cx="201168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200" b="0">
                <a:solidFill>
                  <a:srgbClr val="FFFFFF">
                    <a:alpha val="7000"/>
                  </a:srgbClr>
                </a:solidFill>
                <a:latin typeface="Plus Jakarta Sans ExtraBold"/>
              </a:rPr>
              <a:t>10</a:t>
            </a:r>
          </a:p>
        </p:txBody>
      </p:sp>
      <p:pic>
        <p:nvPicPr>
          <p:cNvPr id="57" name="Picture 56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58" name="TextBox 57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Backdrop" descr="bg-m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31520" y="617220"/>
            <a:ext cx="118872" cy="118872"/>
          </a:xfrm>
          <a:prstGeom prst="ellipse">
            <a:avLst/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69264" y="5303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HARDEST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96112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1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800" b="0">
                <a:solidFill>
                  <a:srgbClr val="FFFFFF"/>
                </a:solidFill>
                <a:latin typeface="Plus Jakarta Sans ExtraBold"/>
              </a:rPr>
              <a:t>Making Bluetooth </a:t>
            </a:r>
            <a:r>
              <a:rPr sz="3800" b="0">
                <a:solidFill>
                  <a:srgbClr val="06E288"/>
                </a:solidFill>
                <a:latin typeface="Plus Jakarta Sans ExtraBold"/>
              </a:rPr>
              <a:t>honest.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50" b="0">
                <a:solidFill>
                  <a:srgbClr val="D7E0F2"/>
                </a:solidFill>
                <a:latin typeface="Plus Jakarta Sans"/>
              </a:rPr>
              <a:t>Heart-rate notifications arrive late and out of order — a stale sensor could repaint a new card with a wrong number.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5643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06E288"/>
                </a:solidFill>
                <a:latin typeface="JetBrains Mon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410712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FFFFFF"/>
                </a:solidFill>
                <a:latin typeface="Plus Jakarta Sans"/>
              </a:rPr>
              <a:t>Parse the standard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79476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93A4C7"/>
                </a:solidFill>
                <a:latin typeface="Plus Jakarta Sans"/>
              </a:rPr>
              <a:t>service 0x180D · flags byte → 8/16-bit BPM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2511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06E288"/>
                </a:solidFill>
                <a:latin typeface="JetBrains Mono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279392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FFFFFF"/>
                </a:solidFill>
                <a:latin typeface="Plus Jakarta Sans"/>
              </a:rPr>
              <a:t>Label at the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466344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93A4C7"/>
                </a:solidFill>
                <a:latin typeface="Plus Jakarta Sans"/>
              </a:rPr>
              <a:t>each sample is born LIVE or SIMULATED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193792"/>
            <a:ext cx="5486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06E288"/>
                </a:solidFill>
                <a:latin typeface="JetBrains Mono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5148072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900" b="1">
                <a:solidFill>
                  <a:srgbClr val="FFFFFF"/>
                </a:solidFill>
                <a:latin typeface="Plus Jakarta Sans"/>
              </a:rPr>
              <a:t>Drop stale sessions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55321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93A4C7"/>
                </a:solidFill>
                <a:latin typeface="Plus Jakarta Sans"/>
              </a:rPr>
              <a:t>a generation counter ignores old pairings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011680"/>
            <a:ext cx="5059375" cy="3200400"/>
          </a:xfrm>
          <a:prstGeom prst="roundRect">
            <a:avLst>
              <a:gd name="adj" fmla="val 6285"/>
            </a:avLst>
          </a:prstGeom>
          <a:solidFill>
            <a:srgbClr val="0A1324">
              <a:alpha val="70000"/>
            </a:srgbClr>
          </a:solidFill>
          <a:ln w="9525">
            <a:solidFill>
              <a:srgbClr val="FFFF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766560" y="2267712"/>
            <a:ext cx="4327855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>
                <a:solidFill>
                  <a:srgbClr val="06E288"/>
                </a:solidFill>
                <a:latin typeface="JetBrains Mono"/>
              </a:rPr>
              <a:t>src/lib/bluetooth.js  </a:t>
            </a:r>
            <a:r>
              <a:rPr sz="1100" b="0">
                <a:solidFill>
                  <a:srgbClr val="93A4C7"/>
                </a:solidFill>
                <a:latin typeface="JetBrains Mono"/>
              </a:rPr>
              <a:t>·  src/App.jsx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633472"/>
            <a:ext cx="4327855" cy="2514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D7E0F2"/>
                </a:solidFill>
                <a:latin typeface="JetBrains Mono"/>
              </a:rPr>
              <a:t>const flags = dv.getUint8(0)</a:t>
            </a:r>
          </a:p>
          <a:p>
            <a:pPr algn="l">
              <a:lnSpc>
                <a:spcPts val="14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D7E0F2"/>
                </a:solidFill>
                <a:latin typeface="JetBrains Mono"/>
              </a:rPr>
              <a:t>const bpm = flags &amp; 0x1</a:t>
            </a:r>
          </a:p>
          <a:p>
            <a:pPr algn="l">
              <a:lnSpc>
                <a:spcPts val="14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D7E0F2"/>
                </a:solidFill>
                <a:latin typeface="JetBrains Mono"/>
              </a:rPr>
              <a:t>  ? dv.getUint16(1, true)</a:t>
            </a:r>
          </a:p>
          <a:p>
            <a:pPr algn="l">
              <a:lnSpc>
                <a:spcPts val="14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D7E0F2"/>
                </a:solidFill>
                <a:latin typeface="JetBrains Mono"/>
              </a:rPr>
              <a:t>  : dv.getUint8(1)</a:t>
            </a:r>
          </a:p>
          <a:p>
            <a:pPr algn="l">
              <a:lnSpc>
                <a:spcPts val="14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D7E0F2"/>
                </a:solidFill>
                <a:latin typeface="JetBrains Mono"/>
              </a:rPr>
              <a:t>if (bpm &gt; 20 &amp;&amp; bpm &lt; 250) onReading(bpm)</a:t>
            </a:r>
          </a:p>
          <a:p>
            <a:pPr algn="l">
              <a:lnSpc>
                <a:spcPts val="1428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algn="l">
              <a:lnSpc>
                <a:spcPts val="14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D7E0F2"/>
                </a:solidFill>
                <a:latin typeface="JetBrains Mono"/>
              </a:rPr>
              <a:t>const source =</a:t>
            </a:r>
          </a:p>
          <a:p>
            <a:pPr algn="l">
              <a:lnSpc>
                <a:spcPts val="14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D7E0F2"/>
                </a:solidFill>
                <a:latin typeface="JetBrains Mono"/>
              </a:rPr>
              <a:t>  hrModeRef.current === 'live'</a:t>
            </a:r>
          </a:p>
          <a:p>
            <a:pPr algn="l">
              <a:lnSpc>
                <a:spcPts val="14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D7E0F2"/>
                </a:solidFill>
                <a:latin typeface="JetBrains Mono"/>
              </a:rPr>
              <a:t>    ? 'LIVE_BLE' : 'SIMULATED'</a:t>
            </a:r>
          </a:p>
          <a:p>
            <a:pPr algn="l">
              <a:lnSpc>
                <a:spcPts val="1428"/>
              </a:lnSpc>
              <a:spcBef>
                <a:spcPts val="0"/>
              </a:spcBef>
              <a:spcAft>
                <a:spcPts val="0"/>
              </a:spcAft>
              <a:buNone/>
            </a:pPr>
          </a:p>
          <a:p>
            <a:pPr algn="l">
              <a:lnSpc>
                <a:spcPts val="14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D7E0F2"/>
                </a:solidFill>
                <a:latin typeface="JetBrains Mono"/>
              </a:rPr>
              <a:t>if (generation !==</a:t>
            </a:r>
          </a:p>
          <a:p>
            <a:pPr algn="l">
              <a:lnSpc>
                <a:spcPts val="14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D7E0F2"/>
                </a:solidFill>
                <a:latin typeface="JetBrains Mono"/>
              </a:rPr>
              <a:t>    hrConnectionGenerationRef.current)</a:t>
            </a:r>
          </a:p>
          <a:p>
            <a:pPr algn="l">
              <a:lnSpc>
                <a:spcPts val="142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D7E0F2"/>
                </a:solidFill>
                <a:latin typeface="JetBrains Mono"/>
              </a:rPr>
              <a:t>  return</a:t>
            </a:r>
          </a:p>
        </p:txBody>
      </p:sp>
      <p:pic>
        <p:nvPicPr>
          <p:cNvPr id="19" name="Picture 18" descr="crop-h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6975" y="4846320"/>
            <a:ext cx="2743200" cy="1664255"/>
          </a:xfrm>
          <a:prstGeom prst="roundRect">
            <a:avLst>
              <a:gd name="adj" fmla="val 6593"/>
            </a:avLst>
          </a:prstGeom>
        </p:spPr>
      </p:pic>
      <p:sp>
        <p:nvSpPr>
          <p:cNvPr id="20" name="TextBox 19"/>
          <p:cNvSpPr txBox="1"/>
          <p:nvPr/>
        </p:nvSpPr>
        <p:spPr>
          <a:xfrm>
            <a:off x="9448495" y="292608"/>
            <a:ext cx="201168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200" b="0">
                <a:solidFill>
                  <a:srgbClr val="FFFFFF">
                    <a:alpha val="7000"/>
                  </a:srgbClr>
                </a:solidFill>
                <a:latin typeface="Plus Jakarta Sans ExtraBold"/>
              </a:rPr>
              <a:t>11</a:t>
            </a:r>
          </a:p>
        </p:txBody>
      </p:sp>
      <p:pic>
        <p:nvPicPr>
          <p:cNvPr id="21" name="Picture 20" descr="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22" name="TextBox 21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Backdrop" descr="bg-m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val 2"/>
          <p:cNvSpPr/>
          <p:nvPr/>
        </p:nvSpPr>
        <p:spPr>
          <a:xfrm>
            <a:off x="731520" y="617220"/>
            <a:ext cx="118872" cy="118872"/>
          </a:xfrm>
          <a:prstGeom prst="ellipse">
            <a:avLst/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69264" y="530352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50" b="1" spc="160">
                <a:solidFill>
                  <a:srgbClr val="06E288"/>
                </a:solidFill>
                <a:latin typeface="Plus Jakarta Sans"/>
              </a:rPr>
              <a:t>WHERE IT STANDS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96112"/>
            <a:ext cx="969264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1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3800" b="0">
                <a:solidFill>
                  <a:srgbClr val="06E288"/>
                </a:solidFill>
                <a:latin typeface="Plus Jakarta Sans ExtraBold"/>
              </a:rPr>
              <a:t>Six weeks</a:t>
            </a:r>
            <a:r>
              <a:rPr sz="3800" b="0">
                <a:solidFill>
                  <a:srgbClr val="FFFFFF"/>
                </a:solidFill>
                <a:latin typeface="Plus Jakarta Sans ExtraBold"/>
              </a:rPr>
              <a:t> from first commit to v2.2.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05840" y="3246120"/>
            <a:ext cx="6718810" cy="0"/>
          </a:xfrm>
          <a:prstGeom prst="line">
            <a:avLst/>
          </a:prstGeom>
          <a:ln w="25400">
            <a:solidFill>
              <a:srgbClr val="06E28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724650" y="3246120"/>
            <a:ext cx="3461205" cy="0"/>
          </a:xfrm>
          <a:prstGeom prst="line">
            <a:avLst/>
          </a:prstGeom>
          <a:ln w="15875">
            <a:solidFill>
              <a:srgbClr val="FFFFFF">
                <a:alpha val="35000"/>
              </a:srgb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05840" y="3337560"/>
            <a:ext cx="0" cy="91440"/>
          </a:xfrm>
          <a:prstGeom prst="line">
            <a:avLst/>
          </a:prstGeom>
          <a:ln w="9525">
            <a:solidFill>
              <a:srgbClr val="FFFFFF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125641" y="3337560"/>
            <a:ext cx="0" cy="91440"/>
          </a:xfrm>
          <a:prstGeom prst="line">
            <a:avLst/>
          </a:prstGeom>
          <a:ln w="9525">
            <a:solidFill>
              <a:srgbClr val="FFFFFF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245443" y="3337560"/>
            <a:ext cx="0" cy="91440"/>
          </a:xfrm>
          <a:prstGeom prst="line">
            <a:avLst/>
          </a:prstGeom>
          <a:ln w="9525">
            <a:solidFill>
              <a:srgbClr val="FFFFFF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365245" y="3337560"/>
            <a:ext cx="0" cy="91440"/>
          </a:xfrm>
          <a:prstGeom prst="line">
            <a:avLst/>
          </a:prstGeom>
          <a:ln w="9525">
            <a:solidFill>
              <a:srgbClr val="FFFFFF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485046" y="3337560"/>
            <a:ext cx="0" cy="91440"/>
          </a:xfrm>
          <a:prstGeom prst="line">
            <a:avLst/>
          </a:prstGeom>
          <a:ln w="9525">
            <a:solidFill>
              <a:srgbClr val="FFFFFF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04848" y="3337560"/>
            <a:ext cx="0" cy="91440"/>
          </a:xfrm>
          <a:prstGeom prst="line">
            <a:avLst/>
          </a:prstGeom>
          <a:ln w="9525">
            <a:solidFill>
              <a:srgbClr val="FFFFFF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724650" y="3337560"/>
            <a:ext cx="0" cy="91440"/>
          </a:xfrm>
          <a:prstGeom prst="line">
            <a:avLst/>
          </a:prstGeom>
          <a:ln w="9525">
            <a:solidFill>
              <a:srgbClr val="FFFFFF">
                <a:alpha val="3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57200" y="3483863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5F7299"/>
                </a:solidFill>
                <a:latin typeface="Plus Jakarta Sans"/>
              </a:rPr>
              <a:t>Sep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6803" y="3483863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5F7299"/>
                </a:solidFill>
                <a:latin typeface="Plus Jakarta Sans"/>
              </a:rPr>
              <a:t>Sep 16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6406" y="3483863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5F7299"/>
                </a:solidFill>
                <a:latin typeface="Plus Jakarta Sans"/>
              </a:rPr>
              <a:t>Sep 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6010" y="3483863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0">
                <a:solidFill>
                  <a:srgbClr val="5F7299"/>
                </a:solidFill>
                <a:latin typeface="Plus Jakarta Sans"/>
              </a:rPr>
              <a:t>Oct 14</a:t>
            </a:r>
          </a:p>
        </p:txBody>
      </p:sp>
      <p:sp>
        <p:nvSpPr>
          <p:cNvPr id="19" name="Oval 18"/>
          <p:cNvSpPr/>
          <p:nvPr/>
        </p:nvSpPr>
        <p:spPr>
          <a:xfrm>
            <a:off x="905256" y="3145536"/>
            <a:ext cx="201168" cy="201168"/>
          </a:xfrm>
          <a:prstGeom prst="ellipse">
            <a:avLst/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05256" y="21945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FFFFFF"/>
                </a:solidFill>
                <a:latin typeface="Plus Jakarta Sans"/>
              </a:rPr>
              <a:t>First commit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" y="2532887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93A4C7"/>
                </a:solidFill>
                <a:latin typeface="Plus Jakarta Sans"/>
              </a:rPr>
              <a:t>repo created</a:t>
            </a:r>
          </a:p>
        </p:txBody>
      </p:sp>
      <p:sp>
        <p:nvSpPr>
          <p:cNvPr id="22" name="Oval 21"/>
          <p:cNvSpPr/>
          <p:nvPr/>
        </p:nvSpPr>
        <p:spPr>
          <a:xfrm>
            <a:off x="1865086" y="3145536"/>
            <a:ext cx="201168" cy="201168"/>
          </a:xfrm>
          <a:prstGeom prst="ellipse">
            <a:avLst/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051270" y="38130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FFFFFF"/>
                </a:solidFill>
                <a:latin typeface="Plus Jakarta Sans"/>
              </a:rPr>
              <a:t>v1.0 + v2.0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270" y="4142231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93A4C7"/>
                </a:solidFill>
                <a:latin typeface="Plus Jakarta Sans"/>
              </a:rPr>
              <a:t>first public releases</a:t>
            </a:r>
          </a:p>
        </p:txBody>
      </p:sp>
      <p:sp>
        <p:nvSpPr>
          <p:cNvPr id="25" name="Oval 24"/>
          <p:cNvSpPr/>
          <p:nvPr/>
        </p:nvSpPr>
        <p:spPr>
          <a:xfrm>
            <a:off x="5064519" y="3145536"/>
            <a:ext cx="201168" cy="201168"/>
          </a:xfrm>
          <a:prstGeom prst="ellipse">
            <a:avLst/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250703" y="2194560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FFFFFF"/>
                </a:solidFill>
                <a:latin typeface="Plus Jakarta Sans"/>
              </a:rPr>
              <a:t>v2.1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0703" y="2532887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93A4C7"/>
                </a:solidFill>
                <a:latin typeface="Plus Jakarta Sans"/>
              </a:rPr>
              <a:t>release · Sep 28</a:t>
            </a:r>
          </a:p>
        </p:txBody>
      </p:sp>
      <p:sp>
        <p:nvSpPr>
          <p:cNvPr id="28" name="Oval 27"/>
          <p:cNvSpPr/>
          <p:nvPr/>
        </p:nvSpPr>
        <p:spPr>
          <a:xfrm>
            <a:off x="7624066" y="3145536"/>
            <a:ext cx="201168" cy="201168"/>
          </a:xfrm>
          <a:prstGeom prst="ellipse">
            <a:avLst/>
          </a:prstGeom>
          <a:solidFill>
            <a:srgbClr val="06E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10250" y="38130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FFFFFF"/>
                </a:solidFill>
                <a:latin typeface="Plus Jakarta Sans"/>
              </a:rPr>
              <a:t>v2.2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10250" y="4142231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93A4C7"/>
                </a:solidFill>
                <a:latin typeface="Plus Jakarta Sans"/>
              </a:rPr>
              <a:t>iOS + web, building in CI</a:t>
            </a:r>
          </a:p>
        </p:txBody>
      </p:sp>
      <p:sp>
        <p:nvSpPr>
          <p:cNvPr id="31" name="Oval 30"/>
          <p:cNvSpPr/>
          <p:nvPr/>
        </p:nvSpPr>
        <p:spPr>
          <a:xfrm>
            <a:off x="11094415" y="3154679"/>
            <a:ext cx="182880" cy="182880"/>
          </a:xfrm>
          <a:prstGeom prst="ellipse">
            <a:avLst/>
          </a:prstGeom>
          <a:solidFill>
            <a:srgbClr val="0A1324"/>
          </a:solidFill>
          <a:ln w="15875">
            <a:solidFill>
              <a:srgbClr val="06E2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9905695" y="21945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6E288"/>
                </a:solidFill>
                <a:latin typeface="Plus Jakarta Sans"/>
              </a:rPr>
              <a:t>Next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1375" y="2532887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93A4C7"/>
                </a:solidFill>
                <a:latin typeface="Plus Jakarta Sans"/>
              </a:rPr>
              <a:t>co-design → TestFlight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4709160"/>
            <a:ext cx="3393338" cy="1417320"/>
          </a:xfrm>
          <a:prstGeom prst="roundRect">
            <a:avLst>
              <a:gd name="adj" fmla="val 14193"/>
            </a:avLst>
          </a:prstGeom>
          <a:solidFill>
            <a:srgbClr val="0A1324">
              <a:alpha val="55000"/>
            </a:srgbClr>
          </a:solidFill>
          <a:ln w="12700">
            <a:solidFill>
              <a:srgbClr val="06E28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005840" y="4892040"/>
            <a:ext cx="284469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140">
                <a:solidFill>
                  <a:srgbClr val="06E288"/>
                </a:solidFill>
                <a:latin typeface="Plus Jakarta Sans"/>
              </a:rPr>
              <a:t>NEXT · V2.0 OF THIS ENTRY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5193792"/>
            <a:ext cx="2844698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D7E0F2"/>
                </a:solidFill>
                <a:latin typeface="Plus Jakarta Sans"/>
              </a:rPr>
              <a:t>Co-design sessions with autistic people, people living with dementia and caregivers; TestFlight beta.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399178" y="4709160"/>
            <a:ext cx="3393338" cy="1417320"/>
          </a:xfrm>
          <a:prstGeom prst="roundRect">
            <a:avLst>
              <a:gd name="adj" fmla="val 14193"/>
            </a:avLst>
          </a:prstGeom>
          <a:solidFill>
            <a:srgbClr val="0A1324">
              <a:alpha val="55000"/>
            </a:srgbClr>
          </a:solidFill>
          <a:ln w="9525">
            <a:solidFill>
              <a:srgbClr val="FFFF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673498" y="4892040"/>
            <a:ext cx="284469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140">
                <a:solidFill>
                  <a:srgbClr val="5F7299"/>
                </a:solidFill>
                <a:latin typeface="Plus Jakarta Sans"/>
              </a:rPr>
              <a:t>THEN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73498" y="5193792"/>
            <a:ext cx="2844698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D7E0F2"/>
                </a:solidFill>
                <a:latin typeface="Plus Jakarta Sans"/>
              </a:rPr>
              <a:t>Apple Health and Bluetooth history in the visit brief, with true source labels · non-diagnostic trends only from real readings.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66836" y="4709160"/>
            <a:ext cx="3393338" cy="1417320"/>
          </a:xfrm>
          <a:prstGeom prst="roundRect">
            <a:avLst>
              <a:gd name="adj" fmla="val 14193"/>
            </a:avLst>
          </a:prstGeom>
          <a:solidFill>
            <a:srgbClr val="0A1324">
              <a:alpha val="55000"/>
            </a:srgbClr>
          </a:solidFill>
          <a:ln w="9525">
            <a:solidFill>
              <a:srgbClr val="FFFF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8341156" y="4892040"/>
            <a:ext cx="2844698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140">
                <a:solidFill>
                  <a:srgbClr val="5F7299"/>
                </a:solidFill>
                <a:latin typeface="Plus Jakarta Sans"/>
              </a:rPr>
              <a:t>DELIBERATELY NOT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41156" y="5193792"/>
            <a:ext cx="2844698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00" b="0">
                <a:solidFill>
                  <a:srgbClr val="D7E0F2"/>
                </a:solidFill>
                <a:latin typeface="Plus Jakarta Sans"/>
              </a:rPr>
              <a:t>Cloud sync, a clinician portal or a drug-interaction checker — not without clinical review.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48495" y="292608"/>
            <a:ext cx="2011680" cy="1280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200" b="0">
                <a:solidFill>
                  <a:srgbClr val="FFFFFF">
                    <a:alpha val="7000"/>
                  </a:srgbClr>
                </a:solidFill>
                <a:latin typeface="Plus Jakarta Sans ExtraBold"/>
              </a:rPr>
              <a:t>12</a:t>
            </a:r>
          </a:p>
        </p:txBody>
      </p:sp>
      <p:pic>
        <p:nvPicPr>
          <p:cNvPr id="44" name="Picture 43" descr="ic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82512"/>
            <a:ext cx="237744" cy="237744"/>
          </a:xfrm>
          <a:prstGeom prst="roundRect">
            <a:avLst>
              <a:gd name="adj" fmla="val 26923"/>
            </a:avLst>
          </a:prstGeom>
        </p:spPr>
      </p:pic>
      <p:sp>
        <p:nvSpPr>
          <p:cNvPr id="45" name="TextBox 44"/>
          <p:cNvSpPr txBox="1"/>
          <p:nvPr/>
        </p:nvSpPr>
        <p:spPr>
          <a:xfrm>
            <a:off x="1060704" y="640080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 b="1" spc="60">
                <a:solidFill>
                  <a:srgbClr val="5F7299"/>
                </a:solidFill>
                <a:latin typeface="Plus Jakarta Sans"/>
              </a:rPr>
              <a:t>CareSphere AI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6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B1733"/>
            </a:gs>
            <a:gs pos="100000">
              <a:srgbClr val="0F2659"/>
            </a:gs>
          </a:gsLst>
          <a:lin scaled="0" ang="5400000"/>
        </a:gra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m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"/>
            <a:ext cx="12191695" cy="6857828"/>
          </a:xfrm>
          <a:prstGeom prst="rect">
            <a:avLst/>
          </a:prstGeom>
        </p:spPr>
      </p:pic>
      <p:pic>
        <p:nvPicPr>
          <p:cNvPr id="3" name="Picture 2" descr="g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447" y="-3291840"/>
            <a:ext cx="8686800" cy="8686800"/>
          </a:xfrm>
          <a:prstGeom prst="rect">
            <a:avLst/>
          </a:prstGeom>
        </p:spPr>
      </p:pic>
      <p:pic>
        <p:nvPicPr>
          <p:cNvPr id="4" name="Picture 3" descr="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4367" y="1143000"/>
            <a:ext cx="822960" cy="822960"/>
          </a:xfrm>
          <a:prstGeom prst="roundRect">
            <a:avLst>
              <a:gd name="adj" fmla="val 24444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731520" y="2240280"/>
            <a:ext cx="10728655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58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5600" b="0">
                <a:solidFill>
                  <a:srgbClr val="FFFFFF"/>
                </a:solidFill>
                <a:latin typeface="Plus Jakarta Sans ExtraBold"/>
              </a:rPr>
              <a:t>Care that stays yours.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3291840"/>
            <a:ext cx="7985455" cy="7315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D7E0F2"/>
                </a:solidFill>
                <a:latin typeface="Plus Jakarta Sans"/>
              </a:rPr>
              <a:t>Connected, calm and private — with no account, no server and no fabricated number.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57956" y="4206240"/>
            <a:ext cx="1862074" cy="329184"/>
          </a:xfrm>
          <a:prstGeom prst="roundRect">
            <a:avLst>
              <a:gd name="adj" fmla="val 50000"/>
            </a:avLst>
          </a:prstGeom>
          <a:solidFill>
            <a:srgbClr val="06E28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157956" y="4206240"/>
            <a:ext cx="186207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spc="100">
                <a:solidFill>
                  <a:srgbClr val="06E288"/>
                </a:solidFill>
                <a:latin typeface="Plus Jakarta Sans"/>
              </a:rPr>
              <a:t>TRY THE WEB 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2910" y="4206240"/>
            <a:ext cx="1735074" cy="329184"/>
          </a:xfrm>
          <a:prstGeom prst="roundRect">
            <a:avLst>
              <a:gd name="adj" fmla="val 50000"/>
            </a:avLst>
          </a:prstGeom>
          <a:solidFill>
            <a:srgbClr val="06E28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202910" y="4206240"/>
            <a:ext cx="173507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spc="100">
                <a:solidFill>
                  <a:srgbClr val="06E288"/>
                </a:solidFill>
                <a:latin typeface="Plus Jakarta Sans"/>
              </a:rPr>
              <a:t>READ THE CODE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20864" y="4206240"/>
            <a:ext cx="1912874" cy="329184"/>
          </a:xfrm>
          <a:prstGeom prst="roundRect">
            <a:avLst>
              <a:gd name="adj" fmla="val 50000"/>
            </a:avLst>
          </a:prstGeom>
          <a:solidFill>
            <a:srgbClr val="06E288">
              <a:alpha val="1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20864" y="4206240"/>
            <a:ext cx="1912874" cy="32918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7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spc="100">
                <a:solidFill>
                  <a:srgbClr val="06E288"/>
                </a:solidFill>
                <a:latin typeface="Plus Jakarta Sans"/>
              </a:rPr>
              <a:t>WATCH THE DEMO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846320"/>
            <a:ext cx="10728655" cy="4114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262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FFFFFF"/>
                </a:solidFill>
                <a:latin typeface="Plus Jakarta Sans"/>
              </a:rPr>
              <a:t>github.com/engineer2025-sudo/Care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49240"/>
            <a:ext cx="10728655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50" b="0">
                <a:solidFill>
                  <a:srgbClr val="93A4C7"/>
                </a:solidFill>
                <a:latin typeface="Plus Jakarta Sans"/>
              </a:rPr>
              <a:t>Arnav Kochar  ·  kochar4646@gmail.com  ·  [School], [City], California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760720"/>
            <a:ext cx="10728655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5F7299"/>
                </a:solidFill>
                <a:latin typeface="Plus Jakarta Sans"/>
              </a:rPr>
              <a:t>Demo video: [YouTube link]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34295" y="685800"/>
            <a:ext cx="1325880" cy="1645920"/>
          </a:xfrm>
          <a:prstGeom prst="roundRect">
            <a:avLst>
              <a:gd name="adj" fmla="val 15172"/>
            </a:avLst>
          </a:prstGeom>
          <a:solidFill>
            <a:srgbClr val="0A1324">
              <a:alpha val="50000"/>
            </a:srgbClr>
          </a:solidFill>
          <a:ln w="9525">
            <a:solidFill>
              <a:srgbClr val="FFFFFF">
                <a:alpha val="9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9743" y="841248"/>
            <a:ext cx="1014984" cy="1014984"/>
          </a:xfrm>
          <a:prstGeom prst="roundRect">
            <a:avLst>
              <a:gd name="adj" fmla="val 7207"/>
            </a:avLst>
          </a:prstGeom>
        </p:spPr>
      </p:pic>
      <p:sp>
        <p:nvSpPr>
          <p:cNvPr id="18" name="TextBox 17"/>
          <p:cNvSpPr txBox="1"/>
          <p:nvPr/>
        </p:nvSpPr>
        <p:spPr>
          <a:xfrm>
            <a:off x="10134295" y="1929384"/>
            <a:ext cx="1325880" cy="3200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50" b="1" spc="80">
                <a:solidFill>
                  <a:srgbClr val="5F7299"/>
                </a:solidFill>
                <a:latin typeface="Plus Jakarta Sans"/>
              </a:rPr>
              <a:t>scan for source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:fade thruBlk="1"/>
      </p:transition>
    </mc:Choice>
    <mc:Fallback>
      <p:transition spd="slow">
        <p:fade thruBlk="1"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