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Default Extension="fntdata" ContentType="application/x-fontdata"/>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embeddedFontLst>
    <p:embeddedFont>
      <p:font typeface="Plus Jakarta Sans" panose="00000000000000000000" pitchFamily="34" charset="0"/>
      <p:regular r:id="rId18"/>
      <p:bold r:id="rId19"/>
    </p:embeddedFont>
    <p:embeddedFont>
      <p:font typeface="Plus Jakarta Sans Medium" panose="00000000000000000000" pitchFamily="34" charset="0"/>
      <p:regular r:id="rId20"/>
    </p:embeddedFont>
    <p:embeddedFont>
      <p:font typeface="Plus Jakarta Sans ExtraBold" panose="00000000000000000000" pitchFamily="34" charset="0"/>
      <p:regular r:id="rId21"/>
    </p:embeddedFont>
    <p:embeddedFont>
      <p:font typeface="JetBrains Mono" panose="02000009000000000000" pitchFamily="49" charset="0"/>
      <p:regular r:id="rId2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0:00–0:10 · Title and purpose</a:t>
            </a:r>
          </a:p>
          <a:p/>
          <a:p>
            <a:r>
              <a:t>SAY: I'm Arnav Kochar. CareSphere AI combines routines, self-paced activities, human connection and visit preparation for older adults, autistic people and their families.</a:t>
            </a:r>
          </a:p>
          <a:p/>
          <a:p>
            <a:r>
              <a:t>Visuals are real CareSphere web screenshots with fictional sample data, not native iOS screenshots. No AI-generated imagery. No CareSphere clinical efficacy is established.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0:10–0:20 · The design problem</a:t>
            </a:r>
          </a:p>
          <a:p/>
          <a:p>
            <a:r>
              <a:t>SAY: Daily support should not feel like another task. CareSphere brings reminders, low-pressure activities and ways to connect into one predictable place, with the person in control.</a:t>
            </a:r>
          </a:p>
          <a:p/>
          <a:p>
            <a:r>
              <a:t>Visuals are real CareSphere web screenshots with fictional sample data, not native iOS screenshots. No AI-generated imagery. No CareSphere clinical efficacy is established.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0:20–0:32 · What the app does</a:t>
            </a:r>
          </a:p>
          <a:p/>
          <a:p>
            <a:r>
              <a:t>SAY: There are four areas: activities and sensory tools; mood, routines and medication self-check-ins; Coffee Circles for video conversations; and a visit brief made from information you choose.</a:t>
            </a:r>
          </a:p>
          <a:p/>
          <a:p>
            <a:r>
              <a:t>Visuals are real CareSphere web screenshots with fictional sample data, not native iOS screenshots. No AI-generated imagery. No CareSphere clinical efficacy is established.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0:32–0:46 · Four self-paced games</a:t>
            </a:r>
          </a:p>
          <a:p/>
          <a:p>
            <a:r>
              <a:t>SAY: Feelings Explorer has no correct answer. Pattern Recall lets you repeat a sequence. Picture Pairs reveals matching cards, and Picture Story explores a sequence at your pace. All are untimed and unscored.</a:t>
            </a:r>
          </a:p>
          <a:p/>
          <a:p>
            <a:r>
              <a:t>Visuals are real CareSphere web screenshots with fictional sample data, not native iOS screenshots. No AI-generated imagery. No CareSphere clinical efficacy is established.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0:46–0:58 · Sensory choice and research</a:t>
            </a:r>
          </a:p>
          <a:p/>
          <a:p>
            <a:r>
              <a:t>SAY: Breathing and optional soundscapes are user-controlled. Accessibility research informed predictable navigation and sensory choices. Game research is promising but varied; these activities are not validated therapy.</a:t>
            </a:r>
          </a:p>
          <a:p/>
          <a:p>
            <a:r>
              <a:t>Visuals are real CareSphere web screenshots with fictional sample data, not native iOS screenshots. No AI-generated imagery. No CareSphere clinical efficacy is established.</a:t>
            </a:r>
          </a:p>
          <a:p>
            <a:r>
              <a:t>References: https://pmc.ncbi.nlm.nih.gov/articles/PMC6485264/ ; https://pmc.ncbi.nlm.nih.gov/articles/PMC9809031/ ; https://pmc.ncbi.nlm.nih.gov/articles/PMC12781649/ . These studies do not validate these CareSphere activities.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0:58–1:01 · Switch to the running app</a:t>
            </a:r>
          </a:p>
          <a:p/>
          <a:p>
            <a:r>
              <a:t>SAY: Let’s see CareSphere in action.</a:t>
            </a:r>
          </a:p>
          <a:p/>
          <a:p>
            <a:r>
              <a:t>Visuals are real CareSphere web screenshots with fictional sample data, not native iOS screenshots. No AI-generated imagery. No CareSphere clinical efficacy is established.</a:t>
            </a:r>
          </a:p>
          <a:p>
            <a:r>
              <a:t>ACTION: After this cue, immediately switch to the running app or genuine recorded app interaction for 80 seconds. Return at slide 7. Do not advance through static screenshots instead. See the PDF guide.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2:21–2:33 · Tools, languages and privacy</a:t>
            </a:r>
          </a:p>
          <a:p/>
          <a:p>
            <a:r>
              <a:t>SAY: The web app uses JavaScript, React and Web Audio. The native iPhone app uses Swift and SwiftUI. Care data is encrypted locally; Jitsi calls and online references use external services.</a:t>
            </a:r>
          </a:p>
          <a:p/>
          <a:p>
            <a:r>
              <a:t>Visuals are real CareSphere web screenshots with fictional sample data, not native iOS screenshots. No AI-generated imagery. No CareSphere clinical efficacy is established.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2:33–2:45 · A specific coding challenge</a:t>
            </a:r>
          </a:p>
          <a:p/>
          <a:p>
            <a:r>
              <a:t>SAY: Old Bluetooth callbacks could update a new session. A generation counter rejects stale callbacks. Each accepted sample stays labeled live or simulated, including when exported.</a:t>
            </a:r>
          </a:p>
          <a:p/>
          <a:p>
            <a:r>
              <a:t>Visuals are real CareSphere web screenshots with fictional sample data, not native iOS screenshots. No AI-generated imagery. No CareSphere clinical efficacy is established.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2:45–2:52 · Next step and learning</a:t>
            </a:r>
          </a:p>
          <a:p/>
          <a:p>
            <a:r>
              <a:t>SAY: Next: co-design and usability testing. A working feature isn't proof of real-world benefit.</a:t>
            </a:r>
          </a:p>
          <a:p/>
          <a:p>
            <a:r>
              <a:t>Visuals are real CareSphere web screenshots with fictional sample data, not native iOS screenshots. No AI-generated imagery. No CareSphere clinical efficacy is established.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2:52–2:56 · Close</a:t>
            </a:r>
          </a:p>
          <a:p/>
          <a:p>
            <a:r>
              <a:t>SAY: CareSphere AI. Everyday support, on your terms. Thank you.</a:t>
            </a:r>
          </a:p>
          <a:p/>
          <a:p>
            <a:r>
              <a:t>Visuals are real CareSphere web screenshots with fictional sample data, not native iOS screenshots. No AI-generated imagery. No CareSphere clinical efficacy is established.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5.png"/><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5.png"/><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2.png"/><Relationship Id="rId6"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B1733"/>
            </a:gs>
            <a:gs pos="100000">
              <a:srgbClr val="0F2659"/>
            </a:gs>
          </a:gsLst>
          <a:lin scaled="0" ang="5400000"/>
        </a:gradFill>
        <a:effectLst/>
      </p:bgPr>
    </p:bg>
    <p:spTree>
      <p:nvGrpSpPr>
        <p:cNvPr id="1" name=""/>
        <p:cNvGrpSpPr/>
        <p:nvPr/>
      </p:nvGrpSpPr>
      <p:grpSpPr/>
      <p:pic>
        <p:nvPicPr>
          <p:cNvPr id="2" name="Picture 1" descr="bg-mesh.png"/>
          <p:cNvPicPr>
            <a:picLocks noChangeAspect="1"/>
          </p:cNvPicPr>
          <p:nvPr/>
        </p:nvPicPr>
        <p:blipFill>
          <a:blip r:embed="rId2"/>
          <a:stretch>
            <a:fillRect/>
          </a:stretch>
        </p:blipFill>
        <p:spPr>
          <a:xfrm>
            <a:off x="0" y="85"/>
            <a:ext cx="12191695" cy="6857828"/>
          </a:xfrm>
          <a:prstGeom prst="rect">
            <a:avLst/>
          </a:prstGeom>
        </p:spPr>
      </p:pic>
      <p:pic>
        <p:nvPicPr>
          <p:cNvPr id="3" name="Picture 2" descr="glow.png"/>
          <p:cNvPicPr>
            <a:picLocks noChangeAspect="1"/>
          </p:cNvPicPr>
          <p:nvPr/>
        </p:nvPicPr>
        <p:blipFill>
          <a:blip r:embed="rId3"/>
          <a:stretch>
            <a:fillRect/>
          </a:stretch>
        </p:blipFill>
        <p:spPr>
          <a:xfrm>
            <a:off x="6035040" y="-2194560"/>
            <a:ext cx="8229600" cy="8229600"/>
          </a:xfrm>
          <a:prstGeom prst="rect">
            <a:avLst/>
          </a:prstGeom>
        </p:spPr>
      </p:pic>
      <p:sp>
        <p:nvSpPr>
          <p:cNvPr id="4" name="Oval 3"/>
          <p:cNvSpPr/>
          <p:nvPr/>
        </p:nvSpPr>
        <p:spPr>
          <a:xfrm>
            <a:off x="731520" y="1421892"/>
            <a:ext cx="118872" cy="118872"/>
          </a:xfrm>
          <a:prstGeom prst="ellipse">
            <a:avLst/>
          </a:prstGeom>
          <a:solidFill>
            <a:srgbClr val="06E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69264" y="1335024"/>
            <a:ext cx="640080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60">
                <a:solidFill>
                  <a:srgbClr val="06E288"/>
                </a:solidFill>
                <a:latin typeface="Plus Jakarta Sans"/>
              </a:rPr>
              <a:t>CONGRESSIONAL APP CHALLENGE 2026  ·  CA-10</a:t>
            </a:r>
          </a:p>
        </p:txBody>
      </p:sp>
      <p:sp>
        <p:nvSpPr>
          <p:cNvPr id="6" name="TextBox 5"/>
          <p:cNvSpPr txBox="1"/>
          <p:nvPr/>
        </p:nvSpPr>
        <p:spPr>
          <a:xfrm>
            <a:off x="731520" y="1783080"/>
            <a:ext cx="6675120" cy="1188720"/>
          </a:xfrm>
          <a:prstGeom prst="rect">
            <a:avLst/>
          </a:prstGeom>
          <a:noFill/>
        </p:spPr>
        <p:txBody>
          <a:bodyPr wrap="square" lIns="0" rIns="0" tIns="0" bIns="0" anchor="t">
            <a:noAutofit/>
          </a:bodyPr>
          <a:lstStyle/>
          <a:p>
            <a:pPr algn="l">
              <a:lnSpc>
                <a:spcPts val="6720"/>
              </a:lnSpc>
              <a:spcBef>
                <a:spcPts val="0"/>
              </a:spcBef>
              <a:spcAft>
                <a:spcPts val="0"/>
              </a:spcAft>
              <a:buNone/>
            </a:pPr>
            <a:r>
              <a:rPr sz="6400" b="0">
                <a:solidFill>
                  <a:srgbClr val="FFFFFF"/>
                </a:solidFill>
                <a:latin typeface="Plus Jakarta Sans ExtraBold"/>
              </a:rPr>
              <a:t>CareSphere AI</a:t>
            </a:r>
          </a:p>
        </p:txBody>
      </p:sp>
      <p:sp>
        <p:nvSpPr>
          <p:cNvPr id="7" name="TextBox 6"/>
          <p:cNvSpPr txBox="1"/>
          <p:nvPr/>
        </p:nvSpPr>
        <p:spPr>
          <a:xfrm>
            <a:off x="731520" y="3017520"/>
            <a:ext cx="6675120" cy="548640"/>
          </a:xfrm>
          <a:prstGeom prst="rect">
            <a:avLst/>
          </a:prstGeom>
          <a:noFill/>
        </p:spPr>
        <p:txBody>
          <a:bodyPr wrap="square" lIns="0" rIns="0" tIns="0" bIns="0" anchor="t">
            <a:noAutofit/>
          </a:bodyPr>
          <a:lstStyle/>
          <a:p>
            <a:pPr algn="l">
              <a:lnSpc>
                <a:spcPts val="3250"/>
              </a:lnSpc>
              <a:spcBef>
                <a:spcPts val="0"/>
              </a:spcBef>
              <a:spcAft>
                <a:spcPts val="0"/>
              </a:spcAft>
              <a:buNone/>
            </a:pPr>
            <a:r>
              <a:rPr sz="2600" b="0">
                <a:solidFill>
                  <a:srgbClr val="06E288"/>
                </a:solidFill>
                <a:latin typeface="Plus Jakarta Sans Medium"/>
              </a:rPr>
              <a:t>Connected care for independent living</a:t>
            </a:r>
          </a:p>
        </p:txBody>
      </p:sp>
      <p:sp>
        <p:nvSpPr>
          <p:cNvPr id="8" name="TextBox 7"/>
          <p:cNvSpPr txBox="1"/>
          <p:nvPr/>
        </p:nvSpPr>
        <p:spPr>
          <a:xfrm>
            <a:off x="731520" y="3611880"/>
            <a:ext cx="5486400" cy="1005840"/>
          </a:xfrm>
          <a:prstGeom prst="rect">
            <a:avLst/>
          </a:prstGeom>
          <a:noFill/>
        </p:spPr>
        <p:txBody>
          <a:bodyPr wrap="square" lIns="0" rIns="0" tIns="0" bIns="0" anchor="t">
            <a:noAutofit/>
          </a:bodyPr>
          <a:lstStyle/>
          <a:p>
            <a:pPr algn="l">
              <a:lnSpc>
                <a:spcPts val="2565"/>
              </a:lnSpc>
              <a:spcBef>
                <a:spcPts val="0"/>
              </a:spcBef>
              <a:spcAft>
                <a:spcPts val="0"/>
              </a:spcAft>
              <a:buNone/>
            </a:pPr>
            <a:r>
              <a:rPr sz="1900" b="0">
                <a:solidFill>
                  <a:srgbClr val="D7E0F2"/>
                </a:solidFill>
                <a:latin typeface="Plus Jakarta Sans"/>
              </a:rPr>
              <a:t>A private care companion for older adults, autistic people and the families who care for them.</a:t>
            </a:r>
          </a:p>
        </p:txBody>
      </p:sp>
      <p:sp>
        <p:nvSpPr>
          <p:cNvPr id="9" name="Rounded Rectangle 8"/>
          <p:cNvSpPr/>
          <p:nvPr/>
        </p:nvSpPr>
        <p:spPr>
          <a:xfrm>
            <a:off x="731520" y="4681728"/>
            <a:ext cx="457200" cy="36576"/>
          </a:xfrm>
          <a:prstGeom prst="roundRect">
            <a:avLst>
              <a:gd name="adj" fmla="val 50000"/>
            </a:avLst>
          </a:prstGeom>
          <a:solidFill>
            <a:srgbClr val="06E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4919472"/>
            <a:ext cx="6400800" cy="411480"/>
          </a:xfrm>
          <a:prstGeom prst="rect">
            <a:avLst/>
          </a:prstGeom>
          <a:noFill/>
        </p:spPr>
        <p:txBody>
          <a:bodyPr wrap="square" lIns="0" rIns="0" tIns="0" bIns="0" anchor="t">
            <a:noAutofit/>
          </a:bodyPr>
          <a:lstStyle/>
          <a:p>
            <a:pPr algn="l">
              <a:lnSpc>
                <a:spcPts val="2250"/>
              </a:lnSpc>
              <a:spcBef>
                <a:spcPts val="0"/>
              </a:spcBef>
              <a:spcAft>
                <a:spcPts val="0"/>
              </a:spcAft>
              <a:buNone/>
            </a:pPr>
            <a:r>
              <a:rPr sz="1800" b="1">
                <a:solidFill>
                  <a:srgbClr val="FFFFFF"/>
                </a:solidFill>
                <a:latin typeface="Plus Jakarta Sans"/>
              </a:rPr>
              <a:t>Arnav Kochar</a:t>
            </a:r>
          </a:p>
        </p:txBody>
      </p:sp>
      <p:sp>
        <p:nvSpPr>
          <p:cNvPr id="11" name="TextBox 10"/>
          <p:cNvSpPr txBox="1"/>
          <p:nvPr/>
        </p:nvSpPr>
        <p:spPr>
          <a:xfrm>
            <a:off x="731520" y="5285232"/>
            <a:ext cx="6400800" cy="365760"/>
          </a:xfrm>
          <a:prstGeom prst="rect">
            <a:avLst/>
          </a:prstGeom>
          <a:noFill/>
        </p:spPr>
        <p:txBody>
          <a:bodyPr wrap="square" lIns="0" rIns="0" tIns="0" bIns="0" anchor="t">
            <a:noAutofit/>
          </a:bodyPr>
          <a:lstStyle/>
          <a:p>
            <a:pPr algn="l">
              <a:lnSpc>
                <a:spcPts val="1812"/>
              </a:lnSpc>
              <a:spcBef>
                <a:spcPts val="0"/>
              </a:spcBef>
              <a:spcAft>
                <a:spcPts val="0"/>
              </a:spcAft>
              <a:buNone/>
            </a:pPr>
            <a:r>
              <a:rPr sz="1450" b="0">
                <a:solidFill>
                  <a:srgbClr val="93A4C7"/>
                </a:solidFill>
                <a:latin typeface="Plus Jakarta Sans"/>
              </a:rPr>
              <a:t>CA-10  ·  kochar4646@gmail.com</a:t>
            </a:r>
          </a:p>
        </p:txBody>
      </p:sp>
      <p:pic>
        <p:nvPicPr>
          <p:cNvPr id="12" name="Picture 11" descr="phone-vitals.png"/>
          <p:cNvPicPr>
            <a:picLocks noChangeAspect="1"/>
          </p:cNvPicPr>
          <p:nvPr/>
        </p:nvPicPr>
        <p:blipFill>
          <a:blip r:embed="rId4"/>
          <a:stretch>
            <a:fillRect/>
          </a:stretch>
        </p:blipFill>
        <p:spPr>
          <a:xfrm rot="21120000">
            <a:off x="6949440" y="1325880"/>
            <a:ext cx="2932206" cy="5760720"/>
          </a:xfrm>
          <a:prstGeom prst="rect">
            <a:avLst/>
          </a:prstGeom>
        </p:spPr>
      </p:pic>
      <p:pic>
        <p:nvPicPr>
          <p:cNvPr id="13" name="Picture 12" descr="phone-overview.png"/>
          <p:cNvPicPr>
            <a:picLocks noChangeAspect="1"/>
          </p:cNvPicPr>
          <p:nvPr/>
        </p:nvPicPr>
        <p:blipFill>
          <a:blip r:embed="rId5"/>
          <a:stretch>
            <a:fillRect/>
          </a:stretch>
        </p:blipFill>
        <p:spPr>
          <a:xfrm>
            <a:off x="8686800" y="914400"/>
            <a:ext cx="3258007" cy="6400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B1733"/>
            </a:gs>
            <a:gs pos="100000">
              <a:srgbClr val="0F2659"/>
            </a:gs>
          </a:gsLst>
          <a:lin scaled="0" ang="5400000"/>
        </a:gradFill>
        <a:effectLst/>
      </p:bgPr>
    </p:bg>
    <p:spTree>
      <p:nvGrpSpPr>
        <p:cNvPr id="1" name=""/>
        <p:cNvGrpSpPr/>
        <p:nvPr/>
      </p:nvGrpSpPr>
      <p:grpSpPr/>
      <p:pic>
        <p:nvPicPr>
          <p:cNvPr id="2" name="Backdrop" descr="bg-mesh.pn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731520" y="617220"/>
            <a:ext cx="118872" cy="118872"/>
          </a:xfrm>
          <a:prstGeom prst="ellipse">
            <a:avLst/>
          </a:prstGeom>
          <a:solidFill>
            <a:srgbClr val="06E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640080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60">
                <a:solidFill>
                  <a:srgbClr val="06E288"/>
                </a:solidFill>
                <a:latin typeface="Plus Jakarta Sans"/>
              </a:rPr>
              <a:t>THE DESIGN PROBLEM</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4400"/>
              </a:lnSpc>
              <a:spcBef>
                <a:spcPts val="0"/>
              </a:spcBef>
              <a:spcAft>
                <a:spcPts val="0"/>
              </a:spcAft>
              <a:buNone/>
            </a:pPr>
            <a:r>
              <a:rPr sz="4000" b="0">
                <a:solidFill>
                  <a:srgbClr val="FFFFFF"/>
                </a:solidFill>
                <a:latin typeface="Plus Jakarta Sans ExtraBold"/>
              </a:rPr>
              <a:t>Everyday support. </a:t>
            </a:r>
            <a:r>
              <a:rPr sz="4000" b="0">
                <a:solidFill>
                  <a:srgbClr val="06E288"/>
                </a:solidFill>
                <a:latin typeface="Plus Jakarta Sans ExtraBold"/>
              </a:rPr>
              <a:t>Less friction.</a:t>
            </a:r>
          </a:p>
        </p:txBody>
      </p:sp>
      <p:sp>
        <p:nvSpPr>
          <p:cNvPr id="6" name="TextBox 5"/>
          <p:cNvSpPr txBox="1"/>
          <p:nvPr/>
        </p:nvSpPr>
        <p:spPr>
          <a:xfrm>
            <a:off x="731520" y="2057400"/>
            <a:ext cx="5669280" cy="914400"/>
          </a:xfrm>
          <a:prstGeom prst="rect">
            <a:avLst/>
          </a:prstGeom>
          <a:noFill/>
        </p:spPr>
        <p:txBody>
          <a:bodyPr wrap="square" lIns="0" rIns="0" tIns="0" bIns="0" anchor="t">
            <a:noAutofit/>
          </a:bodyPr>
          <a:lstStyle/>
          <a:p>
            <a:pPr algn="l">
              <a:lnSpc>
                <a:spcPts val="3564"/>
              </a:lnSpc>
              <a:spcBef>
                <a:spcPts val="0"/>
              </a:spcBef>
              <a:spcAft>
                <a:spcPts val="0"/>
              </a:spcAft>
              <a:buNone/>
            </a:pPr>
            <a:r>
              <a:rPr sz="2850" b="1">
                <a:solidFill>
                  <a:srgbClr val="FFFFFF"/>
                </a:solidFill>
                <a:latin typeface="Plus Jakarta Sans"/>
              </a:rPr>
              <a:t>Care should not feel like another task.</a:t>
            </a:r>
          </a:p>
        </p:txBody>
      </p:sp>
      <p:sp>
        <p:nvSpPr>
          <p:cNvPr id="7" name="TextBox 6"/>
          <p:cNvSpPr txBox="1"/>
          <p:nvPr/>
        </p:nvSpPr>
        <p:spPr>
          <a:xfrm>
            <a:off x="731520" y="3337560"/>
            <a:ext cx="4480560" cy="347472"/>
          </a:xfrm>
          <a:prstGeom prst="rect">
            <a:avLst/>
          </a:prstGeom>
          <a:noFill/>
        </p:spPr>
        <p:txBody>
          <a:bodyPr wrap="square" lIns="0" rIns="0" tIns="0" bIns="0" anchor="t">
            <a:noAutofit/>
          </a:bodyPr>
          <a:lstStyle/>
          <a:p>
            <a:pPr algn="l">
              <a:lnSpc>
                <a:spcPts val="2750"/>
              </a:lnSpc>
              <a:spcBef>
                <a:spcPts val="0"/>
              </a:spcBef>
              <a:spcAft>
                <a:spcPts val="0"/>
              </a:spcAft>
              <a:buNone/>
            </a:pPr>
            <a:r>
              <a:rPr sz="2200" b="1">
                <a:solidFill>
                  <a:srgbClr val="06E288"/>
                </a:solidFill>
                <a:latin typeface="Plus Jakarta Sans"/>
              </a:rPr>
              <a:t>A predictable day</a:t>
            </a:r>
          </a:p>
        </p:txBody>
      </p:sp>
      <p:sp>
        <p:nvSpPr>
          <p:cNvPr id="8" name="TextBox 7"/>
          <p:cNvSpPr txBox="1"/>
          <p:nvPr/>
        </p:nvSpPr>
        <p:spPr>
          <a:xfrm>
            <a:off x="731520" y="3721608"/>
            <a:ext cx="5669280" cy="384048"/>
          </a:xfrm>
          <a:prstGeom prst="rect">
            <a:avLst/>
          </a:prstGeom>
          <a:noFill/>
        </p:spPr>
        <p:txBody>
          <a:bodyPr wrap="square" lIns="0" rIns="0" tIns="0" bIns="0" anchor="t">
            <a:noAutofit/>
          </a:bodyPr>
          <a:lstStyle/>
          <a:p>
            <a:pPr algn="l">
              <a:lnSpc>
                <a:spcPts val="1954"/>
              </a:lnSpc>
              <a:spcBef>
                <a:spcPts val="0"/>
              </a:spcBef>
              <a:spcAft>
                <a:spcPts val="0"/>
              </a:spcAft>
              <a:buNone/>
            </a:pPr>
            <a:r>
              <a:rPr sz="1550" b="0">
                <a:solidFill>
                  <a:srgbClr val="D7E0F2"/>
                </a:solidFill>
                <a:latin typeface="Plus Jakarta Sans"/>
              </a:rPr>
              <a:t>Mood check-ins, routines and medication self-check-ins.</a:t>
            </a:r>
          </a:p>
        </p:txBody>
      </p:sp>
      <p:sp>
        <p:nvSpPr>
          <p:cNvPr id="9" name="TextBox 8"/>
          <p:cNvSpPr txBox="1"/>
          <p:nvPr/>
        </p:nvSpPr>
        <p:spPr>
          <a:xfrm>
            <a:off x="731520" y="4178808"/>
            <a:ext cx="4480560" cy="347472"/>
          </a:xfrm>
          <a:prstGeom prst="rect">
            <a:avLst/>
          </a:prstGeom>
          <a:noFill/>
        </p:spPr>
        <p:txBody>
          <a:bodyPr wrap="square" lIns="0" rIns="0" tIns="0" bIns="0" anchor="t">
            <a:noAutofit/>
          </a:bodyPr>
          <a:lstStyle/>
          <a:p>
            <a:pPr algn="l">
              <a:lnSpc>
                <a:spcPts val="2750"/>
              </a:lnSpc>
              <a:spcBef>
                <a:spcPts val="0"/>
              </a:spcBef>
              <a:spcAft>
                <a:spcPts val="0"/>
              </a:spcAft>
              <a:buNone/>
            </a:pPr>
            <a:r>
              <a:rPr sz="2200" b="1">
                <a:solidFill>
                  <a:srgbClr val="06E288"/>
                </a:solidFill>
                <a:latin typeface="Plus Jakarta Sans"/>
              </a:rPr>
              <a:t>A low-pressure activity</a:t>
            </a:r>
          </a:p>
        </p:txBody>
      </p:sp>
      <p:sp>
        <p:nvSpPr>
          <p:cNvPr id="10" name="TextBox 9"/>
          <p:cNvSpPr txBox="1"/>
          <p:nvPr/>
        </p:nvSpPr>
        <p:spPr>
          <a:xfrm>
            <a:off x="731520" y="4562856"/>
            <a:ext cx="5669280" cy="384048"/>
          </a:xfrm>
          <a:prstGeom prst="rect">
            <a:avLst/>
          </a:prstGeom>
          <a:noFill/>
        </p:spPr>
        <p:txBody>
          <a:bodyPr wrap="square" lIns="0" rIns="0" tIns="0" bIns="0" anchor="t">
            <a:noAutofit/>
          </a:bodyPr>
          <a:lstStyle/>
          <a:p>
            <a:pPr algn="l">
              <a:lnSpc>
                <a:spcPts val="2125"/>
              </a:lnSpc>
              <a:spcBef>
                <a:spcPts val="0"/>
              </a:spcBef>
              <a:spcAft>
                <a:spcPts val="0"/>
              </a:spcAft>
              <a:buNone/>
            </a:pPr>
            <a:r>
              <a:rPr sz="1700" b="0">
                <a:solidFill>
                  <a:srgbClr val="D7E0F2"/>
                </a:solidFill>
                <a:latin typeface="Plus Jakarta Sans"/>
              </a:rPr>
              <a:t>Self-paced games and sensory choices.</a:t>
            </a:r>
          </a:p>
        </p:txBody>
      </p:sp>
      <p:sp>
        <p:nvSpPr>
          <p:cNvPr id="11" name="TextBox 10"/>
          <p:cNvSpPr txBox="1"/>
          <p:nvPr/>
        </p:nvSpPr>
        <p:spPr>
          <a:xfrm>
            <a:off x="731520" y="5020056"/>
            <a:ext cx="4480560" cy="347472"/>
          </a:xfrm>
          <a:prstGeom prst="rect">
            <a:avLst/>
          </a:prstGeom>
          <a:noFill/>
        </p:spPr>
        <p:txBody>
          <a:bodyPr wrap="square" lIns="0" rIns="0" tIns="0" bIns="0" anchor="t">
            <a:noAutofit/>
          </a:bodyPr>
          <a:lstStyle/>
          <a:p>
            <a:pPr algn="l">
              <a:lnSpc>
                <a:spcPts val="2750"/>
              </a:lnSpc>
              <a:spcBef>
                <a:spcPts val="0"/>
              </a:spcBef>
              <a:spcAft>
                <a:spcPts val="0"/>
              </a:spcAft>
              <a:buNone/>
            </a:pPr>
            <a:r>
              <a:rPr sz="2200" b="1">
                <a:solidFill>
                  <a:srgbClr val="06E288"/>
                </a:solidFill>
                <a:latin typeface="Plus Jakarta Sans"/>
              </a:rPr>
              <a:t>A way to connect</a:t>
            </a:r>
          </a:p>
        </p:txBody>
      </p:sp>
      <p:sp>
        <p:nvSpPr>
          <p:cNvPr id="12" name="TextBox 11"/>
          <p:cNvSpPr txBox="1"/>
          <p:nvPr/>
        </p:nvSpPr>
        <p:spPr>
          <a:xfrm>
            <a:off x="731520" y="5404104"/>
            <a:ext cx="5669280" cy="384048"/>
          </a:xfrm>
          <a:prstGeom prst="rect">
            <a:avLst/>
          </a:prstGeom>
          <a:noFill/>
        </p:spPr>
        <p:txBody>
          <a:bodyPr wrap="square" lIns="0" rIns="0" tIns="0" bIns="0" anchor="t">
            <a:noAutofit/>
          </a:bodyPr>
          <a:lstStyle/>
          <a:p>
            <a:pPr algn="l">
              <a:lnSpc>
                <a:spcPts val="2125"/>
              </a:lnSpc>
              <a:spcBef>
                <a:spcPts val="0"/>
              </a:spcBef>
              <a:spcAft>
                <a:spcPts val="0"/>
              </a:spcAft>
              <a:buNone/>
            </a:pPr>
            <a:r>
              <a:rPr sz="1700" b="0">
                <a:solidFill>
                  <a:srgbClr val="D7E0F2"/>
                </a:solidFill>
                <a:latin typeface="Plus Jakarta Sans"/>
              </a:rPr>
              <a:t>Video rooms and a brief you prepare before a visit.</a:t>
            </a:r>
          </a:p>
        </p:txBody>
      </p:sp>
      <p:pic>
        <p:nvPicPr>
          <p:cNvPr id="13" name="Picture 12" descr="phone-overview.png"/>
          <p:cNvPicPr>
            <a:picLocks noChangeAspect="1"/>
          </p:cNvPicPr>
          <p:nvPr/>
        </p:nvPicPr>
        <p:blipFill>
          <a:blip r:embed="rId3"/>
          <a:stretch>
            <a:fillRect/>
          </a:stretch>
        </p:blipFill>
        <p:spPr>
          <a:xfrm>
            <a:off x="7315200" y="1965960"/>
            <a:ext cx="2164247" cy="4251960"/>
          </a:xfrm>
          <a:prstGeom prst="rect">
            <a:avLst/>
          </a:prstGeom>
        </p:spPr>
      </p:pic>
      <p:sp>
        <p:nvSpPr>
          <p:cNvPr id="14" name="TextBox 13"/>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FFFFFF">
                    <a:alpha val="7000"/>
                  </a:srgbClr>
                </a:solidFill>
                <a:latin typeface="Plus Jakarta Sans ExtraBold"/>
              </a:rPr>
              <a:t>02</a:t>
            </a:r>
          </a:p>
        </p:txBody>
      </p:sp>
      <p:pic>
        <p:nvPicPr>
          <p:cNvPr id="15" name="Picture 14" descr="icon.png"/>
          <p:cNvPicPr>
            <a:picLocks noChangeAspect="1"/>
          </p:cNvPicPr>
          <p:nvPr/>
        </p:nvPicPr>
        <p:blipFill>
          <a:blip r:embed="rId4"/>
          <a:stretch>
            <a:fillRect/>
          </a:stretch>
        </p:blipFill>
        <p:spPr>
          <a:xfrm>
            <a:off x="731520" y="6382512"/>
            <a:ext cx="237744" cy="237744"/>
          </a:xfrm>
          <a:prstGeom prst="roundRect">
            <a:avLst>
              <a:gd name="adj" fmla="val 26923"/>
            </a:avLst>
          </a:prstGeom>
        </p:spPr>
      </p:pic>
      <p:sp>
        <p:nvSpPr>
          <p:cNvPr id="16" name="TextBox 15"/>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5F7299"/>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bg>
      <p:bgPr>
        <a:gradFill rotWithShape="1">
          <a:gsLst>
            <a:gs pos="0">
              <a:srgbClr val="0B1733"/>
            </a:gs>
            <a:gs pos="100000">
              <a:srgbClr val="0F2659"/>
            </a:gs>
          </a:gsLst>
          <a:lin scaled="0" ang="5400000"/>
        </a:gradFill>
        <a:effectLst/>
      </p:bgPr>
    </p:bg>
    <p:spTree>
      <p:nvGrpSpPr>
        <p:cNvPr id="1" name=""/>
        <p:cNvGrpSpPr/>
        <p:nvPr/>
      </p:nvGrpSpPr>
      <p:grpSpPr/>
      <p:pic>
        <p:nvPicPr>
          <p:cNvPr id="2" name="Backdrop" descr="bg-mesh.pn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731520" y="617220"/>
            <a:ext cx="118872" cy="118872"/>
          </a:xfrm>
          <a:prstGeom prst="ellipse">
            <a:avLst/>
          </a:prstGeom>
          <a:solidFill>
            <a:srgbClr val="06E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640080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60">
                <a:solidFill>
                  <a:srgbClr val="06E288"/>
                </a:solidFill>
                <a:latin typeface="Plus Jakarta Sans"/>
              </a:rPr>
              <a:t>WHAT THE APP DOES</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4180"/>
              </a:lnSpc>
              <a:spcBef>
                <a:spcPts val="0"/>
              </a:spcBef>
              <a:spcAft>
                <a:spcPts val="0"/>
              </a:spcAft>
              <a:buNone/>
            </a:pPr>
            <a:r>
              <a:rPr sz="3800" b="0">
                <a:solidFill>
                  <a:srgbClr val="FFFFFF"/>
                </a:solidFill>
                <a:latin typeface="Plus Jakarta Sans ExtraBold"/>
              </a:rPr>
              <a:t>Daily support. </a:t>
            </a:r>
            <a:r>
              <a:rPr sz="3800" b="0">
                <a:solidFill>
                  <a:srgbClr val="06E288"/>
                </a:solidFill>
                <a:latin typeface="Plus Jakarta Sans ExtraBold"/>
              </a:rPr>
              <a:t>Play, connect, prepare.</a:t>
            </a:r>
          </a:p>
        </p:txBody>
      </p:sp>
      <p:sp>
        <p:nvSpPr>
          <p:cNvPr id="6" name="Rounded Rectangle 5"/>
          <p:cNvSpPr/>
          <p:nvPr/>
        </p:nvSpPr>
        <p:spPr>
          <a:xfrm>
            <a:off x="731520" y="2148840"/>
            <a:ext cx="5166360" cy="1572768"/>
          </a:xfrm>
          <a:prstGeom prst="roundRect">
            <a:avLst>
              <a:gd name="adj" fmla="val 12790"/>
            </a:avLst>
          </a:prstGeom>
          <a:solidFill>
            <a:srgbClr val="0A1324">
              <a:alpha val="55000"/>
            </a:srgbClr>
          </a:solidFill>
          <a:ln w="9525">
            <a:solidFill>
              <a:srgbClr val="FFFFFF">
                <a:alpha val="9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0120" y="2331720"/>
            <a:ext cx="457200" cy="365760"/>
          </a:xfrm>
          <a:prstGeom prst="rect">
            <a:avLst/>
          </a:prstGeom>
          <a:noFill/>
        </p:spPr>
        <p:txBody>
          <a:bodyPr wrap="square" lIns="0" rIns="0" tIns="0" bIns="0" anchor="t">
            <a:noAutofit/>
          </a:bodyPr>
          <a:lstStyle/>
          <a:p>
            <a:pPr algn="l">
              <a:lnSpc>
                <a:spcPts val="1750"/>
              </a:lnSpc>
              <a:spcBef>
                <a:spcPts val="0"/>
              </a:spcBef>
              <a:spcAft>
                <a:spcPts val="0"/>
              </a:spcAft>
              <a:buNone/>
            </a:pPr>
            <a:r>
              <a:rPr sz="1400" b="1">
                <a:solidFill>
                  <a:srgbClr val="06E288"/>
                </a:solidFill>
                <a:latin typeface="Plus Jakarta Sans"/>
              </a:rPr>
              <a:t>01</a:t>
            </a:r>
          </a:p>
        </p:txBody>
      </p:sp>
      <p:sp>
        <p:nvSpPr>
          <p:cNvPr id="8" name="TextBox 7"/>
          <p:cNvSpPr txBox="1"/>
          <p:nvPr/>
        </p:nvSpPr>
        <p:spPr>
          <a:xfrm>
            <a:off x="1508760" y="2313432"/>
            <a:ext cx="4114800" cy="411480"/>
          </a:xfrm>
          <a:prstGeom prst="rect">
            <a:avLst/>
          </a:prstGeom>
          <a:noFill/>
        </p:spPr>
        <p:txBody>
          <a:bodyPr wrap="square" lIns="0" rIns="0" tIns="0" bIns="0" anchor="t">
            <a:noAutofit/>
          </a:bodyPr>
          <a:lstStyle/>
          <a:p>
            <a:pPr algn="l">
              <a:lnSpc>
                <a:spcPts val="2875"/>
              </a:lnSpc>
              <a:spcBef>
                <a:spcPts val="0"/>
              </a:spcBef>
              <a:spcAft>
                <a:spcPts val="0"/>
              </a:spcAft>
              <a:buNone/>
            </a:pPr>
            <a:r>
              <a:rPr sz="2300" b="1">
                <a:solidFill>
                  <a:srgbClr val="FFFFFF"/>
                </a:solidFill>
                <a:latin typeface="Plus Jakarta Sans"/>
              </a:rPr>
              <a:t>Activities &amp; sensory tools</a:t>
            </a:r>
          </a:p>
        </p:txBody>
      </p:sp>
      <p:sp>
        <p:nvSpPr>
          <p:cNvPr id="9" name="TextBox 8"/>
          <p:cNvSpPr txBox="1"/>
          <p:nvPr/>
        </p:nvSpPr>
        <p:spPr>
          <a:xfrm>
            <a:off x="1508760" y="2834640"/>
            <a:ext cx="4069080" cy="685800"/>
          </a:xfrm>
          <a:prstGeom prst="rect">
            <a:avLst/>
          </a:prstGeom>
          <a:noFill/>
        </p:spPr>
        <p:txBody>
          <a:bodyPr wrap="square" lIns="0" rIns="0" tIns="0" bIns="0" anchor="t">
            <a:noAutofit/>
          </a:bodyPr>
          <a:lstStyle/>
          <a:p>
            <a:pPr algn="l">
              <a:lnSpc>
                <a:spcPts val="2250"/>
              </a:lnSpc>
              <a:spcBef>
                <a:spcPts val="0"/>
              </a:spcBef>
              <a:spcAft>
                <a:spcPts val="0"/>
              </a:spcAft>
              <a:buNone/>
            </a:pPr>
            <a:r>
              <a:rPr sz="1800" b="0">
                <a:solidFill>
                  <a:srgbClr val="D7E0F2"/>
                </a:solidFill>
                <a:latin typeface="Plus Jakarta Sans"/>
              </a:rPr>
              <a:t>Four self-paced games, breathing and optional soundscapes.</a:t>
            </a:r>
          </a:p>
        </p:txBody>
      </p:sp>
      <p:sp>
        <p:nvSpPr>
          <p:cNvPr id="10" name="Rounded Rectangle 9"/>
          <p:cNvSpPr/>
          <p:nvPr/>
        </p:nvSpPr>
        <p:spPr>
          <a:xfrm>
            <a:off x="6217920" y="2148840"/>
            <a:ext cx="5166360" cy="1572768"/>
          </a:xfrm>
          <a:prstGeom prst="roundRect">
            <a:avLst>
              <a:gd name="adj" fmla="val 12790"/>
            </a:avLst>
          </a:prstGeom>
          <a:solidFill>
            <a:srgbClr val="0A1324">
              <a:alpha val="55000"/>
            </a:srgbClr>
          </a:solidFill>
          <a:ln w="9525">
            <a:solidFill>
              <a:srgbClr val="FFFFFF">
                <a:alpha val="9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46520" y="2331720"/>
            <a:ext cx="457200" cy="365760"/>
          </a:xfrm>
          <a:prstGeom prst="rect">
            <a:avLst/>
          </a:prstGeom>
          <a:noFill/>
        </p:spPr>
        <p:txBody>
          <a:bodyPr wrap="square" lIns="0" rIns="0" tIns="0" bIns="0" anchor="t">
            <a:noAutofit/>
          </a:bodyPr>
          <a:lstStyle/>
          <a:p>
            <a:pPr algn="l">
              <a:lnSpc>
                <a:spcPts val="1750"/>
              </a:lnSpc>
              <a:spcBef>
                <a:spcPts val="0"/>
              </a:spcBef>
              <a:spcAft>
                <a:spcPts val="0"/>
              </a:spcAft>
              <a:buNone/>
            </a:pPr>
            <a:r>
              <a:rPr sz="1400" b="1">
                <a:solidFill>
                  <a:srgbClr val="06E288"/>
                </a:solidFill>
                <a:latin typeface="Plus Jakarta Sans"/>
              </a:rPr>
              <a:t>02</a:t>
            </a:r>
          </a:p>
        </p:txBody>
      </p:sp>
      <p:sp>
        <p:nvSpPr>
          <p:cNvPr id="12" name="TextBox 11"/>
          <p:cNvSpPr txBox="1"/>
          <p:nvPr/>
        </p:nvSpPr>
        <p:spPr>
          <a:xfrm>
            <a:off x="6995159" y="2313432"/>
            <a:ext cx="4114800" cy="411480"/>
          </a:xfrm>
          <a:prstGeom prst="rect">
            <a:avLst/>
          </a:prstGeom>
          <a:noFill/>
        </p:spPr>
        <p:txBody>
          <a:bodyPr wrap="square" lIns="0" rIns="0" tIns="0" bIns="0" anchor="t">
            <a:noAutofit/>
          </a:bodyPr>
          <a:lstStyle/>
          <a:p>
            <a:pPr algn="l">
              <a:lnSpc>
                <a:spcPts val="2875"/>
              </a:lnSpc>
              <a:spcBef>
                <a:spcPts val="0"/>
              </a:spcBef>
              <a:spcAft>
                <a:spcPts val="0"/>
              </a:spcAft>
              <a:buNone/>
            </a:pPr>
            <a:r>
              <a:rPr sz="2300" b="1">
                <a:solidFill>
                  <a:srgbClr val="FFFFFF"/>
                </a:solidFill>
                <a:latin typeface="Plus Jakarta Sans"/>
              </a:rPr>
              <a:t>Everyday routines</a:t>
            </a:r>
          </a:p>
        </p:txBody>
      </p:sp>
      <p:sp>
        <p:nvSpPr>
          <p:cNvPr id="13" name="TextBox 12"/>
          <p:cNvSpPr txBox="1"/>
          <p:nvPr/>
        </p:nvSpPr>
        <p:spPr>
          <a:xfrm>
            <a:off x="6995159" y="2834640"/>
            <a:ext cx="4069080" cy="685800"/>
          </a:xfrm>
          <a:prstGeom prst="rect">
            <a:avLst/>
          </a:prstGeom>
          <a:noFill/>
        </p:spPr>
        <p:txBody>
          <a:bodyPr wrap="square" lIns="0" rIns="0" tIns="0" bIns="0" anchor="t">
            <a:noAutofit/>
          </a:bodyPr>
          <a:lstStyle/>
          <a:p>
            <a:pPr algn="l">
              <a:lnSpc>
                <a:spcPts val="2250"/>
              </a:lnSpc>
              <a:spcBef>
                <a:spcPts val="0"/>
              </a:spcBef>
              <a:spcAft>
                <a:spcPts val="0"/>
              </a:spcAft>
              <a:buNone/>
            </a:pPr>
            <a:r>
              <a:rPr sz="1800" b="0">
                <a:solidFill>
                  <a:srgbClr val="D7E0F2"/>
                </a:solidFill>
                <a:latin typeface="Plus Jakarta Sans"/>
              </a:rPr>
              <a:t>Mood check-ins, daily tasks and medication self-check-ins.</a:t>
            </a:r>
          </a:p>
        </p:txBody>
      </p:sp>
      <p:sp>
        <p:nvSpPr>
          <p:cNvPr id="14" name="Rounded Rectangle 13"/>
          <p:cNvSpPr/>
          <p:nvPr/>
        </p:nvSpPr>
        <p:spPr>
          <a:xfrm>
            <a:off x="731520" y="3977639"/>
            <a:ext cx="5166360" cy="1572768"/>
          </a:xfrm>
          <a:prstGeom prst="roundRect">
            <a:avLst>
              <a:gd name="adj" fmla="val 12790"/>
            </a:avLst>
          </a:prstGeom>
          <a:solidFill>
            <a:srgbClr val="0A1324">
              <a:alpha val="55000"/>
            </a:srgbClr>
          </a:solidFill>
          <a:ln w="9525">
            <a:solidFill>
              <a:srgbClr val="FFFFFF">
                <a:alpha val="9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60120" y="4160520"/>
            <a:ext cx="457200" cy="365760"/>
          </a:xfrm>
          <a:prstGeom prst="rect">
            <a:avLst/>
          </a:prstGeom>
          <a:noFill/>
        </p:spPr>
        <p:txBody>
          <a:bodyPr wrap="square" lIns="0" rIns="0" tIns="0" bIns="0" anchor="t">
            <a:noAutofit/>
          </a:bodyPr>
          <a:lstStyle/>
          <a:p>
            <a:pPr algn="l">
              <a:lnSpc>
                <a:spcPts val="1750"/>
              </a:lnSpc>
              <a:spcBef>
                <a:spcPts val="0"/>
              </a:spcBef>
              <a:spcAft>
                <a:spcPts val="0"/>
              </a:spcAft>
              <a:buNone/>
            </a:pPr>
            <a:r>
              <a:rPr sz="1400" b="1">
                <a:solidFill>
                  <a:srgbClr val="06E288"/>
                </a:solidFill>
                <a:latin typeface="Plus Jakarta Sans"/>
              </a:rPr>
              <a:t>03</a:t>
            </a:r>
          </a:p>
        </p:txBody>
      </p:sp>
      <p:sp>
        <p:nvSpPr>
          <p:cNvPr id="16" name="TextBox 15"/>
          <p:cNvSpPr txBox="1"/>
          <p:nvPr/>
        </p:nvSpPr>
        <p:spPr>
          <a:xfrm>
            <a:off x="1508760" y="4142231"/>
            <a:ext cx="4114800" cy="411480"/>
          </a:xfrm>
          <a:prstGeom prst="rect">
            <a:avLst/>
          </a:prstGeom>
          <a:noFill/>
        </p:spPr>
        <p:txBody>
          <a:bodyPr wrap="square" lIns="0" rIns="0" tIns="0" bIns="0" anchor="t">
            <a:noAutofit/>
          </a:bodyPr>
          <a:lstStyle/>
          <a:p>
            <a:pPr algn="l">
              <a:lnSpc>
                <a:spcPts val="2875"/>
              </a:lnSpc>
              <a:spcBef>
                <a:spcPts val="0"/>
              </a:spcBef>
              <a:spcAft>
                <a:spcPts val="0"/>
              </a:spcAft>
              <a:buNone/>
            </a:pPr>
            <a:r>
              <a:rPr sz="2300" b="1">
                <a:solidFill>
                  <a:srgbClr val="FFFFFF"/>
                </a:solidFill>
                <a:latin typeface="Plus Jakarta Sans"/>
              </a:rPr>
              <a:t>Human connection</a:t>
            </a:r>
          </a:p>
        </p:txBody>
      </p:sp>
      <p:sp>
        <p:nvSpPr>
          <p:cNvPr id="17" name="TextBox 16"/>
          <p:cNvSpPr txBox="1"/>
          <p:nvPr/>
        </p:nvSpPr>
        <p:spPr>
          <a:xfrm>
            <a:off x="1508760" y="4663440"/>
            <a:ext cx="4069080" cy="685800"/>
          </a:xfrm>
          <a:prstGeom prst="rect">
            <a:avLst/>
          </a:prstGeom>
          <a:noFill/>
        </p:spPr>
        <p:txBody>
          <a:bodyPr wrap="square" lIns="0" rIns="0" tIns="0" bIns="0" anchor="t">
            <a:noAutofit/>
          </a:bodyPr>
          <a:lstStyle/>
          <a:p>
            <a:pPr algn="l">
              <a:lnSpc>
                <a:spcPts val="2250"/>
              </a:lnSpc>
              <a:spcBef>
                <a:spcPts val="0"/>
              </a:spcBef>
              <a:spcAft>
                <a:spcPts val="0"/>
              </a:spcAft>
              <a:buNone/>
            </a:pPr>
            <a:r>
              <a:rPr sz="1800" b="0">
                <a:solidFill>
                  <a:srgbClr val="D7E0F2"/>
                </a:solidFill>
                <a:latin typeface="Plus Jakarta Sans"/>
              </a:rPr>
              <a:t>Coffee Circles open Jitsi video rooms; care notes stay local.</a:t>
            </a:r>
          </a:p>
        </p:txBody>
      </p:sp>
      <p:sp>
        <p:nvSpPr>
          <p:cNvPr id="18" name="Rounded Rectangle 17"/>
          <p:cNvSpPr/>
          <p:nvPr/>
        </p:nvSpPr>
        <p:spPr>
          <a:xfrm>
            <a:off x="6217920" y="3977639"/>
            <a:ext cx="5166360" cy="1572768"/>
          </a:xfrm>
          <a:prstGeom prst="roundRect">
            <a:avLst>
              <a:gd name="adj" fmla="val 12790"/>
            </a:avLst>
          </a:prstGeom>
          <a:solidFill>
            <a:srgbClr val="0A1324">
              <a:alpha val="55000"/>
            </a:srgbClr>
          </a:solidFill>
          <a:ln w="9525">
            <a:solidFill>
              <a:srgbClr val="FFFFFF">
                <a:alpha val="9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446520" y="4160520"/>
            <a:ext cx="457200" cy="365760"/>
          </a:xfrm>
          <a:prstGeom prst="rect">
            <a:avLst/>
          </a:prstGeom>
          <a:noFill/>
        </p:spPr>
        <p:txBody>
          <a:bodyPr wrap="square" lIns="0" rIns="0" tIns="0" bIns="0" anchor="t">
            <a:noAutofit/>
          </a:bodyPr>
          <a:lstStyle/>
          <a:p>
            <a:pPr algn="l">
              <a:lnSpc>
                <a:spcPts val="1750"/>
              </a:lnSpc>
              <a:spcBef>
                <a:spcPts val="0"/>
              </a:spcBef>
              <a:spcAft>
                <a:spcPts val="0"/>
              </a:spcAft>
              <a:buNone/>
            </a:pPr>
            <a:r>
              <a:rPr sz="1400" b="1">
                <a:solidFill>
                  <a:srgbClr val="06E288"/>
                </a:solidFill>
                <a:latin typeface="Plus Jakarta Sans"/>
              </a:rPr>
              <a:t>04</a:t>
            </a:r>
          </a:p>
        </p:txBody>
      </p:sp>
      <p:sp>
        <p:nvSpPr>
          <p:cNvPr id="20" name="TextBox 19"/>
          <p:cNvSpPr txBox="1"/>
          <p:nvPr/>
        </p:nvSpPr>
        <p:spPr>
          <a:xfrm>
            <a:off x="6995159" y="4142231"/>
            <a:ext cx="4114800" cy="411480"/>
          </a:xfrm>
          <a:prstGeom prst="rect">
            <a:avLst/>
          </a:prstGeom>
          <a:noFill/>
        </p:spPr>
        <p:txBody>
          <a:bodyPr wrap="square" lIns="0" rIns="0" tIns="0" bIns="0" anchor="t">
            <a:noAutofit/>
          </a:bodyPr>
          <a:lstStyle/>
          <a:p>
            <a:pPr algn="l">
              <a:lnSpc>
                <a:spcPts val="2875"/>
              </a:lnSpc>
              <a:spcBef>
                <a:spcPts val="0"/>
              </a:spcBef>
              <a:spcAft>
                <a:spcPts val="0"/>
              </a:spcAft>
              <a:buNone/>
            </a:pPr>
            <a:r>
              <a:rPr sz="2300" b="1">
                <a:solidFill>
                  <a:srgbClr val="FFFFFF"/>
                </a:solidFill>
                <a:latin typeface="Plus Jakarta Sans"/>
              </a:rPr>
              <a:t>Visit preparation</a:t>
            </a:r>
          </a:p>
        </p:txBody>
      </p:sp>
      <p:sp>
        <p:nvSpPr>
          <p:cNvPr id="21" name="TextBox 20"/>
          <p:cNvSpPr txBox="1"/>
          <p:nvPr/>
        </p:nvSpPr>
        <p:spPr>
          <a:xfrm>
            <a:off x="6995159" y="4663440"/>
            <a:ext cx="4069080" cy="685800"/>
          </a:xfrm>
          <a:prstGeom prst="rect">
            <a:avLst/>
          </a:prstGeom>
          <a:noFill/>
        </p:spPr>
        <p:txBody>
          <a:bodyPr wrap="square" lIns="0" rIns="0" tIns="0" bIns="0" anchor="t">
            <a:noAutofit/>
          </a:bodyPr>
          <a:lstStyle/>
          <a:p>
            <a:pPr algn="l">
              <a:lnSpc>
                <a:spcPts val="2250"/>
              </a:lnSpc>
              <a:spcBef>
                <a:spcPts val="0"/>
              </a:spcBef>
              <a:spcAft>
                <a:spcPts val="0"/>
              </a:spcAft>
              <a:buNone/>
            </a:pPr>
            <a:r>
              <a:rPr sz="1800" b="0">
                <a:solidFill>
                  <a:srgbClr val="D7E0F2"/>
                </a:solidFill>
                <a:latin typeface="Plus Jakarta Sans"/>
              </a:rPr>
              <a:t>Choose notes and readings for a previewable visit brief.</a:t>
            </a:r>
          </a:p>
        </p:txBody>
      </p:sp>
      <p:sp>
        <p:nvSpPr>
          <p:cNvPr id="22" name="TextBox 21"/>
          <p:cNvSpPr txBox="1"/>
          <p:nvPr/>
        </p:nvSpPr>
        <p:spPr>
          <a:xfrm>
            <a:off x="731520" y="5943600"/>
            <a:ext cx="10728655" cy="320040"/>
          </a:xfrm>
          <a:prstGeom prst="rect">
            <a:avLst/>
          </a:prstGeom>
          <a:noFill/>
        </p:spPr>
        <p:txBody>
          <a:bodyPr wrap="square" lIns="0" rIns="0" tIns="0" bIns="0" anchor="t">
            <a:noAutofit/>
          </a:bodyPr>
          <a:lstStyle/>
          <a:p>
            <a:pPr algn="l">
              <a:lnSpc>
                <a:spcPts val="2250"/>
              </a:lnSpc>
              <a:spcBef>
                <a:spcPts val="0"/>
              </a:spcBef>
              <a:spcAft>
                <a:spcPts val="0"/>
              </a:spcAft>
              <a:buNone/>
            </a:pPr>
            <a:r>
              <a:rPr sz="1800" b="0">
                <a:solidFill>
                  <a:srgbClr val="06E288"/>
                </a:solidFill>
                <a:latin typeface="Plus Jakarta Sans"/>
              </a:rPr>
              <a:t>For older adults, autistic people and the families who support them.</a:t>
            </a:r>
          </a:p>
        </p:txBody>
      </p:sp>
      <p:sp>
        <p:nvSpPr>
          <p:cNvPr id="23" name="TextBox 22"/>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FFFFFF">
                    <a:alpha val="7000"/>
                  </a:srgbClr>
                </a:solidFill>
                <a:latin typeface="Plus Jakarta Sans ExtraBold"/>
              </a:rPr>
              <a:t>03</a:t>
            </a:r>
          </a:p>
        </p:txBody>
      </p:sp>
      <p:pic>
        <p:nvPicPr>
          <p:cNvPr id="24" name="Picture 23" descr="icon.png"/>
          <p:cNvPicPr>
            <a:picLocks noChangeAspect="1"/>
          </p:cNvPicPr>
          <p:nvPr/>
        </p:nvPicPr>
        <p:blipFill>
          <a:blip r:embed="rId3"/>
          <a:stretch>
            <a:fillRect/>
          </a:stretch>
        </p:blipFill>
        <p:spPr>
          <a:xfrm>
            <a:off x="731520" y="6382512"/>
            <a:ext cx="237744" cy="237744"/>
          </a:xfrm>
          <a:prstGeom prst="roundRect">
            <a:avLst>
              <a:gd name="adj" fmla="val 26923"/>
            </a:avLst>
          </a:prstGeom>
        </p:spPr>
      </p:pic>
      <p:sp>
        <p:nvSpPr>
          <p:cNvPr id="25" name="TextBox 24"/>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5F7299"/>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bg>
      <p:bgPr>
        <a:gradFill rotWithShape="1">
          <a:gsLst>
            <a:gs pos="0">
              <a:srgbClr val="0B1733"/>
            </a:gs>
            <a:gs pos="100000">
              <a:srgbClr val="0F2659"/>
            </a:gs>
          </a:gsLst>
          <a:lin scaled="0" ang="5400000"/>
        </a:gradFill>
        <a:effectLst/>
      </p:bgPr>
    </p:bg>
    <p:spTree>
      <p:nvGrpSpPr>
        <p:cNvPr id="1" name=""/>
        <p:cNvGrpSpPr/>
        <p:nvPr/>
      </p:nvGrpSpPr>
      <p:grpSpPr/>
      <p:pic>
        <p:nvPicPr>
          <p:cNvPr id="2" name="Backdrop" descr="bg-mesh.pn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731520" y="617220"/>
            <a:ext cx="118872" cy="118872"/>
          </a:xfrm>
          <a:prstGeom prst="ellipse">
            <a:avLst/>
          </a:prstGeom>
          <a:solidFill>
            <a:srgbClr val="06E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640080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60">
                <a:solidFill>
                  <a:srgbClr val="06E288"/>
                </a:solidFill>
                <a:latin typeface="Plus Jakarta Sans"/>
              </a:rPr>
              <a:t>CORE FEATURE · GAMES</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4180"/>
              </a:lnSpc>
              <a:spcBef>
                <a:spcPts val="0"/>
              </a:spcBef>
              <a:spcAft>
                <a:spcPts val="0"/>
              </a:spcAft>
              <a:buNone/>
            </a:pPr>
            <a:r>
              <a:rPr sz="3800" b="0">
                <a:solidFill>
                  <a:srgbClr val="FFFFFF"/>
                </a:solidFill>
                <a:latin typeface="Plus Jakarta Sans ExtraBold"/>
              </a:rPr>
              <a:t>Four ways to play. </a:t>
            </a:r>
            <a:r>
              <a:rPr sz="3800" b="0">
                <a:solidFill>
                  <a:srgbClr val="06E288"/>
                </a:solidFill>
                <a:latin typeface="Plus Jakarta Sans ExtraBold"/>
              </a:rPr>
              <a:t>At your own pace.</a:t>
            </a:r>
          </a:p>
        </p:txBody>
      </p:sp>
      <p:sp>
        <p:nvSpPr>
          <p:cNvPr id="6" name="Rounded Rectangle 5"/>
          <p:cNvSpPr/>
          <p:nvPr/>
        </p:nvSpPr>
        <p:spPr>
          <a:xfrm>
            <a:off x="731520" y="2103120"/>
            <a:ext cx="2531287" cy="3977639"/>
          </a:xfrm>
          <a:prstGeom prst="roundRect">
            <a:avLst>
              <a:gd name="adj" fmla="val 7947"/>
            </a:avLst>
          </a:prstGeom>
          <a:solidFill>
            <a:srgbClr val="0A1324">
              <a:alpha val="55000"/>
            </a:srgbClr>
          </a:solidFill>
          <a:ln w="9525">
            <a:solidFill>
              <a:srgbClr val="FFFFFF">
                <a:alpha val="9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2331720"/>
            <a:ext cx="2165527" cy="594360"/>
          </a:xfrm>
          <a:prstGeom prst="rect">
            <a:avLst/>
          </a:prstGeom>
          <a:noFill/>
        </p:spPr>
        <p:txBody>
          <a:bodyPr wrap="square" lIns="0" rIns="0" tIns="0" bIns="0" anchor="t">
            <a:noAutofit/>
          </a:bodyPr>
          <a:lstStyle/>
          <a:p>
            <a:pPr algn="l">
              <a:lnSpc>
                <a:spcPts val="2400"/>
              </a:lnSpc>
              <a:spcBef>
                <a:spcPts val="0"/>
              </a:spcBef>
              <a:spcAft>
                <a:spcPts val="0"/>
              </a:spcAft>
              <a:buNone/>
            </a:pPr>
            <a:r>
              <a:rPr sz="1900" b="1">
                <a:solidFill>
                  <a:srgbClr val="FFFFFF"/>
                </a:solidFill>
                <a:latin typeface="Plus Jakarta Sans"/>
              </a:rPr>
              <a:t>Feelings Explorer</a:t>
            </a:r>
          </a:p>
        </p:txBody>
      </p:sp>
      <p:pic>
        <p:nvPicPr>
          <p:cNvPr id="8" name="Picture 7" descr="crop-feelings.png"/>
          <p:cNvPicPr>
            <a:picLocks noChangeAspect="1"/>
          </p:cNvPicPr>
          <p:nvPr/>
        </p:nvPicPr>
        <p:blipFill>
          <a:blip r:embed="rId3"/>
          <a:stretch>
            <a:fillRect/>
          </a:stretch>
        </p:blipFill>
        <p:spPr>
          <a:xfrm>
            <a:off x="1126306" y="3063240"/>
            <a:ext cx="1741714" cy="1645920"/>
          </a:xfrm>
          <a:prstGeom prst="rect">
            <a:avLst/>
          </a:prstGeom>
        </p:spPr>
      </p:pic>
      <p:sp>
        <p:nvSpPr>
          <p:cNvPr id="9" name="TextBox 8"/>
          <p:cNvSpPr txBox="1"/>
          <p:nvPr/>
        </p:nvSpPr>
        <p:spPr>
          <a:xfrm>
            <a:off x="914400" y="4937760"/>
            <a:ext cx="2165527" cy="457200"/>
          </a:xfrm>
          <a:prstGeom prst="rect">
            <a:avLst/>
          </a:prstGeom>
          <a:noFill/>
        </p:spPr>
        <p:txBody>
          <a:bodyPr wrap="square" lIns="0" rIns="0" tIns="0" bIns="0" anchor="t">
            <a:noAutofit/>
          </a:bodyPr>
          <a:lstStyle/>
          <a:p>
            <a:pPr algn="l">
              <a:lnSpc>
                <a:spcPts val="1869"/>
              </a:lnSpc>
              <a:spcBef>
                <a:spcPts val="0"/>
              </a:spcBef>
              <a:spcAft>
                <a:spcPts val="0"/>
              </a:spcAft>
              <a:buNone/>
            </a:pPr>
            <a:r>
              <a:rPr sz="1500" b="1">
                <a:solidFill>
                  <a:srgbClr val="06E288"/>
                </a:solidFill>
                <a:latin typeface="Plus Jakarta Sans"/>
              </a:rPr>
              <a:t>Choose how you feel.</a:t>
            </a:r>
          </a:p>
        </p:txBody>
      </p:sp>
      <p:sp>
        <p:nvSpPr>
          <p:cNvPr id="10" name="TextBox 9"/>
          <p:cNvSpPr txBox="1"/>
          <p:nvPr/>
        </p:nvSpPr>
        <p:spPr>
          <a:xfrm>
            <a:off x="914400" y="5468112"/>
            <a:ext cx="2165527" cy="457200"/>
          </a:xfrm>
          <a:prstGeom prst="rect">
            <a:avLst/>
          </a:prstGeom>
          <a:noFill/>
        </p:spPr>
        <p:txBody>
          <a:bodyPr wrap="square" lIns="0" rIns="0" tIns="0" bIns="0" anchor="t">
            <a:noAutofit/>
          </a:bodyPr>
          <a:lstStyle/>
          <a:p>
            <a:pPr algn="l">
              <a:lnSpc>
                <a:spcPts val="1800"/>
              </a:lnSpc>
              <a:spcBef>
                <a:spcPts val="0"/>
              </a:spcBef>
              <a:spcAft>
                <a:spcPts val="0"/>
              </a:spcAft>
              <a:buNone/>
            </a:pPr>
            <a:r>
              <a:rPr sz="1450" b="0">
                <a:solidFill>
                  <a:srgbClr val="D7E0F2"/>
                </a:solidFill>
                <a:latin typeface="Plus Jakarta Sans"/>
              </a:rPr>
              <a:t>No right or wrong answer.</a:t>
            </a:r>
          </a:p>
        </p:txBody>
      </p:sp>
      <p:sp>
        <p:nvSpPr>
          <p:cNvPr id="11" name="Rounded Rectangle 10"/>
          <p:cNvSpPr/>
          <p:nvPr/>
        </p:nvSpPr>
        <p:spPr>
          <a:xfrm>
            <a:off x="3463975" y="2103120"/>
            <a:ext cx="2531287" cy="3977639"/>
          </a:xfrm>
          <a:prstGeom prst="roundRect">
            <a:avLst>
              <a:gd name="adj" fmla="val 7947"/>
            </a:avLst>
          </a:prstGeom>
          <a:solidFill>
            <a:srgbClr val="0A1324">
              <a:alpha val="55000"/>
            </a:srgbClr>
          </a:solidFill>
          <a:ln w="9525">
            <a:solidFill>
              <a:srgbClr val="FFFFFF">
                <a:alpha val="9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646855" y="2331720"/>
            <a:ext cx="2165527" cy="594360"/>
          </a:xfrm>
          <a:prstGeom prst="rect">
            <a:avLst/>
          </a:prstGeom>
          <a:noFill/>
        </p:spPr>
        <p:txBody>
          <a:bodyPr wrap="square" lIns="0" rIns="0" tIns="0" bIns="0" anchor="t">
            <a:noAutofit/>
          </a:bodyPr>
          <a:lstStyle/>
          <a:p>
            <a:pPr algn="l">
              <a:lnSpc>
                <a:spcPts val="2500"/>
              </a:lnSpc>
              <a:spcBef>
                <a:spcPts val="0"/>
              </a:spcBef>
              <a:spcAft>
                <a:spcPts val="0"/>
              </a:spcAft>
              <a:buNone/>
            </a:pPr>
            <a:r>
              <a:rPr sz="2000" b="1">
                <a:solidFill>
                  <a:srgbClr val="FFFFFF"/>
                </a:solidFill>
                <a:latin typeface="Plus Jakarta Sans"/>
              </a:rPr>
              <a:t>Pattern Recall</a:t>
            </a:r>
          </a:p>
        </p:txBody>
      </p:sp>
      <p:pic>
        <p:nvPicPr>
          <p:cNvPr id="13" name="Picture 12" descr="crop-pattern.png"/>
          <p:cNvPicPr>
            <a:picLocks noChangeAspect="1"/>
          </p:cNvPicPr>
          <p:nvPr/>
        </p:nvPicPr>
        <p:blipFill>
          <a:blip r:embed="rId4"/>
          <a:stretch>
            <a:fillRect/>
          </a:stretch>
        </p:blipFill>
        <p:spPr>
          <a:xfrm>
            <a:off x="3858762" y="3063240"/>
            <a:ext cx="1741714" cy="1645920"/>
          </a:xfrm>
          <a:prstGeom prst="rect">
            <a:avLst/>
          </a:prstGeom>
        </p:spPr>
      </p:pic>
      <p:sp>
        <p:nvSpPr>
          <p:cNvPr id="14" name="TextBox 13"/>
          <p:cNvSpPr txBox="1"/>
          <p:nvPr/>
        </p:nvSpPr>
        <p:spPr>
          <a:xfrm>
            <a:off x="3646855" y="4937760"/>
            <a:ext cx="2165527" cy="457200"/>
          </a:xfrm>
          <a:prstGeom prst="rect">
            <a:avLst/>
          </a:prstGeom>
          <a:noFill/>
        </p:spPr>
        <p:txBody>
          <a:bodyPr wrap="square" lIns="0" rIns="0" tIns="0" bIns="0" anchor="t">
            <a:noAutofit/>
          </a:bodyPr>
          <a:lstStyle/>
          <a:p>
            <a:pPr algn="l">
              <a:lnSpc>
                <a:spcPts val="2039"/>
              </a:lnSpc>
              <a:spcBef>
                <a:spcPts val="0"/>
              </a:spcBef>
              <a:spcAft>
                <a:spcPts val="0"/>
              </a:spcAft>
              <a:buNone/>
            </a:pPr>
            <a:r>
              <a:rPr sz="1650" b="1">
                <a:solidFill>
                  <a:srgbClr val="06E288"/>
                </a:solidFill>
                <a:latin typeface="Plus Jakarta Sans"/>
              </a:rPr>
              <a:t>Watch, then repeat.</a:t>
            </a:r>
          </a:p>
        </p:txBody>
      </p:sp>
      <p:sp>
        <p:nvSpPr>
          <p:cNvPr id="15" name="TextBox 14"/>
          <p:cNvSpPr txBox="1"/>
          <p:nvPr/>
        </p:nvSpPr>
        <p:spPr>
          <a:xfrm>
            <a:off x="3646855" y="5468112"/>
            <a:ext cx="2165527" cy="457200"/>
          </a:xfrm>
          <a:prstGeom prst="rect">
            <a:avLst/>
          </a:prstGeom>
          <a:noFill/>
        </p:spPr>
        <p:txBody>
          <a:bodyPr wrap="square" lIns="0" rIns="0" tIns="0" bIns="0" anchor="t">
            <a:noAutofit/>
          </a:bodyPr>
          <a:lstStyle/>
          <a:p>
            <a:pPr algn="l">
              <a:lnSpc>
                <a:spcPts val="1800"/>
              </a:lnSpc>
              <a:spcBef>
                <a:spcPts val="0"/>
              </a:spcBef>
              <a:spcAft>
                <a:spcPts val="0"/>
              </a:spcAft>
              <a:buNone/>
            </a:pPr>
            <a:r>
              <a:rPr sz="1450" b="0">
                <a:solidFill>
                  <a:srgbClr val="D7E0F2"/>
                </a:solidFill>
                <a:latin typeface="Plus Jakarta Sans"/>
              </a:rPr>
              <a:t>Replay or stop anytime.</a:t>
            </a:r>
          </a:p>
        </p:txBody>
      </p:sp>
      <p:sp>
        <p:nvSpPr>
          <p:cNvPr id="16" name="Rounded Rectangle 15"/>
          <p:cNvSpPr/>
          <p:nvPr/>
        </p:nvSpPr>
        <p:spPr>
          <a:xfrm>
            <a:off x="6196431" y="2103120"/>
            <a:ext cx="2531287" cy="3977639"/>
          </a:xfrm>
          <a:prstGeom prst="roundRect">
            <a:avLst>
              <a:gd name="adj" fmla="val 7947"/>
            </a:avLst>
          </a:prstGeom>
          <a:solidFill>
            <a:srgbClr val="0A1324">
              <a:alpha val="55000"/>
            </a:srgbClr>
          </a:solidFill>
          <a:ln w="9525">
            <a:solidFill>
              <a:srgbClr val="FFFFFF">
                <a:alpha val="9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79311" y="2331720"/>
            <a:ext cx="2165527" cy="594360"/>
          </a:xfrm>
          <a:prstGeom prst="rect">
            <a:avLst/>
          </a:prstGeom>
          <a:noFill/>
        </p:spPr>
        <p:txBody>
          <a:bodyPr wrap="square" lIns="0" rIns="0" tIns="0" bIns="0" anchor="t">
            <a:noAutofit/>
          </a:bodyPr>
          <a:lstStyle/>
          <a:p>
            <a:pPr algn="l">
              <a:lnSpc>
                <a:spcPts val="2500"/>
              </a:lnSpc>
              <a:spcBef>
                <a:spcPts val="0"/>
              </a:spcBef>
              <a:spcAft>
                <a:spcPts val="0"/>
              </a:spcAft>
              <a:buNone/>
            </a:pPr>
            <a:r>
              <a:rPr sz="2000" b="1">
                <a:solidFill>
                  <a:srgbClr val="FFFFFF"/>
                </a:solidFill>
                <a:latin typeface="Plus Jakarta Sans"/>
              </a:rPr>
              <a:t>Picture Pairs</a:t>
            </a:r>
          </a:p>
        </p:txBody>
      </p:sp>
      <p:pic>
        <p:nvPicPr>
          <p:cNvPr id="18" name="Picture 17" descr="crop-pairs.png"/>
          <p:cNvPicPr>
            <a:picLocks noChangeAspect="1"/>
          </p:cNvPicPr>
          <p:nvPr/>
        </p:nvPicPr>
        <p:blipFill>
          <a:blip r:embed="rId5"/>
          <a:stretch>
            <a:fillRect/>
          </a:stretch>
        </p:blipFill>
        <p:spPr>
          <a:xfrm>
            <a:off x="6593974" y="3063240"/>
            <a:ext cx="1736202" cy="1645920"/>
          </a:xfrm>
          <a:prstGeom prst="rect">
            <a:avLst/>
          </a:prstGeom>
        </p:spPr>
      </p:pic>
      <p:sp>
        <p:nvSpPr>
          <p:cNvPr id="19" name="TextBox 18"/>
          <p:cNvSpPr txBox="1"/>
          <p:nvPr/>
        </p:nvSpPr>
        <p:spPr>
          <a:xfrm>
            <a:off x="6379311" y="4937760"/>
            <a:ext cx="2165527" cy="457200"/>
          </a:xfrm>
          <a:prstGeom prst="rect">
            <a:avLst/>
          </a:prstGeom>
          <a:noFill/>
        </p:spPr>
        <p:txBody>
          <a:bodyPr wrap="square" lIns="0" rIns="0" tIns="0" bIns="0" anchor="t">
            <a:noAutofit/>
          </a:bodyPr>
          <a:lstStyle/>
          <a:p>
            <a:pPr algn="l">
              <a:lnSpc>
                <a:spcPts val="1784"/>
              </a:lnSpc>
              <a:spcBef>
                <a:spcPts val="0"/>
              </a:spcBef>
              <a:spcAft>
                <a:spcPts val="0"/>
              </a:spcAft>
              <a:buNone/>
            </a:pPr>
            <a:r>
              <a:rPr sz="1450" b="1">
                <a:solidFill>
                  <a:srgbClr val="06E288"/>
                </a:solidFill>
                <a:latin typeface="Plus Jakarta Sans"/>
              </a:rPr>
              <a:t>Reveal matching cards.</a:t>
            </a:r>
          </a:p>
        </p:txBody>
      </p:sp>
      <p:sp>
        <p:nvSpPr>
          <p:cNvPr id="20" name="TextBox 19"/>
          <p:cNvSpPr txBox="1"/>
          <p:nvPr/>
        </p:nvSpPr>
        <p:spPr>
          <a:xfrm>
            <a:off x="6379311" y="5468112"/>
            <a:ext cx="2165527" cy="457200"/>
          </a:xfrm>
          <a:prstGeom prst="rect">
            <a:avLst/>
          </a:prstGeom>
          <a:noFill/>
        </p:spPr>
        <p:txBody>
          <a:bodyPr wrap="square" lIns="0" rIns="0" tIns="0" bIns="0" anchor="t">
            <a:noAutofit/>
          </a:bodyPr>
          <a:lstStyle/>
          <a:p>
            <a:pPr algn="l">
              <a:lnSpc>
                <a:spcPts val="1800"/>
              </a:lnSpc>
              <a:spcBef>
                <a:spcPts val="0"/>
              </a:spcBef>
              <a:spcAft>
                <a:spcPts val="0"/>
              </a:spcAft>
              <a:buNone/>
            </a:pPr>
            <a:r>
              <a:rPr sz="1450" b="0">
                <a:solidFill>
                  <a:srgbClr val="D7E0F2"/>
                </a:solidFill>
                <a:latin typeface="Plus Jakarta Sans"/>
              </a:rPr>
              <a:t>No countdown or score.</a:t>
            </a:r>
          </a:p>
        </p:txBody>
      </p:sp>
      <p:sp>
        <p:nvSpPr>
          <p:cNvPr id="21" name="Rounded Rectangle 20"/>
          <p:cNvSpPr/>
          <p:nvPr/>
        </p:nvSpPr>
        <p:spPr>
          <a:xfrm>
            <a:off x="8928887" y="2103120"/>
            <a:ext cx="2531287" cy="3977639"/>
          </a:xfrm>
          <a:prstGeom prst="roundRect">
            <a:avLst>
              <a:gd name="adj" fmla="val 7947"/>
            </a:avLst>
          </a:prstGeom>
          <a:solidFill>
            <a:srgbClr val="0A1324">
              <a:alpha val="55000"/>
            </a:srgbClr>
          </a:solidFill>
          <a:ln w="9525">
            <a:solidFill>
              <a:srgbClr val="FFFFFF">
                <a:alpha val="9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11767" y="2331720"/>
            <a:ext cx="2165527" cy="594360"/>
          </a:xfrm>
          <a:prstGeom prst="rect">
            <a:avLst/>
          </a:prstGeom>
          <a:noFill/>
        </p:spPr>
        <p:txBody>
          <a:bodyPr wrap="square" lIns="0" rIns="0" tIns="0" bIns="0" anchor="t">
            <a:noAutofit/>
          </a:bodyPr>
          <a:lstStyle/>
          <a:p>
            <a:pPr algn="l">
              <a:lnSpc>
                <a:spcPts val="2500"/>
              </a:lnSpc>
              <a:spcBef>
                <a:spcPts val="0"/>
              </a:spcBef>
              <a:spcAft>
                <a:spcPts val="0"/>
              </a:spcAft>
              <a:buNone/>
            </a:pPr>
            <a:r>
              <a:rPr sz="2000" b="1">
                <a:solidFill>
                  <a:srgbClr val="FFFFFF"/>
                </a:solidFill>
                <a:latin typeface="Plus Jakarta Sans"/>
              </a:rPr>
              <a:t>Picture Story</a:t>
            </a:r>
          </a:p>
        </p:txBody>
      </p:sp>
      <p:pic>
        <p:nvPicPr>
          <p:cNvPr id="23" name="Picture 22" descr="crop-story.png"/>
          <p:cNvPicPr>
            <a:picLocks noChangeAspect="1"/>
          </p:cNvPicPr>
          <p:nvPr/>
        </p:nvPicPr>
        <p:blipFill>
          <a:blip r:embed="rId6"/>
          <a:stretch>
            <a:fillRect/>
          </a:stretch>
        </p:blipFill>
        <p:spPr>
          <a:xfrm>
            <a:off x="9326430" y="3063240"/>
            <a:ext cx="1736202" cy="1645920"/>
          </a:xfrm>
          <a:prstGeom prst="rect">
            <a:avLst/>
          </a:prstGeom>
        </p:spPr>
      </p:pic>
      <p:sp>
        <p:nvSpPr>
          <p:cNvPr id="24" name="TextBox 23"/>
          <p:cNvSpPr txBox="1"/>
          <p:nvPr/>
        </p:nvSpPr>
        <p:spPr>
          <a:xfrm>
            <a:off x="9111767" y="4937760"/>
            <a:ext cx="2165527" cy="457200"/>
          </a:xfrm>
          <a:prstGeom prst="rect">
            <a:avLst/>
          </a:prstGeom>
          <a:noFill/>
        </p:spPr>
        <p:txBody>
          <a:bodyPr wrap="square" lIns="0" rIns="0" tIns="0" bIns="0" anchor="t">
            <a:noAutofit/>
          </a:bodyPr>
          <a:lstStyle/>
          <a:p>
            <a:pPr algn="l">
              <a:lnSpc>
                <a:spcPts val="1784"/>
              </a:lnSpc>
              <a:spcBef>
                <a:spcPts val="0"/>
              </a:spcBef>
              <a:spcAft>
                <a:spcPts val="0"/>
              </a:spcAft>
              <a:buNone/>
            </a:pPr>
            <a:r>
              <a:rPr sz="1450" b="1">
                <a:solidFill>
                  <a:srgbClr val="06E288"/>
                </a:solidFill>
                <a:latin typeface="Plus Jakarta Sans"/>
              </a:rPr>
              <a:t>Explore a picture sequence.</a:t>
            </a:r>
          </a:p>
        </p:txBody>
      </p:sp>
      <p:sp>
        <p:nvSpPr>
          <p:cNvPr id="25" name="TextBox 24"/>
          <p:cNvSpPr txBox="1"/>
          <p:nvPr/>
        </p:nvSpPr>
        <p:spPr>
          <a:xfrm>
            <a:off x="9111767" y="5468112"/>
            <a:ext cx="2165527" cy="457200"/>
          </a:xfrm>
          <a:prstGeom prst="rect">
            <a:avLst/>
          </a:prstGeom>
          <a:noFill/>
        </p:spPr>
        <p:txBody>
          <a:bodyPr wrap="square" lIns="0" rIns="0" tIns="0" bIns="0" anchor="t">
            <a:noAutofit/>
          </a:bodyPr>
          <a:lstStyle/>
          <a:p>
            <a:pPr algn="l">
              <a:lnSpc>
                <a:spcPts val="1875"/>
              </a:lnSpc>
              <a:spcBef>
                <a:spcPts val="0"/>
              </a:spcBef>
              <a:spcAft>
                <a:spcPts val="0"/>
              </a:spcAft>
              <a:buNone/>
            </a:pPr>
            <a:r>
              <a:rPr sz="1500" b="0">
                <a:solidFill>
                  <a:srgbClr val="D7E0F2"/>
                </a:solidFill>
                <a:latin typeface="Plus Jakarta Sans"/>
              </a:rPr>
              <a:t>Advance when ready.</a:t>
            </a:r>
          </a:p>
        </p:txBody>
      </p:sp>
      <p:sp>
        <p:nvSpPr>
          <p:cNvPr id="26" name="TextBox 25"/>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FFFFFF">
                    <a:alpha val="7000"/>
                  </a:srgbClr>
                </a:solidFill>
                <a:latin typeface="Plus Jakarta Sans ExtraBold"/>
              </a:rPr>
              <a:t>04</a:t>
            </a:r>
          </a:p>
        </p:txBody>
      </p:sp>
      <p:pic>
        <p:nvPicPr>
          <p:cNvPr id="27" name="Picture 26" descr="icon.png"/>
          <p:cNvPicPr>
            <a:picLocks noChangeAspect="1"/>
          </p:cNvPicPr>
          <p:nvPr/>
        </p:nvPicPr>
        <p:blipFill>
          <a:blip r:embed="rId7"/>
          <a:stretch>
            <a:fillRect/>
          </a:stretch>
        </p:blipFill>
        <p:spPr>
          <a:xfrm>
            <a:off x="731520" y="6382512"/>
            <a:ext cx="237744" cy="237744"/>
          </a:xfrm>
          <a:prstGeom prst="roundRect">
            <a:avLst>
              <a:gd name="adj" fmla="val 26923"/>
            </a:avLst>
          </a:prstGeom>
        </p:spPr>
      </p:pic>
      <p:sp>
        <p:nvSpPr>
          <p:cNvPr id="28" name="TextBox 27"/>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5F7299"/>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bg>
      <p:bgPr>
        <a:gradFill rotWithShape="1">
          <a:gsLst>
            <a:gs pos="0">
              <a:srgbClr val="0B1733"/>
            </a:gs>
            <a:gs pos="100000">
              <a:srgbClr val="0F2659"/>
            </a:gs>
          </a:gsLst>
          <a:lin scaled="0" ang="5400000"/>
        </a:gradFill>
        <a:effectLst/>
      </p:bgPr>
    </p:bg>
    <p:spTree>
      <p:nvGrpSpPr>
        <p:cNvPr id="1" name=""/>
        <p:cNvGrpSpPr/>
        <p:nvPr/>
      </p:nvGrpSpPr>
      <p:grpSpPr/>
      <p:pic>
        <p:nvPicPr>
          <p:cNvPr id="2" name="Backdrop" descr="bg-mesh.pn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731520" y="617220"/>
            <a:ext cx="118872" cy="118872"/>
          </a:xfrm>
          <a:prstGeom prst="ellipse">
            <a:avLst/>
          </a:prstGeom>
          <a:solidFill>
            <a:srgbClr val="06E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640080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60">
                <a:solidFill>
                  <a:srgbClr val="06E288"/>
                </a:solidFill>
                <a:latin typeface="Plus Jakarta Sans"/>
              </a:rPr>
              <a:t>SENSORY TOOLS · RESEARCH-INFORMED DESIGN</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4180"/>
              </a:lnSpc>
              <a:spcBef>
                <a:spcPts val="0"/>
              </a:spcBef>
              <a:spcAft>
                <a:spcPts val="0"/>
              </a:spcAft>
              <a:buNone/>
            </a:pPr>
            <a:r>
              <a:rPr sz="3800" b="0">
                <a:solidFill>
                  <a:srgbClr val="FFFFFF"/>
                </a:solidFill>
                <a:latin typeface="Plus Jakarta Sans ExtraBold"/>
              </a:rPr>
              <a:t>A calmer experience. </a:t>
            </a:r>
            <a:r>
              <a:rPr sz="3800" b="0">
                <a:solidFill>
                  <a:srgbClr val="06E288"/>
                </a:solidFill>
                <a:latin typeface="Plus Jakarta Sans ExtraBold"/>
              </a:rPr>
              <a:t>You choose.</a:t>
            </a:r>
          </a:p>
        </p:txBody>
      </p:sp>
      <p:pic>
        <p:nvPicPr>
          <p:cNvPr id="6" name="Picture 5" descr="crop-breathing.png"/>
          <p:cNvPicPr>
            <a:picLocks noChangeAspect="1"/>
          </p:cNvPicPr>
          <p:nvPr/>
        </p:nvPicPr>
        <p:blipFill>
          <a:blip r:embed="rId3"/>
          <a:stretch>
            <a:fillRect/>
          </a:stretch>
        </p:blipFill>
        <p:spPr>
          <a:xfrm>
            <a:off x="731520" y="2225421"/>
            <a:ext cx="3200400" cy="2224278"/>
          </a:xfrm>
          <a:prstGeom prst="rect">
            <a:avLst/>
          </a:prstGeom>
        </p:spPr>
      </p:pic>
      <p:pic>
        <p:nvPicPr>
          <p:cNvPr id="7" name="Picture 6" descr="crop-soundscapes.png"/>
          <p:cNvPicPr>
            <a:picLocks noChangeAspect="1"/>
          </p:cNvPicPr>
          <p:nvPr/>
        </p:nvPicPr>
        <p:blipFill>
          <a:blip r:embed="rId4"/>
          <a:stretch>
            <a:fillRect/>
          </a:stretch>
        </p:blipFill>
        <p:spPr>
          <a:xfrm>
            <a:off x="4206240" y="2225421"/>
            <a:ext cx="3200400" cy="2224278"/>
          </a:xfrm>
          <a:prstGeom prst="roundRect">
            <a:avLst>
              <a:gd name="adj" fmla="val 5755"/>
            </a:avLst>
          </a:prstGeom>
        </p:spPr>
      </p:pic>
      <p:sp>
        <p:nvSpPr>
          <p:cNvPr id="8" name="TextBox 7"/>
          <p:cNvSpPr txBox="1"/>
          <p:nvPr/>
        </p:nvSpPr>
        <p:spPr>
          <a:xfrm>
            <a:off x="731520" y="4800600"/>
            <a:ext cx="6675120" cy="457200"/>
          </a:xfrm>
          <a:prstGeom prst="rect">
            <a:avLst/>
          </a:prstGeom>
          <a:noFill/>
        </p:spPr>
        <p:txBody>
          <a:bodyPr wrap="square" lIns="0" rIns="0" tIns="0" bIns="0" anchor="t">
            <a:noAutofit/>
          </a:bodyPr>
          <a:lstStyle/>
          <a:p>
            <a:pPr algn="l">
              <a:lnSpc>
                <a:spcPts val="3125"/>
              </a:lnSpc>
              <a:spcBef>
                <a:spcPts val="0"/>
              </a:spcBef>
              <a:spcAft>
                <a:spcPts val="0"/>
              </a:spcAft>
              <a:buNone/>
            </a:pPr>
            <a:r>
              <a:rPr sz="2500" b="1">
                <a:solidFill>
                  <a:srgbClr val="FFFFFF"/>
                </a:solidFill>
                <a:latin typeface="Plus Jakarta Sans"/>
              </a:rPr>
              <a:t>Start. Pause. Stop. At your pace.</a:t>
            </a:r>
          </a:p>
        </p:txBody>
      </p:sp>
      <p:sp>
        <p:nvSpPr>
          <p:cNvPr id="9" name="TextBox 8"/>
          <p:cNvSpPr txBox="1"/>
          <p:nvPr/>
        </p:nvSpPr>
        <p:spPr>
          <a:xfrm>
            <a:off x="731520" y="5394960"/>
            <a:ext cx="6675120" cy="640080"/>
          </a:xfrm>
          <a:prstGeom prst="rect">
            <a:avLst/>
          </a:prstGeom>
          <a:noFill/>
        </p:spPr>
        <p:txBody>
          <a:bodyPr wrap="square" lIns="0" rIns="0" tIns="0" bIns="0" anchor="t">
            <a:noAutofit/>
          </a:bodyPr>
          <a:lstStyle/>
          <a:p>
            <a:pPr algn="l">
              <a:lnSpc>
                <a:spcPts val="2340"/>
              </a:lnSpc>
              <a:spcBef>
                <a:spcPts val="0"/>
              </a:spcBef>
              <a:spcAft>
                <a:spcPts val="0"/>
              </a:spcAft>
              <a:buNone/>
            </a:pPr>
            <a:r>
              <a:rPr sz="1800" b="0">
                <a:solidFill>
                  <a:srgbClr val="D7E0F2"/>
                </a:solidFill>
                <a:latin typeface="Plus Jakarta Sans"/>
              </a:rPr>
              <a:t>4–4–6 breathing · four optional soundscapes
Text size, contrast, palette and motion choices.</a:t>
            </a:r>
          </a:p>
        </p:txBody>
      </p:sp>
      <p:sp>
        <p:nvSpPr>
          <p:cNvPr id="10" name="Rounded Rectangle 9"/>
          <p:cNvSpPr/>
          <p:nvPr/>
        </p:nvSpPr>
        <p:spPr>
          <a:xfrm>
            <a:off x="7909560" y="2148840"/>
            <a:ext cx="3520440" cy="3886200"/>
          </a:xfrm>
          <a:prstGeom prst="roundRect">
            <a:avLst>
              <a:gd name="adj" fmla="val 5714"/>
            </a:avLst>
          </a:prstGeom>
          <a:solidFill>
            <a:srgbClr val="0A1324">
              <a:alpha val="55000"/>
            </a:srgbClr>
          </a:solidFill>
          <a:ln w="9525">
            <a:solidFill>
              <a:srgbClr val="FFFFFF">
                <a:alpha val="9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138160" y="2423160"/>
            <a:ext cx="3063240" cy="594360"/>
          </a:xfrm>
          <a:prstGeom prst="rect">
            <a:avLst/>
          </a:prstGeom>
          <a:noFill/>
        </p:spPr>
        <p:txBody>
          <a:bodyPr wrap="square" lIns="0" rIns="0" tIns="0" bIns="0" anchor="t">
            <a:noAutofit/>
          </a:bodyPr>
          <a:lstStyle/>
          <a:p>
            <a:pPr algn="l">
              <a:lnSpc>
                <a:spcPts val="3000"/>
              </a:lnSpc>
              <a:spcBef>
                <a:spcPts val="0"/>
              </a:spcBef>
              <a:spcAft>
                <a:spcPts val="0"/>
              </a:spcAft>
              <a:buNone/>
            </a:pPr>
            <a:r>
              <a:rPr sz="2400" b="1">
                <a:solidFill>
                  <a:srgbClr val="FFFFFF"/>
                </a:solidFill>
                <a:latin typeface="Plus Jakarta Sans"/>
              </a:rPr>
              <a:t>Research → design</a:t>
            </a:r>
          </a:p>
        </p:txBody>
      </p:sp>
      <p:sp>
        <p:nvSpPr>
          <p:cNvPr id="12" name="TextBox 11"/>
          <p:cNvSpPr txBox="1"/>
          <p:nvPr/>
        </p:nvSpPr>
        <p:spPr>
          <a:xfrm>
            <a:off x="8138160" y="3200400"/>
            <a:ext cx="3063240" cy="1188720"/>
          </a:xfrm>
          <a:prstGeom prst="rect">
            <a:avLst/>
          </a:prstGeom>
          <a:noFill/>
        </p:spPr>
        <p:txBody>
          <a:bodyPr wrap="square" lIns="0" rIns="0" tIns="0" bIns="0" anchor="t">
            <a:noAutofit/>
          </a:bodyPr>
          <a:lstStyle/>
          <a:p>
            <a:pPr algn="l">
              <a:lnSpc>
                <a:spcPts val="2600"/>
              </a:lnSpc>
              <a:spcBef>
                <a:spcPts val="0"/>
              </a:spcBef>
              <a:spcAft>
                <a:spcPts val="0"/>
              </a:spcAft>
              <a:buNone/>
            </a:pPr>
            <a:r>
              <a:rPr sz="2000" b="1">
                <a:solidFill>
                  <a:srgbClr val="06E288"/>
                </a:solidFill>
                <a:latin typeface="Plus Jakarta Sans"/>
              </a:rPr>
              <a:t>AASPIRE: predictable navigation and sensory choice.</a:t>
            </a:r>
          </a:p>
        </p:txBody>
      </p:sp>
      <p:sp>
        <p:nvSpPr>
          <p:cNvPr id="13" name="TextBox 12"/>
          <p:cNvSpPr txBox="1"/>
          <p:nvPr/>
        </p:nvSpPr>
        <p:spPr>
          <a:xfrm>
            <a:off x="8138160" y="4434840"/>
            <a:ext cx="3063240" cy="1097280"/>
          </a:xfrm>
          <a:prstGeom prst="rect">
            <a:avLst/>
          </a:prstGeom>
          <a:noFill/>
        </p:spPr>
        <p:txBody>
          <a:bodyPr wrap="square" lIns="0" rIns="0" tIns="0" bIns="0" anchor="t">
            <a:noAutofit/>
          </a:bodyPr>
          <a:lstStyle/>
          <a:p>
            <a:pPr algn="l">
              <a:lnSpc>
                <a:spcPts val="2246"/>
              </a:lnSpc>
              <a:spcBef>
                <a:spcPts val="0"/>
              </a:spcBef>
              <a:spcAft>
                <a:spcPts val="0"/>
              </a:spcAft>
              <a:buNone/>
            </a:pPr>
            <a:r>
              <a:rPr sz="1750" b="0">
                <a:solidFill>
                  <a:srgbClr val="D7E0F2"/>
                </a:solidFill>
                <a:latin typeface="Plus Jakarta Sans"/>
              </a:rPr>
              <a:t>Game studies vary. Optional practice and enjoyment — not validated therapy.</a:t>
            </a:r>
          </a:p>
        </p:txBody>
      </p:sp>
      <p:sp>
        <p:nvSpPr>
          <p:cNvPr id="14" name="TextBox 13"/>
          <p:cNvSpPr txBox="1"/>
          <p:nvPr/>
        </p:nvSpPr>
        <p:spPr>
          <a:xfrm>
            <a:off x="731520" y="6144768"/>
            <a:ext cx="10728655" cy="228600"/>
          </a:xfrm>
          <a:prstGeom prst="rect">
            <a:avLst/>
          </a:prstGeom>
          <a:noFill/>
        </p:spPr>
        <p:txBody>
          <a:bodyPr wrap="square" lIns="0" rIns="0" tIns="0" bIns="0" anchor="t">
            <a:noAutofit/>
          </a:bodyPr>
          <a:lstStyle/>
          <a:p>
            <a:pPr algn="l">
              <a:lnSpc>
                <a:spcPts val="1312"/>
              </a:lnSpc>
              <a:spcBef>
                <a:spcPts val="0"/>
              </a:spcBef>
              <a:spcAft>
                <a:spcPts val="0"/>
              </a:spcAft>
              <a:buNone/>
            </a:pPr>
            <a:r>
              <a:rPr sz="1050" b="0">
                <a:solidFill>
                  <a:srgbClr val="93A4C7"/>
                </a:solidFill>
                <a:latin typeface="Plus Jakarta Sans"/>
              </a:rPr>
              <a:t>Raymaker et al., 2019 · Alahmari et al., 2023 · Liu et al., 2025. Full references in notes and guide.</a:t>
            </a:r>
          </a:p>
        </p:txBody>
      </p:sp>
      <p:sp>
        <p:nvSpPr>
          <p:cNvPr id="15" name="TextBox 14"/>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FFFFFF">
                    <a:alpha val="7000"/>
                  </a:srgbClr>
                </a:solidFill>
                <a:latin typeface="Plus Jakarta Sans ExtraBold"/>
              </a:rPr>
              <a:t>05</a:t>
            </a:r>
          </a:p>
        </p:txBody>
      </p:sp>
      <p:pic>
        <p:nvPicPr>
          <p:cNvPr id="16" name="Picture 15" descr="icon.png"/>
          <p:cNvPicPr>
            <a:picLocks noChangeAspect="1"/>
          </p:cNvPicPr>
          <p:nvPr/>
        </p:nvPicPr>
        <p:blipFill>
          <a:blip r:embed="rId5"/>
          <a:stretch>
            <a:fillRect/>
          </a:stretch>
        </p:blipFill>
        <p:spPr>
          <a:xfrm>
            <a:off x="731520" y="6382512"/>
            <a:ext cx="237744" cy="237744"/>
          </a:xfrm>
          <a:prstGeom prst="roundRect">
            <a:avLst>
              <a:gd name="adj" fmla="val 26923"/>
            </a:avLst>
          </a:prstGeom>
        </p:spPr>
      </p:pic>
      <p:sp>
        <p:nvSpPr>
          <p:cNvPr id="17" name="TextBox 16"/>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5F7299"/>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B1733"/>
            </a:gs>
            <a:gs pos="100000">
              <a:srgbClr val="0F2659"/>
            </a:gs>
          </a:gsLst>
          <a:lin scaled="0" ang="5400000"/>
        </a:gradFill>
        <a:effectLst/>
      </p:bgPr>
    </p:bg>
    <p:spTree>
      <p:nvGrpSpPr>
        <p:cNvPr id="1" name=""/>
        <p:cNvGrpSpPr/>
        <p:nvPr/>
      </p:nvGrpSpPr>
      <p:grpSpPr/>
      <p:pic>
        <p:nvPicPr>
          <p:cNvPr id="2" name="Backdrop" descr="bg-mesh.pn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731520" y="1239012"/>
            <a:ext cx="118872" cy="118872"/>
          </a:xfrm>
          <a:prstGeom prst="ellipse">
            <a:avLst/>
          </a:prstGeom>
          <a:solidFill>
            <a:srgbClr val="06E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1152144"/>
            <a:ext cx="640080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60">
                <a:solidFill>
                  <a:srgbClr val="06E288"/>
                </a:solidFill>
                <a:latin typeface="Plus Jakarta Sans"/>
              </a:rPr>
              <a:t>LIVE APP DEMONSTRATION</a:t>
            </a:r>
          </a:p>
        </p:txBody>
      </p:sp>
      <p:sp>
        <p:nvSpPr>
          <p:cNvPr id="5" name="TextBox 4"/>
          <p:cNvSpPr txBox="1"/>
          <p:nvPr/>
        </p:nvSpPr>
        <p:spPr>
          <a:xfrm>
            <a:off x="731520" y="1828800"/>
            <a:ext cx="9784080" cy="1463040"/>
          </a:xfrm>
          <a:prstGeom prst="rect">
            <a:avLst/>
          </a:prstGeom>
          <a:noFill/>
        </p:spPr>
        <p:txBody>
          <a:bodyPr wrap="square" lIns="0" rIns="0" tIns="0" bIns="0" anchor="t">
            <a:noAutofit/>
          </a:bodyPr>
          <a:lstStyle/>
          <a:p>
            <a:pPr algn="l">
              <a:lnSpc>
                <a:spcPts val="5500"/>
              </a:lnSpc>
              <a:spcBef>
                <a:spcPts val="0"/>
              </a:spcBef>
              <a:spcAft>
                <a:spcPts val="0"/>
              </a:spcAft>
              <a:buNone/>
            </a:pPr>
            <a:r>
              <a:rPr sz="5000" b="0">
                <a:solidFill>
                  <a:srgbClr val="FFFFFF"/>
                </a:solidFill>
                <a:latin typeface="Plus Jakarta Sans ExtraBold"/>
              </a:rPr>
              <a:t>Let me show you
</a:t>
            </a:r>
            <a:r>
              <a:rPr sz="5000" b="0">
                <a:solidFill>
                  <a:srgbClr val="06E288"/>
                </a:solidFill>
                <a:latin typeface="Plus Jakarta Sans ExtraBold"/>
              </a:rPr>
              <a:t>CareSphere in action.</a:t>
            </a:r>
          </a:p>
        </p:txBody>
      </p:sp>
      <p:sp>
        <p:nvSpPr>
          <p:cNvPr id="6" name="TextBox 5"/>
          <p:cNvSpPr txBox="1"/>
          <p:nvPr/>
        </p:nvSpPr>
        <p:spPr>
          <a:xfrm>
            <a:off x="731520" y="3886200"/>
            <a:ext cx="10728655" cy="640080"/>
          </a:xfrm>
          <a:prstGeom prst="rect">
            <a:avLst/>
          </a:prstGeom>
          <a:noFill/>
        </p:spPr>
        <p:txBody>
          <a:bodyPr wrap="square" lIns="0" rIns="0" tIns="0" bIns="0" anchor="t">
            <a:noAutofit/>
          </a:bodyPr>
          <a:lstStyle/>
          <a:p>
            <a:pPr algn="l">
              <a:lnSpc>
                <a:spcPts val="3625"/>
              </a:lnSpc>
              <a:spcBef>
                <a:spcPts val="0"/>
              </a:spcBef>
              <a:spcAft>
                <a:spcPts val="0"/>
              </a:spcAft>
              <a:buNone/>
            </a:pPr>
            <a:r>
              <a:rPr sz="2900" b="0">
                <a:solidFill>
                  <a:srgbClr val="D7E0F2"/>
                </a:solidFill>
                <a:latin typeface="Plus Jakarta Sans Medium"/>
              </a:rPr>
              <a:t>Play → choose → check in → prepare</a:t>
            </a:r>
          </a:p>
        </p:txBody>
      </p:sp>
      <p:sp>
        <p:nvSpPr>
          <p:cNvPr id="7" name="Rounded Rectangle 6"/>
          <p:cNvSpPr/>
          <p:nvPr/>
        </p:nvSpPr>
        <p:spPr>
          <a:xfrm>
            <a:off x="731520" y="5166360"/>
            <a:ext cx="2795524" cy="329184"/>
          </a:xfrm>
          <a:prstGeom prst="roundRect">
            <a:avLst>
              <a:gd name="adj" fmla="val 50000"/>
            </a:avLst>
          </a:prstGeom>
          <a:solidFill>
            <a:srgbClr val="06E28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31520" y="5166360"/>
            <a:ext cx="2795524" cy="329184"/>
          </a:xfrm>
          <a:prstGeom prst="rect">
            <a:avLst/>
          </a:prstGeom>
          <a:noFill/>
        </p:spPr>
        <p:txBody>
          <a:bodyPr wrap="square" lIns="0" rIns="0" tIns="0" bIns="0" anchor="ctr">
            <a:noAutofit/>
          </a:bodyPr>
          <a:lstStyle/>
          <a:p>
            <a:pPr algn="ctr">
              <a:lnSpc>
                <a:spcPts val="1625"/>
              </a:lnSpc>
              <a:spcBef>
                <a:spcPts val="0"/>
              </a:spcBef>
              <a:spcAft>
                <a:spcPts val="0"/>
              </a:spcAft>
              <a:buNone/>
            </a:pPr>
            <a:r>
              <a:rPr sz="1300" b="1" spc="100">
                <a:solidFill>
                  <a:srgbClr val="06E288"/>
                </a:solidFill>
                <a:latin typeface="Plus Jakarta Sans"/>
              </a:rPr>
              <a:t>REAL APP · SAMPLE DATA</a:t>
            </a:r>
          </a:p>
        </p:txBody>
      </p:sp>
      <p:sp>
        <p:nvSpPr>
          <p:cNvPr id="9" name="TextBox 8"/>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FFFFFF">
                    <a:alpha val="7000"/>
                  </a:srgbClr>
                </a:solidFill>
                <a:latin typeface="Plus Jakarta Sans ExtraBold"/>
              </a:rPr>
              <a:t>06</a:t>
            </a:r>
          </a:p>
        </p:txBody>
      </p:sp>
      <p:pic>
        <p:nvPicPr>
          <p:cNvPr id="10" name="Picture 9" descr="icon.png"/>
          <p:cNvPicPr>
            <a:picLocks noChangeAspect="1"/>
          </p:cNvPicPr>
          <p:nvPr/>
        </p:nvPicPr>
        <p:blipFill>
          <a:blip r:embed="rId3"/>
          <a:stretch>
            <a:fillRect/>
          </a:stretch>
        </p:blipFill>
        <p:spPr>
          <a:xfrm>
            <a:off x="731520" y="6382512"/>
            <a:ext cx="237744" cy="237744"/>
          </a:xfrm>
          <a:prstGeom prst="roundRect">
            <a:avLst>
              <a:gd name="adj" fmla="val 26923"/>
            </a:avLst>
          </a:prstGeom>
        </p:spPr>
      </p:pic>
      <p:sp>
        <p:nvSpPr>
          <p:cNvPr id="11" name="TextBox 10"/>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5F7299"/>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50">
        <p:push dir="l"/>
      </p:transition>
    </mc:Choice>
    <mc:Fallback>
      <p:transition spd="med">
        <p:push dir="l"/>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bg>
      <p:bgPr>
        <a:gradFill rotWithShape="1">
          <a:gsLst>
            <a:gs pos="0">
              <a:srgbClr val="0B1733"/>
            </a:gs>
            <a:gs pos="100000">
              <a:srgbClr val="0F2659"/>
            </a:gs>
          </a:gsLst>
          <a:lin scaled="0" ang="5400000"/>
        </a:gradFill>
        <a:effectLst/>
      </p:bgPr>
    </p:bg>
    <p:spTree>
      <p:nvGrpSpPr>
        <p:cNvPr id="1" name=""/>
        <p:cNvGrpSpPr/>
        <p:nvPr/>
      </p:nvGrpSpPr>
      <p:grpSpPr/>
      <p:pic>
        <p:nvPicPr>
          <p:cNvPr id="2" name="Backdrop" descr="bg-mesh.pn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731520" y="617220"/>
            <a:ext cx="118872" cy="118872"/>
          </a:xfrm>
          <a:prstGeom prst="ellipse">
            <a:avLst/>
          </a:prstGeom>
          <a:solidFill>
            <a:srgbClr val="06E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640080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60">
                <a:solidFill>
                  <a:srgbClr val="06E288"/>
                </a:solidFill>
                <a:latin typeface="Plus Jakarta Sans"/>
              </a:rPr>
              <a:t>TOOLS, LANGUAGES AND PRIVACY</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4180"/>
              </a:lnSpc>
              <a:spcBef>
                <a:spcPts val="0"/>
              </a:spcBef>
              <a:spcAft>
                <a:spcPts val="0"/>
              </a:spcAft>
              <a:buNone/>
            </a:pPr>
            <a:r>
              <a:rPr sz="3800" b="0">
                <a:solidFill>
                  <a:srgbClr val="FFFFFF"/>
                </a:solidFill>
                <a:latin typeface="Plus Jakarta Sans ExtraBold"/>
              </a:rPr>
              <a:t>Two clients. </a:t>
            </a:r>
            <a:r>
              <a:rPr sz="3800" b="0">
                <a:solidFill>
                  <a:srgbClr val="06E288"/>
                </a:solidFill>
                <a:latin typeface="Plus Jakarta Sans ExtraBold"/>
              </a:rPr>
              <a:t>Local-first care.</a:t>
            </a:r>
          </a:p>
        </p:txBody>
      </p:sp>
      <p:sp>
        <p:nvSpPr>
          <p:cNvPr id="6" name="Rounded Rectangle 5"/>
          <p:cNvSpPr/>
          <p:nvPr/>
        </p:nvSpPr>
        <p:spPr>
          <a:xfrm>
            <a:off x="731520" y="2194560"/>
            <a:ext cx="5166360" cy="2423160"/>
          </a:xfrm>
          <a:prstGeom prst="roundRect">
            <a:avLst>
              <a:gd name="adj" fmla="val 8301"/>
            </a:avLst>
          </a:prstGeom>
          <a:solidFill>
            <a:srgbClr val="0A1324">
              <a:alpha val="55000"/>
            </a:srgbClr>
          </a:solidFill>
          <a:ln w="9525">
            <a:solidFill>
              <a:srgbClr val="FFFFFF">
                <a:alpha val="9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5840" y="2468880"/>
            <a:ext cx="4617720" cy="411480"/>
          </a:xfrm>
          <a:prstGeom prst="rect">
            <a:avLst/>
          </a:prstGeom>
          <a:noFill/>
        </p:spPr>
        <p:txBody>
          <a:bodyPr wrap="square" lIns="0" rIns="0" tIns="0" bIns="0" anchor="t">
            <a:noAutofit/>
          </a:bodyPr>
          <a:lstStyle/>
          <a:p>
            <a:pPr algn="l">
              <a:lnSpc>
                <a:spcPts val="3125"/>
              </a:lnSpc>
              <a:spcBef>
                <a:spcPts val="0"/>
              </a:spcBef>
              <a:spcAft>
                <a:spcPts val="0"/>
              </a:spcAft>
              <a:buNone/>
            </a:pPr>
            <a:r>
              <a:rPr sz="2500" b="1">
                <a:solidFill>
                  <a:srgbClr val="FFFFFF"/>
                </a:solidFill>
                <a:latin typeface="Plus Jakarta Sans"/>
              </a:rPr>
              <a:t>Web app</a:t>
            </a:r>
          </a:p>
        </p:txBody>
      </p:sp>
      <p:sp>
        <p:nvSpPr>
          <p:cNvPr id="8" name="TextBox 7"/>
          <p:cNvSpPr txBox="1"/>
          <p:nvPr/>
        </p:nvSpPr>
        <p:spPr>
          <a:xfrm>
            <a:off x="1005840" y="3017520"/>
            <a:ext cx="4617720" cy="457200"/>
          </a:xfrm>
          <a:prstGeom prst="rect">
            <a:avLst/>
          </a:prstGeom>
          <a:noFill/>
        </p:spPr>
        <p:txBody>
          <a:bodyPr wrap="square" lIns="0" rIns="0" tIns="0" bIns="0" anchor="t">
            <a:noAutofit/>
          </a:bodyPr>
          <a:lstStyle/>
          <a:p>
            <a:pPr algn="l">
              <a:lnSpc>
                <a:spcPts val="3500"/>
              </a:lnSpc>
              <a:spcBef>
                <a:spcPts val="0"/>
              </a:spcBef>
              <a:spcAft>
                <a:spcPts val="0"/>
              </a:spcAft>
              <a:buNone/>
            </a:pPr>
            <a:r>
              <a:rPr sz="2800" b="1">
                <a:solidFill>
                  <a:srgbClr val="06E288"/>
                </a:solidFill>
                <a:latin typeface="Plus Jakarta Sans"/>
              </a:rPr>
              <a:t>JavaScript</a:t>
            </a:r>
          </a:p>
        </p:txBody>
      </p:sp>
      <p:sp>
        <p:nvSpPr>
          <p:cNvPr id="9" name="TextBox 8"/>
          <p:cNvSpPr txBox="1"/>
          <p:nvPr/>
        </p:nvSpPr>
        <p:spPr>
          <a:xfrm>
            <a:off x="1005840" y="3675887"/>
            <a:ext cx="4617720" cy="685800"/>
          </a:xfrm>
          <a:prstGeom prst="rect">
            <a:avLst/>
          </a:prstGeom>
          <a:noFill/>
        </p:spPr>
        <p:txBody>
          <a:bodyPr wrap="square" lIns="0" rIns="0" tIns="0" bIns="0" anchor="t">
            <a:noAutofit/>
          </a:bodyPr>
          <a:lstStyle/>
          <a:p>
            <a:pPr algn="l">
              <a:lnSpc>
                <a:spcPts val="2250"/>
              </a:lnSpc>
              <a:spcBef>
                <a:spcPts val="0"/>
              </a:spcBef>
              <a:spcAft>
                <a:spcPts val="0"/>
              </a:spcAft>
              <a:buNone/>
            </a:pPr>
            <a:r>
              <a:rPr sz="1800" b="0">
                <a:solidFill>
                  <a:srgbClr val="D7E0F2"/>
                </a:solidFill>
                <a:latin typeface="Plus Jakarta Sans"/>
              </a:rPr>
              <a:t>React · Vite · Web Audio
Web Bluetooth · Web Crypto</a:t>
            </a:r>
          </a:p>
        </p:txBody>
      </p:sp>
      <p:sp>
        <p:nvSpPr>
          <p:cNvPr id="10" name="Rounded Rectangle 9"/>
          <p:cNvSpPr/>
          <p:nvPr/>
        </p:nvSpPr>
        <p:spPr>
          <a:xfrm>
            <a:off x="6217920" y="2194560"/>
            <a:ext cx="5166360" cy="2423160"/>
          </a:xfrm>
          <a:prstGeom prst="roundRect">
            <a:avLst>
              <a:gd name="adj" fmla="val 8301"/>
            </a:avLst>
          </a:prstGeom>
          <a:solidFill>
            <a:srgbClr val="0A1324">
              <a:alpha val="55000"/>
            </a:srgbClr>
          </a:solidFill>
          <a:ln w="9525">
            <a:solidFill>
              <a:srgbClr val="FFFFFF">
                <a:alpha val="9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2240" y="2468880"/>
            <a:ext cx="4617720" cy="411480"/>
          </a:xfrm>
          <a:prstGeom prst="rect">
            <a:avLst/>
          </a:prstGeom>
          <a:noFill/>
        </p:spPr>
        <p:txBody>
          <a:bodyPr wrap="square" lIns="0" rIns="0" tIns="0" bIns="0" anchor="t">
            <a:noAutofit/>
          </a:bodyPr>
          <a:lstStyle/>
          <a:p>
            <a:pPr algn="l">
              <a:lnSpc>
                <a:spcPts val="3125"/>
              </a:lnSpc>
              <a:spcBef>
                <a:spcPts val="0"/>
              </a:spcBef>
              <a:spcAft>
                <a:spcPts val="0"/>
              </a:spcAft>
              <a:buNone/>
            </a:pPr>
            <a:r>
              <a:rPr sz="2500" b="1">
                <a:solidFill>
                  <a:srgbClr val="FFFFFF"/>
                </a:solidFill>
                <a:latin typeface="Plus Jakarta Sans"/>
              </a:rPr>
              <a:t>Native iPhone app</a:t>
            </a:r>
          </a:p>
        </p:txBody>
      </p:sp>
      <p:sp>
        <p:nvSpPr>
          <p:cNvPr id="12" name="TextBox 11"/>
          <p:cNvSpPr txBox="1"/>
          <p:nvPr/>
        </p:nvSpPr>
        <p:spPr>
          <a:xfrm>
            <a:off x="6492240" y="3017520"/>
            <a:ext cx="4617720" cy="457200"/>
          </a:xfrm>
          <a:prstGeom prst="rect">
            <a:avLst/>
          </a:prstGeom>
          <a:noFill/>
        </p:spPr>
        <p:txBody>
          <a:bodyPr wrap="square" lIns="0" rIns="0" tIns="0" bIns="0" anchor="t">
            <a:noAutofit/>
          </a:bodyPr>
          <a:lstStyle/>
          <a:p>
            <a:pPr algn="l">
              <a:lnSpc>
                <a:spcPts val="3500"/>
              </a:lnSpc>
              <a:spcBef>
                <a:spcPts val="0"/>
              </a:spcBef>
              <a:spcAft>
                <a:spcPts val="0"/>
              </a:spcAft>
              <a:buNone/>
            </a:pPr>
            <a:r>
              <a:rPr sz="2800" b="1">
                <a:solidFill>
                  <a:srgbClr val="06E288"/>
                </a:solidFill>
                <a:latin typeface="Plus Jakarta Sans"/>
              </a:rPr>
              <a:t>Swift</a:t>
            </a:r>
          </a:p>
        </p:txBody>
      </p:sp>
      <p:sp>
        <p:nvSpPr>
          <p:cNvPr id="13" name="TextBox 12"/>
          <p:cNvSpPr txBox="1"/>
          <p:nvPr/>
        </p:nvSpPr>
        <p:spPr>
          <a:xfrm>
            <a:off x="6492240" y="3675887"/>
            <a:ext cx="4617720" cy="685800"/>
          </a:xfrm>
          <a:prstGeom prst="rect">
            <a:avLst/>
          </a:prstGeom>
          <a:noFill/>
        </p:spPr>
        <p:txBody>
          <a:bodyPr wrap="square" lIns="0" rIns="0" tIns="0" bIns="0" anchor="t">
            <a:noAutofit/>
          </a:bodyPr>
          <a:lstStyle/>
          <a:p>
            <a:pPr algn="l">
              <a:lnSpc>
                <a:spcPts val="2250"/>
              </a:lnSpc>
              <a:spcBef>
                <a:spcPts val="0"/>
              </a:spcBef>
              <a:spcAft>
                <a:spcPts val="0"/>
              </a:spcAft>
              <a:buNone/>
            </a:pPr>
            <a:r>
              <a:rPr sz="1800" b="0">
                <a:solidFill>
                  <a:srgbClr val="D7E0F2"/>
                </a:solidFill>
                <a:latin typeface="Plus Jakarta Sans"/>
              </a:rPr>
              <a:t>SwiftUI · HealthKit · CoreBluetooth
CryptoKit · optional local Health Guide</a:t>
            </a:r>
          </a:p>
        </p:txBody>
      </p:sp>
      <p:sp>
        <p:nvSpPr>
          <p:cNvPr id="14" name="TextBox 13"/>
          <p:cNvSpPr txBox="1"/>
          <p:nvPr/>
        </p:nvSpPr>
        <p:spPr>
          <a:xfrm>
            <a:off x="731520" y="5029200"/>
            <a:ext cx="10728655" cy="457200"/>
          </a:xfrm>
          <a:prstGeom prst="rect">
            <a:avLst/>
          </a:prstGeom>
          <a:noFill/>
        </p:spPr>
        <p:txBody>
          <a:bodyPr wrap="square" lIns="0" rIns="0" tIns="0" bIns="0" anchor="t">
            <a:noAutofit/>
          </a:bodyPr>
          <a:lstStyle/>
          <a:p>
            <a:pPr algn="l">
              <a:lnSpc>
                <a:spcPts val="3125"/>
              </a:lnSpc>
              <a:spcBef>
                <a:spcPts val="0"/>
              </a:spcBef>
              <a:spcAft>
                <a:spcPts val="0"/>
              </a:spcAft>
              <a:buNone/>
            </a:pPr>
            <a:r>
              <a:rPr sz="2500" b="1">
                <a:solidFill>
                  <a:srgbClr val="FFFFFF"/>
                </a:solidFill>
                <a:latin typeface="Plus Jakarta Sans"/>
              </a:rPr>
              <a:t>Encrypted local care data. Sharing is deliberate.</a:t>
            </a:r>
          </a:p>
        </p:txBody>
      </p:sp>
      <p:sp>
        <p:nvSpPr>
          <p:cNvPr id="15" name="TextBox 14"/>
          <p:cNvSpPr txBox="1"/>
          <p:nvPr/>
        </p:nvSpPr>
        <p:spPr>
          <a:xfrm>
            <a:off x="731520" y="5623560"/>
            <a:ext cx="10728655" cy="411480"/>
          </a:xfrm>
          <a:prstGeom prst="rect">
            <a:avLst/>
          </a:prstGeom>
          <a:noFill/>
        </p:spPr>
        <p:txBody>
          <a:bodyPr wrap="square" lIns="0" rIns="0" tIns="0" bIns="0" anchor="t">
            <a:noAutofit/>
          </a:bodyPr>
          <a:lstStyle/>
          <a:p>
            <a:pPr algn="l">
              <a:lnSpc>
                <a:spcPts val="2125"/>
              </a:lnSpc>
              <a:spcBef>
                <a:spcPts val="0"/>
              </a:spcBef>
              <a:spcAft>
                <a:spcPts val="0"/>
              </a:spcAft>
              <a:buNone/>
            </a:pPr>
            <a:r>
              <a:rPr sz="1700" b="0">
                <a:solidFill>
                  <a:srgbClr val="93A4C7"/>
                </a:solidFill>
                <a:latin typeface="Plus Jakarta Sans"/>
              </a:rPr>
              <a:t>Jitsi calls and online references use external services. The screenshots shown are the web app.</a:t>
            </a:r>
          </a:p>
        </p:txBody>
      </p:sp>
      <p:sp>
        <p:nvSpPr>
          <p:cNvPr id="16" name="TextBox 15"/>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FFFFFF">
                    <a:alpha val="7000"/>
                  </a:srgbClr>
                </a:solidFill>
                <a:latin typeface="Plus Jakarta Sans ExtraBold"/>
              </a:rPr>
              <a:t>07</a:t>
            </a:r>
          </a:p>
        </p:txBody>
      </p:sp>
      <p:pic>
        <p:nvPicPr>
          <p:cNvPr id="17" name="Picture 16" descr="icon.png"/>
          <p:cNvPicPr>
            <a:picLocks noChangeAspect="1"/>
          </p:cNvPicPr>
          <p:nvPr/>
        </p:nvPicPr>
        <p:blipFill>
          <a:blip r:embed="rId3"/>
          <a:stretch>
            <a:fillRect/>
          </a:stretch>
        </p:blipFill>
        <p:spPr>
          <a:xfrm>
            <a:off x="731520" y="6382512"/>
            <a:ext cx="237744" cy="237744"/>
          </a:xfrm>
          <a:prstGeom prst="roundRect">
            <a:avLst>
              <a:gd name="adj" fmla="val 26923"/>
            </a:avLst>
          </a:prstGeom>
        </p:spPr>
      </p:pic>
      <p:sp>
        <p:nvSpPr>
          <p:cNvPr id="18" name="TextBox 17"/>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5F7299"/>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bg>
      <p:bgPr>
        <a:gradFill rotWithShape="1">
          <a:gsLst>
            <a:gs pos="0">
              <a:srgbClr val="0B1733"/>
            </a:gs>
            <a:gs pos="100000">
              <a:srgbClr val="0F2659"/>
            </a:gs>
          </a:gsLst>
          <a:lin scaled="0" ang="5400000"/>
        </a:gradFill>
        <a:effectLst/>
      </p:bgPr>
    </p:bg>
    <p:spTree>
      <p:nvGrpSpPr>
        <p:cNvPr id="1" name=""/>
        <p:cNvGrpSpPr/>
        <p:nvPr/>
      </p:nvGrpSpPr>
      <p:grpSpPr/>
      <p:pic>
        <p:nvPicPr>
          <p:cNvPr id="2" name="Backdrop" descr="bg-mesh.pn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731520" y="617220"/>
            <a:ext cx="118872" cy="118872"/>
          </a:xfrm>
          <a:prstGeom prst="ellipse">
            <a:avLst/>
          </a:prstGeom>
          <a:solidFill>
            <a:srgbClr val="06E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640080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60">
                <a:solidFill>
                  <a:srgbClr val="06E288"/>
                </a:solidFill>
                <a:latin typeface="Plus Jakarta Sans"/>
              </a:rPr>
              <a:t>PROGRAMMING CHALLENGE</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3960"/>
              </a:lnSpc>
              <a:spcBef>
                <a:spcPts val="0"/>
              </a:spcBef>
              <a:spcAft>
                <a:spcPts val="0"/>
              </a:spcAft>
              <a:buNone/>
            </a:pPr>
            <a:r>
              <a:rPr sz="3600" b="0">
                <a:solidFill>
                  <a:srgbClr val="FFFFFF"/>
                </a:solidFill>
                <a:latin typeface="Plus Jakarta Sans ExtraBold"/>
              </a:rPr>
              <a:t>Old connection. </a:t>
            </a:r>
            <a:r>
              <a:rPr sz="3600" b="0">
                <a:solidFill>
                  <a:srgbClr val="06E288"/>
                </a:solidFill>
                <a:latin typeface="Plus Jakarta Sans ExtraBold"/>
              </a:rPr>
              <a:t>Wrong reading? Not here.</a:t>
            </a:r>
          </a:p>
        </p:txBody>
      </p:sp>
      <p:sp>
        <p:nvSpPr>
          <p:cNvPr id="6" name="TextBox 5"/>
          <p:cNvSpPr txBox="1"/>
          <p:nvPr/>
        </p:nvSpPr>
        <p:spPr>
          <a:xfrm>
            <a:off x="731520" y="2103120"/>
            <a:ext cx="5029200" cy="914400"/>
          </a:xfrm>
          <a:prstGeom prst="rect">
            <a:avLst/>
          </a:prstGeom>
          <a:noFill/>
        </p:spPr>
        <p:txBody>
          <a:bodyPr wrap="square" lIns="0" rIns="0" tIns="0" bIns="0" anchor="t">
            <a:noAutofit/>
          </a:bodyPr>
          <a:lstStyle/>
          <a:p>
            <a:pPr algn="l">
              <a:lnSpc>
                <a:spcPts val="3250"/>
              </a:lnSpc>
              <a:spcBef>
                <a:spcPts val="0"/>
              </a:spcBef>
              <a:spcAft>
                <a:spcPts val="0"/>
              </a:spcAft>
              <a:buNone/>
            </a:pPr>
            <a:r>
              <a:rPr sz="2600" b="1">
                <a:solidFill>
                  <a:srgbClr val="FFFFFF"/>
                </a:solidFill>
                <a:latin typeface="Plus Jakarta Sans"/>
              </a:rPr>
              <a:t>A late Bluetooth callback could update a newer session.</a:t>
            </a:r>
          </a:p>
        </p:txBody>
      </p:sp>
      <p:sp>
        <p:nvSpPr>
          <p:cNvPr id="7" name="TextBox 6"/>
          <p:cNvSpPr txBox="1"/>
          <p:nvPr/>
        </p:nvSpPr>
        <p:spPr>
          <a:xfrm>
            <a:off x="731520" y="3474720"/>
            <a:ext cx="5029200" cy="411480"/>
          </a:xfrm>
          <a:prstGeom prst="rect">
            <a:avLst/>
          </a:prstGeom>
          <a:noFill/>
        </p:spPr>
        <p:txBody>
          <a:bodyPr wrap="square" lIns="0" rIns="0" tIns="0" bIns="0" anchor="t">
            <a:noAutofit/>
          </a:bodyPr>
          <a:lstStyle/>
          <a:p>
            <a:pPr algn="l">
              <a:lnSpc>
                <a:spcPts val="2875"/>
              </a:lnSpc>
              <a:spcBef>
                <a:spcPts val="0"/>
              </a:spcBef>
              <a:spcAft>
                <a:spcPts val="0"/>
              </a:spcAft>
              <a:buNone/>
            </a:pPr>
            <a:r>
              <a:rPr sz="2300" b="1">
                <a:solidFill>
                  <a:srgbClr val="06E288"/>
                </a:solidFill>
                <a:latin typeface="Plus Jakarta Sans"/>
              </a:rPr>
              <a:t>Reject stale sessions</a:t>
            </a:r>
          </a:p>
        </p:txBody>
      </p:sp>
      <p:sp>
        <p:nvSpPr>
          <p:cNvPr id="8" name="TextBox 7"/>
          <p:cNvSpPr txBox="1"/>
          <p:nvPr/>
        </p:nvSpPr>
        <p:spPr>
          <a:xfrm>
            <a:off x="731520" y="3977639"/>
            <a:ext cx="5029200" cy="594360"/>
          </a:xfrm>
          <a:prstGeom prst="rect">
            <a:avLst/>
          </a:prstGeom>
          <a:noFill/>
        </p:spPr>
        <p:txBody>
          <a:bodyPr wrap="square" lIns="0" rIns="0" tIns="0" bIns="0" anchor="t">
            <a:noAutofit/>
          </a:bodyPr>
          <a:lstStyle/>
          <a:p>
            <a:pPr algn="l">
              <a:lnSpc>
                <a:spcPts val="2250"/>
              </a:lnSpc>
              <a:spcBef>
                <a:spcPts val="0"/>
              </a:spcBef>
              <a:spcAft>
                <a:spcPts val="0"/>
              </a:spcAft>
              <a:buNone/>
            </a:pPr>
            <a:r>
              <a:rPr sz="1800" b="0">
                <a:solidFill>
                  <a:srgbClr val="D7E0F2"/>
                </a:solidFill>
                <a:latin typeface="Plus Jakarta Sans"/>
              </a:rPr>
              <a:t>A generation counter checks which connection owns the callback.</a:t>
            </a:r>
          </a:p>
        </p:txBody>
      </p:sp>
      <p:sp>
        <p:nvSpPr>
          <p:cNvPr id="9" name="TextBox 8"/>
          <p:cNvSpPr txBox="1"/>
          <p:nvPr/>
        </p:nvSpPr>
        <p:spPr>
          <a:xfrm>
            <a:off x="731520" y="4709160"/>
            <a:ext cx="5029200" cy="411480"/>
          </a:xfrm>
          <a:prstGeom prst="rect">
            <a:avLst/>
          </a:prstGeom>
          <a:noFill/>
        </p:spPr>
        <p:txBody>
          <a:bodyPr wrap="square" lIns="0" rIns="0" tIns="0" bIns="0" anchor="t">
            <a:noAutofit/>
          </a:bodyPr>
          <a:lstStyle/>
          <a:p>
            <a:pPr algn="l">
              <a:lnSpc>
                <a:spcPts val="2875"/>
              </a:lnSpc>
              <a:spcBef>
                <a:spcPts val="0"/>
              </a:spcBef>
              <a:spcAft>
                <a:spcPts val="0"/>
              </a:spcAft>
              <a:buNone/>
            </a:pPr>
            <a:r>
              <a:rPr sz="2300" b="1">
                <a:solidFill>
                  <a:srgbClr val="06E288"/>
                </a:solidFill>
                <a:latin typeface="Plus Jakarta Sans"/>
              </a:rPr>
              <a:t>Keep the source honest</a:t>
            </a:r>
          </a:p>
        </p:txBody>
      </p:sp>
      <p:sp>
        <p:nvSpPr>
          <p:cNvPr id="10" name="TextBox 9"/>
          <p:cNvSpPr txBox="1"/>
          <p:nvPr/>
        </p:nvSpPr>
        <p:spPr>
          <a:xfrm>
            <a:off x="731520" y="5212080"/>
            <a:ext cx="5029200" cy="594360"/>
          </a:xfrm>
          <a:prstGeom prst="rect">
            <a:avLst/>
          </a:prstGeom>
          <a:noFill/>
        </p:spPr>
        <p:txBody>
          <a:bodyPr wrap="square" lIns="0" rIns="0" tIns="0" bIns="0" anchor="t">
            <a:noAutofit/>
          </a:bodyPr>
          <a:lstStyle/>
          <a:p>
            <a:pPr algn="l">
              <a:lnSpc>
                <a:spcPts val="2250"/>
              </a:lnSpc>
              <a:spcBef>
                <a:spcPts val="0"/>
              </a:spcBef>
              <a:spcAft>
                <a:spcPts val="0"/>
              </a:spcAft>
              <a:buNone/>
            </a:pPr>
            <a:r>
              <a:rPr sz="1800" b="0">
                <a:solidFill>
                  <a:srgbClr val="D7E0F2"/>
                </a:solidFill>
                <a:latin typeface="Plus Jakarta Sans"/>
              </a:rPr>
              <a:t>Every accepted sample is labeled LIVE_BLE or SIMULATED.</a:t>
            </a:r>
          </a:p>
        </p:txBody>
      </p:sp>
      <p:sp>
        <p:nvSpPr>
          <p:cNvPr id="11" name="Rounded Rectangle 10"/>
          <p:cNvSpPr/>
          <p:nvPr/>
        </p:nvSpPr>
        <p:spPr>
          <a:xfrm>
            <a:off x="6400800" y="2240280"/>
            <a:ext cx="5029200" cy="3383280"/>
          </a:xfrm>
          <a:prstGeom prst="roundRect">
            <a:avLst>
              <a:gd name="adj" fmla="val 5945"/>
            </a:avLst>
          </a:prstGeom>
          <a:solidFill>
            <a:srgbClr val="0A1324">
              <a:alpha val="55000"/>
            </a:srgbClr>
          </a:solidFill>
          <a:ln w="9525">
            <a:solidFill>
              <a:srgbClr val="FFFFFF">
                <a:alpha val="9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720840" y="2560320"/>
            <a:ext cx="4389120" cy="320040"/>
          </a:xfrm>
          <a:prstGeom prst="rect">
            <a:avLst/>
          </a:prstGeom>
          <a:noFill/>
        </p:spPr>
        <p:txBody>
          <a:bodyPr wrap="square" lIns="0" rIns="0" tIns="0" bIns="0" anchor="t">
            <a:noAutofit/>
          </a:bodyPr>
          <a:lstStyle/>
          <a:p>
            <a:pPr algn="l">
              <a:lnSpc>
                <a:spcPts val="1625"/>
              </a:lnSpc>
              <a:spcBef>
                <a:spcPts val="0"/>
              </a:spcBef>
              <a:spcAft>
                <a:spcPts val="0"/>
              </a:spcAft>
              <a:buNone/>
            </a:pPr>
            <a:r>
              <a:rPr sz="1300" b="0">
                <a:solidFill>
                  <a:srgbClr val="06E288"/>
                </a:solidFill>
                <a:latin typeface="JetBrains Mono"/>
              </a:rPr>
              <a:t>src/App.jsx · excerpt</a:t>
            </a:r>
          </a:p>
        </p:txBody>
      </p:sp>
      <p:sp>
        <p:nvSpPr>
          <p:cNvPr id="13" name="TextBox 12"/>
          <p:cNvSpPr txBox="1"/>
          <p:nvPr/>
        </p:nvSpPr>
        <p:spPr>
          <a:xfrm>
            <a:off x="6720840" y="3246120"/>
            <a:ext cx="4389120" cy="1097280"/>
          </a:xfrm>
          <a:prstGeom prst="rect">
            <a:avLst/>
          </a:prstGeom>
          <a:noFill/>
        </p:spPr>
        <p:txBody>
          <a:bodyPr wrap="square" lIns="0" rIns="0" tIns="0" bIns="0" anchor="t">
            <a:noAutofit/>
          </a:bodyPr>
          <a:lstStyle/>
          <a:p>
            <a:pPr algn="l">
              <a:lnSpc>
                <a:spcPts val="2304"/>
              </a:lnSpc>
              <a:spcBef>
                <a:spcPts val="0"/>
              </a:spcBef>
              <a:spcAft>
                <a:spcPts val="0"/>
              </a:spcAft>
              <a:buNone/>
            </a:pPr>
            <a:r>
              <a:rPr sz="1450" b="0">
                <a:solidFill>
                  <a:srgbClr val="D7E0F2"/>
                </a:solidFill>
                <a:latin typeface="JetBrains Mono"/>
              </a:rPr>
              <a:t>if (generation !==</a:t>
            </a:r>
          </a:p>
          <a:p>
            <a:pPr algn="l">
              <a:lnSpc>
                <a:spcPts val="2304"/>
              </a:lnSpc>
              <a:spcBef>
                <a:spcPts val="0"/>
              </a:spcBef>
              <a:spcAft>
                <a:spcPts val="0"/>
              </a:spcAft>
              <a:buNone/>
            </a:pPr>
            <a:r>
              <a:rPr sz="1450" b="0">
                <a:solidFill>
                  <a:srgbClr val="D7E0F2"/>
                </a:solidFill>
                <a:latin typeface="JetBrains Mono"/>
              </a:rPr>
              <a:t>    hrConnectionGenerationRef.current)</a:t>
            </a:r>
          </a:p>
          <a:p>
            <a:pPr algn="l">
              <a:lnSpc>
                <a:spcPts val="2304"/>
              </a:lnSpc>
              <a:spcBef>
                <a:spcPts val="0"/>
              </a:spcBef>
              <a:spcAft>
                <a:spcPts val="0"/>
              </a:spcAft>
              <a:buNone/>
            </a:pPr>
            <a:r>
              <a:rPr sz="1450" b="0">
                <a:solidFill>
                  <a:srgbClr val="D7E0F2"/>
                </a:solidFill>
                <a:latin typeface="JetBrains Mono"/>
              </a:rPr>
              <a:t>  return</a:t>
            </a:r>
          </a:p>
        </p:txBody>
      </p:sp>
      <p:sp>
        <p:nvSpPr>
          <p:cNvPr id="14" name="TextBox 13"/>
          <p:cNvSpPr txBox="1"/>
          <p:nvPr/>
        </p:nvSpPr>
        <p:spPr>
          <a:xfrm>
            <a:off x="6720840" y="4754880"/>
            <a:ext cx="4389120" cy="548640"/>
          </a:xfrm>
          <a:prstGeom prst="rect">
            <a:avLst/>
          </a:prstGeom>
          <a:noFill/>
        </p:spPr>
        <p:txBody>
          <a:bodyPr wrap="square" lIns="0" rIns="0" tIns="0" bIns="0" anchor="t">
            <a:noAutofit/>
          </a:bodyPr>
          <a:lstStyle/>
          <a:p>
            <a:pPr algn="l">
              <a:lnSpc>
                <a:spcPts val="2160"/>
              </a:lnSpc>
              <a:spcBef>
                <a:spcPts val="0"/>
              </a:spcBef>
              <a:spcAft>
                <a:spcPts val="0"/>
              </a:spcAft>
              <a:buNone/>
            </a:pPr>
            <a:r>
              <a:rPr sz="1750" b="1">
                <a:solidFill>
                  <a:srgbClr val="FFFFFF"/>
                </a:solidFill>
                <a:latin typeface="Plus Jakarta Sans"/>
              </a:rPr>
              <a:t>Current session only.
Source labels remain in exports.</a:t>
            </a:r>
          </a:p>
        </p:txBody>
      </p:sp>
      <p:sp>
        <p:nvSpPr>
          <p:cNvPr id="15" name="TextBox 14"/>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FFFFFF">
                    <a:alpha val="7000"/>
                  </a:srgbClr>
                </a:solidFill>
                <a:latin typeface="Plus Jakarta Sans ExtraBold"/>
              </a:rPr>
              <a:t>08</a:t>
            </a:r>
          </a:p>
        </p:txBody>
      </p:sp>
      <p:pic>
        <p:nvPicPr>
          <p:cNvPr id="16" name="Picture 15" descr="icon.png"/>
          <p:cNvPicPr>
            <a:picLocks noChangeAspect="1"/>
          </p:cNvPicPr>
          <p:nvPr/>
        </p:nvPicPr>
        <p:blipFill>
          <a:blip r:embed="rId3"/>
          <a:stretch>
            <a:fillRect/>
          </a:stretch>
        </p:blipFill>
        <p:spPr>
          <a:xfrm>
            <a:off x="731520" y="6382512"/>
            <a:ext cx="237744" cy="237744"/>
          </a:xfrm>
          <a:prstGeom prst="roundRect">
            <a:avLst>
              <a:gd name="adj" fmla="val 26923"/>
            </a:avLst>
          </a:prstGeom>
        </p:spPr>
      </p:pic>
      <p:sp>
        <p:nvSpPr>
          <p:cNvPr id="17" name="TextBox 16"/>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5F7299"/>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bg>
      <p:bgPr>
        <a:gradFill rotWithShape="1">
          <a:gsLst>
            <a:gs pos="0">
              <a:srgbClr val="0B1733"/>
            </a:gs>
            <a:gs pos="100000">
              <a:srgbClr val="0F2659"/>
            </a:gs>
          </a:gsLst>
          <a:lin scaled="0" ang="5400000"/>
        </a:gradFill>
        <a:effectLst/>
      </p:bgPr>
    </p:bg>
    <p:spTree>
      <p:nvGrpSpPr>
        <p:cNvPr id="1" name=""/>
        <p:cNvGrpSpPr/>
        <p:nvPr/>
      </p:nvGrpSpPr>
      <p:grpSpPr/>
      <p:pic>
        <p:nvPicPr>
          <p:cNvPr id="2" name="Backdrop" descr="bg-mesh.png"/>
          <p:cNvPicPr>
            <a:picLocks noChangeAspect="1"/>
          </p:cNvPicPr>
          <p:nvPr/>
        </p:nvPicPr>
        <p:blipFill>
          <a:blip r:embed="rId2"/>
          <a:stretch>
            <a:fillRect/>
          </a:stretch>
        </p:blipFill>
        <p:spPr>
          <a:xfrm>
            <a:off x="0" y="0"/>
            <a:ext cx="12191695" cy="6858000"/>
          </a:xfrm>
          <a:prstGeom prst="rect">
            <a:avLst/>
          </a:prstGeom>
        </p:spPr>
      </p:pic>
      <p:sp>
        <p:nvSpPr>
          <p:cNvPr id="3" name="Oval 2"/>
          <p:cNvSpPr/>
          <p:nvPr/>
        </p:nvSpPr>
        <p:spPr>
          <a:xfrm>
            <a:off x="731520" y="617220"/>
            <a:ext cx="118872" cy="118872"/>
          </a:xfrm>
          <a:prstGeom prst="ellipse">
            <a:avLst/>
          </a:prstGeom>
          <a:solidFill>
            <a:srgbClr val="06E2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9264" y="530352"/>
            <a:ext cx="6400800" cy="274320"/>
          </a:xfrm>
          <a:prstGeom prst="rect">
            <a:avLst/>
          </a:prstGeom>
          <a:noFill/>
        </p:spPr>
        <p:txBody>
          <a:bodyPr wrap="square" lIns="0" rIns="0" tIns="0" bIns="0" anchor="t">
            <a:noAutofit/>
          </a:bodyPr>
          <a:lstStyle/>
          <a:p>
            <a:pPr algn="l">
              <a:lnSpc>
                <a:spcPts val="1437"/>
              </a:lnSpc>
              <a:spcBef>
                <a:spcPts val="0"/>
              </a:spcBef>
              <a:spcAft>
                <a:spcPts val="0"/>
              </a:spcAft>
              <a:buNone/>
            </a:pPr>
            <a:r>
              <a:rPr sz="1150" b="1" spc="160">
                <a:solidFill>
                  <a:srgbClr val="06E288"/>
                </a:solidFill>
                <a:latin typeface="Plus Jakarta Sans"/>
              </a:rPr>
              <a:t>WHAT COMES NEXT</a:t>
            </a:r>
          </a:p>
        </p:txBody>
      </p:sp>
      <p:sp>
        <p:nvSpPr>
          <p:cNvPr id="5" name="TextBox 4"/>
          <p:cNvSpPr txBox="1"/>
          <p:nvPr/>
        </p:nvSpPr>
        <p:spPr>
          <a:xfrm>
            <a:off x="731520" y="896112"/>
            <a:ext cx="9692640" cy="1371600"/>
          </a:xfrm>
          <a:prstGeom prst="rect">
            <a:avLst/>
          </a:prstGeom>
          <a:noFill/>
        </p:spPr>
        <p:txBody>
          <a:bodyPr wrap="square" lIns="0" rIns="0" tIns="0" bIns="0" anchor="t">
            <a:noAutofit/>
          </a:bodyPr>
          <a:lstStyle/>
          <a:p>
            <a:pPr algn="l">
              <a:lnSpc>
                <a:spcPts val="4180"/>
              </a:lnSpc>
              <a:spcBef>
                <a:spcPts val="0"/>
              </a:spcBef>
              <a:spcAft>
                <a:spcPts val="0"/>
              </a:spcAft>
              <a:buNone/>
            </a:pPr>
            <a:r>
              <a:rPr sz="3800" b="0">
                <a:solidFill>
                  <a:srgbClr val="FFFFFF"/>
                </a:solidFill>
                <a:latin typeface="Plus Jakarta Sans ExtraBold"/>
              </a:rPr>
              <a:t>Build with people. </a:t>
            </a:r>
            <a:r>
              <a:rPr sz="3800" b="0">
                <a:solidFill>
                  <a:srgbClr val="06E288"/>
                </a:solidFill>
                <a:latin typeface="Plus Jakarta Sans ExtraBold"/>
              </a:rPr>
              <a:t>Then evaluate.</a:t>
            </a:r>
          </a:p>
        </p:txBody>
      </p:sp>
      <p:sp>
        <p:nvSpPr>
          <p:cNvPr id="6" name="Rounded Rectangle 5"/>
          <p:cNvSpPr/>
          <p:nvPr/>
        </p:nvSpPr>
        <p:spPr>
          <a:xfrm>
            <a:off x="731520" y="2194560"/>
            <a:ext cx="10728655" cy="960120"/>
          </a:xfrm>
          <a:prstGeom prst="roundRect">
            <a:avLst>
              <a:gd name="adj" fmla="val 20952"/>
            </a:avLst>
          </a:prstGeom>
          <a:solidFill>
            <a:srgbClr val="0A1324">
              <a:alpha val="55000"/>
            </a:srgbClr>
          </a:solidFill>
          <a:ln w="9525">
            <a:solidFill>
              <a:srgbClr val="FFFFFF">
                <a:alpha val="9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5840" y="2395728"/>
            <a:ext cx="3108960" cy="457200"/>
          </a:xfrm>
          <a:prstGeom prst="rect">
            <a:avLst/>
          </a:prstGeom>
          <a:noFill/>
        </p:spPr>
        <p:txBody>
          <a:bodyPr wrap="square" lIns="0" rIns="0" tIns="0" bIns="0" anchor="t">
            <a:noAutofit/>
          </a:bodyPr>
          <a:lstStyle/>
          <a:p>
            <a:pPr algn="l">
              <a:lnSpc>
                <a:spcPts val="3250"/>
              </a:lnSpc>
              <a:spcBef>
                <a:spcPts val="0"/>
              </a:spcBef>
              <a:spcAft>
                <a:spcPts val="0"/>
              </a:spcAft>
              <a:buNone/>
            </a:pPr>
            <a:r>
              <a:rPr sz="2600" b="1">
                <a:solidFill>
                  <a:srgbClr val="FFFFFF"/>
                </a:solidFill>
                <a:latin typeface="Plus Jakarta Sans"/>
              </a:rPr>
              <a:t>Co-design</a:t>
            </a:r>
          </a:p>
        </p:txBody>
      </p:sp>
      <p:sp>
        <p:nvSpPr>
          <p:cNvPr id="8" name="TextBox 7"/>
          <p:cNvSpPr txBox="1"/>
          <p:nvPr/>
        </p:nvSpPr>
        <p:spPr>
          <a:xfrm>
            <a:off x="4389120" y="2395728"/>
            <a:ext cx="6675120" cy="548640"/>
          </a:xfrm>
          <a:prstGeom prst="rect">
            <a:avLst/>
          </a:prstGeom>
          <a:noFill/>
        </p:spPr>
        <p:txBody>
          <a:bodyPr wrap="square" lIns="0" rIns="0" tIns="0" bIns="0" anchor="t">
            <a:noAutofit/>
          </a:bodyPr>
          <a:lstStyle/>
          <a:p>
            <a:pPr algn="l">
              <a:lnSpc>
                <a:spcPts val="2199"/>
              </a:lnSpc>
              <a:spcBef>
                <a:spcPts val="0"/>
              </a:spcBef>
              <a:spcAft>
                <a:spcPts val="0"/>
              </a:spcAft>
              <a:buNone/>
            </a:pPr>
            <a:r>
              <a:rPr sz="1750" b="0">
                <a:solidFill>
                  <a:srgbClr val="D7E0F2"/>
                </a:solidFill>
                <a:latin typeface="Plus Jakarta Sans"/>
              </a:rPr>
              <a:t>Invite intended users and caregivers to review the experience.</a:t>
            </a:r>
          </a:p>
        </p:txBody>
      </p:sp>
      <p:sp>
        <p:nvSpPr>
          <p:cNvPr id="9" name="Rounded Rectangle 8"/>
          <p:cNvSpPr/>
          <p:nvPr/>
        </p:nvSpPr>
        <p:spPr>
          <a:xfrm>
            <a:off x="731520" y="3337560"/>
            <a:ext cx="10728655" cy="960120"/>
          </a:xfrm>
          <a:prstGeom prst="roundRect">
            <a:avLst>
              <a:gd name="adj" fmla="val 20952"/>
            </a:avLst>
          </a:prstGeom>
          <a:solidFill>
            <a:srgbClr val="0A1324">
              <a:alpha val="55000"/>
            </a:srgbClr>
          </a:solidFill>
          <a:ln w="9525">
            <a:solidFill>
              <a:srgbClr val="FFFFFF">
                <a:alpha val="9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3538728"/>
            <a:ext cx="3108960" cy="457200"/>
          </a:xfrm>
          <a:prstGeom prst="rect">
            <a:avLst/>
          </a:prstGeom>
          <a:noFill/>
        </p:spPr>
        <p:txBody>
          <a:bodyPr wrap="square" lIns="0" rIns="0" tIns="0" bIns="0" anchor="t">
            <a:noAutofit/>
          </a:bodyPr>
          <a:lstStyle/>
          <a:p>
            <a:pPr algn="l">
              <a:lnSpc>
                <a:spcPts val="3250"/>
              </a:lnSpc>
              <a:spcBef>
                <a:spcPts val="0"/>
              </a:spcBef>
              <a:spcAft>
                <a:spcPts val="0"/>
              </a:spcAft>
              <a:buNone/>
            </a:pPr>
            <a:r>
              <a:rPr sz="2600" b="1">
                <a:solidFill>
                  <a:srgbClr val="FFFFFF"/>
                </a:solidFill>
                <a:latin typeface="Plus Jakarta Sans"/>
              </a:rPr>
              <a:t>Usability testing</a:t>
            </a:r>
          </a:p>
        </p:txBody>
      </p:sp>
      <p:sp>
        <p:nvSpPr>
          <p:cNvPr id="11" name="TextBox 10"/>
          <p:cNvSpPr txBox="1"/>
          <p:nvPr/>
        </p:nvSpPr>
        <p:spPr>
          <a:xfrm>
            <a:off x="4389120" y="3538728"/>
            <a:ext cx="6675120" cy="548640"/>
          </a:xfrm>
          <a:prstGeom prst="rect">
            <a:avLst/>
          </a:prstGeom>
          <a:noFill/>
        </p:spPr>
        <p:txBody>
          <a:bodyPr wrap="square" lIns="0" rIns="0" tIns="0" bIns="0" anchor="t">
            <a:noAutofit/>
          </a:bodyPr>
          <a:lstStyle/>
          <a:p>
            <a:pPr algn="l">
              <a:lnSpc>
                <a:spcPts val="2199"/>
              </a:lnSpc>
              <a:spcBef>
                <a:spcPts val="0"/>
              </a:spcBef>
              <a:spcAft>
                <a:spcPts val="0"/>
              </a:spcAft>
              <a:buNone/>
            </a:pPr>
            <a:r>
              <a:rPr sz="1750" b="0">
                <a:solidFill>
                  <a:srgbClr val="D7E0F2"/>
                </a:solidFill>
                <a:latin typeface="Plus Jakarta Sans"/>
              </a:rPr>
              <a:t>Observe whether tasks are understandable and comfortable.</a:t>
            </a:r>
          </a:p>
        </p:txBody>
      </p:sp>
      <p:sp>
        <p:nvSpPr>
          <p:cNvPr id="12" name="Rounded Rectangle 11"/>
          <p:cNvSpPr/>
          <p:nvPr/>
        </p:nvSpPr>
        <p:spPr>
          <a:xfrm>
            <a:off x="731520" y="4480560"/>
            <a:ext cx="10728655" cy="960120"/>
          </a:xfrm>
          <a:prstGeom prst="roundRect">
            <a:avLst>
              <a:gd name="adj" fmla="val 20952"/>
            </a:avLst>
          </a:prstGeom>
          <a:solidFill>
            <a:srgbClr val="0A1324">
              <a:alpha val="55000"/>
            </a:srgbClr>
          </a:solidFill>
          <a:ln w="9525">
            <a:solidFill>
              <a:srgbClr val="FFFFFF">
                <a:alpha val="9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5840" y="4681728"/>
            <a:ext cx="3108960" cy="457200"/>
          </a:xfrm>
          <a:prstGeom prst="rect">
            <a:avLst/>
          </a:prstGeom>
          <a:noFill/>
        </p:spPr>
        <p:txBody>
          <a:bodyPr wrap="square" lIns="0" rIns="0" tIns="0" bIns="0" anchor="t">
            <a:noAutofit/>
          </a:bodyPr>
          <a:lstStyle/>
          <a:p>
            <a:pPr algn="l">
              <a:lnSpc>
                <a:spcPts val="3250"/>
              </a:lnSpc>
              <a:spcBef>
                <a:spcPts val="0"/>
              </a:spcBef>
              <a:spcAft>
                <a:spcPts val="0"/>
              </a:spcAft>
              <a:buNone/>
            </a:pPr>
            <a:r>
              <a:rPr sz="2600" b="1">
                <a:solidFill>
                  <a:srgbClr val="FFFFFF"/>
                </a:solidFill>
                <a:latin typeface="Plus Jakarta Sans"/>
              </a:rPr>
              <a:t>iPhone beta</a:t>
            </a:r>
          </a:p>
        </p:txBody>
      </p:sp>
      <p:sp>
        <p:nvSpPr>
          <p:cNvPr id="14" name="TextBox 13"/>
          <p:cNvSpPr txBox="1"/>
          <p:nvPr/>
        </p:nvSpPr>
        <p:spPr>
          <a:xfrm>
            <a:off x="4389120" y="4681728"/>
            <a:ext cx="6675120" cy="548640"/>
          </a:xfrm>
          <a:prstGeom prst="rect">
            <a:avLst/>
          </a:prstGeom>
          <a:noFill/>
        </p:spPr>
        <p:txBody>
          <a:bodyPr wrap="square" lIns="0" rIns="0" tIns="0" bIns="0" anchor="t">
            <a:noAutofit/>
          </a:bodyPr>
          <a:lstStyle/>
          <a:p>
            <a:pPr algn="l">
              <a:lnSpc>
                <a:spcPts val="2199"/>
              </a:lnSpc>
              <a:spcBef>
                <a:spcPts val="0"/>
              </a:spcBef>
              <a:spcAft>
                <a:spcPts val="0"/>
              </a:spcAft>
              <a:buNone/>
            </a:pPr>
            <a:r>
              <a:rPr sz="1750" b="0">
                <a:solidFill>
                  <a:srgbClr val="D7E0F2"/>
                </a:solidFill>
                <a:latin typeface="Plus Jakarta Sans"/>
              </a:rPr>
              <a:t>Prepare a TestFlight beta after iteration and device testing.</a:t>
            </a:r>
          </a:p>
        </p:txBody>
      </p:sp>
      <p:sp>
        <p:nvSpPr>
          <p:cNvPr id="15" name="TextBox 14"/>
          <p:cNvSpPr txBox="1"/>
          <p:nvPr/>
        </p:nvSpPr>
        <p:spPr>
          <a:xfrm>
            <a:off x="731520" y="5852160"/>
            <a:ext cx="10728655" cy="457200"/>
          </a:xfrm>
          <a:prstGeom prst="rect">
            <a:avLst/>
          </a:prstGeom>
          <a:noFill/>
        </p:spPr>
        <p:txBody>
          <a:bodyPr wrap="square" lIns="0" rIns="0" tIns="0" bIns="0" anchor="t">
            <a:noAutofit/>
          </a:bodyPr>
          <a:lstStyle/>
          <a:p>
            <a:pPr algn="l">
              <a:lnSpc>
                <a:spcPts val="2625"/>
              </a:lnSpc>
              <a:spcBef>
                <a:spcPts val="0"/>
              </a:spcBef>
              <a:spcAft>
                <a:spcPts val="0"/>
              </a:spcAft>
              <a:buNone/>
            </a:pPr>
            <a:r>
              <a:rPr sz="2100" b="1">
                <a:solidFill>
                  <a:srgbClr val="06E288"/>
                </a:solidFill>
                <a:latin typeface="Plus Jakarta Sans"/>
              </a:rPr>
              <a:t>Lesson: a working feature is not proof of real-world benefit.</a:t>
            </a:r>
          </a:p>
        </p:txBody>
      </p:sp>
      <p:sp>
        <p:nvSpPr>
          <p:cNvPr id="16" name="TextBox 15"/>
          <p:cNvSpPr txBox="1"/>
          <p:nvPr/>
        </p:nvSpPr>
        <p:spPr>
          <a:xfrm>
            <a:off x="9448495" y="292608"/>
            <a:ext cx="2011680" cy="1280160"/>
          </a:xfrm>
          <a:prstGeom prst="rect">
            <a:avLst/>
          </a:prstGeom>
          <a:noFill/>
        </p:spPr>
        <p:txBody>
          <a:bodyPr wrap="square" lIns="0" rIns="0" tIns="0" bIns="0" anchor="t">
            <a:noAutofit/>
          </a:bodyPr>
          <a:lstStyle/>
          <a:p>
            <a:pPr algn="r">
              <a:lnSpc>
                <a:spcPts val="9200"/>
              </a:lnSpc>
              <a:spcBef>
                <a:spcPts val="0"/>
              </a:spcBef>
              <a:spcAft>
                <a:spcPts val="0"/>
              </a:spcAft>
              <a:buNone/>
            </a:pPr>
            <a:r>
              <a:rPr sz="9200" b="0">
                <a:solidFill>
                  <a:srgbClr val="FFFFFF">
                    <a:alpha val="7000"/>
                  </a:srgbClr>
                </a:solidFill>
                <a:latin typeface="Plus Jakarta Sans ExtraBold"/>
              </a:rPr>
              <a:t>09</a:t>
            </a:r>
          </a:p>
        </p:txBody>
      </p:sp>
      <p:pic>
        <p:nvPicPr>
          <p:cNvPr id="17" name="Picture 16" descr="icon.png"/>
          <p:cNvPicPr>
            <a:picLocks noChangeAspect="1"/>
          </p:cNvPicPr>
          <p:nvPr/>
        </p:nvPicPr>
        <p:blipFill>
          <a:blip r:embed="rId3"/>
          <a:stretch>
            <a:fillRect/>
          </a:stretch>
        </p:blipFill>
        <p:spPr>
          <a:xfrm>
            <a:off x="731520" y="6382512"/>
            <a:ext cx="237744" cy="237744"/>
          </a:xfrm>
          <a:prstGeom prst="roundRect">
            <a:avLst>
              <a:gd name="adj" fmla="val 26923"/>
            </a:avLst>
          </a:prstGeom>
        </p:spPr>
      </p:pic>
      <p:sp>
        <p:nvSpPr>
          <p:cNvPr id="18" name="TextBox 17"/>
          <p:cNvSpPr txBox="1"/>
          <p:nvPr/>
        </p:nvSpPr>
        <p:spPr>
          <a:xfrm>
            <a:off x="1060704" y="6400800"/>
            <a:ext cx="3657600" cy="201168"/>
          </a:xfrm>
          <a:prstGeom prst="rect">
            <a:avLst/>
          </a:prstGeom>
          <a:noFill/>
        </p:spPr>
        <p:txBody>
          <a:bodyPr wrap="square" lIns="0" rIns="0" tIns="0" bIns="0" anchor="ctr">
            <a:noAutofit/>
          </a:bodyPr>
          <a:lstStyle/>
          <a:p>
            <a:pPr algn="l">
              <a:lnSpc>
                <a:spcPts val="1260"/>
              </a:lnSpc>
              <a:spcBef>
                <a:spcPts val="0"/>
              </a:spcBef>
              <a:spcAft>
                <a:spcPts val="0"/>
              </a:spcAft>
              <a:buNone/>
            </a:pPr>
            <a:r>
              <a:rPr sz="1050" b="1" spc="60">
                <a:solidFill>
                  <a:srgbClr val="5F7299"/>
                </a:solidFill>
                <a:latin typeface="Plus Jakarta Sans"/>
              </a:rPr>
              <a:t>CareSphere AI</a:t>
            </a:r>
          </a:p>
        </p:txBody>
      </p:sp>
    </p:spTree>
  </p:cSld>
  <p:clrMapOvr>
    <a:masterClrMapping/>
  </p:clrMapOvr>
  <mc:AlternateContent xmlns:mc="http://schemas.openxmlformats.org/markup-compatibility/2006">
    <mc:Choice xmlns:p14="http://schemas.microsoft.com/office/powerpoint/2010/main" Requires="p14">
      <p:transition spd="med" p14:dur="6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bg>
      <p:bgPr>
        <a:gradFill rotWithShape="1">
          <a:gsLst>
            <a:gs pos="0">
              <a:srgbClr val="0B1733"/>
            </a:gs>
            <a:gs pos="100000">
              <a:srgbClr val="0F2659"/>
            </a:gs>
          </a:gsLst>
          <a:lin scaled="0" ang="5400000"/>
        </a:gradFill>
        <a:effectLst/>
      </p:bgPr>
    </p:bg>
    <p:spTree>
      <p:nvGrpSpPr>
        <p:cNvPr id="1" name=""/>
        <p:cNvGrpSpPr/>
        <p:nvPr/>
      </p:nvGrpSpPr>
      <p:grpSpPr/>
      <p:pic>
        <p:nvPicPr>
          <p:cNvPr id="2" name="Picture 1" descr="bg-mesh.png"/>
          <p:cNvPicPr>
            <a:picLocks noChangeAspect="1"/>
          </p:cNvPicPr>
          <p:nvPr/>
        </p:nvPicPr>
        <p:blipFill>
          <a:blip r:embed="rId2"/>
          <a:stretch>
            <a:fillRect/>
          </a:stretch>
        </p:blipFill>
        <p:spPr>
          <a:xfrm>
            <a:off x="0" y="85"/>
            <a:ext cx="12191695" cy="6857828"/>
          </a:xfrm>
          <a:prstGeom prst="rect">
            <a:avLst/>
          </a:prstGeom>
        </p:spPr>
      </p:pic>
      <p:pic>
        <p:nvPicPr>
          <p:cNvPr id="3" name="Picture 2" descr="glow.png"/>
          <p:cNvPicPr>
            <a:picLocks noChangeAspect="1"/>
          </p:cNvPicPr>
          <p:nvPr/>
        </p:nvPicPr>
        <p:blipFill>
          <a:blip r:embed="rId3"/>
          <a:stretch>
            <a:fillRect/>
          </a:stretch>
        </p:blipFill>
        <p:spPr>
          <a:xfrm>
            <a:off x="1752447" y="-3291840"/>
            <a:ext cx="8686800" cy="8686800"/>
          </a:xfrm>
          <a:prstGeom prst="rect">
            <a:avLst/>
          </a:prstGeom>
        </p:spPr>
      </p:pic>
      <p:pic>
        <p:nvPicPr>
          <p:cNvPr id="4" name="Picture 3" descr="icon.png"/>
          <p:cNvPicPr>
            <a:picLocks noChangeAspect="1"/>
          </p:cNvPicPr>
          <p:nvPr/>
        </p:nvPicPr>
        <p:blipFill>
          <a:blip r:embed="rId4"/>
          <a:stretch>
            <a:fillRect/>
          </a:stretch>
        </p:blipFill>
        <p:spPr>
          <a:xfrm>
            <a:off x="5684367" y="1143000"/>
            <a:ext cx="822960" cy="822960"/>
          </a:xfrm>
          <a:prstGeom prst="roundRect">
            <a:avLst>
              <a:gd name="adj" fmla="val 24444"/>
            </a:avLst>
          </a:prstGeom>
        </p:spPr>
      </p:pic>
      <p:sp>
        <p:nvSpPr>
          <p:cNvPr id="5" name="TextBox 4"/>
          <p:cNvSpPr txBox="1"/>
          <p:nvPr/>
        </p:nvSpPr>
        <p:spPr>
          <a:xfrm>
            <a:off x="731520" y="2240280"/>
            <a:ext cx="10728655" cy="1005840"/>
          </a:xfrm>
          <a:prstGeom prst="rect">
            <a:avLst/>
          </a:prstGeom>
          <a:noFill/>
        </p:spPr>
        <p:txBody>
          <a:bodyPr wrap="square" lIns="0" rIns="0" tIns="0" bIns="0" anchor="t">
            <a:noAutofit/>
          </a:bodyPr>
          <a:lstStyle/>
          <a:p>
            <a:pPr algn="ctr">
              <a:lnSpc>
                <a:spcPts val="5880"/>
              </a:lnSpc>
              <a:spcBef>
                <a:spcPts val="0"/>
              </a:spcBef>
              <a:spcAft>
                <a:spcPts val="0"/>
              </a:spcAft>
              <a:buNone/>
            </a:pPr>
            <a:r>
              <a:rPr sz="5600" b="0">
                <a:solidFill>
                  <a:srgbClr val="FFFFFF"/>
                </a:solidFill>
                <a:latin typeface="Plus Jakarta Sans ExtraBold"/>
              </a:rPr>
              <a:t>Care that stays yours.</a:t>
            </a:r>
          </a:p>
        </p:txBody>
      </p:sp>
      <p:sp>
        <p:nvSpPr>
          <p:cNvPr id="6" name="TextBox 5"/>
          <p:cNvSpPr txBox="1"/>
          <p:nvPr/>
        </p:nvSpPr>
        <p:spPr>
          <a:xfrm>
            <a:off x="2103120" y="3291840"/>
            <a:ext cx="7985455" cy="731520"/>
          </a:xfrm>
          <a:prstGeom prst="rect">
            <a:avLst/>
          </a:prstGeom>
          <a:noFill/>
        </p:spPr>
        <p:txBody>
          <a:bodyPr wrap="square" lIns="0" rIns="0" tIns="0" bIns="0" anchor="t">
            <a:noAutofit/>
          </a:bodyPr>
          <a:lstStyle/>
          <a:p>
            <a:pPr algn="ctr">
              <a:lnSpc>
                <a:spcPts val="2700"/>
              </a:lnSpc>
              <a:spcBef>
                <a:spcPts val="0"/>
              </a:spcBef>
              <a:spcAft>
                <a:spcPts val="0"/>
              </a:spcAft>
              <a:buNone/>
            </a:pPr>
            <a:r>
              <a:rPr sz="2000" b="0">
                <a:solidFill>
                  <a:srgbClr val="D7E0F2"/>
                </a:solidFill>
                <a:latin typeface="Plus Jakarta Sans"/>
              </a:rPr>
              <a:t>Connected, calm and local-first — with real readings or clearly labeled simulation.</a:t>
            </a:r>
          </a:p>
        </p:txBody>
      </p:sp>
      <p:sp>
        <p:nvSpPr>
          <p:cNvPr id="7" name="Rounded Rectangle 6"/>
          <p:cNvSpPr/>
          <p:nvPr/>
        </p:nvSpPr>
        <p:spPr>
          <a:xfrm>
            <a:off x="3034131" y="4206240"/>
            <a:ext cx="2306574" cy="329184"/>
          </a:xfrm>
          <a:prstGeom prst="roundRect">
            <a:avLst>
              <a:gd name="adj" fmla="val 50000"/>
            </a:avLst>
          </a:prstGeom>
          <a:solidFill>
            <a:srgbClr val="06E28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034131" y="4206240"/>
            <a:ext cx="2306574" cy="329184"/>
          </a:xfrm>
          <a:prstGeom prst="rect">
            <a:avLst/>
          </a:prstGeom>
          <a:noFill/>
        </p:spPr>
        <p:txBody>
          <a:bodyPr wrap="square" lIns="0" rIns="0" tIns="0" bIns="0" anchor="ctr">
            <a:noAutofit/>
          </a:bodyPr>
          <a:lstStyle/>
          <a:p>
            <a:pPr algn="ctr">
              <a:lnSpc>
                <a:spcPts val="1375"/>
              </a:lnSpc>
              <a:spcBef>
                <a:spcPts val="0"/>
              </a:spcBef>
              <a:spcAft>
                <a:spcPts val="0"/>
              </a:spcAft>
              <a:buNone/>
            </a:pPr>
            <a:r>
              <a:rPr sz="1100" b="1" spc="100">
                <a:solidFill>
                  <a:srgbClr val="06E288"/>
                </a:solidFill>
                <a:latin typeface="Plus Jakarta Sans"/>
              </a:rPr>
              <a:t>EXPLORE THE PROJECT</a:t>
            </a:r>
          </a:p>
        </p:txBody>
      </p:sp>
      <p:sp>
        <p:nvSpPr>
          <p:cNvPr id="9" name="Rounded Rectangle 8"/>
          <p:cNvSpPr/>
          <p:nvPr/>
        </p:nvSpPr>
        <p:spPr>
          <a:xfrm>
            <a:off x="5523585" y="4206240"/>
            <a:ext cx="1735074" cy="329184"/>
          </a:xfrm>
          <a:prstGeom prst="roundRect">
            <a:avLst>
              <a:gd name="adj" fmla="val 50000"/>
            </a:avLst>
          </a:prstGeom>
          <a:solidFill>
            <a:srgbClr val="06E28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523585" y="4206240"/>
            <a:ext cx="1735074" cy="329184"/>
          </a:xfrm>
          <a:prstGeom prst="rect">
            <a:avLst/>
          </a:prstGeom>
          <a:noFill/>
        </p:spPr>
        <p:txBody>
          <a:bodyPr wrap="square" lIns="0" rIns="0" tIns="0" bIns="0" anchor="ctr">
            <a:noAutofit/>
          </a:bodyPr>
          <a:lstStyle/>
          <a:p>
            <a:pPr algn="ctr">
              <a:lnSpc>
                <a:spcPts val="1375"/>
              </a:lnSpc>
              <a:spcBef>
                <a:spcPts val="0"/>
              </a:spcBef>
              <a:spcAft>
                <a:spcPts val="0"/>
              </a:spcAft>
              <a:buNone/>
            </a:pPr>
            <a:r>
              <a:rPr sz="1100" b="1" spc="100">
                <a:solidFill>
                  <a:srgbClr val="06E288"/>
                </a:solidFill>
                <a:latin typeface="Plus Jakarta Sans"/>
              </a:rPr>
              <a:t>READ THE CODE</a:t>
            </a:r>
          </a:p>
        </p:txBody>
      </p:sp>
      <p:sp>
        <p:nvSpPr>
          <p:cNvPr id="11" name="Rounded Rectangle 10"/>
          <p:cNvSpPr/>
          <p:nvPr/>
        </p:nvSpPr>
        <p:spPr>
          <a:xfrm>
            <a:off x="7441539" y="4206240"/>
            <a:ext cx="1716024" cy="329184"/>
          </a:xfrm>
          <a:prstGeom prst="roundRect">
            <a:avLst>
              <a:gd name="adj" fmla="val 50000"/>
            </a:avLst>
          </a:prstGeom>
          <a:solidFill>
            <a:srgbClr val="06E28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441539" y="4206240"/>
            <a:ext cx="1716024" cy="329184"/>
          </a:xfrm>
          <a:prstGeom prst="rect">
            <a:avLst/>
          </a:prstGeom>
          <a:noFill/>
        </p:spPr>
        <p:txBody>
          <a:bodyPr wrap="square" lIns="0" rIns="0" tIns="0" bIns="0" anchor="ctr">
            <a:noAutofit/>
          </a:bodyPr>
          <a:lstStyle/>
          <a:p>
            <a:pPr algn="ctr">
              <a:lnSpc>
                <a:spcPts val="1375"/>
              </a:lnSpc>
              <a:spcBef>
                <a:spcPts val="0"/>
              </a:spcBef>
              <a:spcAft>
                <a:spcPts val="0"/>
              </a:spcAft>
              <a:buNone/>
            </a:pPr>
            <a:r>
              <a:rPr sz="1100" b="1" spc="100">
                <a:solidFill>
                  <a:srgbClr val="06E288"/>
                </a:solidFill>
                <a:latin typeface="Plus Jakarta Sans"/>
              </a:rPr>
              <a:t>BUILD LOCALLY</a:t>
            </a:r>
          </a:p>
        </p:txBody>
      </p:sp>
      <p:sp>
        <p:nvSpPr>
          <p:cNvPr id="13" name="TextBox 12"/>
          <p:cNvSpPr txBox="1"/>
          <p:nvPr/>
        </p:nvSpPr>
        <p:spPr>
          <a:xfrm>
            <a:off x="731520" y="4846320"/>
            <a:ext cx="10728655" cy="411480"/>
          </a:xfrm>
          <a:prstGeom prst="rect">
            <a:avLst/>
          </a:prstGeom>
          <a:noFill/>
        </p:spPr>
        <p:txBody>
          <a:bodyPr wrap="square" lIns="0" rIns="0" tIns="0" bIns="0" anchor="t">
            <a:noAutofit/>
          </a:bodyPr>
          <a:lstStyle/>
          <a:p>
            <a:pPr algn="ctr">
              <a:lnSpc>
                <a:spcPts val="2625"/>
              </a:lnSpc>
              <a:spcBef>
                <a:spcPts val="0"/>
              </a:spcBef>
              <a:spcAft>
                <a:spcPts val="0"/>
              </a:spcAft>
              <a:buNone/>
            </a:pPr>
            <a:r>
              <a:rPr sz="2100" b="1">
                <a:solidFill>
                  <a:srgbClr val="FFFFFF"/>
                </a:solidFill>
                <a:latin typeface="Plus Jakarta Sans"/>
              </a:rPr>
              <a:t>github.com/engineer2025-sudo/Care</a:t>
            </a:r>
          </a:p>
        </p:txBody>
      </p:sp>
      <p:sp>
        <p:nvSpPr>
          <p:cNvPr id="14" name="TextBox 13"/>
          <p:cNvSpPr txBox="1"/>
          <p:nvPr/>
        </p:nvSpPr>
        <p:spPr>
          <a:xfrm>
            <a:off x="731520" y="5349240"/>
            <a:ext cx="10728655" cy="365760"/>
          </a:xfrm>
          <a:prstGeom prst="rect">
            <a:avLst/>
          </a:prstGeom>
          <a:noFill/>
        </p:spPr>
        <p:txBody>
          <a:bodyPr wrap="square" lIns="0" rIns="0" tIns="0" bIns="0" anchor="t">
            <a:noAutofit/>
          </a:bodyPr>
          <a:lstStyle/>
          <a:p>
            <a:pPr algn="ctr">
              <a:lnSpc>
                <a:spcPts val="1812"/>
              </a:lnSpc>
              <a:spcBef>
                <a:spcPts val="0"/>
              </a:spcBef>
              <a:spcAft>
                <a:spcPts val="0"/>
              </a:spcAft>
              <a:buNone/>
            </a:pPr>
            <a:r>
              <a:rPr sz="1450" b="0">
                <a:solidFill>
                  <a:srgbClr val="93A4C7"/>
                </a:solidFill>
                <a:latin typeface="Plus Jakarta Sans"/>
              </a:rPr>
              <a:t>Arnav Kochar  ·  CA-10  ·  kochar4646@gmail.com</a:t>
            </a:r>
          </a:p>
        </p:txBody>
      </p:sp>
      <p:sp>
        <p:nvSpPr>
          <p:cNvPr id="15" name="TextBox 14"/>
          <p:cNvSpPr txBox="1"/>
          <p:nvPr/>
        </p:nvSpPr>
        <p:spPr>
          <a:xfrm>
            <a:off x="731520" y="5760720"/>
            <a:ext cx="10728655" cy="320040"/>
          </a:xfrm>
          <a:prstGeom prst="rect">
            <a:avLst/>
          </a:prstGeom>
          <a:noFill/>
        </p:spPr>
        <p:txBody>
          <a:bodyPr wrap="square" lIns="0" rIns="0" tIns="0" bIns="0" anchor="t">
            <a:noAutofit/>
          </a:bodyPr>
          <a:lstStyle/>
          <a:p>
            <a:pPr algn="ctr">
              <a:lnSpc>
                <a:spcPts val="1562"/>
              </a:lnSpc>
              <a:spcBef>
                <a:spcPts val="0"/>
              </a:spcBef>
              <a:spcAft>
                <a:spcPts val="0"/>
              </a:spcAft>
              <a:buNone/>
            </a:pPr>
            <a:r>
              <a:rPr sz="1250" b="0">
                <a:solidFill>
                  <a:srgbClr val="5F7299"/>
                </a:solidFill>
                <a:latin typeface="Plus Jakarta Sans"/>
              </a:rPr>
              <a:t>Explore the source, build instructions and project documentation.</a:t>
            </a:r>
          </a:p>
        </p:txBody>
      </p:sp>
      <p:sp>
        <p:nvSpPr>
          <p:cNvPr id="16" name="Rounded Rectangle 15"/>
          <p:cNvSpPr/>
          <p:nvPr/>
        </p:nvSpPr>
        <p:spPr>
          <a:xfrm>
            <a:off x="10134295" y="685800"/>
            <a:ext cx="1325880" cy="1645920"/>
          </a:xfrm>
          <a:prstGeom prst="roundRect">
            <a:avLst>
              <a:gd name="adj" fmla="val 15172"/>
            </a:avLst>
          </a:prstGeom>
          <a:solidFill>
            <a:srgbClr val="0A1324">
              <a:alpha val="50000"/>
            </a:srgbClr>
          </a:solidFill>
          <a:ln w="9525">
            <a:solidFill>
              <a:srgbClr val="FFFFFF">
                <a:alpha val="9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qr.png"/>
          <p:cNvPicPr>
            <a:picLocks noChangeAspect="1"/>
          </p:cNvPicPr>
          <p:nvPr/>
        </p:nvPicPr>
        <p:blipFill>
          <a:blip r:embed="rId5"/>
          <a:stretch>
            <a:fillRect/>
          </a:stretch>
        </p:blipFill>
        <p:spPr>
          <a:xfrm>
            <a:off x="10289743" y="841248"/>
            <a:ext cx="1014984" cy="1014984"/>
          </a:xfrm>
          <a:prstGeom prst="roundRect">
            <a:avLst>
              <a:gd name="adj" fmla="val 7207"/>
            </a:avLst>
          </a:prstGeom>
        </p:spPr>
      </p:pic>
      <p:sp>
        <p:nvSpPr>
          <p:cNvPr id="18" name="TextBox 17"/>
          <p:cNvSpPr txBox="1"/>
          <p:nvPr/>
        </p:nvSpPr>
        <p:spPr>
          <a:xfrm>
            <a:off x="10134295" y="1929384"/>
            <a:ext cx="1325880" cy="320040"/>
          </a:xfrm>
          <a:prstGeom prst="rect">
            <a:avLst/>
          </a:prstGeom>
          <a:noFill/>
        </p:spPr>
        <p:txBody>
          <a:bodyPr wrap="square" lIns="0" rIns="0" tIns="0" bIns="0" anchor="t">
            <a:noAutofit/>
          </a:bodyPr>
          <a:lstStyle/>
          <a:p>
            <a:pPr algn="ctr">
              <a:lnSpc>
                <a:spcPts val="1187"/>
              </a:lnSpc>
              <a:spcBef>
                <a:spcPts val="0"/>
              </a:spcBef>
              <a:spcAft>
                <a:spcPts val="0"/>
              </a:spcAft>
              <a:buNone/>
            </a:pPr>
            <a:r>
              <a:rPr sz="950" b="1" spc="80">
                <a:solidFill>
                  <a:srgbClr val="5F7299"/>
                </a:solidFill>
                <a:latin typeface="Plus Jakarta Sans"/>
              </a:rPr>
              <a:t>scan for source</a:t>
            </a:r>
          </a:p>
        </p:txBody>
      </p:sp>
    </p:spTree>
  </p:cSld>
  <p:clrMapOvr>
    <a:masterClrMapping/>
  </p:clrMapOvr>
  <mc:AlternateContent xmlns:mc="http://schemas.openxmlformats.org/markup-compatibility/2006">
    <mc:Choice xmlns:p14="http://schemas.microsoft.com/office/powerpoint/2010/main" Requires="p14">
      <p:transition spd="slow" p14:dur="900">
        <p:fade thruBlk="1"/>
      </p:transition>
    </mc:Choice>
    <mc:Fallback>
      <p:transition spd="slow">
        <p:fade thruBlk="1"/>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