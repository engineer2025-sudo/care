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embeddedFontLst>
    <p:embeddedFont>
      <p:font typeface="Plus Jakarta Sans" panose="00000000000000000000" pitchFamily="34" charset="0"/>
      <p:regular r:id="rId21"/>
      <p:bold r:id="rId22"/>
    </p:embeddedFont>
    <p:embeddedFont>
      <p:font typeface="Plus Jakarta Sans Medium" panose="00000000000000000000" pitchFamily="34" charset="0"/>
      <p:regular r:id="rId23"/>
    </p:embeddedFont>
    <p:embeddedFont>
      <p:font typeface="Plus Jakarta Sans ExtraBold" panose="00000000000000000000" pitchFamily="34" charset="0"/>
      <p:regular r:id="rId24"/>
    </p:embeddedFont>
    <p:embeddedFont>
      <p:font typeface="JetBrains Mono" panose="02000009000000000000" pitchFamily="49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I'm Arnav Kochar. CareSphere AI helps older adults, autistic people and their families manage everyday routines, enjoy self-paced activities, connect with others and prepare for care visits.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four parts: activities and sensory tools; mood, routines and medication reminders; Coffee Circles for video conversations; and a visit brief built from information you choose. Here is what using them looks like.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Activities are a core feature. Feelings Explorer lets you choose a feeling without a right answer. Pattern Recall lets you repeat a sequence. Picture Pairs reveals matching cards, and Picture Story explores a sequence at your pace. These are untimed, unscored activities—not cognitive tests.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Breathing follows a four-four-six rhythm. You can start, pause or leave. Four optional soundscapes run through Web Audio. Text size, contrast, palette and motion settings let people choose a comfortable interface.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AASPIRE accessibility research informed predictable navigation and sensory choices. Game-based research suggests potential in some settings, but studies vary. It does not prove CareSphere works as therapy. These activities are optional practice and enjoyment; co-design and usability evaluation come next.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Research sources:</a:t>
            </a:r>
          </a:p>
          <a:p>
            <a:r>
              <a:t>https://pmc.ncbi.nlm.nih.gov/articles/PMC6485264/</a:t>
            </a:r>
          </a:p>
          <a:p>
            <a:r>
              <a:t>https://pmc.ncbi.nlm.nih.gov/articles/PMC9809031/</a:t>
            </a:r>
          </a:p>
          <a:p>
            <a:r>
              <a:t>https://pmc.ncbi.nlm.nih.gov/articles/PMC12781649/</a:t>
            </a:r>
          </a:p>
          <a:p>
            <a:r>
              <a:t>Design rationale: docs/activities-and-accessibility.md. Games: src/App.jsx. No clinical or cognitive benefits established for CareSphere.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Routines and medication self-check-ins support the day. Coffee Circles use real Jitsi rooms. Before a visit, users choose what to include in a brief and inspect the exact text. A medication check-in is a self-report, not a verified dose.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 start Pattern Recall, watch the pads, and repeat the sequence. I can replay or stop. In Picture Pairs, I reveal cards without racing a clock. Next I choose rain, then stop it. Breathing also pauses when I choose. Back on Overview, I record a mood and complete a routine. Finally, I select fields for a visit brief and preview the text before downloading it.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data is encrypted locally. Sharing is a deliberate action. Jitsi calls and online references use external services; they are not offline. On iPhone, an optional downloaded model can generate Health Guide answers locally.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web app uses JavaScript, React, Vite and Web Audio. The native iPhone app uses Swift and SwiftUI, with HealthKit and CoreBluetooth. Seventeen automated tests cover storage, CSV and visit-brief behavior.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difficult coding problem was stale Bluetooth callbacks. A generation counter rejects readings from old connections. Each accepted reading is labeled live or simulated at the source, and that label stays in exports.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are co-design sessions with intended users and caregivers, followed by usability testing and an iPhone beta. Sensor history in visit briefs is planned, not presented as finished.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taught me to build for choice, keep demonstrations honest, and distinguish research-informed design from evidence of real-world effectiveness.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CareSphere AI. Everyday support, on your terms. Thank you.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-2194560"/>
            <a:ext cx="8229600" cy="822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421892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" y="13350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CONGRESSIONAL APP CHALLENGE 2026  ·  CA-10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>
                <a:solidFill>
                  <a:srgbClr val="FFFFFF"/>
                </a:solidFill>
                <a:latin typeface="Plus Jakarta Sans ExtraBold"/>
              </a:rPr>
              <a:t>CareSphere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6E288"/>
                </a:solidFill>
                <a:latin typeface="Plus Jakarta Sans Medium"/>
              </a:rPr>
              <a:t>Connected care for independent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A private care companion for older adults, autistic people and the families who care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81728"/>
            <a:ext cx="457200" cy="36576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Arnav Kochar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CA-10  ·  kochar4646@gmail.com</a:t>
            </a:r>
          </a:p>
        </p:txBody>
      </p:sp>
      <p:pic>
        <p:nvPicPr>
          <p:cNvPr id="12" name="Picture 11" descr="phone-vi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6949440" y="1325880"/>
            <a:ext cx="2932206" cy="5760720"/>
          </a:xfrm>
          <a:prstGeom prst="rect">
            <a:avLst/>
          </a:prstGeom>
        </p:spPr>
      </p:pic>
      <p:pic>
        <p:nvPicPr>
          <p:cNvPr id="13" name="Picture 12" descr="phone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3258007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Daily support.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Play, connect, prepare.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134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Activities &amp; sensory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346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Four self-paced games, breathing and optional soundscapes.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3134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Everyday routines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8346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Mood check-ins, daily tasks and medication self-check-ins.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42231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Human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634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Coffee Circles open Jitsi video rooms; care notes stay local.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142231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Visit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6634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Choose notes and readings for a previewable visit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6E288"/>
                </a:solidFill>
                <a:latin typeface="Plus Jakarta Sans"/>
              </a:rPr>
              <a:t>For older adults, autistic people and the families who support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02</a:t>
            </a:r>
          </a:p>
        </p:txBody>
      </p:sp>
      <p:pic>
        <p:nvPicPr>
          <p:cNvPr id="24" name="Picture 2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5" name="TextBox 2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CORE FEATURE ·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Four ways to play.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At your own 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Feelings Explorer</a:t>
            </a:r>
          </a:p>
        </p:txBody>
      </p:sp>
      <p:pic>
        <p:nvPicPr>
          <p:cNvPr id="8" name="Picture 7" descr="crop-feel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" y="3063240"/>
            <a:ext cx="1741714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6E288"/>
                </a:solidFill>
                <a:latin typeface="Plus Jakarta Sans"/>
              </a:rPr>
              <a:t>Choose how you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No right or wrong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975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6855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Pattern Recall</a:t>
            </a:r>
          </a:p>
        </p:txBody>
      </p:sp>
      <p:pic>
        <p:nvPicPr>
          <p:cNvPr id="13" name="Picture 12" descr="crop-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2" y="3063240"/>
            <a:ext cx="1741714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46855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E288"/>
                </a:solidFill>
                <a:latin typeface="Plus Jakarta Sans"/>
              </a:rPr>
              <a:t>Watch, then repeat.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6855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Replay or stop anytime.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9311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Picture Pairs</a:t>
            </a:r>
          </a:p>
        </p:txBody>
      </p:sp>
      <p:pic>
        <p:nvPicPr>
          <p:cNvPr id="18" name="Picture 17" descr="crop-pai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974" y="3063240"/>
            <a:ext cx="1736202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79311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06E288"/>
                </a:solidFill>
                <a:latin typeface="Plus Jakarta Sans"/>
              </a:rPr>
              <a:t>Reveal matching cards.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No countdown or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887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11767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Picture Story</a:t>
            </a:r>
          </a:p>
        </p:txBody>
      </p:sp>
      <p:pic>
        <p:nvPicPr>
          <p:cNvPr id="23" name="Picture 22" descr="crop-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430" y="3063240"/>
            <a:ext cx="1736202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1767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06E288"/>
                </a:solidFill>
                <a:latin typeface="Plus Jakarta Sans"/>
              </a:rPr>
              <a:t>Explore a picture sequence.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Advance when 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03</a:t>
            </a:r>
          </a:p>
        </p:txBody>
      </p:sp>
      <p:pic>
        <p:nvPicPr>
          <p:cNvPr id="27" name="Picture 26" descr="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CORE FEATURE · SENSORY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A quieter experience.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On your terms.</a:t>
            </a:r>
          </a:p>
        </p:txBody>
      </p:sp>
      <p:pic>
        <p:nvPicPr>
          <p:cNvPr id="6" name="Picture 5" descr="crop-breat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3383280" cy="2351379"/>
          </a:xfrm>
          <a:prstGeom prst="rect">
            <a:avLst/>
          </a:prstGeom>
        </p:spPr>
      </p:pic>
      <p:pic>
        <p:nvPicPr>
          <p:cNvPr id="7" name="Picture 6" descr="crop-soundsca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148840"/>
            <a:ext cx="3383280" cy="2351379"/>
          </a:xfrm>
          <a:prstGeom prst="roundRect">
            <a:avLst>
              <a:gd name="adj" fmla="val 5755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94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Breathing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517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4 seconds in · 4 hold · 6 out. Start and pause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74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Soundscapes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319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Rain, ocean, forest and hearth. Sound starts only on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548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212079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7E0F2"/>
                </a:solidFill>
                <a:latin typeface="Plus Jakarta Sans"/>
              </a:rPr>
              <a:t>Text sizes, palette choices, high contrast and reduced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04</a:t>
            </a:r>
          </a:p>
        </p:txBody>
      </p:sp>
      <p:pic>
        <p:nvPicPr>
          <p:cNvPr id="15" name="Picture 14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RESEARCH →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0">
                <a:solidFill>
                  <a:srgbClr val="FFFFFF"/>
                </a:solidFill>
                <a:latin typeface="Plus Jakarta Sans ExtraBold"/>
              </a:rPr>
              <a:t>Research-informed. </a:t>
            </a:r>
            <a:r>
              <a:rPr sz="3500" b="0">
                <a:solidFill>
                  <a:srgbClr val="06E288"/>
                </a:solidFill>
                <a:latin typeface="Plus Jakarta Sans ExtraBold"/>
              </a:rPr>
              <a:t>Not clinically validated.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AASPIRE ·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677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Predictability and sensory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7157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Consistent navigation, palette options, reduced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354787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Game research · 2023 /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02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Promising findings; varied studies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50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Optional practice and enjoyment, not treatment.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78231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Evidence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7365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No CareSphere efficacy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1846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Next: co-design and usability evaluation with intended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6188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Sources: Raymaker et al., 2019 · Alahmari et al., 2023 · Liu et al., 2025. Full links in notes.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05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BEYOND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Remember.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Reach someone.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Prepare.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Confirm a schedule; mark a reminder taken yourself.</a:t>
            </a:r>
          </a:p>
        </p:txBody>
      </p:sp>
      <p:pic>
        <p:nvPicPr>
          <p:cNvPr id="9" name="Picture 8" descr="crop-m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01" y="3840480"/>
            <a:ext cx="2674775" cy="1965960"/>
          </a:xfrm>
          <a:prstGeom prst="roundRect">
            <a:avLst>
              <a:gd name="adj" fmla="val 5442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4399178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Reach someone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Join a Coffee Circle in a real Jitsi video room.</a:t>
            </a:r>
          </a:p>
        </p:txBody>
      </p:sp>
      <p:pic>
        <p:nvPicPr>
          <p:cNvPr id="13" name="Picture 12" descr="crop-circle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778" y="3891292"/>
            <a:ext cx="2936138" cy="18643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66836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5436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Select what goes into a visit brief and preview the exact text.</a:t>
            </a:r>
          </a:p>
        </p:txBody>
      </p:sp>
      <p:pic>
        <p:nvPicPr>
          <p:cNvPr id="17" name="Picture 16" descr="crop-visit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700" y="3840480"/>
            <a:ext cx="1843611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06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0">
                <a:solidFill>
                  <a:srgbClr val="FFFFFF"/>
                </a:solidFill>
                <a:latin typeface="Plus Jakarta Sans ExtraBold"/>
              </a:rPr>
              <a:t>Show the experience. </a:t>
            </a:r>
            <a:r>
              <a:rPr sz="3500" b="0">
                <a:solidFill>
                  <a:srgbClr val="06E288"/>
                </a:solidFill>
                <a:latin typeface="Plus Jakarta Sans ExtraBold"/>
              </a:rPr>
              <a:t>Not just the screens.</a:t>
            </a:r>
          </a:p>
        </p:txBody>
      </p:sp>
      <p:pic>
        <p:nvPicPr>
          <p:cNvPr id="6" name="Picture 5" descr="web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858000" cy="4885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01 ·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603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Repeat a pattern; reveal a picture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02 · 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Start and stop rain; pause breathing.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069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03 · Check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480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Record a mood and complete a routine.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04 ·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406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7E0F2"/>
                </a:solidFill>
                <a:latin typeface="Plus Jakarta Sans"/>
              </a:rPr>
              <a:t>Select fields; preview the visit brief.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07</a:t>
            </a:r>
          </a:p>
        </p:txBody>
      </p:sp>
      <p:pic>
        <p:nvPicPr>
          <p:cNvPr id="16" name="Picture 15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push dir="l"/>
      </p:transition>
    </mc:Choice>
    <mc:Fallback>
      <p:transition spd="med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Local care data.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You choose what to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6675120" cy="3794760"/>
          </a:xfrm>
          <a:prstGeom prst="roundRect">
            <a:avLst>
              <a:gd name="adj" fmla="val 10843"/>
            </a:avLst>
          </a:prstGeom>
          <a:solidFill>
            <a:srgbClr val="0A1324">
              <a:alpha val="35000"/>
            </a:srgbClr>
          </a:solidFill>
          <a:ln w="19050">
            <a:solidFill>
              <a:srgbClr val="06E288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1538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538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ON THE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5272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BLE 0x180D · HealthKit,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420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536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Health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36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Qwen2.5-1.5B · llama.cpp,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684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800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Plus Jakarta Sans"/>
              </a:rPr>
              <a:t>Encrypted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AES-256-GCM · Face ID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272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Web Audio · untimed, unscored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420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2536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Visit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536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fields you pick · exact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684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9800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Coffee Circles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00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links to real Jitsi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8600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EXTERNAL CONNECTIONS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99008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269748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Calls &amp; 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4495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Jitsi calls and online reference requests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385876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9560" y="356616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A visit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91363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only when you choose to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2628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CARESPHERE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care backends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trackers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08</a:t>
            </a:r>
          </a:p>
        </p:txBody>
      </p:sp>
      <p:pic>
        <p:nvPicPr>
          <p:cNvPr id="43" name="Picture 42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4" name="TextBox 4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HOW IT’S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Two clients.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Local-first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Web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9013" y="2615184"/>
            <a:ext cx="13667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49013" y="2615184"/>
            <a:ext cx="13667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154680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6196" y="3154680"/>
            <a:ext cx="736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76196" y="3154680"/>
            <a:ext cx="736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3982" y="3154680"/>
            <a:ext cx="10665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03982" y="3154680"/>
            <a:ext cx="10665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Tailwind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1968" y="3154680"/>
            <a:ext cx="14602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61968" y="3154680"/>
            <a:ext cx="14602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Bluetooth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557016"/>
            <a:ext cx="11490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11490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92096" y="3557016"/>
            <a:ext cx="1244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92096" y="3557016"/>
            <a:ext cx="1244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Crypto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7882" y="3557016"/>
            <a:ext cx="14792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27882" y="3557016"/>
            <a:ext cx="14792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installable PWA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75907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iPhone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6911" y="2615184"/>
            <a:ext cx="903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36911" y="2615184"/>
            <a:ext cx="903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SWIFT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5907" y="3154680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75907" y="3154680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SwiftUI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7043" y="3154680"/>
            <a:ext cx="10157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37043" y="3154680"/>
            <a:ext cx="10157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HealthKit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4229" y="31546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44229" y="3154680"/>
            <a:ext cx="1453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CoreBluetooth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5907" y="3557016"/>
            <a:ext cx="1060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75907" y="3557016"/>
            <a:ext cx="1060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CryptoKit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7543" y="3557016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27543" y="3557016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Face 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8679" y="3557016"/>
            <a:ext cx="1072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8679" y="3557016"/>
            <a:ext cx="1072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llama.cpp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5907" y="3959352"/>
            <a:ext cx="14221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75907" y="3959352"/>
            <a:ext cx="14221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Sherpa-ONNX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9493" y="3959352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9493" y="3959352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Jitsi SDK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05840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11,400+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lines of 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82263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56583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17 /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6583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tests passing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3007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07327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7327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CI pipelines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3751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58071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8071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public releases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09</a:t>
            </a:r>
          </a:p>
        </p:txBody>
      </p:sp>
      <p:pic>
        <p:nvPicPr>
          <p:cNvPr id="58" name="Picture 57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59" name="TextBox 58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HARDEST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Making Bluetooth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D7E0F2"/>
                </a:solidFill>
                <a:latin typeface="Plus Jakarta Sans"/>
              </a:rPr>
              <a:t>Heart-rate notifications arrive late and out of order — a stale sensor could repaint a new card with a wrong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1071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Parse the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94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service 0x180D · flags byte → 8/16-bit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251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7939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Label at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each sample is born LIVE or SIMULATED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93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4807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Drop stale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 generation counter ignores old pairings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5059375" cy="3200400"/>
          </a:xfrm>
          <a:prstGeom prst="roundRect">
            <a:avLst>
              <a:gd name="adj" fmla="val 6285"/>
            </a:avLst>
          </a:prstGeom>
          <a:solidFill>
            <a:srgbClr val="0A1324">
              <a:alpha val="7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0" y="2267712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6E288"/>
                </a:solidFill>
                <a:latin typeface="JetBrains Mono"/>
              </a:rPr>
              <a:t>src/lib/bluetooth.js  </a:t>
            </a:r>
            <a:r>
              <a:rPr sz="1100" b="0">
                <a:solidFill>
                  <a:srgbClr val="93A4C7"/>
                </a:solidFill>
                <a:latin typeface="JetBrains Mono"/>
              </a:rPr>
              <a:t>·  src/App.jsx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33472"/>
            <a:ext cx="4327855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flags = dv.getUint8(0)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bpm = flags &amp; 0x1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? dv.getUint16(1, true)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: dv.getUint8(1)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(bpm &gt; 20 &amp;&amp; bpm &lt; 250) onReading(bpm)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source 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hrModeRef.current === 'live'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? 'LIVE_BLE' : 'SIMULATED'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(generation !==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hrConnectionGenerationRef.current)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return</a:t>
            </a:r>
          </a:p>
        </p:txBody>
      </p:sp>
      <p:pic>
        <p:nvPicPr>
          <p:cNvPr id="19" name="Picture 18" descr="crop-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75" y="4846320"/>
            <a:ext cx="2743200" cy="1664255"/>
          </a:xfrm>
          <a:prstGeom prst="roundRect">
            <a:avLst>
              <a:gd name="adj" fmla="val 659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10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Built. Tested.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Ready for co-design.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246120"/>
            <a:ext cx="6718810" cy="0"/>
          </a:xfrm>
          <a:prstGeom prst="line">
            <a:avLst/>
          </a:prstGeom>
          <a:ln w="25400">
            <a:solidFill>
              <a:srgbClr val="06E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24650" y="3246120"/>
            <a:ext cx="3461205" cy="0"/>
          </a:xfrm>
          <a:prstGeom prst="line">
            <a:avLst/>
          </a:prstGeom>
          <a:ln w="15875">
            <a:solidFill>
              <a:srgbClr val="FFFFFF">
                <a:alpha val="3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5641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5443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5245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5046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4848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465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803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6406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601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Oct 14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First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repo created</a:t>
            </a:r>
          </a:p>
        </p:txBody>
      </p:sp>
      <p:sp>
        <p:nvSpPr>
          <p:cNvPr id="22" name="Oval 21"/>
          <p:cNvSpPr/>
          <p:nvPr/>
        </p:nvSpPr>
        <p:spPr>
          <a:xfrm>
            <a:off x="186508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27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v1.0 + 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7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first public releases</a:t>
            </a:r>
          </a:p>
        </p:txBody>
      </p:sp>
      <p:sp>
        <p:nvSpPr>
          <p:cNvPr id="25" name="Oval 24"/>
          <p:cNvSpPr/>
          <p:nvPr/>
        </p:nvSpPr>
        <p:spPr>
          <a:xfrm>
            <a:off x="5064519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50703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0703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release · Sep 28</a:t>
            </a:r>
          </a:p>
        </p:txBody>
      </p:sp>
      <p:sp>
        <p:nvSpPr>
          <p:cNvPr id="28" name="Oval 27"/>
          <p:cNvSpPr/>
          <p:nvPr/>
        </p:nvSpPr>
        <p:spPr>
          <a:xfrm>
            <a:off x="762406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1025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25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iOS + web, building in CI</a:t>
            </a:r>
          </a:p>
        </p:txBody>
      </p:sp>
      <p:sp>
        <p:nvSpPr>
          <p:cNvPr id="31" name="Oval 30"/>
          <p:cNvSpPr/>
          <p:nvPr/>
        </p:nvSpPr>
        <p:spPr>
          <a:xfrm>
            <a:off x="11094415" y="3154679"/>
            <a:ext cx="182880" cy="182880"/>
          </a:xfrm>
          <a:prstGeom prst="ellipse">
            <a:avLst/>
          </a:prstGeom>
          <a:solidFill>
            <a:srgbClr val="0A1324"/>
          </a:solidFill>
          <a:ln w="15875">
            <a:solidFill>
              <a:srgbClr val="06E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905695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co-design → TestFlight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12700">
            <a:solidFill>
              <a:srgbClr val="06E2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06E288"/>
                </a:solidFill>
                <a:latin typeface="Plus Jakarta Sans"/>
              </a:rPr>
              <a:t>NEXT · V2.0 OF THIS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Co-design sessions with autistic people, people living with dementia and caregivers; TestFlight beta.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99178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73498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3498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Apple Health and Bluetooth history in the visit brief, with true source labels · non-diagnostic trends only from real readings.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41156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DELIBERATELY 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Cloud sync, a clinician portal or a drug-interaction checker — not without clinical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11</a:t>
            </a:r>
          </a:p>
        </p:txBody>
      </p:sp>
      <p:pic>
        <p:nvPicPr>
          <p:cNvPr id="45" name="Picture 44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6" name="TextBox 4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THIS PROJECT TAUGHT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Trust is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 design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FF"/>
                </a:solidFill>
                <a:latin typeface="Plus Jakarta Sans"/>
              </a:rPr>
              <a:t>Choice over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3774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Games are untimed and unscored; sound and progression are user-led.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01568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Truth over a polished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5844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Sensor values stay labeled LIVE_BLE or SIMULATED, including exports.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08576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FF"/>
                </a:solidFill>
                <a:latin typeface="Plus Jakarta Sans"/>
              </a:rPr>
              <a:t>Evidence over promises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79145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Research informs design. Usability and health outcomes still need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12</a:t>
            </a:r>
          </a:p>
        </p:txBody>
      </p:sp>
      <p:pic>
        <p:nvPicPr>
          <p:cNvPr id="16" name="Picture 15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7" y="-3291840"/>
            <a:ext cx="8686800" cy="8686800"/>
          </a:xfrm>
          <a:prstGeom prst="rect">
            <a:avLst/>
          </a:prstGeom>
        </p:spPr>
      </p:pic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7" y="1143000"/>
            <a:ext cx="822960" cy="822960"/>
          </a:xfrm>
          <a:prstGeom prst="roundRect">
            <a:avLst>
              <a:gd name="adj" fmla="val 24444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40280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0">
                <a:solidFill>
                  <a:srgbClr val="FFFFFF"/>
                </a:solidFill>
                <a:latin typeface="Plus Jakarta Sans ExtraBold"/>
              </a:rPr>
              <a:t>Care that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291840"/>
            <a:ext cx="798545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7E0F2"/>
                </a:solidFill>
                <a:latin typeface="Plus Jakarta Sans"/>
              </a:rPr>
              <a:t>Connected, calm and local-first — with real readings or clearly labeled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4131" y="4206240"/>
            <a:ext cx="2306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34131" y="4206240"/>
            <a:ext cx="2306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EXPLORE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3585" y="4206240"/>
            <a:ext cx="17350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23585" y="4206240"/>
            <a:ext cx="17350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READ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1539" y="4206240"/>
            <a:ext cx="17160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41539" y="4206240"/>
            <a:ext cx="1716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BUILD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github.com/engineer2025-sudo/Care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Arnav Kochar  ·  CA-10  ·  kochar4646@gmail.com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F7299"/>
                </a:solidFill>
                <a:latin typeface="Plus Jakarta Sans"/>
              </a:rPr>
              <a:t>Explore the source, build instructions and project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4295" y="685800"/>
            <a:ext cx="1325880" cy="1645920"/>
          </a:xfrm>
          <a:prstGeom prst="roundRect">
            <a:avLst>
              <a:gd name="adj" fmla="val 15172"/>
            </a:avLst>
          </a:prstGeom>
          <a:solidFill>
            <a:srgbClr val="0A1324">
              <a:alpha val="5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743" y="841248"/>
            <a:ext cx="1014984" cy="1014984"/>
          </a:xfrm>
          <a:prstGeom prst="roundRect">
            <a:avLst>
              <a:gd name="adj" fmla="val 7207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10134295" y="192938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spc="80">
                <a:solidFill>
                  <a:srgbClr val="5F7299"/>
                </a:solidFill>
                <a:latin typeface="Plus Jakarta Sans"/>
              </a:rPr>
              <a:t>scan for source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