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embeddedFontLst>
    <p:embeddedFont>
      <p:font typeface="Plus Jakarta Sans" panose="00000000000000000000" pitchFamily="34" charset="0"/>
      <p:regular r:id="rId28"/>
      <p:bold r:id="rId29"/>
    </p:embeddedFont>
    <p:embeddedFont>
      <p:font typeface="Plus Jakarta Sans Medium" panose="00000000000000000000" pitchFamily="34" charset="0"/>
      <p:regular r:id="rId30"/>
    </p:embeddedFont>
    <p:embeddedFont>
      <p:font typeface="Plus Jakarta Sans ExtraBold" panose="00000000000000000000" pitchFamily="34" charset="0"/>
      <p:regular r:id="rId31"/>
    </p:embeddedFont>
    <p:embeddedFont>
      <p:font typeface="JetBrains Mono" panose="02000009000000000000" pitchFamily="49" charset="0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[0:00–0:14] Hi, I'm Arnav Kochar, a [GRADE] at [SCHOOL] in [CITY], California. This is CareSphere AI — a private care companion for older adults, autistic people and their families, on iPhone and on the web.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Title. Source: updated deck, slide 1.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CareSphere was designed around everyday moments: remembering medication, following a routine and reaching someone. Add your own truthful personal motivation when narrating; no personal story has been assumed.</a:t>
            </a:r>
          </a:p>
          <a:p/>
          <a:p>
            <a:r>
              <a:t>COMBINED DECK: Design challenge. Source: updated deck, slide 2.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[0:26–0:39] One in four older adults is socially isolated — a twenty-nine percent higher risk of early death. One in thirty-one children is autistic. Half of long-term medications aren't taken as prescribed. And sixty-three million family caregivers hold it all together.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Problem. Source: updated deck, slide 3.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four parts: activities and sensory tools; mood, routines and medication reminders; Coffee Circles for video conversations; and a visit brief built from information you choose. Here is what using them looks like.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  <a:p/>
          <a:p>
            <a:r>
              <a:t>COMBINED DECK: Feature overview. Source: cac deck, slide 2.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[1:53–2:01] It's built for three people at once: older adults, autistic teens and adults, and the caregivers who support them.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Audience. Source: updated deck, slide 8.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[0:47–0:57] CareSphere is one calm app with five tabs — Overview, Activities, Coffee Circles, Care Circle and Vitals — with no server behind any of it.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Five-tab app tour. Source: updated deck, slide 5.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Activities are a core feature. Feelings Explorer lets you choose a feeling without a right answer. Pattern Recall lets you repeat a sequence. Picture Pairs reveals matching cards, and Picture Story explores a sequence at your pace. These are untimed, unscored activities—not cognitive tests.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  <a:p/>
          <a:p>
            <a:r>
              <a:t>COMBINED DECK: Four games. Source: cac deck, slide 3.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Breathing follows a four-four-six rhythm. You can start, pause or leave. Four optional soundscapes run through Web Audio. Text size, contrast, palette and motion settings let people choose a comfortable interface.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  <a:p/>
          <a:p>
            <a:r>
              <a:t>COMBINED DECK: Sensory tools and accessibility. Source: cac deck, slide 4.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AASPIRE accessibility research informed predictable navigation and sensory choices. Game-based research suggests potential in some settings, but studies vary. It does not prove CareSphere works as therapy. These activities are optional practice and enjoyment; co-design and usability evaluation come next.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  <a:p/>
          <a:p>
            <a:r>
              <a:t>Research sources:</a:t>
            </a:r>
          </a:p>
          <a:p>
            <a:r>
              <a:t>https://pmc.ncbi.nlm.nih.gov/articles/PMC6485264/</a:t>
            </a:r>
          </a:p>
          <a:p>
            <a:r>
              <a:t>https://pmc.ncbi.nlm.nih.gov/articles/PMC9809031/</a:t>
            </a:r>
          </a:p>
          <a:p>
            <a:r>
              <a:t>https://pmc.ncbi.nlm.nih.gov/articles/PMC12781649/</a:t>
            </a:r>
          </a:p>
          <a:p>
            <a:r>
              <a:t>Design rationale: docs/activities-and-accessibility.md. Games: src/App.jsx. No clinical or cognitive benefits established for CareSphere.</a:t>
            </a:r>
          </a:p>
          <a:p/>
          <a:p>
            <a:r>
              <a:t>COMBINED DECK: Research-informed design. Source: cac deck, slide 5.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actual CareSphere web-app screenshots showing medication self-check-ins, daily routines and Coffee Circles. The displayed entries are sample data. Coffee Circles uses external Jitsi infrastructure; no CareSphere care-data backend is required.</a:t>
            </a:r>
          </a:p>
          <a:p/>
          <a:p>
            <a:r>
              <a:t>COMBINED DECK: Everyday support screenshots. Source: updated deck, slide 4.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Routines and medication self-check-ins support the day. Coffee Circles use real Jitsi rooms. Before a visit, users choose what to include in a brief and inspect the exact text. A medication check-in is a self-report, not a verified dose.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  <a:p/>
          <a:p>
            <a:r>
              <a:t>COMBINED DECK: Remember, connect and prepare. Source: cac deck, slide 6.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[0:57–1:42] Let me show you. (Switch to the screen recording — six shots, see VIDEO_SCRIPT.md: mood check-in and routine; medication reminder and Taken; Bluetooth pairing or the labeled demo plus Export CSV; Pattern Recall and the Rain soundscape; join a Coffee Circle; build and download a visit brief.)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Full-app demo overview. Source: updated deck, slide 6.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 start Pattern Recall, watch the pads, and repeat the sequence. I can replay or stop. In Picture Pairs, I reveal cards without racing a clock. Next I choose rain, then stop it. Breathing also pauses when I choose. Back on Overview, I record a mood and complete a routine. Finally, I select fields for a visit brief and preview the text before downloading it.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  <a:p/>
          <a:p>
            <a:r>
              <a:t>COMBINED DECK: Feature-focused interaction demo. Source: cac deck, slide 7.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[1:42–1:53] What makes it different isn't a feature — it's four rules in the code: never fabricate a reading, never send anything automatically, calm by default, private by architecture.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Four rules in the code. Source: updated deck, slide 7.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[2:01–2:12] Everything stays on the device: AES-256 encryption, Bluetooth and HealthKit read locally, and a 1.5-billion-parameter model that answers health questions offline. Zero accounts, zero servers, zero trackers.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Privacy and external connections. Source: updated deck, slide 9.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[2:12–2:23] It's React and JavaScript on the web, Swift and SwiftUI on iPhone — Web Bluetooth, HealthKit, CryptoKit and llama.cpp. Eleven thousand lines, seventeen tests, three public releases.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Tools and languages. Source: updated deck, slide 10.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[2:23–2:35] The hardest problem was keeping Bluetooth honest: notifications arrive late and out of order, so I label every sample live or simulated at the source and drop stale sessions with a generation counter.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Bluetooth coding challenge. Source: updated deck, slide 11.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[2:35–2:47] Version 2.0 starts with co-design sessions with autistic people, people living with dementia and caregivers, then a TestFlight beta and sensor history in the visit brief — still with no server. (Deliberately not planned: cloud sync, a clinician portal or a drug-interaction checker — not without clinical review.)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Progress and next steps. Source: updated deck, slide 12.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taught me to build for choice, keep demonstrations honest, and distinguish research-informed design from evidence of real-world effectiveness.</a:t>
            </a:r>
          </a:p>
          <a:p/>
          <a:p>
            <a:r>
              <a:t>Real web app screenshots; seeded sample data. No AI-generated imagery. Native iOS features are identified separately. Research does not establish effectiveness of these activities.</a:t>
            </a:r>
          </a:p>
          <a:p/>
          <a:p>
            <a:r>
              <a:t>COMBINED DECK: Learning. Source: cac deck, slide 12.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[2:47–2:53] CareSphere AI — care that stays yours. The code and install guide are on GitHub. Thank you.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  <a:p/>
          <a:p>
            <a:r>
              <a:t>COMBINED DECK: Close. Source: updated deck, slide 13. This is a full presentation/reference deck, not a timed three-minute video. Use VIDEO_SCRIPT_CAC.md for the short submission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-2194560"/>
            <a:ext cx="8229600" cy="8229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421892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9264" y="13350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CONGRESSIONAL APP CHALLENGE 2026  ·  CA-10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400" b="0">
                <a:solidFill>
                  <a:srgbClr val="FFFFFF"/>
                </a:solidFill>
                <a:latin typeface="Plus Jakarta Sans ExtraBold"/>
              </a:rPr>
              <a:t>CareSphere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06E288"/>
                </a:solidFill>
                <a:latin typeface="Plus Jakarta Sans Medium"/>
              </a:rPr>
              <a:t>Connected care for independent living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A private care companion for older adults, autistic people and the families who care for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81728"/>
            <a:ext cx="457200" cy="36576"/>
          </a:xfrm>
          <a:prstGeom prst="roundRect">
            <a:avLst>
              <a:gd name="adj" fmla="val 50000"/>
            </a:avLst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91947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Arnav Kochar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CA-10  ·  kochar4646@gmail.com</a:t>
            </a:r>
          </a:p>
        </p:txBody>
      </p:sp>
      <p:pic>
        <p:nvPicPr>
          <p:cNvPr id="12" name="Picture 11" descr="phone-vi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20000">
            <a:off x="6949440" y="1325880"/>
            <a:ext cx="2932206" cy="5760720"/>
          </a:xfrm>
          <a:prstGeom prst="rect">
            <a:avLst/>
          </a:prstGeom>
        </p:spPr>
      </p:pic>
      <p:pic>
        <p:nvPicPr>
          <p:cNvPr id="13" name="Picture 12" descr="phone-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914400"/>
            <a:ext cx="3258007" cy="6400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THE DESIGN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Small moments.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More independence.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>
                <a:solidFill>
                  <a:srgbClr val="FFFFFF"/>
                </a:solidFill>
                <a:latin typeface="Plus Jakarta Sans Medium"/>
              </a:rPr>
              <a:t>A reminder you can act on.
A routine you can finish.
A person you can 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475488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7E0F2"/>
                </a:solidFill>
                <a:latin typeface="Plus Jakarta Sans"/>
              </a:rPr>
              <a:t>CareSphere brings everyday support together — without making care feel like another task.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26748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26748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100">
                <a:solidFill>
                  <a:srgbClr val="06E288"/>
                </a:solidFill>
                <a:latin typeface="Plus Jakarta Sans"/>
              </a:rPr>
              <a:t>CALM · HONEST · PRIVATE</a:t>
            </a:r>
          </a:p>
        </p:txBody>
      </p:sp>
      <p:pic>
        <p:nvPicPr>
          <p:cNvPr id="10" name="Picture 9" descr="phone-to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19"/>
            <a:ext cx="2303876" cy="4526280"/>
          </a:xfrm>
          <a:prstGeom prst="rect">
            <a:avLst/>
          </a:prstGeom>
        </p:spPr>
      </p:pic>
      <p:pic>
        <p:nvPicPr>
          <p:cNvPr id="11" name="Picture 10" descr="crop-rou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2743200"/>
            <a:ext cx="2606040" cy="1915439"/>
          </a:xfrm>
          <a:prstGeom prst="roundRect">
            <a:avLst>
              <a:gd name="adj" fmla="val 5442"/>
            </a:avLst>
          </a:prstGeom>
        </p:spPr>
      </p:pic>
      <p:sp>
        <p:nvSpPr>
          <p:cNvPr id="12" name="TextBox 11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02</a:t>
            </a:r>
          </a:p>
        </p:txBody>
      </p:sp>
      <p:pic>
        <p:nvPicPr>
          <p:cNvPr id="14" name="Picture 13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15" name="TextBox 14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Growing older — or growing up autistic — too often means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facing care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93338" cy="2743200"/>
          </a:xfrm>
          <a:prstGeom prst="roundRect">
            <a:avLst>
              <a:gd name="adj" fmla="val 733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b="0">
                <a:solidFill>
                  <a:srgbClr val="FFFFFF"/>
                </a:solidFill>
                <a:latin typeface="Plus Jakarta Sans ExtraBold"/>
              </a:rPr>
              <a:t>1 in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86200"/>
            <a:ext cx="275325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6E288"/>
                </a:solidFill>
                <a:latin typeface="Plus Jakarta Sans Medium"/>
              </a:rPr>
              <a:t>older adults are socially isolated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46320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JetBrains Mono"/>
              </a:rPr>
              <a:t>NASEM · 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2743200"/>
          </a:xfrm>
          <a:prstGeom prst="roundRect">
            <a:avLst>
              <a:gd name="adj" fmla="val 733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19218" y="27432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b="0">
                <a:solidFill>
                  <a:srgbClr val="FFFFFF"/>
                </a:solidFill>
                <a:latin typeface="Plus Jakarta Sans ExtraBold"/>
              </a:rPr>
              <a:t>1 in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218" y="3886200"/>
            <a:ext cx="275325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6E288"/>
                </a:solidFill>
                <a:latin typeface="Plus Jakarta Sans Medium"/>
              </a:rPr>
              <a:t>children are autistic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9218" y="4846320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JetBrains Mono"/>
              </a:rPr>
              <a:t>CDC ·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2468880"/>
            <a:ext cx="3393338" cy="2743200"/>
          </a:xfrm>
          <a:prstGeom prst="roundRect">
            <a:avLst>
              <a:gd name="adj" fmla="val 733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86876" y="27432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b="0">
                <a:solidFill>
                  <a:srgbClr val="FFFFFF"/>
                </a:solidFill>
                <a:latin typeface="Plus Jakarta Sans ExtraBold"/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86200"/>
            <a:ext cx="275325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6E288"/>
                </a:solidFill>
                <a:latin typeface="Plus Jakarta Sans Medium"/>
              </a:rPr>
              <a:t>of long-term medicines aren’t taken as prescribed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6876" y="4846320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JetBrains Mono"/>
              </a:rPr>
              <a:t>WHO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59552"/>
            <a:ext cx="54864" cy="384048"/>
          </a:xfrm>
          <a:prstGeom prst="roundRect">
            <a:avLst>
              <a:gd name="adj" fmla="val 50000"/>
            </a:avLst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5559552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Behind them: </a:t>
            </a:r>
            <a:r>
              <a:rPr sz="1700" b="1">
                <a:solidFill>
                  <a:srgbClr val="FFFFFF"/>
                </a:solidFill>
                <a:latin typeface="Plus Jakarta Sans"/>
              </a:rPr>
              <a:t>63 million</a:t>
            </a:r>
            <a:r>
              <a:rPr sz="1700" b="0">
                <a:solidFill>
                  <a:srgbClr val="D7E0F2"/>
                </a:solidFill>
                <a:latin typeface="Plus Jakarta Sans"/>
              </a:rPr>
              <a:t> family caregivers.  </a:t>
            </a:r>
            <a:r>
              <a:rPr sz="1700" b="0">
                <a:solidFill>
                  <a:srgbClr val="93A4C7"/>
                </a:solidFill>
                <a:latin typeface="Plus Jakarta Sans"/>
              </a:rPr>
              <a:t>AARP &amp; NAC,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03</a:t>
            </a:r>
          </a:p>
        </p:txBody>
      </p:sp>
      <p:pic>
        <p:nvPicPr>
          <p:cNvPr id="22" name="Picture 21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3" name="TextBox 2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Daily support.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Play, connect, prepare.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166360" cy="1572768"/>
          </a:xfrm>
          <a:prstGeom prst="roundRect">
            <a:avLst>
              <a:gd name="adj" fmla="val 1279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6E288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1343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Activities &amp; sensory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3464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D7E0F2"/>
                </a:solidFill>
                <a:latin typeface="Plus Jakarta Sans"/>
              </a:rPr>
              <a:t>Four self-paced games, breathing and optional soundscapes.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166360" cy="1572768"/>
          </a:xfrm>
          <a:prstGeom prst="roundRect">
            <a:avLst>
              <a:gd name="adj" fmla="val 1279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6E288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31343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Everyday routines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83464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D7E0F2"/>
                </a:solidFill>
                <a:latin typeface="Plus Jakarta Sans"/>
              </a:rPr>
              <a:t>Mood check-ins, daily tasks and medication self-check-ins.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166360" cy="1572768"/>
          </a:xfrm>
          <a:prstGeom prst="roundRect">
            <a:avLst>
              <a:gd name="adj" fmla="val 1279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6E288"/>
                </a:solidFill>
                <a:latin typeface="Plus Jakarta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42231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Human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6344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D7E0F2"/>
                </a:solidFill>
                <a:latin typeface="Plus Jakarta Sans"/>
              </a:rPr>
              <a:t>Coffee Circles open Jitsi video rooms; care notes stay local.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77639"/>
            <a:ext cx="5166360" cy="1572768"/>
          </a:xfrm>
          <a:prstGeom prst="roundRect">
            <a:avLst>
              <a:gd name="adj" fmla="val 1279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6E288"/>
                </a:solidFill>
                <a:latin typeface="Plus Jakarta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4142231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Visit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66344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D7E0F2"/>
                </a:solidFill>
                <a:latin typeface="Plus Jakarta Sans"/>
              </a:rPr>
              <a:t>Choose notes and readings for a previewable visit brief.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06E288"/>
                </a:solidFill>
                <a:latin typeface="Plus Jakarta Sans"/>
              </a:rPr>
              <a:t>For older adults, autistic people and the families who support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04</a:t>
            </a:r>
          </a:p>
        </p:txBody>
      </p:sp>
      <p:pic>
        <p:nvPicPr>
          <p:cNvPr id="24" name="Picture 23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5" name="TextBox 24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WHO IT’S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Built for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three people</a:t>
            </a:r>
            <a:r>
              <a:rPr sz="3800" b="0">
                <a:solidFill>
                  <a:srgbClr val="FFFFFF"/>
                </a:solidFill>
                <a:latin typeface="Plus Jakarta Sans ExtraBold"/>
              </a:rPr>
              <a:t> at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362858" cy="3840480"/>
          </a:xfrm>
          <a:prstGeom prst="roundRect">
            <a:avLst>
              <a:gd name="adj" fmla="val 5982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53288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Older adults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53512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routines, reminders, real company</a:t>
            </a:r>
          </a:p>
        </p:txBody>
      </p:sp>
      <p:pic>
        <p:nvPicPr>
          <p:cNvPr id="9" name="Picture 8" descr="phone-overview.png"/>
          <p:cNvPicPr>
            <a:picLocks noChangeAspect="1"/>
          </p:cNvPicPr>
          <p:nvPr/>
        </p:nvPicPr>
        <p:blipFill>
          <a:blip r:embed="rId3"/>
          <a:srcRect b="50025"/>
          <a:stretch>
            <a:fillRect/>
          </a:stretch>
        </p:blipFill>
        <p:spPr>
          <a:xfrm>
            <a:off x="1155649" y="3611880"/>
            <a:ext cx="2514600" cy="2468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14418" y="2240280"/>
            <a:ext cx="3362858" cy="3840480"/>
          </a:xfrm>
          <a:prstGeom prst="roundRect">
            <a:avLst>
              <a:gd name="adj" fmla="val 5982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34458" y="253288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Autistic teens &amp; adults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4458" y="2953512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predictable, untimed, sensory-calm</a:t>
            </a:r>
          </a:p>
        </p:txBody>
      </p:sp>
      <p:pic>
        <p:nvPicPr>
          <p:cNvPr id="13" name="Picture 12" descr="phone-activities.png"/>
          <p:cNvPicPr>
            <a:picLocks noChangeAspect="1"/>
          </p:cNvPicPr>
          <p:nvPr/>
        </p:nvPicPr>
        <p:blipFill>
          <a:blip r:embed="rId4"/>
          <a:srcRect b="50025"/>
          <a:stretch>
            <a:fillRect/>
          </a:stretch>
        </p:blipFill>
        <p:spPr>
          <a:xfrm>
            <a:off x="4838547" y="3611880"/>
            <a:ext cx="2514600" cy="2468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97316" y="2240280"/>
            <a:ext cx="3362858" cy="3840480"/>
          </a:xfrm>
          <a:prstGeom prst="roundRect">
            <a:avLst>
              <a:gd name="adj" fmla="val 5982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7356" y="253288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Family caregivers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356" y="2953512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notes and a brief they can trust</a:t>
            </a:r>
          </a:p>
        </p:txBody>
      </p:sp>
      <p:pic>
        <p:nvPicPr>
          <p:cNvPr id="17" name="Picture 16" descr="phone-visitbrief.png"/>
          <p:cNvPicPr>
            <a:picLocks noChangeAspect="1"/>
          </p:cNvPicPr>
          <p:nvPr/>
        </p:nvPicPr>
        <p:blipFill>
          <a:blip r:embed="rId5"/>
          <a:srcRect b="50025"/>
          <a:stretch>
            <a:fillRect/>
          </a:stretch>
        </p:blipFill>
        <p:spPr>
          <a:xfrm>
            <a:off x="8521446" y="3611880"/>
            <a:ext cx="2514600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05</a:t>
            </a:r>
          </a:p>
        </p:txBody>
      </p:sp>
      <p:pic>
        <p:nvPicPr>
          <p:cNvPr id="20" name="Picture 19" descr="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1" name="TextBox 20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One calm app.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Five familiar places.</a:t>
            </a:r>
          </a:p>
        </p:txBody>
      </p:sp>
      <p:pic>
        <p:nvPicPr>
          <p:cNvPr id="6" name="Picture 5" descr="phon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1965960" cy="38623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69212" y="1874519"/>
            <a:ext cx="12905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212" y="1874519"/>
            <a:ext cx="12905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OVERVIEW</a:t>
            </a:r>
          </a:p>
        </p:txBody>
      </p:sp>
      <p:pic>
        <p:nvPicPr>
          <p:cNvPr id="9" name="Picture 8" descr="phone-activi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193" y="2606040"/>
            <a:ext cx="1965960" cy="38623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40836" y="1874519"/>
            <a:ext cx="13286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0836" y="1874519"/>
            <a:ext cx="13286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ACTIVITIES</a:t>
            </a:r>
          </a:p>
        </p:txBody>
      </p:sp>
      <p:pic>
        <p:nvPicPr>
          <p:cNvPr id="12" name="Picture 11" descr="phone-circ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867" y="2331720"/>
            <a:ext cx="1965960" cy="38623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83860" y="1874519"/>
            <a:ext cx="1823973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83860" y="1874519"/>
            <a:ext cx="182397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COFFEE CIRCLES</a:t>
            </a:r>
          </a:p>
        </p:txBody>
      </p:sp>
      <p:pic>
        <p:nvPicPr>
          <p:cNvPr id="15" name="Picture 14" descr="phone-c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541" y="2606040"/>
            <a:ext cx="1965960" cy="38623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533284" y="1874519"/>
            <a:ext cx="15064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33284" y="1874519"/>
            <a:ext cx="15064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CARE CIRCLE</a:t>
            </a:r>
          </a:p>
        </p:txBody>
      </p:sp>
      <p:pic>
        <p:nvPicPr>
          <p:cNvPr id="18" name="Picture 17" descr="phone-vita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4215" y="2331720"/>
            <a:ext cx="1965960" cy="38623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981133" y="1874519"/>
            <a:ext cx="9921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81133" y="1874519"/>
            <a:ext cx="9921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VITALS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06</a:t>
            </a:r>
          </a:p>
        </p:txBody>
      </p:sp>
      <p:pic>
        <p:nvPicPr>
          <p:cNvPr id="23" name="Picture 22" descr="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4" name="TextBox 23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CORE FEATURE ·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Four ways to play.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At your own 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31287" cy="3977639"/>
          </a:xfrm>
          <a:prstGeom prst="roundRect">
            <a:avLst>
              <a:gd name="adj" fmla="val 7947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65527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Feelings Explorer</a:t>
            </a:r>
          </a:p>
        </p:txBody>
      </p:sp>
      <p:pic>
        <p:nvPicPr>
          <p:cNvPr id="8" name="Picture 7" descr="crop-feel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" y="3063240"/>
            <a:ext cx="1741714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937760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6E288"/>
                </a:solidFill>
                <a:latin typeface="Plus Jakarta Sans"/>
              </a:rPr>
              <a:t>Choose how you feel.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68112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D7E0F2"/>
                </a:solidFill>
                <a:latin typeface="Plus Jakarta Sans"/>
              </a:rPr>
              <a:t>No right or wrong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3975" y="2103120"/>
            <a:ext cx="2531287" cy="3977639"/>
          </a:xfrm>
          <a:prstGeom prst="roundRect">
            <a:avLst>
              <a:gd name="adj" fmla="val 7947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46855" y="2331720"/>
            <a:ext cx="2165527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Pattern Recall</a:t>
            </a:r>
          </a:p>
        </p:txBody>
      </p:sp>
      <p:pic>
        <p:nvPicPr>
          <p:cNvPr id="13" name="Picture 12" descr="crop-patte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2" y="3063240"/>
            <a:ext cx="1741714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46855" y="4937760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E288"/>
                </a:solidFill>
                <a:latin typeface="Plus Jakarta Sans"/>
              </a:rPr>
              <a:t>Watch, then repeat.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6855" y="5468112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D7E0F2"/>
                </a:solidFill>
                <a:latin typeface="Plus Jakarta Sans"/>
              </a:rPr>
              <a:t>Replay or stop anytime.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2103120"/>
            <a:ext cx="2531287" cy="3977639"/>
          </a:xfrm>
          <a:prstGeom prst="roundRect">
            <a:avLst>
              <a:gd name="adj" fmla="val 7947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79311" y="2331720"/>
            <a:ext cx="2165527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Picture Pairs</a:t>
            </a:r>
          </a:p>
        </p:txBody>
      </p:sp>
      <p:pic>
        <p:nvPicPr>
          <p:cNvPr id="18" name="Picture 17" descr="crop-pai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974" y="3063240"/>
            <a:ext cx="1736202" cy="1645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79311" y="4937760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06E288"/>
                </a:solidFill>
                <a:latin typeface="Plus Jakarta Sans"/>
              </a:rPr>
              <a:t>Reveal matching cards.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9311" y="5468112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D7E0F2"/>
                </a:solidFill>
                <a:latin typeface="Plus Jakarta Sans"/>
              </a:rPr>
              <a:t>No countdown or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8887" y="2103120"/>
            <a:ext cx="2531287" cy="3977639"/>
          </a:xfrm>
          <a:prstGeom prst="roundRect">
            <a:avLst>
              <a:gd name="adj" fmla="val 7947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11767" y="2331720"/>
            <a:ext cx="2165527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Picture Story</a:t>
            </a:r>
          </a:p>
        </p:txBody>
      </p:sp>
      <p:pic>
        <p:nvPicPr>
          <p:cNvPr id="23" name="Picture 22" descr="crop-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430" y="3063240"/>
            <a:ext cx="1736202" cy="1645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11767" y="4937760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06E288"/>
                </a:solidFill>
                <a:latin typeface="Plus Jakarta Sans"/>
              </a:rPr>
              <a:t>Explore a picture sequence.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1767" y="5468112"/>
            <a:ext cx="216552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Advance when ready.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07</a:t>
            </a:r>
          </a:p>
        </p:txBody>
      </p:sp>
      <p:pic>
        <p:nvPicPr>
          <p:cNvPr id="27" name="Picture 26" descr="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8" name="TextBox 27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CORE FEATURE · SENSORY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A quieter experience.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On your terms.</a:t>
            </a:r>
          </a:p>
        </p:txBody>
      </p:sp>
      <p:pic>
        <p:nvPicPr>
          <p:cNvPr id="6" name="Picture 5" descr="crop-breat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3383280" cy="2351379"/>
          </a:xfrm>
          <a:prstGeom prst="rect">
            <a:avLst/>
          </a:prstGeom>
        </p:spPr>
      </p:pic>
      <p:pic>
        <p:nvPicPr>
          <p:cNvPr id="7" name="Picture 6" descr="crop-soundscap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148840"/>
            <a:ext cx="3383280" cy="2351379"/>
          </a:xfrm>
          <a:prstGeom prst="roundRect">
            <a:avLst>
              <a:gd name="adj" fmla="val 5755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1945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Breathing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517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4 seconds in · 4 hold · 6 out. Start and pause yourself.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474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Soundscapes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3192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Rain, ocean, forest and hearth. Sound starts only on request.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5487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Accessibility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212079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D7E0F2"/>
                </a:solidFill>
                <a:latin typeface="Plus Jakarta Sans"/>
              </a:rPr>
              <a:t>Text sizes, palette choices, high contrast and reduced motion.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08</a:t>
            </a:r>
          </a:p>
        </p:txBody>
      </p:sp>
      <p:pic>
        <p:nvPicPr>
          <p:cNvPr id="15" name="Picture 14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16" name="TextBox 15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RESEARCH →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0" b="0">
                <a:solidFill>
                  <a:srgbClr val="FFFFFF"/>
                </a:solidFill>
                <a:latin typeface="Plus Jakarta Sans ExtraBold"/>
              </a:rPr>
              <a:t>Research-informed. </a:t>
            </a:r>
            <a:r>
              <a:rPr sz="3500" b="0">
                <a:solidFill>
                  <a:srgbClr val="06E288"/>
                </a:solidFill>
                <a:latin typeface="Plus Jakarta Sans ExtraBold"/>
              </a:rPr>
              <a:t>Not clinically validated.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1042415"/>
          </a:xfrm>
          <a:prstGeom prst="roundRect">
            <a:avLst>
              <a:gd name="adj" fmla="val 1929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6E288"/>
                </a:solidFill>
                <a:latin typeface="Plus Jakarta Sans"/>
              </a:rPr>
              <a:t>AASPIRE · 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2677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Predictability and sensory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7157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Consistent navigation, palette options, reduced motion.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1042415"/>
          </a:xfrm>
          <a:prstGeom prst="roundRect">
            <a:avLst>
              <a:gd name="adj" fmla="val 1929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3547872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6E288"/>
                </a:solidFill>
                <a:latin typeface="Plus Jakarta Sans"/>
              </a:rPr>
              <a:t>Game research · 2023 /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5021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Promising findings; varied studies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9502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Optional practice and enjoyment, not treatment.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0728655" cy="1042415"/>
          </a:xfrm>
          <a:prstGeom prst="roundRect">
            <a:avLst>
              <a:gd name="adj" fmla="val 1929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4782312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6E288"/>
                </a:solidFill>
                <a:latin typeface="Plus Jakarta Sans"/>
              </a:rPr>
              <a:t>Evidence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7365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FFFFF"/>
                </a:solidFill>
                <a:latin typeface="Plus Jakarta Sans"/>
              </a:rPr>
              <a:t>No CareSphere efficacy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1846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Next: co-design and usability evaluation with intended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6188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Sources: Raymaker et al., 2019 · Alahmari et al., 2023 · Liu et al., 2025. Full links in notes.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09</a:t>
            </a:r>
          </a:p>
        </p:txBody>
      </p:sp>
      <p:pic>
        <p:nvPicPr>
          <p:cNvPr id="20" name="Picture 19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1" name="TextBox 20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EVERYDAY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From a reminder to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a real connection.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93338" cy="4069080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01 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"/>
              </a:rPr>
              <a:t>Medication self-check-ins</a:t>
            </a:r>
          </a:p>
        </p:txBody>
      </p:sp>
      <p:pic>
        <p:nvPicPr>
          <p:cNvPr id="9" name="Picture 8" descr="crop-m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29000"/>
            <a:ext cx="2936138" cy="2158061"/>
          </a:xfrm>
          <a:prstGeom prst="roundRect">
            <a:avLst>
              <a:gd name="adj" fmla="val 5442"/>
            </a:avLst>
          </a:prstGeom>
        </p:spPr>
      </p:pic>
      <p:sp>
        <p:nvSpPr>
          <p:cNvPr id="10" name="Rounded Rectangle 9"/>
          <p:cNvSpPr/>
          <p:nvPr/>
        </p:nvSpPr>
        <p:spPr>
          <a:xfrm>
            <a:off x="4399178" y="2011680"/>
            <a:ext cx="3393338" cy="4069080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267712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02  Find a rhythm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743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"/>
              </a:rPr>
              <a:t>Simple daily routines</a:t>
            </a:r>
          </a:p>
        </p:txBody>
      </p:sp>
      <p:pic>
        <p:nvPicPr>
          <p:cNvPr id="13" name="Picture 12" descr="crop-rou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778" y="3429000"/>
            <a:ext cx="2936138" cy="2158061"/>
          </a:xfrm>
          <a:prstGeom prst="roundRect">
            <a:avLst>
              <a:gd name="adj" fmla="val 5442"/>
            </a:avLst>
          </a:prstGeom>
        </p:spPr>
      </p:pic>
      <p:sp>
        <p:nvSpPr>
          <p:cNvPr id="14" name="Rounded Rectangle 13"/>
          <p:cNvSpPr/>
          <p:nvPr/>
        </p:nvSpPr>
        <p:spPr>
          <a:xfrm>
            <a:off x="8066836" y="2011680"/>
            <a:ext cx="3393338" cy="4069080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5436" y="2267712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03  Reach someone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743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"/>
              </a:rPr>
              <a:t>Coffee Circles via Jitsi</a:t>
            </a:r>
          </a:p>
        </p:txBody>
      </p:sp>
      <p:pic>
        <p:nvPicPr>
          <p:cNvPr id="17" name="Picture 16" descr="phone-circ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850" y="3291840"/>
            <a:ext cx="1349745" cy="2651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10</a:t>
            </a:r>
          </a:p>
        </p:txBody>
      </p:sp>
      <p:pic>
        <p:nvPicPr>
          <p:cNvPr id="20" name="Picture 19" descr="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1" name="TextBox 20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BEYOND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Remember.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Reach someone.</a:t>
            </a:r>
            <a:r>
              <a:rPr sz="3800" b="0">
                <a:solidFill>
                  <a:srgbClr val="FFFFFF"/>
                </a:solidFill>
                <a:latin typeface="Plus Jakarta Sans ExtraBold"/>
              </a:rPr>
              <a:t> Prepare.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77639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16352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Confirm a schedule; mark a reminder taken yourself.</a:t>
            </a:r>
          </a:p>
        </p:txBody>
      </p:sp>
      <p:pic>
        <p:nvPicPr>
          <p:cNvPr id="9" name="Picture 8" descr="crop-m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01" y="3840480"/>
            <a:ext cx="2674775" cy="1965960"/>
          </a:xfrm>
          <a:prstGeom prst="roundRect">
            <a:avLst>
              <a:gd name="adj" fmla="val 5442"/>
            </a:avLst>
          </a:prstGeom>
        </p:spPr>
      </p:pic>
      <p:sp>
        <p:nvSpPr>
          <p:cNvPr id="10" name="Rounded Rectangle 9"/>
          <p:cNvSpPr/>
          <p:nvPr/>
        </p:nvSpPr>
        <p:spPr>
          <a:xfrm>
            <a:off x="4399178" y="2103120"/>
            <a:ext cx="3393338" cy="3977639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304288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Reach someone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16352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Join a Coffee Circle in a real Jitsi video room.</a:t>
            </a:r>
          </a:p>
        </p:txBody>
      </p:sp>
      <p:pic>
        <p:nvPicPr>
          <p:cNvPr id="13" name="Picture 12" descr="crop-circle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778" y="3891292"/>
            <a:ext cx="2936138" cy="186433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66836" y="2103120"/>
            <a:ext cx="3393338" cy="3977639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5436" y="2304288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FFFFFF"/>
                </a:solidFill>
                <a:latin typeface="Plus Jakarta Sans"/>
              </a:rP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816352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Select what goes into a visit brief and preview the exact text.</a:t>
            </a:r>
          </a:p>
        </p:txBody>
      </p:sp>
      <p:pic>
        <p:nvPicPr>
          <p:cNvPr id="17" name="Picture 16" descr="crop-visit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700" y="3840480"/>
            <a:ext cx="1843611" cy="1965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11</a:t>
            </a:r>
          </a:p>
        </p:txBody>
      </p:sp>
      <p:pic>
        <p:nvPicPr>
          <p:cNvPr id="19" name="Picture 18" descr="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Let’s see it.</a:t>
            </a:r>
          </a:p>
        </p:txBody>
      </p:sp>
      <p:pic>
        <p:nvPicPr>
          <p:cNvPr id="6" name="Picture 5" descr="web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83080"/>
            <a:ext cx="6766560" cy="4819916"/>
          </a:xfrm>
          <a:prstGeom prst="rect">
            <a:avLst/>
          </a:prstGeom>
        </p:spPr>
      </p:pic>
      <p:pic>
        <p:nvPicPr>
          <p:cNvPr id="7" name="Picture 6" descr="phone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057400"/>
            <a:ext cx="230387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32520" y="1874519"/>
            <a:ext cx="2727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SIX SHOTS · ONE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28600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286000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Mood check-in &amp; routine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79806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98064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Reminder → Taken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310128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D7E0F2"/>
                </a:solidFill>
                <a:latin typeface="Plus Jakarta Sans"/>
              </a:rPr>
              <a:t>Pair a sensor · export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822191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822191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Pattern Recall · 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33425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334256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Join a Coffee Circle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8463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846320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Build the visit 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5532120"/>
            <a:ext cx="26113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32520" y="5532120"/>
            <a:ext cx="26113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spc="100">
                <a:solidFill>
                  <a:srgbClr val="06E288"/>
                </a:solidFill>
                <a:latin typeface="Plus Jakarta Sans"/>
              </a:rPr>
              <a:t>REAL WEB APP · SAMPLE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12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6" name="TextBox 25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push dir="l"/>
      </p:transition>
    </mc:Choice>
    <mc:Fallback>
      <p:transition spd="med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0" b="0">
                <a:solidFill>
                  <a:srgbClr val="FFFFFF"/>
                </a:solidFill>
                <a:latin typeface="Plus Jakarta Sans ExtraBold"/>
              </a:rPr>
              <a:t>Show the experience. </a:t>
            </a:r>
            <a:r>
              <a:rPr sz="3500" b="0">
                <a:solidFill>
                  <a:srgbClr val="06E288"/>
                </a:solidFill>
                <a:latin typeface="Plus Jakarta Sans ExtraBold"/>
              </a:rPr>
              <a:t>Not just the screens.</a:t>
            </a:r>
          </a:p>
        </p:txBody>
      </p:sp>
      <p:pic>
        <p:nvPicPr>
          <p:cNvPr id="6" name="Picture 5" descr="web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6858000" cy="4885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2148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6E288"/>
                </a:solidFill>
                <a:latin typeface="Plus Jakarta Sans"/>
              </a:rPr>
              <a:t>01 ·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5603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D7E0F2"/>
                </a:solidFill>
                <a:latin typeface="Plus Jakarta Sans"/>
              </a:rPr>
              <a:t>Repeat a pattern; reveal a picture pair.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6E288"/>
                </a:solidFill>
                <a:latin typeface="Plus Jakarta Sans"/>
              </a:rPr>
              <a:t>02 · 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5204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D7E0F2"/>
                </a:solidFill>
                <a:latin typeface="Plus Jakarta Sans"/>
              </a:rPr>
              <a:t>Start and stop rain; pause breathing.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069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6E288"/>
                </a:solidFill>
                <a:latin typeface="Plus Jakarta Sans"/>
              </a:rPr>
              <a:t>03 · Check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4805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D7E0F2"/>
                </a:solidFill>
                <a:latin typeface="Plus Jakarta Sans"/>
              </a:rPr>
              <a:t>Record a mood and complete a routine.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6E288"/>
                </a:solidFill>
                <a:latin typeface="Plus Jakarta Sans"/>
              </a:rPr>
              <a:t>04 · 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406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D7E0F2"/>
                </a:solidFill>
                <a:latin typeface="Plus Jakarta Sans"/>
              </a:rPr>
              <a:t>Select fields; preview the visit brief.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13</a:t>
            </a:r>
          </a:p>
        </p:txBody>
      </p:sp>
      <p:pic>
        <p:nvPicPr>
          <p:cNvPr id="16" name="Picture 15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17" name="TextBox 16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push dir="l"/>
      </p:transition>
    </mc:Choice>
    <mc:Fallback>
      <p:transition spd="med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WHAT MAKES IT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Four rules,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written into the code.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3317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6060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328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Never fabricate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5786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every reading labeled where it is born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596896"/>
            <a:ext cx="2292095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0" y="2596896"/>
            <a:ext cx="229209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'LIVE_BLE' : 'SIMULATED'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2461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5204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472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Nothing sent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34930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93A4C7"/>
                </a:solidFill>
                <a:latin typeface="Plus Jakarta Sans"/>
              </a:rPr>
              <a:t>a person always taps Send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511296"/>
            <a:ext cx="2704845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21040" y="3511296"/>
            <a:ext cx="270484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navigator.share() · ShareLink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1605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4434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616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Calm by default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44074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no timers, scores or auto-advance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425696"/>
            <a:ext cx="1879345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0" y="4425696"/>
            <a:ext cx="187934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Untimed · No scores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0749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49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760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Private by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53218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93A4C7"/>
                </a:solidFill>
                <a:latin typeface="Plus Jakarta Sans"/>
              </a:rPr>
              <a:t>no account, no server, encrypted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5340096"/>
            <a:ext cx="2126996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5340096"/>
            <a:ext cx="212699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'AES-GCM', length: 256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59893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14</a:t>
            </a:r>
          </a:p>
        </p:txBody>
      </p:sp>
      <p:pic>
        <p:nvPicPr>
          <p:cNvPr id="33" name="Picture 32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34" name="TextBox 33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Local care data.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You choose what to share.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6675120" cy="3794760"/>
          </a:xfrm>
          <a:prstGeom prst="roundRect">
            <a:avLst>
              <a:gd name="adj" fmla="val 10843"/>
            </a:avLst>
          </a:prstGeom>
          <a:solidFill>
            <a:srgbClr val="0A1324">
              <a:alpha val="35000"/>
            </a:srgbClr>
          </a:solidFill>
          <a:ln w="19050">
            <a:solidFill>
              <a:srgbClr val="06E288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51560" y="2514600"/>
            <a:ext cx="15382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5382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spc="100">
                <a:solidFill>
                  <a:srgbClr val="06E288"/>
                </a:solidFill>
                <a:latin typeface="Plus Jakarta Sans"/>
              </a:rPr>
              <a:t>ON THE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5272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Vitals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BLE 0x180D · HealthKit, read-only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420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2536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Health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536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Qwen2.5-1.5B · llama.cpp, offline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684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9800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Plus Jakarta Sans"/>
              </a:rPr>
              <a:t>Encrypted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AES-256-GCM · Face ID 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272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Web Audio · untimed, unscored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420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2536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Visit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536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fields you pick · exact preview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684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9800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Coffee Circles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800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links to real Jitsi rooms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286000"/>
            <a:ext cx="35506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EXTERNAL CONNECTIONS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2990088"/>
            <a:ext cx="393192" cy="0"/>
          </a:xfrm>
          <a:prstGeom prst="line">
            <a:avLst/>
          </a:prstGeom>
          <a:ln w="15875">
            <a:solidFill>
              <a:srgbClr val="06E28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09560" y="2697480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Calls &amp; 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4495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93A4C7"/>
                </a:solidFill>
                <a:latin typeface="Plus Jakarta Sans"/>
              </a:rPr>
              <a:t>Jitsi calls and online reference requests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06640" y="3858768"/>
            <a:ext cx="393192" cy="0"/>
          </a:xfrm>
          <a:prstGeom prst="line">
            <a:avLst/>
          </a:prstGeom>
          <a:ln w="15875">
            <a:solidFill>
              <a:srgbClr val="06E28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09560" y="3566160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A visit 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91363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93A4C7"/>
                </a:solidFill>
                <a:latin typeface="Plus Jakarta Sans"/>
              </a:rPr>
              <a:t>only when you choose to share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526280"/>
            <a:ext cx="35506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CARESPHERE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accounts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care backends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trackers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15</a:t>
            </a:r>
          </a:p>
        </p:txBody>
      </p:sp>
      <p:pic>
        <p:nvPicPr>
          <p:cNvPr id="43" name="Picture 42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44" name="TextBox 43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HOW IT’S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Two clients.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Local-first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204307" cy="2148840"/>
          </a:xfrm>
          <a:prstGeom prst="roundRect">
            <a:avLst>
              <a:gd name="adj" fmla="val 9361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Web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9013" y="2615184"/>
            <a:ext cx="13667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49013" y="2615184"/>
            <a:ext cx="13667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00">
                <a:solidFill>
                  <a:srgbClr val="06E288"/>
                </a:solidFill>
                <a:latin typeface="Plus Jakarta Sans"/>
              </a:rPr>
              <a:t>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154680"/>
            <a:ext cx="933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933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React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6196" y="3154680"/>
            <a:ext cx="7363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076196" y="3154680"/>
            <a:ext cx="7363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Vite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3982" y="3154680"/>
            <a:ext cx="10665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03982" y="3154680"/>
            <a:ext cx="10665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Tailwind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1968" y="3154680"/>
            <a:ext cx="14602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061968" y="3154680"/>
            <a:ext cx="14602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Bluetooth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557016"/>
            <a:ext cx="11490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3557016"/>
            <a:ext cx="11490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Audio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92096" y="3557016"/>
            <a:ext cx="12443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292096" y="3557016"/>
            <a:ext cx="12443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Crypto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27882" y="3557016"/>
            <a:ext cx="14792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27882" y="3557016"/>
            <a:ext cx="14792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installable PWA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2286000"/>
            <a:ext cx="5204307" cy="2148840"/>
          </a:xfrm>
          <a:prstGeom prst="roundRect">
            <a:avLst>
              <a:gd name="adj" fmla="val 9361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75907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iPhone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36911" y="2615184"/>
            <a:ext cx="9032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236911" y="2615184"/>
            <a:ext cx="9032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00">
                <a:solidFill>
                  <a:srgbClr val="06E288"/>
                </a:solidFill>
                <a:latin typeface="Plus Jakarta Sans"/>
              </a:rPr>
              <a:t>SWIFT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5907" y="3154680"/>
            <a:ext cx="8696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75907" y="3154680"/>
            <a:ext cx="8696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SwiftUI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7043" y="3154680"/>
            <a:ext cx="10157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37043" y="3154680"/>
            <a:ext cx="10157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HealthKit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4229" y="31546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44229" y="3154680"/>
            <a:ext cx="1453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CoreBluetooth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75907" y="3557016"/>
            <a:ext cx="1060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75907" y="3557016"/>
            <a:ext cx="1060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CryptoKit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7543" y="3557016"/>
            <a:ext cx="8696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27543" y="3557016"/>
            <a:ext cx="8696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Face 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8679" y="3557016"/>
            <a:ext cx="10728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88679" y="3557016"/>
            <a:ext cx="1072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llama.cpp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75907" y="3959352"/>
            <a:ext cx="14221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75907" y="3959352"/>
            <a:ext cx="14221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Sherpa-ONNX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89493" y="3959352"/>
            <a:ext cx="933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89493" y="3959352"/>
            <a:ext cx="933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Jitsi SDK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05840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11,400+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lines of code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82263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756583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17 / 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56583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tests passing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3007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07327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07327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CI pipelines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83751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258071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8071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public releases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16</a:t>
            </a:r>
          </a:p>
        </p:txBody>
      </p:sp>
      <p:pic>
        <p:nvPicPr>
          <p:cNvPr id="58" name="Picture 57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59" name="TextBox 58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HARDEST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Making Bluetooth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honest.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D7E0F2"/>
                </a:solidFill>
                <a:latin typeface="Plus Jakarta Sans"/>
              </a:rPr>
              <a:t>Heart-rate notifications arrive late and out of order — a stale sensor could repaint a new card with a wrong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564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1071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Parse the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9476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service 0x180D · flags byte → 8/16-bit BPM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251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7939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Label at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6634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each sample is born LIVE or SIMULATED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937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4807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Drop stale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5321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a generation counter ignores old pairings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5059375" cy="3200400"/>
          </a:xfrm>
          <a:prstGeom prst="roundRect">
            <a:avLst>
              <a:gd name="adj" fmla="val 6285"/>
            </a:avLst>
          </a:prstGeom>
          <a:solidFill>
            <a:srgbClr val="0A1324">
              <a:alpha val="7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60" y="2267712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06E288"/>
                </a:solidFill>
                <a:latin typeface="JetBrains Mono"/>
              </a:rPr>
              <a:t>src/lib/bluetooth.js  </a:t>
            </a:r>
            <a:r>
              <a:rPr sz="1100" b="0">
                <a:solidFill>
                  <a:srgbClr val="93A4C7"/>
                </a:solidFill>
                <a:latin typeface="JetBrains Mono"/>
              </a:rPr>
              <a:t>·  src/App.jsx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33472"/>
            <a:ext cx="4327855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flags = dv.getUint8(0)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bpm = flags &amp; 0x1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? dv.getUint16(1, true)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: dv.getUint8(1)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if (bpm &gt; 20 &amp;&amp; bpm &lt; 250) onReading(bpm)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source =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hrModeRef.current === 'live'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  ? 'LIVE_BLE' : 'SIMULATED'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if (generation !==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  hrConnectionGenerationRef.current)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return</a:t>
            </a:r>
          </a:p>
        </p:txBody>
      </p:sp>
      <p:pic>
        <p:nvPicPr>
          <p:cNvPr id="19" name="Picture 18" descr="crop-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975" y="4846320"/>
            <a:ext cx="2743200" cy="1664255"/>
          </a:xfrm>
          <a:prstGeom prst="roundRect">
            <a:avLst>
              <a:gd name="adj" fmla="val 6593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17</a:t>
            </a:r>
          </a:p>
        </p:txBody>
      </p:sp>
      <p:pic>
        <p:nvPicPr>
          <p:cNvPr id="22" name="Picture 21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3" name="TextBox 2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WHERE IT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Built. Tested.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Ready for co-design.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246120"/>
            <a:ext cx="6718810" cy="0"/>
          </a:xfrm>
          <a:prstGeom prst="line">
            <a:avLst/>
          </a:prstGeom>
          <a:ln w="25400">
            <a:solidFill>
              <a:srgbClr val="06E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24650" y="3246120"/>
            <a:ext cx="3461205" cy="0"/>
          </a:xfrm>
          <a:prstGeom prst="line">
            <a:avLst/>
          </a:prstGeom>
          <a:ln w="15875">
            <a:solidFill>
              <a:srgbClr val="FFFFFF">
                <a:alpha val="3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25641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5443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65245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5046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04848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4650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6803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6406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6010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Oct 14</a:t>
            </a:r>
          </a:p>
        </p:txBody>
      </p:sp>
      <p:sp>
        <p:nvSpPr>
          <p:cNvPr id="19" name="Oval 18"/>
          <p:cNvSpPr/>
          <p:nvPr/>
        </p:nvSpPr>
        <p:spPr>
          <a:xfrm>
            <a:off x="90525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First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repo created</a:t>
            </a:r>
          </a:p>
        </p:txBody>
      </p:sp>
      <p:sp>
        <p:nvSpPr>
          <p:cNvPr id="22" name="Oval 21"/>
          <p:cNvSpPr/>
          <p:nvPr/>
        </p:nvSpPr>
        <p:spPr>
          <a:xfrm>
            <a:off x="186508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270" y="3813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v1.0 + v2.0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270" y="414223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first public releases</a:t>
            </a:r>
          </a:p>
        </p:txBody>
      </p:sp>
      <p:sp>
        <p:nvSpPr>
          <p:cNvPr id="25" name="Oval 24"/>
          <p:cNvSpPr/>
          <p:nvPr/>
        </p:nvSpPr>
        <p:spPr>
          <a:xfrm>
            <a:off x="5064519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250703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v2.1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0703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release · Sep 28</a:t>
            </a:r>
          </a:p>
        </p:txBody>
      </p:sp>
      <p:sp>
        <p:nvSpPr>
          <p:cNvPr id="28" name="Oval 27"/>
          <p:cNvSpPr/>
          <p:nvPr/>
        </p:nvSpPr>
        <p:spPr>
          <a:xfrm>
            <a:off x="762406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10250" y="3813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v2.2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0250" y="414223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iOS + web, building in CI</a:t>
            </a:r>
          </a:p>
        </p:txBody>
      </p:sp>
      <p:sp>
        <p:nvSpPr>
          <p:cNvPr id="31" name="Oval 30"/>
          <p:cNvSpPr/>
          <p:nvPr/>
        </p:nvSpPr>
        <p:spPr>
          <a:xfrm>
            <a:off x="11094415" y="3154679"/>
            <a:ext cx="182880" cy="182880"/>
          </a:xfrm>
          <a:prstGeom prst="ellipse">
            <a:avLst/>
          </a:prstGeom>
          <a:solidFill>
            <a:srgbClr val="0A1324"/>
          </a:solidFill>
          <a:ln w="15875">
            <a:solidFill>
              <a:srgbClr val="06E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905695" y="2194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6E288"/>
                </a:solidFill>
                <a:latin typeface="Plus Jakarta Sans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1375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co-design → TestFlight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12700">
            <a:solidFill>
              <a:srgbClr val="06E2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05840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06E288"/>
                </a:solidFill>
                <a:latin typeface="Plus Jakarta Sans"/>
              </a:rPr>
              <a:t>NEXT · V2.0 OF THIS ENTRY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Co-design sessions with autistic people, people living with dementia and caregivers; TestFlight beta.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99178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73498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THEN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3498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Apple Health and Bluetooth history in the visit brief, with true source labels · non-diagnostic trends only from real readings.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6836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341156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DELIBERATELY NOT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1156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Cloud sync, a clinician portal or a drug-interaction checker — not without clinical review.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18</a:t>
            </a:r>
          </a:p>
        </p:txBody>
      </p:sp>
      <p:pic>
        <p:nvPicPr>
          <p:cNvPr id="45" name="Picture 44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46" name="TextBox 45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WHAT THIS PROJECT TAUGHT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Trust is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a design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728655" cy="1005840"/>
          </a:xfrm>
          <a:prstGeom prst="roundRect">
            <a:avLst>
              <a:gd name="adj" fmla="val 2000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359152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FF"/>
                </a:solidFill>
                <a:latin typeface="Plus Jakarta Sans"/>
              </a:rPr>
              <a:t>Choice over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3774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Games are untimed and unscored; sound and progression are user-led.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01568"/>
            <a:ext cx="10728655" cy="1005840"/>
          </a:xfrm>
          <a:prstGeom prst="roundRect">
            <a:avLst>
              <a:gd name="adj" fmla="val 2000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Truth over a polished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58444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Sensor values stay labeled LIVE_BLE or SIMULATED, including exports.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08576"/>
            <a:ext cx="10728655" cy="1005840"/>
          </a:xfrm>
          <a:prstGeom prst="roundRect">
            <a:avLst>
              <a:gd name="adj" fmla="val 20000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4773168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FF"/>
                </a:solidFill>
                <a:latin typeface="Plus Jakarta Sans"/>
              </a:rPr>
              <a:t>Evidence over promises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791456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Research informs design. Usability and health outcomes still need evaluation.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19</a:t>
            </a:r>
          </a:p>
        </p:txBody>
      </p:sp>
      <p:pic>
        <p:nvPicPr>
          <p:cNvPr id="16" name="Picture 15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17" name="TextBox 16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47" y="-3291840"/>
            <a:ext cx="8686800" cy="8686800"/>
          </a:xfrm>
          <a:prstGeom prst="rect">
            <a:avLst/>
          </a:prstGeom>
        </p:spPr>
      </p:pic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67" y="1143000"/>
            <a:ext cx="822960" cy="822960"/>
          </a:xfrm>
          <a:prstGeom prst="roundRect">
            <a:avLst>
              <a:gd name="adj" fmla="val 24444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731520" y="2240280"/>
            <a:ext cx="1072865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0" b="0">
                <a:solidFill>
                  <a:srgbClr val="FFFFFF"/>
                </a:solidFill>
                <a:latin typeface="Plus Jakarta Sans ExtraBold"/>
              </a:rPr>
              <a:t>Care that stays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291840"/>
            <a:ext cx="798545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7E0F2"/>
                </a:solidFill>
                <a:latin typeface="Plus Jakarta Sans"/>
              </a:rPr>
              <a:t>Connected, calm and local-first — with real readings or clearly labeled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4131" y="4206240"/>
            <a:ext cx="23065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034131" y="4206240"/>
            <a:ext cx="23065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EXPLORE THE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23585" y="4206240"/>
            <a:ext cx="17350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523585" y="4206240"/>
            <a:ext cx="17350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READ THE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1539" y="4206240"/>
            <a:ext cx="17160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41539" y="4206240"/>
            <a:ext cx="17160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BUILD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github.com/engineer2025-sudo/Care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Arnav Kochar  ·  CA-10  ·  kochar4646@gmail.com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5F7299"/>
                </a:solidFill>
                <a:latin typeface="Plus Jakarta Sans"/>
              </a:rPr>
              <a:t>Explore the source, build instructions and project documentation.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34295" y="685800"/>
            <a:ext cx="1325880" cy="1645920"/>
          </a:xfrm>
          <a:prstGeom prst="roundRect">
            <a:avLst>
              <a:gd name="adj" fmla="val 15172"/>
            </a:avLst>
          </a:prstGeom>
          <a:solidFill>
            <a:srgbClr val="0A1324">
              <a:alpha val="5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9743" y="841248"/>
            <a:ext cx="1014984" cy="1014984"/>
          </a:xfrm>
          <a:prstGeom prst="roundRect">
            <a:avLst>
              <a:gd name="adj" fmla="val 7207"/>
            </a:avLst>
          </a:prstGeom>
        </p:spPr>
      </p:pic>
      <p:sp>
        <p:nvSpPr>
          <p:cNvPr id="18" name="TextBox 17"/>
          <p:cNvSpPr txBox="1"/>
          <p:nvPr/>
        </p:nvSpPr>
        <p:spPr>
          <a:xfrm>
            <a:off x="10134295" y="1929384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spc="80">
                <a:solidFill>
                  <a:srgbClr val="5F7299"/>
                </a:solidFill>
                <a:latin typeface="Plus Jakarta Sans"/>
              </a:rPr>
              <a:t>scan for source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 thruBlk="1"/>
      </p:transition>
    </mc:Choice>
    <mc:Fallback>
      <p:transition spd="slow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