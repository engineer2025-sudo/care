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embeddedFontLst>
    <p:embeddedFont>
      <p:font typeface="Plus Jakarta Sans" panose="00000000000000000000" pitchFamily="34" charset="0"/>
      <p:regular r:id="rId29"/>
      <p:bold r:id="rId30"/>
    </p:embeddedFont>
    <p:embeddedFont>
      <p:font typeface="Plus Jakarta Sans Medium" panose="00000000000000000000" pitchFamily="34" charset="0"/>
      <p:regular r:id="rId31"/>
    </p:embeddedFont>
    <p:embeddedFont>
      <p:font typeface="Plus Jakarta Sans ExtraBold" panose="00000000000000000000" pitchFamily="34" charset="0"/>
      <p:regular r:id="rId32"/>
    </p:embeddedFont>
    <p:embeddedFont>
      <p:font typeface="JetBrains Mono" panose="02000009000000000000" pitchFamily="49" charset="0"/>
      <p:regular r:id="rId3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font" Target="fonts/font1.fntdata"/><Relationship Id="rId30" Type="http://schemas.openxmlformats.org/officeDocument/2006/relationships/font" Target="fonts/font2.fntdata"/><Relationship Id="rId31" Type="http://schemas.openxmlformats.org/officeDocument/2006/relationships/font" Target="fonts/font3.fntdata"/><Relationship Id="rId32" Type="http://schemas.openxmlformats.org/officeDocument/2006/relationships/font" Target="fonts/font4.fntdata"/><Relationship Id="rId33"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[0:00–0:14] Hi, I'm Arnav Kochar, a [GRADE] at [SCHOOL] in [CITY], California. This is CareSphere AI — a private care companion for older adults, autistic people and their families, on iPhone and on the web.</a:t>
            </a:r>
          </a:p>
          <a:p/>
          <a:p>
            <a:r>
              <a:t>VISUAL PROVENANCE: Real CareSphere web-app screenshots with seeded demonstration data, framed with script-drawn shapes. Not native iOS screenshots. No AI-generated imagery. No claimed user outcomes or clinical validation.</a:t>
            </a:r>
          </a:p>
          <a:p/>
          <a:p>
            <a:r>
              <a:t>COMBINED DECK: Title. Source: updated deck, slide 1.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CareSphere was designed around everyday moments: remembering medication, following a routine and reaching someone. Add your own truthful personal motivation when narrating; no personal story has been assumed.</a:t>
            </a:r>
          </a:p>
          <a:p/>
          <a:p>
            <a:r>
              <a:t>COMBINED DECK: Design challenge. Source: updated deck, slide 2.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[0:26–0:39] One in four older adults is socially isolated — a twenty-nine percent higher risk of early death. One in thirty-one children is autistic. Half of long-term medications aren't taken as prescribed. And sixty-three million family caregivers hold it all together.</a:t>
            </a:r>
          </a:p>
          <a:p/>
          <a:p>
            <a:r>
              <a:t>VISUAL PROVENANCE: Real CareSphere web-app screenshots with seeded demonstration data, framed with script-drawn shapes. Not native iOS screenshots. No AI-generated imagery. No claimed user outcomes or clinical validation.</a:t>
            </a:r>
          </a:p>
          <a:p/>
          <a:p>
            <a:r>
              <a:t>COMBINED DECK: Problem. Source: updated deck, slide 3.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parts: activities and sensory tools; mood, routines and medication reminders; Coffee Circles for video conversations; and a visit brief built from information you choose. Here is what using them looks like.</a:t>
            </a:r>
          </a:p>
          <a:p/>
          <a:p>
            <a:r>
              <a:t>Real web app screenshots; seeded sample data. No AI-generated imagery. Native iOS features are identified separately. Research does not establish effectiveness of these activities.</a:t>
            </a:r>
          </a:p>
          <a:p/>
          <a:p>
            <a:r>
              <a:t>COMBINED DECK: Feature overview. Source: cac deck, slide 2.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[1:53–2:01] It's built for three people at once: older adults, autistic teens and adults, and the caregivers who support them.</a:t>
            </a:r>
          </a:p>
          <a:p/>
          <a:p>
            <a:r>
              <a:t>VISUAL PROVENANCE: Real CareSphere web-app screenshots with seeded demonstration data, framed with script-drawn shapes. Not native iOS screenshots. No AI-generated imagery. No claimed user outcomes or clinical validation.</a:t>
            </a:r>
          </a:p>
          <a:p/>
          <a:p>
            <a:r>
              <a:t>COMBINED DECK: Audience. Source: updated deck, slide 8.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[0:47–0:57] CareSphere is one calm app with five tabs — Overview, Activities, Coffee Circles, Care Circle and Vitals — with no server behind any of it.</a:t>
            </a:r>
          </a:p>
          <a:p/>
          <a:p>
            <a:r>
              <a:t>VISUAL PROVENANCE: Real CareSphere web-app screenshots with seeded demonstration data, framed with script-drawn shapes. Not native iOS screenshots. No AI-generated imagery. No claimed user outcomes or clinical validation.</a:t>
            </a:r>
          </a:p>
          <a:p/>
          <a:p>
            <a:r>
              <a:t>COMBINED DECK: Five-tab app tour. Source: updated deck, slide 5.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Activities are a core feature. Feelings Explorer lets you choose a feeling without a right answer. Pattern Recall lets you repeat a sequence. Picture Pairs reveals matching cards, and Picture Story explores a sequence at your pace. These are untimed, unscored activities—not cognitive tests.</a:t>
            </a:r>
          </a:p>
          <a:p/>
          <a:p>
            <a:r>
              <a:t>Real web app screenshots; seeded sample data. No AI-generated imagery. Native iOS features are identified separately. Research does not establish effectiveness of these activities.</a:t>
            </a:r>
          </a:p>
          <a:p/>
          <a:p>
            <a:r>
              <a:t>COMBINED DECK: Four games. Source: cac deck, slide 3.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Breathing follows a four-four-six rhythm. You can start, pause or leave. Four optional soundscapes run through Web Audio. Text size, contrast, palette and motion settings let people choose a comfortable interface.</a:t>
            </a:r>
          </a:p>
          <a:p/>
          <a:p>
            <a:r>
              <a:t>Real web app screenshots; seeded sample data. No AI-generated imagery. Native iOS features are identified separately. Research does not establish effectiveness of these activities.</a:t>
            </a:r>
          </a:p>
          <a:p/>
          <a:p>
            <a:r>
              <a:t>COMBINED DECK: Sensory tools and accessibility. Source: cac deck, slide 4.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AASPIRE accessibility research informed predictable navigation and sensory choices. Game-based research suggests potential in some settings, but studies vary. It does not prove CareSphere works as therapy. These activities are optional practice and enjoyment; co-design and usability evaluation come next.</a:t>
            </a:r>
          </a:p>
          <a:p/>
          <a:p>
            <a:r>
              <a:t>Real web app screenshots; seeded sample data. No AI-generated imagery. Native iOS features are identified separately. Research does not establish effectiveness of these activities.</a:t>
            </a:r>
          </a:p>
          <a:p/>
          <a:p>
            <a:r>
              <a:t>Research sources:</a:t>
            </a:r>
          </a:p>
          <a:p>
            <a:r>
              <a:t>https://pmc.ncbi.nlm.nih.gov/articles/PMC6485264/</a:t>
            </a:r>
          </a:p>
          <a:p>
            <a:r>
              <a:t>https://pmc.ncbi.nlm.nih.gov/articles/PMC9809031/</a:t>
            </a:r>
          </a:p>
          <a:p>
            <a:r>
              <a:t>https://pmc.ncbi.nlm.nih.gov/articles/PMC12781649/</a:t>
            </a:r>
          </a:p>
          <a:p>
            <a:r>
              <a:t>Design rationale: docs/activities-and-accessibility.md. Games: src/App.jsx. No clinical or cognitive benefits established for CareSphere.</a:t>
            </a:r>
          </a:p>
          <a:p/>
          <a:p>
            <a:r>
              <a:t>COMBINED DECK: Research-informed design. Source: cac deck, slide 5.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actual CareSphere web-app screenshots showing medication self-check-ins, daily routines and Coffee Circles. The displayed entries are sample data. Coffee Circles uses external Jitsi infrastructure; no CareSphere care-data backend is required.</a:t>
            </a:r>
          </a:p>
          <a:p/>
          <a:p>
            <a:r>
              <a:t>COMBINED DECK: Everyday support screenshots. Source: updated deck, slide 4.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Routines and medication self-check-ins support the day. Coffee Circles use real Jitsi rooms. Before a visit, users choose what to include in a brief and inspect the exact text. A medication check-in is a self-report, not a verified dose.</a:t>
            </a:r>
          </a:p>
          <a:p/>
          <a:p>
            <a:r>
              <a:t>Real web app screenshots; seeded sample data. No AI-generated imagery. Native iOS features are identified separately. Research does not establish effectiveness of these activities.</a:t>
            </a:r>
          </a:p>
          <a:p/>
          <a:p>
            <a:r>
              <a:t>COMBINED DECK: Remember, connect and prepare. Source: cac deck, slide 6.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let me show you CareSphere in action, starting with the games.”</a:t>
            </a:r>
          </a:p>
          <a:p>
            <a:r>
              <a:t>ACTION: Switch from the slideshow to the running app (or cut to your actual screen recording). Show this cue for only 2–3 seconds. Do not narrate the next two demo overview slides in the short video; they are rehearsal/reference slides.</a:t>
            </a:r>
          </a:p>
          <a:p>
            <a:r>
              <a:t>DEMO: Pattern Recall → Picture Pairs → Rain then Stop → mood and routine → visit brief. Allow about 80 seconds.</a:t>
            </a:r>
          </a:p>
          <a:p>
            <a:r>
              <a:t>RETURN: Resume at combined slide 17 (Tools and languages), followed by 18 (coding challenge), 19 (next steps), and 21 (close). Full timed plan: LIVE_DEMO_PLAN.md. No test result, efficacy or live sensor connection should be invented.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[0:57–1:42] Let me show you. (Switch to the screen recording — six shots, see VIDEO_SCRIPT.md: mood check-in and routine; medication reminder and Taken; Bluetooth pairing or the labeled demo plus Export CSV; Pattern Recall and the Rain soundscape; join a Coffee Circle; build and download a visit brief.)</a:t>
            </a:r>
          </a:p>
          <a:p/>
          <a:p>
            <a:r>
              <a:t>VISUAL PROVENANCE: Real CareSphere web-app screenshots with seeded demonstration data, framed with script-drawn shapes. Not native iOS screenshots. No AI-generated imagery. No claimed user outcomes or clinical validation.</a:t>
            </a:r>
          </a:p>
          <a:p/>
          <a:p>
            <a:r>
              <a:t>COMBINED DECK: Full-app demo overview. Source: updated deck, slide 6.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start Pattern Recall, watch the pads, and repeat the sequence. I can replay or stop. In Picture Pairs, I reveal cards without racing a clock. Next I choose rain, then stop it. Breathing also pauses when I choose. Back on Overview, I record a mood and complete a routine. Finally, I select fields for a visit brief and preview the text before downloading it.</a:t>
            </a:r>
          </a:p>
          <a:p/>
          <a:p>
            <a:r>
              <a:t>Real web app screenshots; seeded sample data. No AI-generated imagery. Native iOS features are identified separately. Research does not establish effectiveness of these activities.</a:t>
            </a:r>
          </a:p>
          <a:p/>
          <a:p>
            <a:r>
              <a:t>COMBINED DECK: Feature-focused interaction demo. Source: cac deck, slide 7.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[1:42–1:53] What makes it different isn't a feature — it's four rules in the code: never fabricate a reading, never send anything automatically, calm by default, private by architecture.</a:t>
            </a:r>
          </a:p>
          <a:p/>
          <a:p>
            <a:r>
              <a:t>VISUAL PROVENANCE: Real CareSphere web-app screenshots with seeded demonstration data, framed with script-drawn shapes. Not native iOS screenshots. No AI-generated imagery. No claimed user outcomes or clinical validation.</a:t>
            </a:r>
          </a:p>
          <a:p/>
          <a:p>
            <a:r>
              <a:t>COMBINED DECK: Four rules in the code. Source: updated deck, slide 7.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[2:01–2:12] Everything stays on the device: AES-256 encryption, Bluetooth and HealthKit read locally, and a 1.5-billion-parameter model that answers health questions offline. Zero accounts, zero servers, zero trackers.</a:t>
            </a:r>
          </a:p>
          <a:p/>
          <a:p>
            <a:r>
              <a:t>VISUAL PROVENANCE: Real CareSphere web-app screenshots with seeded demonstration data, framed with script-drawn shapes. Not native iOS screenshots. No AI-generated imagery. No claimed user outcomes or clinical validation.</a:t>
            </a:r>
          </a:p>
          <a:p/>
          <a:p>
            <a:r>
              <a:t>COMBINED DECK: Privacy and external connections. Source: updated deck, slide 9.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[2:12–2:23] It's React and JavaScript on the web, Swift and SwiftUI on iPhone — Web Bluetooth, HealthKit, CryptoKit and llama.cpp. Eleven thousand lines, seventeen tests, three public releases.</a:t>
            </a:r>
          </a:p>
          <a:p/>
          <a:p>
            <a:r>
              <a:t>VISUAL PROVENANCE: Real CareSphere web-app screenshots with seeded demonstration data, framed with script-drawn shapes. Not native iOS screenshots. No AI-generated imagery. No claimed user outcomes or clinical validation.</a:t>
            </a:r>
          </a:p>
          <a:p/>
          <a:p>
            <a:r>
              <a:t>COMBINED DECK: Tools and languages. Source: updated deck, slide 10.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[2:23–2:35] The hardest problem was keeping Bluetooth honest: notifications arrive late and out of order, so I label every sample live or simulated at the source and drop stale sessions with a generation counter.</a:t>
            </a:r>
          </a:p>
          <a:p/>
          <a:p>
            <a:r>
              <a:t>VISUAL PROVENANCE: Real CareSphere web-app screenshots with seeded demonstration data, framed with script-drawn shapes. Not native iOS screenshots. No AI-generated imagery. No claimed user outcomes or clinical validation.</a:t>
            </a:r>
          </a:p>
          <a:p/>
          <a:p>
            <a:r>
              <a:t>COMBINED DECK: Bluetooth coding challenge. Source: updated deck, slide 11.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[2:35–2:47] Version 2.0 starts with co-design sessions with autistic people, people living with dementia and caregivers, then a TestFlight beta and sensor history in the visit brief — still with no server. (Deliberately not planned: cloud sync, a clinician portal or a drug-interaction checker — not without clinical review.)</a:t>
            </a:r>
          </a:p>
          <a:p/>
          <a:p>
            <a:r>
              <a:t>VISUAL PROVENANCE: Real CareSphere web-app screenshots with seeded demonstration data, framed with script-drawn shapes. Not native iOS screenshots. No AI-generated imagery. No claimed user outcomes or clinical validation.</a:t>
            </a:r>
          </a:p>
          <a:p/>
          <a:p>
            <a:r>
              <a:t>COMBINED DECK: Progress and next steps. Source: updated deck, slide 12.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taught me to build for choice, keep demonstrations honest, and distinguish research-informed design from evidence of real-world effectiveness.</a:t>
            </a:r>
          </a:p>
          <a:p/>
          <a:p>
            <a:r>
              <a:t>Real web app screenshots; seeded sample data. No AI-generated imagery. Native iOS features are identified separately. Research does not establish effectiveness of these activities.</a:t>
            </a:r>
          </a:p>
          <a:p/>
          <a:p>
            <a:r>
              <a:t>COMBINED DECK: Learning. Source: cac deck, slide 12.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[2:47–2:53] CareSphere AI — care that stays yours. The code and install guide are on GitHub. Thank you.</a:t>
            </a:r>
          </a:p>
          <a:p/>
          <a:p>
            <a:r>
              <a:t>VISUAL PROVENANCE: Real CareSphere web-app screenshots with seeded demonstration data, framed with script-drawn shapes. Not native iOS screenshots. No AI-generated imagery. No claimed user outcomes or clinical validation.</a:t>
            </a:r>
          </a:p>
          <a:p/>
          <a:p>
            <a:r>
              <a:t>COMBINED DECK: Close. Source: updated deck, slide 13. This is a full presentation/reference deck, not a timed three-minute video. Use VIDEO_SCRIPT_CAC.md for the short submission edit.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3.png"/><Relationship Id="rId8" Type="http://schemas.openxmlformats.org/officeDocument/2006/relationships/image" Target="../media/image7.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7.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7.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23.png"/><Relationship Id="rId6"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Picture 1" descr="bg-mesh.png"/>
          <p:cNvPicPr>
            <a:picLocks noChangeAspect="1"/>
          </p:cNvPicPr>
          <p:nvPr/>
        </p:nvPicPr>
        <p:blipFill>
          <a:blip r:embed="rId2"/>
          <a:stretch>
            <a:fillRect/>
          </a:stretch>
        </p:blipFill>
        <p:spPr>
          <a:xfrm>
            <a:off x="0" y="85"/>
            <a:ext cx="12191695" cy="6857828"/>
          </a:xfrm>
          <a:prstGeom prst="rect">
            <a:avLst/>
          </a:prstGeom>
        </p:spPr>
      </p:pic>
      <p:pic>
        <p:nvPicPr>
          <p:cNvPr id="3" name="Picture 2" descr="glow.png"/>
          <p:cNvPicPr>
            <a:picLocks noChangeAspect="1"/>
          </p:cNvPicPr>
          <p:nvPr/>
        </p:nvPicPr>
        <p:blipFill>
          <a:blip r:embed="rId3"/>
          <a:stretch>
            <a:fillRect/>
          </a:stretch>
        </p:blipFill>
        <p:spPr>
          <a:xfrm>
            <a:off x="6035040" y="-2194560"/>
            <a:ext cx="8229600" cy="8229600"/>
          </a:xfrm>
          <a:prstGeom prst="rect">
            <a:avLst/>
          </a:prstGeom>
        </p:spPr>
      </p:pic>
      <p:sp>
        <p:nvSpPr>
          <p:cNvPr id="4" name="Oval 3"/>
          <p:cNvSpPr/>
          <p:nvPr/>
        </p:nvSpPr>
        <p:spPr>
          <a:xfrm>
            <a:off x="731520" y="1421892"/>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 y="1335024"/>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CONGRESSIONAL APP CHALLENGE 2026  ·  CA-10</a:t>
            </a:r>
          </a:p>
        </p:txBody>
      </p:sp>
      <p:sp>
        <p:nvSpPr>
          <p:cNvPr id="6" name="TextBox 5"/>
          <p:cNvSpPr txBox="1"/>
          <p:nvPr/>
        </p:nvSpPr>
        <p:spPr>
          <a:xfrm>
            <a:off x="731520" y="1783080"/>
            <a:ext cx="6675120" cy="1188720"/>
          </a:xfrm>
          <a:prstGeom prst="rect">
            <a:avLst/>
          </a:prstGeom>
          <a:noFill/>
        </p:spPr>
        <p:txBody>
          <a:bodyPr wrap="square" lIns="0" rIns="0" tIns="0" bIns="0" anchor="t">
            <a:noAutofit/>
          </a:bodyPr>
          <a:lstStyle/>
          <a:p>
            <a:pPr algn="l">
              <a:lnSpc>
                <a:spcPts val="6720"/>
              </a:lnSpc>
              <a:spcBef>
                <a:spcPts val="0"/>
              </a:spcBef>
              <a:spcAft>
                <a:spcPts val="0"/>
              </a:spcAft>
              <a:buNone/>
            </a:pPr>
            <a:r>
              <a:rPr sz="6400" b="0">
                <a:solidFill>
                  <a:srgbClr val="FFFFFF"/>
                </a:solidFill>
                <a:latin typeface="Plus Jakarta Sans ExtraBold"/>
              </a:rPr>
              <a:t>CareSphere AI</a:t>
            </a:r>
          </a:p>
        </p:txBody>
      </p:sp>
      <p:sp>
        <p:nvSpPr>
          <p:cNvPr id="7" name="TextBox 6"/>
          <p:cNvSpPr txBox="1"/>
          <p:nvPr/>
        </p:nvSpPr>
        <p:spPr>
          <a:xfrm>
            <a:off x="731520" y="3017520"/>
            <a:ext cx="6675120" cy="548640"/>
          </a:xfrm>
          <a:prstGeom prst="rect">
            <a:avLst/>
          </a:prstGeom>
          <a:noFill/>
        </p:spPr>
        <p:txBody>
          <a:bodyPr wrap="square" lIns="0" rIns="0" tIns="0" bIns="0" anchor="t">
            <a:noAutofit/>
          </a:bodyPr>
          <a:lstStyle/>
          <a:p>
            <a:pPr algn="l">
              <a:lnSpc>
                <a:spcPts val="3250"/>
              </a:lnSpc>
              <a:spcBef>
                <a:spcPts val="0"/>
              </a:spcBef>
              <a:spcAft>
                <a:spcPts val="0"/>
              </a:spcAft>
              <a:buNone/>
            </a:pPr>
            <a:r>
              <a:rPr sz="2600" b="0">
                <a:solidFill>
                  <a:srgbClr val="06E288"/>
                </a:solidFill>
                <a:latin typeface="Plus Jakarta Sans Medium"/>
              </a:rPr>
              <a:t>Connected care for independent living</a:t>
            </a:r>
          </a:p>
        </p:txBody>
      </p:sp>
      <p:sp>
        <p:nvSpPr>
          <p:cNvPr id="8" name="TextBox 7"/>
          <p:cNvSpPr txBox="1"/>
          <p:nvPr/>
        </p:nvSpPr>
        <p:spPr>
          <a:xfrm>
            <a:off x="731520" y="3611880"/>
            <a:ext cx="5486400" cy="1005840"/>
          </a:xfrm>
          <a:prstGeom prst="rect">
            <a:avLst/>
          </a:prstGeom>
          <a:noFill/>
        </p:spPr>
        <p:txBody>
          <a:bodyPr wrap="square" lIns="0" rIns="0" tIns="0" bIns="0" anchor="t">
            <a:noAutofit/>
          </a:bodyPr>
          <a:lstStyle/>
          <a:p>
            <a:pPr algn="l">
              <a:lnSpc>
                <a:spcPts val="2565"/>
              </a:lnSpc>
              <a:spcBef>
                <a:spcPts val="0"/>
              </a:spcBef>
              <a:spcAft>
                <a:spcPts val="0"/>
              </a:spcAft>
              <a:buNone/>
            </a:pPr>
            <a:r>
              <a:rPr sz="1900" b="0">
                <a:solidFill>
                  <a:srgbClr val="D7E0F2"/>
                </a:solidFill>
                <a:latin typeface="Plus Jakarta Sans"/>
              </a:rPr>
              <a:t>A private care companion for older adults, autistic people and the families who care for them.</a:t>
            </a:r>
          </a:p>
        </p:txBody>
      </p:sp>
      <p:sp>
        <p:nvSpPr>
          <p:cNvPr id="9" name="Rounded Rectangle 8"/>
          <p:cNvSpPr/>
          <p:nvPr/>
        </p:nvSpPr>
        <p:spPr>
          <a:xfrm>
            <a:off x="731520" y="4681728"/>
            <a:ext cx="457200" cy="36576"/>
          </a:xfrm>
          <a:prstGeom prst="roundRect">
            <a:avLst>
              <a:gd name="adj" fmla="val 50000"/>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4919472"/>
            <a:ext cx="6400800" cy="411480"/>
          </a:xfrm>
          <a:prstGeom prst="rect">
            <a:avLst/>
          </a:prstGeom>
          <a:noFill/>
        </p:spPr>
        <p:txBody>
          <a:bodyPr wrap="square" lIns="0" rIns="0" tIns="0" bIns="0" anchor="t">
            <a:noAutofit/>
          </a:bodyPr>
          <a:lstStyle/>
          <a:p>
            <a:pPr algn="l">
              <a:lnSpc>
                <a:spcPts val="2250"/>
              </a:lnSpc>
              <a:spcBef>
                <a:spcPts val="0"/>
              </a:spcBef>
              <a:spcAft>
                <a:spcPts val="0"/>
              </a:spcAft>
              <a:buNone/>
            </a:pPr>
            <a:r>
              <a:rPr sz="1800" b="1">
                <a:solidFill>
                  <a:srgbClr val="FFFFFF"/>
                </a:solidFill>
                <a:latin typeface="Plus Jakarta Sans"/>
              </a:rPr>
              <a:t>Arnav Kochar</a:t>
            </a:r>
          </a:p>
        </p:txBody>
      </p:sp>
      <p:sp>
        <p:nvSpPr>
          <p:cNvPr id="11" name="TextBox 10"/>
          <p:cNvSpPr txBox="1"/>
          <p:nvPr/>
        </p:nvSpPr>
        <p:spPr>
          <a:xfrm>
            <a:off x="731520" y="5285232"/>
            <a:ext cx="6400800" cy="365760"/>
          </a:xfrm>
          <a:prstGeom prst="rect">
            <a:avLst/>
          </a:prstGeom>
          <a:noFill/>
        </p:spPr>
        <p:txBody>
          <a:bodyPr wrap="square" lIns="0" rIns="0" tIns="0" bIns="0" anchor="t">
            <a:noAutofit/>
          </a:bodyPr>
          <a:lstStyle/>
          <a:p>
            <a:pPr algn="l">
              <a:lnSpc>
                <a:spcPts val="1812"/>
              </a:lnSpc>
              <a:spcBef>
                <a:spcPts val="0"/>
              </a:spcBef>
              <a:spcAft>
                <a:spcPts val="0"/>
              </a:spcAft>
              <a:buNone/>
            </a:pPr>
            <a:r>
              <a:rPr sz="1450" b="0">
                <a:solidFill>
                  <a:srgbClr val="93A4C7"/>
                </a:solidFill>
                <a:latin typeface="Plus Jakarta Sans"/>
              </a:rPr>
              <a:t>CA-10  ·  kochar4646@gmail.com</a:t>
            </a:r>
          </a:p>
        </p:txBody>
      </p:sp>
      <p:pic>
        <p:nvPicPr>
          <p:cNvPr id="12" name="Picture 11" descr="phone-vitals.png"/>
          <p:cNvPicPr>
            <a:picLocks noChangeAspect="1"/>
          </p:cNvPicPr>
          <p:nvPr/>
        </p:nvPicPr>
        <p:blipFill>
          <a:blip r:embed="rId4"/>
          <a:stretch>
            <a:fillRect/>
          </a:stretch>
        </p:blipFill>
        <p:spPr>
          <a:xfrm rot="21120000">
            <a:off x="6949440" y="1325880"/>
            <a:ext cx="2932206" cy="5760720"/>
          </a:xfrm>
          <a:prstGeom prst="rect">
            <a:avLst/>
          </a:prstGeom>
        </p:spPr>
      </p:pic>
      <p:pic>
        <p:nvPicPr>
          <p:cNvPr id="13" name="Picture 12" descr="phone-overview.png"/>
          <p:cNvPicPr>
            <a:picLocks noChangeAspect="1"/>
          </p:cNvPicPr>
          <p:nvPr/>
        </p:nvPicPr>
        <p:blipFill>
          <a:blip r:embed="rId5"/>
          <a:stretch>
            <a:fillRect/>
          </a:stretch>
        </p:blipFill>
        <p:spPr>
          <a:xfrm>
            <a:off x="8686800" y="914400"/>
            <a:ext cx="3258007" cy="6400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THE DESIGN CHALLENGE</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Small moments. </a:t>
            </a:r>
            <a:r>
              <a:rPr sz="3800" b="0">
                <a:solidFill>
                  <a:srgbClr val="06E288"/>
                </a:solidFill>
                <a:latin typeface="Plus Jakarta Sans ExtraBold"/>
              </a:rPr>
              <a:t>More independence.</a:t>
            </a:r>
          </a:p>
        </p:txBody>
      </p:sp>
      <p:sp>
        <p:nvSpPr>
          <p:cNvPr id="6" name="TextBox 5"/>
          <p:cNvSpPr txBox="1"/>
          <p:nvPr/>
        </p:nvSpPr>
        <p:spPr>
          <a:xfrm>
            <a:off x="731520" y="2103120"/>
            <a:ext cx="4846320" cy="1188720"/>
          </a:xfrm>
          <a:prstGeom prst="rect">
            <a:avLst/>
          </a:prstGeom>
          <a:noFill/>
        </p:spPr>
        <p:txBody>
          <a:bodyPr wrap="square" lIns="0" rIns="0" tIns="0" bIns="0" anchor="t">
            <a:noAutofit/>
          </a:bodyPr>
          <a:lstStyle/>
          <a:p>
            <a:pPr algn="l">
              <a:lnSpc>
                <a:spcPts val="3057"/>
              </a:lnSpc>
              <a:spcBef>
                <a:spcPts val="0"/>
              </a:spcBef>
              <a:spcAft>
                <a:spcPts val="0"/>
              </a:spcAft>
              <a:buNone/>
            </a:pPr>
            <a:r>
              <a:rPr sz="2200" b="0">
                <a:solidFill>
                  <a:srgbClr val="FFFFFF"/>
                </a:solidFill>
                <a:latin typeface="Plus Jakarta Sans Medium"/>
              </a:rPr>
              <a:t>A reminder you can act on.
A routine you can finish.
A person you can reach.</a:t>
            </a:r>
          </a:p>
        </p:txBody>
      </p:sp>
      <p:sp>
        <p:nvSpPr>
          <p:cNvPr id="7" name="TextBox 6"/>
          <p:cNvSpPr txBox="1"/>
          <p:nvPr/>
        </p:nvSpPr>
        <p:spPr>
          <a:xfrm>
            <a:off x="731520" y="3977639"/>
            <a:ext cx="4754880" cy="1143000"/>
          </a:xfrm>
          <a:prstGeom prst="rect">
            <a:avLst/>
          </a:prstGeom>
          <a:noFill/>
        </p:spPr>
        <p:txBody>
          <a:bodyPr wrap="square" lIns="0" rIns="0" tIns="0" bIns="0" anchor="t">
            <a:noAutofit/>
          </a:bodyPr>
          <a:lstStyle/>
          <a:p>
            <a:pPr algn="l">
              <a:lnSpc>
                <a:spcPts val="2835"/>
              </a:lnSpc>
              <a:spcBef>
                <a:spcPts val="0"/>
              </a:spcBef>
              <a:spcAft>
                <a:spcPts val="0"/>
              </a:spcAft>
              <a:buNone/>
            </a:pPr>
            <a:r>
              <a:rPr sz="2100" b="0">
                <a:solidFill>
                  <a:srgbClr val="D7E0F2"/>
                </a:solidFill>
                <a:latin typeface="Plus Jakarta Sans"/>
              </a:rPr>
              <a:t>CareSphere brings everyday support together — without making care feel like another task.</a:t>
            </a:r>
          </a:p>
        </p:txBody>
      </p:sp>
      <p:sp>
        <p:nvSpPr>
          <p:cNvPr id="8" name="Rounded Rectangle 7"/>
          <p:cNvSpPr/>
          <p:nvPr/>
        </p:nvSpPr>
        <p:spPr>
          <a:xfrm>
            <a:off x="731520" y="5532120"/>
            <a:ext cx="26748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5532120"/>
            <a:ext cx="2674874" cy="329184"/>
          </a:xfrm>
          <a:prstGeom prst="rect">
            <a:avLst/>
          </a:prstGeom>
          <a:noFill/>
        </p:spPr>
        <p:txBody>
          <a:bodyPr wrap="square" lIns="0" rIns="0" tIns="0" bIns="0" anchor="ctr">
            <a:noAutofit/>
          </a:bodyPr>
          <a:lstStyle/>
          <a:p>
            <a:pPr algn="ctr">
              <a:lnSpc>
                <a:spcPts val="1500"/>
              </a:lnSpc>
              <a:spcBef>
                <a:spcPts val="0"/>
              </a:spcBef>
              <a:spcAft>
                <a:spcPts val="0"/>
              </a:spcAft>
              <a:buNone/>
            </a:pPr>
            <a:r>
              <a:rPr sz="1200" b="1" spc="100">
                <a:solidFill>
                  <a:srgbClr val="06E288"/>
                </a:solidFill>
                <a:latin typeface="Plus Jakarta Sans"/>
              </a:rPr>
              <a:t>CALM · HONEST · PRIVATE</a:t>
            </a:r>
          </a:p>
        </p:txBody>
      </p:sp>
      <p:pic>
        <p:nvPicPr>
          <p:cNvPr id="10" name="Picture 9" descr="phone-toast.png"/>
          <p:cNvPicPr>
            <a:picLocks noChangeAspect="1"/>
          </p:cNvPicPr>
          <p:nvPr/>
        </p:nvPicPr>
        <p:blipFill>
          <a:blip r:embed="rId3"/>
          <a:stretch>
            <a:fillRect/>
          </a:stretch>
        </p:blipFill>
        <p:spPr>
          <a:xfrm>
            <a:off x="6537960" y="1874519"/>
            <a:ext cx="2303876" cy="4526280"/>
          </a:xfrm>
          <a:prstGeom prst="rect">
            <a:avLst/>
          </a:prstGeom>
        </p:spPr>
      </p:pic>
      <p:pic>
        <p:nvPicPr>
          <p:cNvPr id="11" name="Picture 10" descr="crop-routine.png"/>
          <p:cNvPicPr>
            <a:picLocks noChangeAspect="1"/>
          </p:cNvPicPr>
          <p:nvPr/>
        </p:nvPicPr>
        <p:blipFill>
          <a:blip r:embed="rId4"/>
          <a:stretch>
            <a:fillRect/>
          </a:stretch>
        </p:blipFill>
        <p:spPr>
          <a:xfrm>
            <a:off x="8823960" y="2743200"/>
            <a:ext cx="2606040" cy="1915439"/>
          </a:xfrm>
          <a:prstGeom prst="roundRect">
            <a:avLst>
              <a:gd name="adj" fmla="val 5442"/>
            </a:avLst>
          </a:prstGeom>
        </p:spPr>
      </p:pic>
      <p:sp>
        <p:nvSpPr>
          <p:cNvPr id="12" name="TextBox 11"/>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13" name="TextBox 12"/>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02</a:t>
            </a:r>
          </a:p>
        </p:txBody>
      </p:sp>
      <p:pic>
        <p:nvPicPr>
          <p:cNvPr id="14" name="Picture 13" descr="icon.png"/>
          <p:cNvPicPr>
            <a:picLocks noChangeAspect="1"/>
          </p:cNvPicPr>
          <p:nvPr/>
        </p:nvPicPr>
        <p:blipFill>
          <a:blip r:embed="rId5"/>
          <a:stretch>
            <a:fillRect/>
          </a:stretch>
        </p:blipFill>
        <p:spPr>
          <a:xfrm>
            <a:off x="731520" y="6382512"/>
            <a:ext cx="237744" cy="237744"/>
          </a:xfrm>
          <a:prstGeom prst="roundRect">
            <a:avLst>
              <a:gd name="adj" fmla="val 26923"/>
            </a:avLst>
          </a:prstGeom>
        </p:spPr>
      </p:pic>
      <p:sp>
        <p:nvSpPr>
          <p:cNvPr id="15" name="TextBox 14"/>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THE PROBLEM</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Growing older — or growing up autistic — too often means </a:t>
            </a:r>
            <a:r>
              <a:rPr sz="3800" b="0">
                <a:solidFill>
                  <a:srgbClr val="06E288"/>
                </a:solidFill>
                <a:latin typeface="Plus Jakarta Sans ExtraBold"/>
              </a:rPr>
              <a:t>facing care alone.</a:t>
            </a:r>
          </a:p>
        </p:txBody>
      </p:sp>
      <p:sp>
        <p:nvSpPr>
          <p:cNvPr id="6" name="Rounded Rectangle 5"/>
          <p:cNvSpPr/>
          <p:nvPr/>
        </p:nvSpPr>
        <p:spPr>
          <a:xfrm>
            <a:off x="731520" y="2468880"/>
            <a:ext cx="3393338" cy="2743200"/>
          </a:xfrm>
          <a:prstGeom prst="roundRect">
            <a:avLst>
              <a:gd name="adj" fmla="val 7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2743200"/>
            <a:ext cx="2753258" cy="1188720"/>
          </a:xfrm>
          <a:prstGeom prst="rect">
            <a:avLst/>
          </a:prstGeom>
          <a:noFill/>
        </p:spPr>
        <p:txBody>
          <a:bodyPr wrap="square" lIns="0" rIns="0" tIns="0" bIns="0" anchor="t">
            <a:noAutofit/>
          </a:bodyPr>
          <a:lstStyle/>
          <a:p>
            <a:pPr algn="l">
              <a:lnSpc>
                <a:spcPts val="7770"/>
              </a:lnSpc>
              <a:spcBef>
                <a:spcPts val="0"/>
              </a:spcBef>
              <a:spcAft>
                <a:spcPts val="0"/>
              </a:spcAft>
              <a:buNone/>
            </a:pPr>
            <a:r>
              <a:rPr sz="7400" b="0">
                <a:solidFill>
                  <a:srgbClr val="FFFFFF"/>
                </a:solidFill>
                <a:latin typeface="Plus Jakarta Sans ExtraBold"/>
              </a:rPr>
              <a:t>1 in 4</a:t>
            </a:r>
          </a:p>
        </p:txBody>
      </p:sp>
      <p:sp>
        <p:nvSpPr>
          <p:cNvPr id="8" name="TextBox 7"/>
          <p:cNvSpPr txBox="1"/>
          <p:nvPr/>
        </p:nvSpPr>
        <p:spPr>
          <a:xfrm>
            <a:off x="1051560" y="3886200"/>
            <a:ext cx="2753258" cy="86868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06E288"/>
                </a:solidFill>
                <a:latin typeface="Plus Jakarta Sans Medium"/>
              </a:rPr>
              <a:t>older adults are socially isolated</a:t>
            </a:r>
          </a:p>
        </p:txBody>
      </p:sp>
      <p:sp>
        <p:nvSpPr>
          <p:cNvPr id="9" name="TextBox 8"/>
          <p:cNvSpPr txBox="1"/>
          <p:nvPr/>
        </p:nvSpPr>
        <p:spPr>
          <a:xfrm>
            <a:off x="1051560" y="4846320"/>
            <a:ext cx="2753258"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0">
                <a:solidFill>
                  <a:srgbClr val="5F7299"/>
                </a:solidFill>
                <a:latin typeface="JetBrains Mono"/>
              </a:rPr>
              <a:t>NASEM · 2020</a:t>
            </a:r>
          </a:p>
        </p:txBody>
      </p:sp>
      <p:sp>
        <p:nvSpPr>
          <p:cNvPr id="10" name="Rounded Rectangle 9"/>
          <p:cNvSpPr/>
          <p:nvPr/>
        </p:nvSpPr>
        <p:spPr>
          <a:xfrm>
            <a:off x="4399178" y="2468880"/>
            <a:ext cx="3393338" cy="2743200"/>
          </a:xfrm>
          <a:prstGeom prst="roundRect">
            <a:avLst>
              <a:gd name="adj" fmla="val 7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19218" y="2743200"/>
            <a:ext cx="2753258" cy="1188720"/>
          </a:xfrm>
          <a:prstGeom prst="rect">
            <a:avLst/>
          </a:prstGeom>
          <a:noFill/>
        </p:spPr>
        <p:txBody>
          <a:bodyPr wrap="square" lIns="0" rIns="0" tIns="0" bIns="0" anchor="t">
            <a:noAutofit/>
          </a:bodyPr>
          <a:lstStyle/>
          <a:p>
            <a:pPr algn="l">
              <a:lnSpc>
                <a:spcPts val="7770"/>
              </a:lnSpc>
              <a:spcBef>
                <a:spcPts val="0"/>
              </a:spcBef>
              <a:spcAft>
                <a:spcPts val="0"/>
              </a:spcAft>
              <a:buNone/>
            </a:pPr>
            <a:r>
              <a:rPr sz="7400" b="0">
                <a:solidFill>
                  <a:srgbClr val="FFFFFF"/>
                </a:solidFill>
                <a:latin typeface="Plus Jakarta Sans ExtraBold"/>
              </a:rPr>
              <a:t>1 in 31</a:t>
            </a:r>
          </a:p>
        </p:txBody>
      </p:sp>
      <p:sp>
        <p:nvSpPr>
          <p:cNvPr id="12" name="TextBox 11"/>
          <p:cNvSpPr txBox="1"/>
          <p:nvPr/>
        </p:nvSpPr>
        <p:spPr>
          <a:xfrm>
            <a:off x="4719218" y="3886200"/>
            <a:ext cx="2753258" cy="86868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06E288"/>
                </a:solidFill>
                <a:latin typeface="Plus Jakarta Sans Medium"/>
              </a:rPr>
              <a:t>children are autistic</a:t>
            </a:r>
          </a:p>
        </p:txBody>
      </p:sp>
      <p:sp>
        <p:nvSpPr>
          <p:cNvPr id="13" name="TextBox 12"/>
          <p:cNvSpPr txBox="1"/>
          <p:nvPr/>
        </p:nvSpPr>
        <p:spPr>
          <a:xfrm>
            <a:off x="4719218" y="4846320"/>
            <a:ext cx="2753258"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0">
                <a:solidFill>
                  <a:srgbClr val="5F7299"/>
                </a:solidFill>
                <a:latin typeface="JetBrains Mono"/>
              </a:rPr>
              <a:t>CDC · 2025</a:t>
            </a:r>
          </a:p>
        </p:txBody>
      </p:sp>
      <p:sp>
        <p:nvSpPr>
          <p:cNvPr id="14" name="Rounded Rectangle 13"/>
          <p:cNvSpPr/>
          <p:nvPr/>
        </p:nvSpPr>
        <p:spPr>
          <a:xfrm>
            <a:off x="8066836" y="2468880"/>
            <a:ext cx="3393338" cy="2743200"/>
          </a:xfrm>
          <a:prstGeom prst="roundRect">
            <a:avLst>
              <a:gd name="adj" fmla="val 7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86876" y="2743200"/>
            <a:ext cx="2753258" cy="1188720"/>
          </a:xfrm>
          <a:prstGeom prst="rect">
            <a:avLst/>
          </a:prstGeom>
          <a:noFill/>
        </p:spPr>
        <p:txBody>
          <a:bodyPr wrap="square" lIns="0" rIns="0" tIns="0" bIns="0" anchor="t">
            <a:noAutofit/>
          </a:bodyPr>
          <a:lstStyle/>
          <a:p>
            <a:pPr algn="l">
              <a:lnSpc>
                <a:spcPts val="7770"/>
              </a:lnSpc>
              <a:spcBef>
                <a:spcPts val="0"/>
              </a:spcBef>
              <a:spcAft>
                <a:spcPts val="0"/>
              </a:spcAft>
              <a:buNone/>
            </a:pPr>
            <a:r>
              <a:rPr sz="7400" b="0">
                <a:solidFill>
                  <a:srgbClr val="FFFFFF"/>
                </a:solidFill>
                <a:latin typeface="Plus Jakarta Sans ExtraBold"/>
              </a:rPr>
              <a:t>50%</a:t>
            </a:r>
          </a:p>
        </p:txBody>
      </p:sp>
      <p:sp>
        <p:nvSpPr>
          <p:cNvPr id="16" name="TextBox 15"/>
          <p:cNvSpPr txBox="1"/>
          <p:nvPr/>
        </p:nvSpPr>
        <p:spPr>
          <a:xfrm>
            <a:off x="8386876" y="3886200"/>
            <a:ext cx="2753258" cy="86868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06E288"/>
                </a:solidFill>
                <a:latin typeface="Plus Jakarta Sans Medium"/>
              </a:rPr>
              <a:t>of long-term medicines aren’t taken as prescribed</a:t>
            </a:r>
          </a:p>
        </p:txBody>
      </p:sp>
      <p:sp>
        <p:nvSpPr>
          <p:cNvPr id="17" name="TextBox 16"/>
          <p:cNvSpPr txBox="1"/>
          <p:nvPr/>
        </p:nvSpPr>
        <p:spPr>
          <a:xfrm>
            <a:off x="8386876" y="4846320"/>
            <a:ext cx="2753258"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0">
                <a:solidFill>
                  <a:srgbClr val="5F7299"/>
                </a:solidFill>
                <a:latin typeface="JetBrains Mono"/>
              </a:rPr>
              <a:t>WHO</a:t>
            </a:r>
          </a:p>
        </p:txBody>
      </p:sp>
      <p:sp>
        <p:nvSpPr>
          <p:cNvPr id="18" name="Rounded Rectangle 17"/>
          <p:cNvSpPr/>
          <p:nvPr/>
        </p:nvSpPr>
        <p:spPr>
          <a:xfrm>
            <a:off x="731520" y="5559552"/>
            <a:ext cx="54864" cy="384048"/>
          </a:xfrm>
          <a:prstGeom prst="roundRect">
            <a:avLst>
              <a:gd name="adj" fmla="val 50000"/>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0120" y="5559552"/>
            <a:ext cx="9144000" cy="384048"/>
          </a:xfrm>
          <a:prstGeom prst="rect">
            <a:avLst/>
          </a:prstGeom>
          <a:noFill/>
        </p:spPr>
        <p:txBody>
          <a:bodyPr wrap="square" lIns="0" rIns="0" tIns="0" bIns="0" anchor="ctr">
            <a:noAutofit/>
          </a:bodyPr>
          <a:lstStyle/>
          <a:p>
            <a:pPr algn="l">
              <a:lnSpc>
                <a:spcPts val="2125"/>
              </a:lnSpc>
              <a:spcBef>
                <a:spcPts val="0"/>
              </a:spcBef>
              <a:spcAft>
                <a:spcPts val="0"/>
              </a:spcAft>
              <a:buNone/>
            </a:pPr>
            <a:r>
              <a:rPr sz="1700" b="0">
                <a:solidFill>
                  <a:srgbClr val="D7E0F2"/>
                </a:solidFill>
                <a:latin typeface="Plus Jakarta Sans"/>
              </a:rPr>
              <a:t>Behind them: </a:t>
            </a:r>
            <a:r>
              <a:rPr sz="1700" b="1">
                <a:solidFill>
                  <a:srgbClr val="FFFFFF"/>
                </a:solidFill>
                <a:latin typeface="Plus Jakarta Sans"/>
              </a:rPr>
              <a:t>63 million</a:t>
            </a:r>
            <a:r>
              <a:rPr sz="1700" b="0">
                <a:solidFill>
                  <a:srgbClr val="D7E0F2"/>
                </a:solidFill>
                <a:latin typeface="Plus Jakarta Sans"/>
              </a:rPr>
              <a:t> family caregivers.  </a:t>
            </a:r>
            <a:r>
              <a:rPr sz="1700" b="0">
                <a:solidFill>
                  <a:srgbClr val="93A4C7"/>
                </a:solidFill>
                <a:latin typeface="Plus Jakarta Sans"/>
              </a:rPr>
              <a:t>AARP &amp; NAC, 2025</a:t>
            </a:r>
          </a:p>
        </p:txBody>
      </p:sp>
      <p:sp>
        <p:nvSpPr>
          <p:cNvPr id="20" name="TextBox 19"/>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21" name="TextBox 20"/>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03</a:t>
            </a:r>
          </a:p>
        </p:txBody>
      </p:sp>
      <p:pic>
        <p:nvPicPr>
          <p:cNvPr id="22" name="Picture 21"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23" name="TextBox 22"/>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WHAT THE APP DOES</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Daily support. </a:t>
            </a:r>
            <a:r>
              <a:rPr sz="3800" b="0">
                <a:solidFill>
                  <a:srgbClr val="06E288"/>
                </a:solidFill>
                <a:latin typeface="Plus Jakarta Sans ExtraBold"/>
              </a:rPr>
              <a:t>Play, connect, prepare.</a:t>
            </a:r>
          </a:p>
        </p:txBody>
      </p:sp>
      <p:sp>
        <p:nvSpPr>
          <p:cNvPr id="6" name="Rounded Rectangle 5"/>
          <p:cNvSpPr/>
          <p:nvPr/>
        </p:nvSpPr>
        <p:spPr>
          <a:xfrm>
            <a:off x="731520" y="2148840"/>
            <a:ext cx="5166360" cy="1572768"/>
          </a:xfrm>
          <a:prstGeom prst="roundRect">
            <a:avLst>
              <a:gd name="adj" fmla="val 1279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31720"/>
            <a:ext cx="457200" cy="365760"/>
          </a:xfrm>
          <a:prstGeom prst="rect">
            <a:avLst/>
          </a:prstGeom>
          <a:noFill/>
        </p:spPr>
        <p:txBody>
          <a:bodyPr wrap="square" lIns="0" rIns="0" tIns="0" bIns="0" anchor="t">
            <a:noAutofit/>
          </a:bodyPr>
          <a:lstStyle/>
          <a:p>
            <a:pPr algn="l">
              <a:lnSpc>
                <a:spcPts val="1750"/>
              </a:lnSpc>
              <a:spcBef>
                <a:spcPts val="0"/>
              </a:spcBef>
              <a:spcAft>
                <a:spcPts val="0"/>
              </a:spcAft>
              <a:buNone/>
            </a:pPr>
            <a:r>
              <a:rPr sz="1400" b="1">
                <a:solidFill>
                  <a:srgbClr val="06E288"/>
                </a:solidFill>
                <a:latin typeface="Plus Jakarta Sans"/>
              </a:rPr>
              <a:t>01</a:t>
            </a:r>
          </a:p>
        </p:txBody>
      </p:sp>
      <p:sp>
        <p:nvSpPr>
          <p:cNvPr id="8" name="TextBox 7"/>
          <p:cNvSpPr txBox="1"/>
          <p:nvPr/>
        </p:nvSpPr>
        <p:spPr>
          <a:xfrm>
            <a:off x="1508760" y="2313432"/>
            <a:ext cx="411480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Activities &amp; sensory tools</a:t>
            </a:r>
          </a:p>
        </p:txBody>
      </p:sp>
      <p:sp>
        <p:nvSpPr>
          <p:cNvPr id="9" name="TextBox 8"/>
          <p:cNvSpPr txBox="1"/>
          <p:nvPr/>
        </p:nvSpPr>
        <p:spPr>
          <a:xfrm>
            <a:off x="1508760" y="2834640"/>
            <a:ext cx="4069080" cy="685800"/>
          </a:xfrm>
          <a:prstGeom prst="rect">
            <a:avLst/>
          </a:prstGeom>
          <a:noFill/>
        </p:spPr>
        <p:txBody>
          <a:bodyPr wrap="square" lIns="0" rIns="0" tIns="0" bIns="0" anchor="t">
            <a:noAutofit/>
          </a:bodyPr>
          <a:lstStyle/>
          <a:p>
            <a:pPr algn="l">
              <a:lnSpc>
                <a:spcPts val="2250"/>
              </a:lnSpc>
              <a:spcBef>
                <a:spcPts val="0"/>
              </a:spcBef>
              <a:spcAft>
                <a:spcPts val="0"/>
              </a:spcAft>
              <a:buNone/>
            </a:pPr>
            <a:r>
              <a:rPr sz="1800" b="0">
                <a:solidFill>
                  <a:srgbClr val="D7E0F2"/>
                </a:solidFill>
                <a:latin typeface="Plus Jakarta Sans"/>
              </a:rPr>
              <a:t>Four self-paced games, breathing and optional soundscapes.</a:t>
            </a:r>
          </a:p>
        </p:txBody>
      </p:sp>
      <p:sp>
        <p:nvSpPr>
          <p:cNvPr id="10" name="Rounded Rectangle 9"/>
          <p:cNvSpPr/>
          <p:nvPr/>
        </p:nvSpPr>
        <p:spPr>
          <a:xfrm>
            <a:off x="6217920" y="2148840"/>
            <a:ext cx="5166360" cy="1572768"/>
          </a:xfrm>
          <a:prstGeom prst="roundRect">
            <a:avLst>
              <a:gd name="adj" fmla="val 1279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46520" y="2331720"/>
            <a:ext cx="457200" cy="365760"/>
          </a:xfrm>
          <a:prstGeom prst="rect">
            <a:avLst/>
          </a:prstGeom>
          <a:noFill/>
        </p:spPr>
        <p:txBody>
          <a:bodyPr wrap="square" lIns="0" rIns="0" tIns="0" bIns="0" anchor="t">
            <a:noAutofit/>
          </a:bodyPr>
          <a:lstStyle/>
          <a:p>
            <a:pPr algn="l">
              <a:lnSpc>
                <a:spcPts val="1750"/>
              </a:lnSpc>
              <a:spcBef>
                <a:spcPts val="0"/>
              </a:spcBef>
              <a:spcAft>
                <a:spcPts val="0"/>
              </a:spcAft>
              <a:buNone/>
            </a:pPr>
            <a:r>
              <a:rPr sz="1400" b="1">
                <a:solidFill>
                  <a:srgbClr val="06E288"/>
                </a:solidFill>
                <a:latin typeface="Plus Jakarta Sans"/>
              </a:rPr>
              <a:t>02</a:t>
            </a:r>
          </a:p>
        </p:txBody>
      </p:sp>
      <p:sp>
        <p:nvSpPr>
          <p:cNvPr id="12" name="TextBox 11"/>
          <p:cNvSpPr txBox="1"/>
          <p:nvPr/>
        </p:nvSpPr>
        <p:spPr>
          <a:xfrm>
            <a:off x="6995159" y="2313432"/>
            <a:ext cx="411480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Everyday routines</a:t>
            </a:r>
          </a:p>
        </p:txBody>
      </p:sp>
      <p:sp>
        <p:nvSpPr>
          <p:cNvPr id="13" name="TextBox 12"/>
          <p:cNvSpPr txBox="1"/>
          <p:nvPr/>
        </p:nvSpPr>
        <p:spPr>
          <a:xfrm>
            <a:off x="6995159" y="2834640"/>
            <a:ext cx="4069080" cy="685800"/>
          </a:xfrm>
          <a:prstGeom prst="rect">
            <a:avLst/>
          </a:prstGeom>
          <a:noFill/>
        </p:spPr>
        <p:txBody>
          <a:bodyPr wrap="square" lIns="0" rIns="0" tIns="0" bIns="0" anchor="t">
            <a:noAutofit/>
          </a:bodyPr>
          <a:lstStyle/>
          <a:p>
            <a:pPr algn="l">
              <a:lnSpc>
                <a:spcPts val="2250"/>
              </a:lnSpc>
              <a:spcBef>
                <a:spcPts val="0"/>
              </a:spcBef>
              <a:spcAft>
                <a:spcPts val="0"/>
              </a:spcAft>
              <a:buNone/>
            </a:pPr>
            <a:r>
              <a:rPr sz="1800" b="0">
                <a:solidFill>
                  <a:srgbClr val="D7E0F2"/>
                </a:solidFill>
                <a:latin typeface="Plus Jakarta Sans"/>
              </a:rPr>
              <a:t>Mood check-ins, daily tasks and medication self-check-ins.</a:t>
            </a:r>
          </a:p>
        </p:txBody>
      </p:sp>
      <p:sp>
        <p:nvSpPr>
          <p:cNvPr id="14" name="Rounded Rectangle 13"/>
          <p:cNvSpPr/>
          <p:nvPr/>
        </p:nvSpPr>
        <p:spPr>
          <a:xfrm>
            <a:off x="731520" y="3977639"/>
            <a:ext cx="5166360" cy="1572768"/>
          </a:xfrm>
          <a:prstGeom prst="roundRect">
            <a:avLst>
              <a:gd name="adj" fmla="val 1279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0120" y="4160520"/>
            <a:ext cx="457200" cy="365760"/>
          </a:xfrm>
          <a:prstGeom prst="rect">
            <a:avLst/>
          </a:prstGeom>
          <a:noFill/>
        </p:spPr>
        <p:txBody>
          <a:bodyPr wrap="square" lIns="0" rIns="0" tIns="0" bIns="0" anchor="t">
            <a:noAutofit/>
          </a:bodyPr>
          <a:lstStyle/>
          <a:p>
            <a:pPr algn="l">
              <a:lnSpc>
                <a:spcPts val="1750"/>
              </a:lnSpc>
              <a:spcBef>
                <a:spcPts val="0"/>
              </a:spcBef>
              <a:spcAft>
                <a:spcPts val="0"/>
              </a:spcAft>
              <a:buNone/>
            </a:pPr>
            <a:r>
              <a:rPr sz="1400" b="1">
                <a:solidFill>
                  <a:srgbClr val="06E288"/>
                </a:solidFill>
                <a:latin typeface="Plus Jakarta Sans"/>
              </a:rPr>
              <a:t>03</a:t>
            </a:r>
          </a:p>
        </p:txBody>
      </p:sp>
      <p:sp>
        <p:nvSpPr>
          <p:cNvPr id="16" name="TextBox 15"/>
          <p:cNvSpPr txBox="1"/>
          <p:nvPr/>
        </p:nvSpPr>
        <p:spPr>
          <a:xfrm>
            <a:off x="1508760" y="4142231"/>
            <a:ext cx="411480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Human connection</a:t>
            </a:r>
          </a:p>
        </p:txBody>
      </p:sp>
      <p:sp>
        <p:nvSpPr>
          <p:cNvPr id="17" name="TextBox 16"/>
          <p:cNvSpPr txBox="1"/>
          <p:nvPr/>
        </p:nvSpPr>
        <p:spPr>
          <a:xfrm>
            <a:off x="1508760" y="4663440"/>
            <a:ext cx="4069080" cy="685800"/>
          </a:xfrm>
          <a:prstGeom prst="rect">
            <a:avLst/>
          </a:prstGeom>
          <a:noFill/>
        </p:spPr>
        <p:txBody>
          <a:bodyPr wrap="square" lIns="0" rIns="0" tIns="0" bIns="0" anchor="t">
            <a:noAutofit/>
          </a:bodyPr>
          <a:lstStyle/>
          <a:p>
            <a:pPr algn="l">
              <a:lnSpc>
                <a:spcPts val="2250"/>
              </a:lnSpc>
              <a:spcBef>
                <a:spcPts val="0"/>
              </a:spcBef>
              <a:spcAft>
                <a:spcPts val="0"/>
              </a:spcAft>
              <a:buNone/>
            </a:pPr>
            <a:r>
              <a:rPr sz="1800" b="0">
                <a:solidFill>
                  <a:srgbClr val="D7E0F2"/>
                </a:solidFill>
                <a:latin typeface="Plus Jakarta Sans"/>
              </a:rPr>
              <a:t>Coffee Circles open Jitsi video rooms; care notes stay local.</a:t>
            </a:r>
          </a:p>
        </p:txBody>
      </p:sp>
      <p:sp>
        <p:nvSpPr>
          <p:cNvPr id="18" name="Rounded Rectangle 17"/>
          <p:cNvSpPr/>
          <p:nvPr/>
        </p:nvSpPr>
        <p:spPr>
          <a:xfrm>
            <a:off x="6217920" y="3977639"/>
            <a:ext cx="5166360" cy="1572768"/>
          </a:xfrm>
          <a:prstGeom prst="roundRect">
            <a:avLst>
              <a:gd name="adj" fmla="val 1279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160520"/>
            <a:ext cx="457200" cy="365760"/>
          </a:xfrm>
          <a:prstGeom prst="rect">
            <a:avLst/>
          </a:prstGeom>
          <a:noFill/>
        </p:spPr>
        <p:txBody>
          <a:bodyPr wrap="square" lIns="0" rIns="0" tIns="0" bIns="0" anchor="t">
            <a:noAutofit/>
          </a:bodyPr>
          <a:lstStyle/>
          <a:p>
            <a:pPr algn="l">
              <a:lnSpc>
                <a:spcPts val="1750"/>
              </a:lnSpc>
              <a:spcBef>
                <a:spcPts val="0"/>
              </a:spcBef>
              <a:spcAft>
                <a:spcPts val="0"/>
              </a:spcAft>
              <a:buNone/>
            </a:pPr>
            <a:r>
              <a:rPr sz="1400" b="1">
                <a:solidFill>
                  <a:srgbClr val="06E288"/>
                </a:solidFill>
                <a:latin typeface="Plus Jakarta Sans"/>
              </a:rPr>
              <a:t>04</a:t>
            </a:r>
          </a:p>
        </p:txBody>
      </p:sp>
      <p:sp>
        <p:nvSpPr>
          <p:cNvPr id="20" name="TextBox 19"/>
          <p:cNvSpPr txBox="1"/>
          <p:nvPr/>
        </p:nvSpPr>
        <p:spPr>
          <a:xfrm>
            <a:off x="6995159" y="4142231"/>
            <a:ext cx="411480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Visit preparation</a:t>
            </a:r>
          </a:p>
        </p:txBody>
      </p:sp>
      <p:sp>
        <p:nvSpPr>
          <p:cNvPr id="21" name="TextBox 20"/>
          <p:cNvSpPr txBox="1"/>
          <p:nvPr/>
        </p:nvSpPr>
        <p:spPr>
          <a:xfrm>
            <a:off x="6995159" y="4663440"/>
            <a:ext cx="4069080" cy="685800"/>
          </a:xfrm>
          <a:prstGeom prst="rect">
            <a:avLst/>
          </a:prstGeom>
          <a:noFill/>
        </p:spPr>
        <p:txBody>
          <a:bodyPr wrap="square" lIns="0" rIns="0" tIns="0" bIns="0" anchor="t">
            <a:noAutofit/>
          </a:bodyPr>
          <a:lstStyle/>
          <a:p>
            <a:pPr algn="l">
              <a:lnSpc>
                <a:spcPts val="2250"/>
              </a:lnSpc>
              <a:spcBef>
                <a:spcPts val="0"/>
              </a:spcBef>
              <a:spcAft>
                <a:spcPts val="0"/>
              </a:spcAft>
              <a:buNone/>
            </a:pPr>
            <a:r>
              <a:rPr sz="1800" b="0">
                <a:solidFill>
                  <a:srgbClr val="D7E0F2"/>
                </a:solidFill>
                <a:latin typeface="Plus Jakarta Sans"/>
              </a:rPr>
              <a:t>Choose notes and readings for a previewable visit brief.</a:t>
            </a:r>
          </a:p>
        </p:txBody>
      </p:sp>
      <p:sp>
        <p:nvSpPr>
          <p:cNvPr id="22" name="TextBox 21"/>
          <p:cNvSpPr txBox="1"/>
          <p:nvPr/>
        </p:nvSpPr>
        <p:spPr>
          <a:xfrm>
            <a:off x="731520" y="5943600"/>
            <a:ext cx="10728655" cy="320040"/>
          </a:xfrm>
          <a:prstGeom prst="rect">
            <a:avLst/>
          </a:prstGeom>
          <a:noFill/>
        </p:spPr>
        <p:txBody>
          <a:bodyPr wrap="square" lIns="0" rIns="0" tIns="0" bIns="0" anchor="t">
            <a:noAutofit/>
          </a:bodyPr>
          <a:lstStyle/>
          <a:p>
            <a:pPr algn="l">
              <a:lnSpc>
                <a:spcPts val="2250"/>
              </a:lnSpc>
              <a:spcBef>
                <a:spcPts val="0"/>
              </a:spcBef>
              <a:spcAft>
                <a:spcPts val="0"/>
              </a:spcAft>
              <a:buNone/>
            </a:pPr>
            <a:r>
              <a:rPr sz="1800" b="0">
                <a:solidFill>
                  <a:srgbClr val="06E288"/>
                </a:solidFill>
                <a:latin typeface="Plus Jakarta Sans"/>
              </a:rPr>
              <a:t>For older adults, autistic people and the families who support them.</a:t>
            </a:r>
          </a:p>
        </p:txBody>
      </p:sp>
      <p:sp>
        <p:nvSpPr>
          <p:cNvPr id="23" name="TextBox 22"/>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04</a:t>
            </a:r>
          </a:p>
        </p:txBody>
      </p:sp>
      <p:pic>
        <p:nvPicPr>
          <p:cNvPr id="24" name="Picture 23"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25" name="TextBox 24"/>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WHO IT’S FOR</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Built for </a:t>
            </a:r>
            <a:r>
              <a:rPr sz="3800" b="0">
                <a:solidFill>
                  <a:srgbClr val="06E288"/>
                </a:solidFill>
                <a:latin typeface="Plus Jakarta Sans ExtraBold"/>
              </a:rPr>
              <a:t>three people</a:t>
            </a:r>
            <a:r>
              <a:rPr sz="3800" b="0">
                <a:solidFill>
                  <a:srgbClr val="FFFFFF"/>
                </a:solidFill>
                <a:latin typeface="Plus Jakarta Sans ExtraBold"/>
              </a:rPr>
              <a:t> at once.</a:t>
            </a:r>
          </a:p>
        </p:txBody>
      </p:sp>
      <p:sp>
        <p:nvSpPr>
          <p:cNvPr id="6" name="Rounded Rectangle 5"/>
          <p:cNvSpPr/>
          <p:nvPr/>
        </p:nvSpPr>
        <p:spPr>
          <a:xfrm>
            <a:off x="731520" y="2240280"/>
            <a:ext cx="3362858" cy="3840480"/>
          </a:xfrm>
          <a:prstGeom prst="roundRect">
            <a:avLst>
              <a:gd name="adj" fmla="val 5982"/>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2532888"/>
            <a:ext cx="2722778" cy="457200"/>
          </a:xfrm>
          <a:prstGeom prst="rect">
            <a:avLst/>
          </a:prstGeom>
          <a:noFill/>
        </p:spPr>
        <p:txBody>
          <a:bodyPr wrap="square" lIns="0" rIns="0" tIns="0" bIns="0" anchor="t">
            <a:noAutofit/>
          </a:bodyPr>
          <a:lstStyle/>
          <a:p>
            <a:pPr algn="l">
              <a:lnSpc>
                <a:spcPts val="2500"/>
              </a:lnSpc>
              <a:spcBef>
                <a:spcPts val="0"/>
              </a:spcBef>
              <a:spcAft>
                <a:spcPts val="0"/>
              </a:spcAft>
              <a:buNone/>
            </a:pPr>
            <a:r>
              <a:rPr sz="2000" b="1">
                <a:solidFill>
                  <a:srgbClr val="FFFFFF"/>
                </a:solidFill>
                <a:latin typeface="Plus Jakarta Sans"/>
              </a:rPr>
              <a:t>Older adults</a:t>
            </a:r>
          </a:p>
        </p:txBody>
      </p:sp>
      <p:sp>
        <p:nvSpPr>
          <p:cNvPr id="8" name="TextBox 7"/>
          <p:cNvSpPr txBox="1"/>
          <p:nvPr/>
        </p:nvSpPr>
        <p:spPr>
          <a:xfrm>
            <a:off x="1051560" y="2953512"/>
            <a:ext cx="2722778" cy="548640"/>
          </a:xfrm>
          <a:prstGeom prst="rect">
            <a:avLst/>
          </a:prstGeom>
          <a:noFill/>
        </p:spPr>
        <p:txBody>
          <a:bodyPr wrap="square" lIns="0" rIns="0" tIns="0" bIns="0" anchor="t">
            <a:noAutofit/>
          </a:bodyPr>
          <a:lstStyle/>
          <a:p>
            <a:pPr algn="l">
              <a:lnSpc>
                <a:spcPts val="1950"/>
              </a:lnSpc>
              <a:spcBef>
                <a:spcPts val="0"/>
              </a:spcBef>
              <a:spcAft>
                <a:spcPts val="0"/>
              </a:spcAft>
              <a:buNone/>
            </a:pPr>
            <a:r>
              <a:rPr sz="1500" b="0">
                <a:solidFill>
                  <a:srgbClr val="93A4C7"/>
                </a:solidFill>
                <a:latin typeface="Plus Jakarta Sans"/>
              </a:rPr>
              <a:t>routines, reminders, real company</a:t>
            </a:r>
          </a:p>
        </p:txBody>
      </p:sp>
      <p:pic>
        <p:nvPicPr>
          <p:cNvPr id="9" name="Picture 8" descr="phone-overview.png"/>
          <p:cNvPicPr>
            <a:picLocks noChangeAspect="1"/>
          </p:cNvPicPr>
          <p:nvPr/>
        </p:nvPicPr>
        <p:blipFill>
          <a:blip r:embed="rId3"/>
          <a:srcRect b="50025"/>
          <a:stretch>
            <a:fillRect/>
          </a:stretch>
        </p:blipFill>
        <p:spPr>
          <a:xfrm>
            <a:off x="1155649" y="3611880"/>
            <a:ext cx="2514600" cy="2468880"/>
          </a:xfrm>
          <a:prstGeom prst="rect">
            <a:avLst/>
          </a:prstGeom>
        </p:spPr>
      </p:pic>
      <p:sp>
        <p:nvSpPr>
          <p:cNvPr id="10" name="Rounded Rectangle 9"/>
          <p:cNvSpPr/>
          <p:nvPr/>
        </p:nvSpPr>
        <p:spPr>
          <a:xfrm>
            <a:off x="4414418" y="2240280"/>
            <a:ext cx="3362858" cy="3840480"/>
          </a:xfrm>
          <a:prstGeom prst="roundRect">
            <a:avLst>
              <a:gd name="adj" fmla="val 5982"/>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34458" y="2532888"/>
            <a:ext cx="2722778" cy="457200"/>
          </a:xfrm>
          <a:prstGeom prst="rect">
            <a:avLst/>
          </a:prstGeom>
          <a:noFill/>
        </p:spPr>
        <p:txBody>
          <a:bodyPr wrap="square" lIns="0" rIns="0" tIns="0" bIns="0" anchor="t">
            <a:noAutofit/>
          </a:bodyPr>
          <a:lstStyle/>
          <a:p>
            <a:pPr algn="l">
              <a:lnSpc>
                <a:spcPts val="2400"/>
              </a:lnSpc>
              <a:spcBef>
                <a:spcPts val="0"/>
              </a:spcBef>
              <a:spcAft>
                <a:spcPts val="0"/>
              </a:spcAft>
              <a:buNone/>
            </a:pPr>
            <a:r>
              <a:rPr sz="1900" b="1">
                <a:solidFill>
                  <a:srgbClr val="FFFFFF"/>
                </a:solidFill>
                <a:latin typeface="Plus Jakarta Sans"/>
              </a:rPr>
              <a:t>Autistic teens &amp; adults</a:t>
            </a:r>
          </a:p>
        </p:txBody>
      </p:sp>
      <p:sp>
        <p:nvSpPr>
          <p:cNvPr id="12" name="TextBox 11"/>
          <p:cNvSpPr txBox="1"/>
          <p:nvPr/>
        </p:nvSpPr>
        <p:spPr>
          <a:xfrm>
            <a:off x="4734458" y="2953512"/>
            <a:ext cx="2722778" cy="548640"/>
          </a:xfrm>
          <a:prstGeom prst="rect">
            <a:avLst/>
          </a:prstGeom>
          <a:noFill/>
        </p:spPr>
        <p:txBody>
          <a:bodyPr wrap="square" lIns="0" rIns="0" tIns="0" bIns="0" anchor="t">
            <a:noAutofit/>
          </a:bodyPr>
          <a:lstStyle/>
          <a:p>
            <a:pPr algn="l">
              <a:lnSpc>
                <a:spcPts val="1950"/>
              </a:lnSpc>
              <a:spcBef>
                <a:spcPts val="0"/>
              </a:spcBef>
              <a:spcAft>
                <a:spcPts val="0"/>
              </a:spcAft>
              <a:buNone/>
            </a:pPr>
            <a:r>
              <a:rPr sz="1500" b="0">
                <a:solidFill>
                  <a:srgbClr val="93A4C7"/>
                </a:solidFill>
                <a:latin typeface="Plus Jakarta Sans"/>
              </a:rPr>
              <a:t>predictable, untimed, sensory-calm</a:t>
            </a:r>
          </a:p>
        </p:txBody>
      </p:sp>
      <p:pic>
        <p:nvPicPr>
          <p:cNvPr id="13" name="Picture 12" descr="phone-activities.png"/>
          <p:cNvPicPr>
            <a:picLocks noChangeAspect="1"/>
          </p:cNvPicPr>
          <p:nvPr/>
        </p:nvPicPr>
        <p:blipFill>
          <a:blip r:embed="rId4"/>
          <a:srcRect b="50025"/>
          <a:stretch>
            <a:fillRect/>
          </a:stretch>
        </p:blipFill>
        <p:spPr>
          <a:xfrm>
            <a:off x="4838547" y="3611880"/>
            <a:ext cx="2514600" cy="2468880"/>
          </a:xfrm>
          <a:prstGeom prst="rect">
            <a:avLst/>
          </a:prstGeom>
        </p:spPr>
      </p:pic>
      <p:sp>
        <p:nvSpPr>
          <p:cNvPr id="14" name="Rounded Rectangle 13"/>
          <p:cNvSpPr/>
          <p:nvPr/>
        </p:nvSpPr>
        <p:spPr>
          <a:xfrm>
            <a:off x="8097316" y="2240280"/>
            <a:ext cx="3362858" cy="3840480"/>
          </a:xfrm>
          <a:prstGeom prst="roundRect">
            <a:avLst>
              <a:gd name="adj" fmla="val 5982"/>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7356" y="2532888"/>
            <a:ext cx="2722778" cy="457200"/>
          </a:xfrm>
          <a:prstGeom prst="rect">
            <a:avLst/>
          </a:prstGeom>
          <a:noFill/>
        </p:spPr>
        <p:txBody>
          <a:bodyPr wrap="square" lIns="0" rIns="0" tIns="0" bIns="0" anchor="t">
            <a:noAutofit/>
          </a:bodyPr>
          <a:lstStyle/>
          <a:p>
            <a:pPr algn="l">
              <a:lnSpc>
                <a:spcPts val="2500"/>
              </a:lnSpc>
              <a:spcBef>
                <a:spcPts val="0"/>
              </a:spcBef>
              <a:spcAft>
                <a:spcPts val="0"/>
              </a:spcAft>
              <a:buNone/>
            </a:pPr>
            <a:r>
              <a:rPr sz="2000" b="1">
                <a:solidFill>
                  <a:srgbClr val="FFFFFF"/>
                </a:solidFill>
                <a:latin typeface="Plus Jakarta Sans"/>
              </a:rPr>
              <a:t>Family caregivers</a:t>
            </a:r>
          </a:p>
        </p:txBody>
      </p:sp>
      <p:sp>
        <p:nvSpPr>
          <p:cNvPr id="16" name="TextBox 15"/>
          <p:cNvSpPr txBox="1"/>
          <p:nvPr/>
        </p:nvSpPr>
        <p:spPr>
          <a:xfrm>
            <a:off x="8417356" y="2953512"/>
            <a:ext cx="2722778" cy="548640"/>
          </a:xfrm>
          <a:prstGeom prst="rect">
            <a:avLst/>
          </a:prstGeom>
          <a:noFill/>
        </p:spPr>
        <p:txBody>
          <a:bodyPr wrap="square" lIns="0" rIns="0" tIns="0" bIns="0" anchor="t">
            <a:noAutofit/>
          </a:bodyPr>
          <a:lstStyle/>
          <a:p>
            <a:pPr algn="l">
              <a:lnSpc>
                <a:spcPts val="1950"/>
              </a:lnSpc>
              <a:spcBef>
                <a:spcPts val="0"/>
              </a:spcBef>
              <a:spcAft>
                <a:spcPts val="0"/>
              </a:spcAft>
              <a:buNone/>
            </a:pPr>
            <a:r>
              <a:rPr sz="1500" b="0">
                <a:solidFill>
                  <a:srgbClr val="93A4C7"/>
                </a:solidFill>
                <a:latin typeface="Plus Jakarta Sans"/>
              </a:rPr>
              <a:t>notes and a brief they can trust</a:t>
            </a:r>
          </a:p>
        </p:txBody>
      </p:sp>
      <p:pic>
        <p:nvPicPr>
          <p:cNvPr id="17" name="Picture 16" descr="phone-visitbrief.png"/>
          <p:cNvPicPr>
            <a:picLocks noChangeAspect="1"/>
          </p:cNvPicPr>
          <p:nvPr/>
        </p:nvPicPr>
        <p:blipFill>
          <a:blip r:embed="rId5"/>
          <a:srcRect b="50025"/>
          <a:stretch>
            <a:fillRect/>
          </a:stretch>
        </p:blipFill>
        <p:spPr>
          <a:xfrm>
            <a:off x="8521446" y="3611880"/>
            <a:ext cx="2514600" cy="2468880"/>
          </a:xfrm>
          <a:prstGeom prst="rect">
            <a:avLst/>
          </a:prstGeom>
        </p:spPr>
      </p:pic>
      <p:sp>
        <p:nvSpPr>
          <p:cNvPr id="18" name="TextBox 17"/>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19" name="TextBox 18"/>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05</a:t>
            </a:r>
          </a:p>
        </p:txBody>
      </p:sp>
      <p:pic>
        <p:nvPicPr>
          <p:cNvPr id="20" name="Picture 19" descr="icon.png"/>
          <p:cNvPicPr>
            <a:picLocks noChangeAspect="1"/>
          </p:cNvPicPr>
          <p:nvPr/>
        </p:nvPicPr>
        <p:blipFill>
          <a:blip r:embed="rId6"/>
          <a:stretch>
            <a:fillRect/>
          </a:stretch>
        </p:blipFill>
        <p:spPr>
          <a:xfrm>
            <a:off x="731520" y="6382512"/>
            <a:ext cx="237744" cy="237744"/>
          </a:xfrm>
          <a:prstGeom prst="roundRect">
            <a:avLst>
              <a:gd name="adj" fmla="val 26923"/>
            </a:avLst>
          </a:prstGeom>
        </p:spPr>
      </p:pic>
      <p:sp>
        <p:nvSpPr>
          <p:cNvPr id="21" name="TextBox 20"/>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THE SOLUTION</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One calm app. </a:t>
            </a:r>
            <a:r>
              <a:rPr sz="3800" b="0">
                <a:solidFill>
                  <a:srgbClr val="06E288"/>
                </a:solidFill>
                <a:latin typeface="Plus Jakarta Sans ExtraBold"/>
              </a:rPr>
              <a:t>Five familiar places.</a:t>
            </a:r>
          </a:p>
        </p:txBody>
      </p:sp>
      <p:pic>
        <p:nvPicPr>
          <p:cNvPr id="6" name="Picture 5" descr="phone-overview.png"/>
          <p:cNvPicPr>
            <a:picLocks noChangeAspect="1"/>
          </p:cNvPicPr>
          <p:nvPr/>
        </p:nvPicPr>
        <p:blipFill>
          <a:blip r:embed="rId3"/>
          <a:stretch>
            <a:fillRect/>
          </a:stretch>
        </p:blipFill>
        <p:spPr>
          <a:xfrm>
            <a:off x="731520" y="2331720"/>
            <a:ext cx="1965960" cy="3862396"/>
          </a:xfrm>
          <a:prstGeom prst="rect">
            <a:avLst/>
          </a:prstGeom>
        </p:spPr>
      </p:pic>
      <p:sp>
        <p:nvSpPr>
          <p:cNvPr id="7" name="Rounded Rectangle 6"/>
          <p:cNvSpPr/>
          <p:nvPr/>
        </p:nvSpPr>
        <p:spPr>
          <a:xfrm>
            <a:off x="1069212" y="1874519"/>
            <a:ext cx="12905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9212" y="1874519"/>
            <a:ext cx="129057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OVERVIEW</a:t>
            </a:r>
          </a:p>
        </p:txBody>
      </p:sp>
      <p:pic>
        <p:nvPicPr>
          <p:cNvPr id="9" name="Picture 8" descr="phone-activities.png"/>
          <p:cNvPicPr>
            <a:picLocks noChangeAspect="1"/>
          </p:cNvPicPr>
          <p:nvPr/>
        </p:nvPicPr>
        <p:blipFill>
          <a:blip r:embed="rId4"/>
          <a:stretch>
            <a:fillRect/>
          </a:stretch>
        </p:blipFill>
        <p:spPr>
          <a:xfrm>
            <a:off x="2922193" y="2606040"/>
            <a:ext cx="1965960" cy="3862396"/>
          </a:xfrm>
          <a:prstGeom prst="rect">
            <a:avLst/>
          </a:prstGeom>
        </p:spPr>
      </p:pic>
      <p:sp>
        <p:nvSpPr>
          <p:cNvPr id="10" name="Rounded Rectangle 9"/>
          <p:cNvSpPr/>
          <p:nvPr/>
        </p:nvSpPr>
        <p:spPr>
          <a:xfrm>
            <a:off x="3240836" y="1874519"/>
            <a:ext cx="13286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240836" y="1874519"/>
            <a:ext cx="132867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ACTIVITIES</a:t>
            </a:r>
          </a:p>
        </p:txBody>
      </p:sp>
      <p:pic>
        <p:nvPicPr>
          <p:cNvPr id="12" name="Picture 11" descr="phone-circles.png"/>
          <p:cNvPicPr>
            <a:picLocks noChangeAspect="1"/>
          </p:cNvPicPr>
          <p:nvPr/>
        </p:nvPicPr>
        <p:blipFill>
          <a:blip r:embed="rId5"/>
          <a:stretch>
            <a:fillRect/>
          </a:stretch>
        </p:blipFill>
        <p:spPr>
          <a:xfrm>
            <a:off x="5112867" y="2331720"/>
            <a:ext cx="1965960" cy="3862396"/>
          </a:xfrm>
          <a:prstGeom prst="rect">
            <a:avLst/>
          </a:prstGeom>
        </p:spPr>
      </p:pic>
      <p:sp>
        <p:nvSpPr>
          <p:cNvPr id="13" name="Rounded Rectangle 12"/>
          <p:cNvSpPr/>
          <p:nvPr/>
        </p:nvSpPr>
        <p:spPr>
          <a:xfrm>
            <a:off x="5183860" y="1874519"/>
            <a:ext cx="1823973"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3860" y="1874519"/>
            <a:ext cx="1823973"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COFFEE CIRCLES</a:t>
            </a:r>
          </a:p>
        </p:txBody>
      </p:sp>
      <p:pic>
        <p:nvPicPr>
          <p:cNvPr id="15" name="Picture 14" descr="phone-care.png"/>
          <p:cNvPicPr>
            <a:picLocks noChangeAspect="1"/>
          </p:cNvPicPr>
          <p:nvPr/>
        </p:nvPicPr>
        <p:blipFill>
          <a:blip r:embed="rId6"/>
          <a:stretch>
            <a:fillRect/>
          </a:stretch>
        </p:blipFill>
        <p:spPr>
          <a:xfrm>
            <a:off x="7303541" y="2606040"/>
            <a:ext cx="1965960" cy="3862396"/>
          </a:xfrm>
          <a:prstGeom prst="rect">
            <a:avLst/>
          </a:prstGeom>
        </p:spPr>
      </p:pic>
      <p:sp>
        <p:nvSpPr>
          <p:cNvPr id="16" name="Rounded Rectangle 15"/>
          <p:cNvSpPr/>
          <p:nvPr/>
        </p:nvSpPr>
        <p:spPr>
          <a:xfrm>
            <a:off x="7533284" y="1874519"/>
            <a:ext cx="15064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33284" y="1874519"/>
            <a:ext cx="150647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CARE CIRCLE</a:t>
            </a:r>
          </a:p>
        </p:txBody>
      </p:sp>
      <p:pic>
        <p:nvPicPr>
          <p:cNvPr id="18" name="Picture 17" descr="phone-vitals.png"/>
          <p:cNvPicPr>
            <a:picLocks noChangeAspect="1"/>
          </p:cNvPicPr>
          <p:nvPr/>
        </p:nvPicPr>
        <p:blipFill>
          <a:blip r:embed="rId7"/>
          <a:stretch>
            <a:fillRect/>
          </a:stretch>
        </p:blipFill>
        <p:spPr>
          <a:xfrm>
            <a:off x="9494215" y="2331720"/>
            <a:ext cx="1965960" cy="3862396"/>
          </a:xfrm>
          <a:prstGeom prst="rect">
            <a:avLst/>
          </a:prstGeom>
        </p:spPr>
      </p:pic>
      <p:sp>
        <p:nvSpPr>
          <p:cNvPr id="19" name="Rounded Rectangle 18"/>
          <p:cNvSpPr/>
          <p:nvPr/>
        </p:nvSpPr>
        <p:spPr>
          <a:xfrm>
            <a:off x="9981133" y="1874519"/>
            <a:ext cx="99212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81133" y="1874519"/>
            <a:ext cx="99212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VITALS</a:t>
            </a:r>
          </a:p>
        </p:txBody>
      </p:sp>
      <p:sp>
        <p:nvSpPr>
          <p:cNvPr id="21" name="TextBox 20"/>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22" name="TextBox 21"/>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06</a:t>
            </a:r>
          </a:p>
        </p:txBody>
      </p:sp>
      <p:pic>
        <p:nvPicPr>
          <p:cNvPr id="23" name="Picture 22" descr="icon.png"/>
          <p:cNvPicPr>
            <a:picLocks noChangeAspect="1"/>
          </p:cNvPicPr>
          <p:nvPr/>
        </p:nvPicPr>
        <p:blipFill>
          <a:blip r:embed="rId8"/>
          <a:stretch>
            <a:fillRect/>
          </a:stretch>
        </p:blipFill>
        <p:spPr>
          <a:xfrm>
            <a:off x="731520" y="6382512"/>
            <a:ext cx="237744" cy="237744"/>
          </a:xfrm>
          <a:prstGeom prst="roundRect">
            <a:avLst>
              <a:gd name="adj" fmla="val 26923"/>
            </a:avLst>
          </a:prstGeom>
        </p:spPr>
      </p:pic>
      <p:sp>
        <p:nvSpPr>
          <p:cNvPr id="24" name="TextBox 23"/>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CORE FEATURE · GAMES</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Four ways to play. </a:t>
            </a:r>
            <a:r>
              <a:rPr sz="3800" b="0">
                <a:solidFill>
                  <a:srgbClr val="06E288"/>
                </a:solidFill>
                <a:latin typeface="Plus Jakarta Sans ExtraBold"/>
              </a:rPr>
              <a:t>At your own pace.</a:t>
            </a:r>
          </a:p>
        </p:txBody>
      </p:sp>
      <p:sp>
        <p:nvSpPr>
          <p:cNvPr id="6" name="Rounded Rectangle 5"/>
          <p:cNvSpPr/>
          <p:nvPr/>
        </p:nvSpPr>
        <p:spPr>
          <a:xfrm>
            <a:off x="731520" y="2103120"/>
            <a:ext cx="2531287" cy="3977639"/>
          </a:xfrm>
          <a:prstGeom prst="roundRect">
            <a:avLst>
              <a:gd name="adj" fmla="val 7947"/>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331720"/>
            <a:ext cx="2165527" cy="594360"/>
          </a:xfrm>
          <a:prstGeom prst="rect">
            <a:avLst/>
          </a:prstGeom>
          <a:noFill/>
        </p:spPr>
        <p:txBody>
          <a:bodyPr wrap="square" lIns="0" rIns="0" tIns="0" bIns="0" anchor="t">
            <a:noAutofit/>
          </a:bodyPr>
          <a:lstStyle/>
          <a:p>
            <a:pPr algn="l">
              <a:lnSpc>
                <a:spcPts val="2400"/>
              </a:lnSpc>
              <a:spcBef>
                <a:spcPts val="0"/>
              </a:spcBef>
              <a:spcAft>
                <a:spcPts val="0"/>
              </a:spcAft>
              <a:buNone/>
            </a:pPr>
            <a:r>
              <a:rPr sz="1900" b="1">
                <a:solidFill>
                  <a:srgbClr val="FFFFFF"/>
                </a:solidFill>
                <a:latin typeface="Plus Jakarta Sans"/>
              </a:rPr>
              <a:t>Feelings Explorer</a:t>
            </a:r>
          </a:p>
        </p:txBody>
      </p:sp>
      <p:pic>
        <p:nvPicPr>
          <p:cNvPr id="8" name="Picture 7" descr="crop-feelings.png"/>
          <p:cNvPicPr>
            <a:picLocks noChangeAspect="1"/>
          </p:cNvPicPr>
          <p:nvPr/>
        </p:nvPicPr>
        <p:blipFill>
          <a:blip r:embed="rId3"/>
          <a:stretch>
            <a:fillRect/>
          </a:stretch>
        </p:blipFill>
        <p:spPr>
          <a:xfrm>
            <a:off x="1126306" y="3063240"/>
            <a:ext cx="1741714" cy="1645920"/>
          </a:xfrm>
          <a:prstGeom prst="rect">
            <a:avLst/>
          </a:prstGeom>
        </p:spPr>
      </p:pic>
      <p:sp>
        <p:nvSpPr>
          <p:cNvPr id="9" name="TextBox 8"/>
          <p:cNvSpPr txBox="1"/>
          <p:nvPr/>
        </p:nvSpPr>
        <p:spPr>
          <a:xfrm>
            <a:off x="914400" y="4937760"/>
            <a:ext cx="2165527" cy="457200"/>
          </a:xfrm>
          <a:prstGeom prst="rect">
            <a:avLst/>
          </a:prstGeom>
          <a:noFill/>
        </p:spPr>
        <p:txBody>
          <a:bodyPr wrap="square" lIns="0" rIns="0" tIns="0" bIns="0" anchor="t">
            <a:noAutofit/>
          </a:bodyPr>
          <a:lstStyle/>
          <a:p>
            <a:pPr algn="l">
              <a:lnSpc>
                <a:spcPts val="1869"/>
              </a:lnSpc>
              <a:spcBef>
                <a:spcPts val="0"/>
              </a:spcBef>
              <a:spcAft>
                <a:spcPts val="0"/>
              </a:spcAft>
              <a:buNone/>
            </a:pPr>
            <a:r>
              <a:rPr sz="1500" b="1">
                <a:solidFill>
                  <a:srgbClr val="06E288"/>
                </a:solidFill>
                <a:latin typeface="Plus Jakarta Sans"/>
              </a:rPr>
              <a:t>Choose how you feel.</a:t>
            </a:r>
          </a:p>
        </p:txBody>
      </p:sp>
      <p:sp>
        <p:nvSpPr>
          <p:cNvPr id="10" name="TextBox 9"/>
          <p:cNvSpPr txBox="1"/>
          <p:nvPr/>
        </p:nvSpPr>
        <p:spPr>
          <a:xfrm>
            <a:off x="914400" y="5468112"/>
            <a:ext cx="2165527" cy="457200"/>
          </a:xfrm>
          <a:prstGeom prst="rect">
            <a:avLst/>
          </a:prstGeom>
          <a:noFill/>
        </p:spPr>
        <p:txBody>
          <a:bodyPr wrap="square" lIns="0" rIns="0" tIns="0" bIns="0" anchor="t">
            <a:noAutofit/>
          </a:bodyPr>
          <a:lstStyle/>
          <a:p>
            <a:pPr algn="l">
              <a:lnSpc>
                <a:spcPts val="1800"/>
              </a:lnSpc>
              <a:spcBef>
                <a:spcPts val="0"/>
              </a:spcBef>
              <a:spcAft>
                <a:spcPts val="0"/>
              </a:spcAft>
              <a:buNone/>
            </a:pPr>
            <a:r>
              <a:rPr sz="1450" b="0">
                <a:solidFill>
                  <a:srgbClr val="D7E0F2"/>
                </a:solidFill>
                <a:latin typeface="Plus Jakarta Sans"/>
              </a:rPr>
              <a:t>No right or wrong answer.</a:t>
            </a:r>
          </a:p>
        </p:txBody>
      </p:sp>
      <p:sp>
        <p:nvSpPr>
          <p:cNvPr id="11" name="Rounded Rectangle 10"/>
          <p:cNvSpPr/>
          <p:nvPr/>
        </p:nvSpPr>
        <p:spPr>
          <a:xfrm>
            <a:off x="3463975" y="2103120"/>
            <a:ext cx="2531287" cy="3977639"/>
          </a:xfrm>
          <a:prstGeom prst="roundRect">
            <a:avLst>
              <a:gd name="adj" fmla="val 7947"/>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46855" y="2331720"/>
            <a:ext cx="2165527" cy="594360"/>
          </a:xfrm>
          <a:prstGeom prst="rect">
            <a:avLst/>
          </a:prstGeom>
          <a:noFill/>
        </p:spPr>
        <p:txBody>
          <a:bodyPr wrap="square" lIns="0" rIns="0" tIns="0" bIns="0" anchor="t">
            <a:noAutofit/>
          </a:bodyPr>
          <a:lstStyle/>
          <a:p>
            <a:pPr algn="l">
              <a:lnSpc>
                <a:spcPts val="2500"/>
              </a:lnSpc>
              <a:spcBef>
                <a:spcPts val="0"/>
              </a:spcBef>
              <a:spcAft>
                <a:spcPts val="0"/>
              </a:spcAft>
              <a:buNone/>
            </a:pPr>
            <a:r>
              <a:rPr sz="2000" b="1">
                <a:solidFill>
                  <a:srgbClr val="FFFFFF"/>
                </a:solidFill>
                <a:latin typeface="Plus Jakarta Sans"/>
              </a:rPr>
              <a:t>Pattern Recall</a:t>
            </a:r>
          </a:p>
        </p:txBody>
      </p:sp>
      <p:pic>
        <p:nvPicPr>
          <p:cNvPr id="13" name="Picture 12" descr="crop-pattern.png"/>
          <p:cNvPicPr>
            <a:picLocks noChangeAspect="1"/>
          </p:cNvPicPr>
          <p:nvPr/>
        </p:nvPicPr>
        <p:blipFill>
          <a:blip r:embed="rId4"/>
          <a:stretch>
            <a:fillRect/>
          </a:stretch>
        </p:blipFill>
        <p:spPr>
          <a:xfrm>
            <a:off x="3858762" y="3063240"/>
            <a:ext cx="1741714" cy="1645920"/>
          </a:xfrm>
          <a:prstGeom prst="rect">
            <a:avLst/>
          </a:prstGeom>
        </p:spPr>
      </p:pic>
      <p:sp>
        <p:nvSpPr>
          <p:cNvPr id="14" name="TextBox 13"/>
          <p:cNvSpPr txBox="1"/>
          <p:nvPr/>
        </p:nvSpPr>
        <p:spPr>
          <a:xfrm>
            <a:off x="3646855" y="4937760"/>
            <a:ext cx="2165527" cy="457200"/>
          </a:xfrm>
          <a:prstGeom prst="rect">
            <a:avLst/>
          </a:prstGeom>
          <a:noFill/>
        </p:spPr>
        <p:txBody>
          <a:bodyPr wrap="square" lIns="0" rIns="0" tIns="0" bIns="0" anchor="t">
            <a:noAutofit/>
          </a:bodyPr>
          <a:lstStyle/>
          <a:p>
            <a:pPr algn="l">
              <a:lnSpc>
                <a:spcPts val="2039"/>
              </a:lnSpc>
              <a:spcBef>
                <a:spcPts val="0"/>
              </a:spcBef>
              <a:spcAft>
                <a:spcPts val="0"/>
              </a:spcAft>
              <a:buNone/>
            </a:pPr>
            <a:r>
              <a:rPr sz="1650" b="1">
                <a:solidFill>
                  <a:srgbClr val="06E288"/>
                </a:solidFill>
                <a:latin typeface="Plus Jakarta Sans"/>
              </a:rPr>
              <a:t>Watch, then repeat.</a:t>
            </a:r>
          </a:p>
        </p:txBody>
      </p:sp>
      <p:sp>
        <p:nvSpPr>
          <p:cNvPr id="15" name="TextBox 14"/>
          <p:cNvSpPr txBox="1"/>
          <p:nvPr/>
        </p:nvSpPr>
        <p:spPr>
          <a:xfrm>
            <a:off x="3646855" y="5468112"/>
            <a:ext cx="2165527" cy="457200"/>
          </a:xfrm>
          <a:prstGeom prst="rect">
            <a:avLst/>
          </a:prstGeom>
          <a:noFill/>
        </p:spPr>
        <p:txBody>
          <a:bodyPr wrap="square" lIns="0" rIns="0" tIns="0" bIns="0" anchor="t">
            <a:noAutofit/>
          </a:bodyPr>
          <a:lstStyle/>
          <a:p>
            <a:pPr algn="l">
              <a:lnSpc>
                <a:spcPts val="1800"/>
              </a:lnSpc>
              <a:spcBef>
                <a:spcPts val="0"/>
              </a:spcBef>
              <a:spcAft>
                <a:spcPts val="0"/>
              </a:spcAft>
              <a:buNone/>
            </a:pPr>
            <a:r>
              <a:rPr sz="1450" b="0">
                <a:solidFill>
                  <a:srgbClr val="D7E0F2"/>
                </a:solidFill>
                <a:latin typeface="Plus Jakarta Sans"/>
              </a:rPr>
              <a:t>Replay or stop anytime.</a:t>
            </a:r>
          </a:p>
        </p:txBody>
      </p:sp>
      <p:sp>
        <p:nvSpPr>
          <p:cNvPr id="16" name="Rounded Rectangle 15"/>
          <p:cNvSpPr/>
          <p:nvPr/>
        </p:nvSpPr>
        <p:spPr>
          <a:xfrm>
            <a:off x="6196431" y="2103120"/>
            <a:ext cx="2531287" cy="3977639"/>
          </a:xfrm>
          <a:prstGeom prst="roundRect">
            <a:avLst>
              <a:gd name="adj" fmla="val 7947"/>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79311" y="2331720"/>
            <a:ext cx="2165527" cy="594360"/>
          </a:xfrm>
          <a:prstGeom prst="rect">
            <a:avLst/>
          </a:prstGeom>
          <a:noFill/>
        </p:spPr>
        <p:txBody>
          <a:bodyPr wrap="square" lIns="0" rIns="0" tIns="0" bIns="0" anchor="t">
            <a:noAutofit/>
          </a:bodyPr>
          <a:lstStyle/>
          <a:p>
            <a:pPr algn="l">
              <a:lnSpc>
                <a:spcPts val="2500"/>
              </a:lnSpc>
              <a:spcBef>
                <a:spcPts val="0"/>
              </a:spcBef>
              <a:spcAft>
                <a:spcPts val="0"/>
              </a:spcAft>
              <a:buNone/>
            </a:pPr>
            <a:r>
              <a:rPr sz="2000" b="1">
                <a:solidFill>
                  <a:srgbClr val="FFFFFF"/>
                </a:solidFill>
                <a:latin typeface="Plus Jakarta Sans"/>
              </a:rPr>
              <a:t>Picture Pairs</a:t>
            </a:r>
          </a:p>
        </p:txBody>
      </p:sp>
      <p:pic>
        <p:nvPicPr>
          <p:cNvPr id="18" name="Picture 17" descr="crop-pairs.png"/>
          <p:cNvPicPr>
            <a:picLocks noChangeAspect="1"/>
          </p:cNvPicPr>
          <p:nvPr/>
        </p:nvPicPr>
        <p:blipFill>
          <a:blip r:embed="rId5"/>
          <a:stretch>
            <a:fillRect/>
          </a:stretch>
        </p:blipFill>
        <p:spPr>
          <a:xfrm>
            <a:off x="6593974" y="3063240"/>
            <a:ext cx="1736202" cy="1645920"/>
          </a:xfrm>
          <a:prstGeom prst="rect">
            <a:avLst/>
          </a:prstGeom>
        </p:spPr>
      </p:pic>
      <p:sp>
        <p:nvSpPr>
          <p:cNvPr id="19" name="TextBox 18"/>
          <p:cNvSpPr txBox="1"/>
          <p:nvPr/>
        </p:nvSpPr>
        <p:spPr>
          <a:xfrm>
            <a:off x="6379311" y="4937760"/>
            <a:ext cx="2165527" cy="457200"/>
          </a:xfrm>
          <a:prstGeom prst="rect">
            <a:avLst/>
          </a:prstGeom>
          <a:noFill/>
        </p:spPr>
        <p:txBody>
          <a:bodyPr wrap="square" lIns="0" rIns="0" tIns="0" bIns="0" anchor="t">
            <a:noAutofit/>
          </a:bodyPr>
          <a:lstStyle/>
          <a:p>
            <a:pPr algn="l">
              <a:lnSpc>
                <a:spcPts val="1784"/>
              </a:lnSpc>
              <a:spcBef>
                <a:spcPts val="0"/>
              </a:spcBef>
              <a:spcAft>
                <a:spcPts val="0"/>
              </a:spcAft>
              <a:buNone/>
            </a:pPr>
            <a:r>
              <a:rPr sz="1450" b="1">
                <a:solidFill>
                  <a:srgbClr val="06E288"/>
                </a:solidFill>
                <a:latin typeface="Plus Jakarta Sans"/>
              </a:rPr>
              <a:t>Reveal matching cards.</a:t>
            </a:r>
          </a:p>
        </p:txBody>
      </p:sp>
      <p:sp>
        <p:nvSpPr>
          <p:cNvPr id="20" name="TextBox 19"/>
          <p:cNvSpPr txBox="1"/>
          <p:nvPr/>
        </p:nvSpPr>
        <p:spPr>
          <a:xfrm>
            <a:off x="6379311" y="5468112"/>
            <a:ext cx="2165527" cy="457200"/>
          </a:xfrm>
          <a:prstGeom prst="rect">
            <a:avLst/>
          </a:prstGeom>
          <a:noFill/>
        </p:spPr>
        <p:txBody>
          <a:bodyPr wrap="square" lIns="0" rIns="0" tIns="0" bIns="0" anchor="t">
            <a:noAutofit/>
          </a:bodyPr>
          <a:lstStyle/>
          <a:p>
            <a:pPr algn="l">
              <a:lnSpc>
                <a:spcPts val="1800"/>
              </a:lnSpc>
              <a:spcBef>
                <a:spcPts val="0"/>
              </a:spcBef>
              <a:spcAft>
                <a:spcPts val="0"/>
              </a:spcAft>
              <a:buNone/>
            </a:pPr>
            <a:r>
              <a:rPr sz="1450" b="0">
                <a:solidFill>
                  <a:srgbClr val="D7E0F2"/>
                </a:solidFill>
                <a:latin typeface="Plus Jakarta Sans"/>
              </a:rPr>
              <a:t>No countdown or score.</a:t>
            </a:r>
          </a:p>
        </p:txBody>
      </p:sp>
      <p:sp>
        <p:nvSpPr>
          <p:cNvPr id="21" name="Rounded Rectangle 20"/>
          <p:cNvSpPr/>
          <p:nvPr/>
        </p:nvSpPr>
        <p:spPr>
          <a:xfrm>
            <a:off x="8928887" y="2103120"/>
            <a:ext cx="2531287" cy="3977639"/>
          </a:xfrm>
          <a:prstGeom prst="roundRect">
            <a:avLst>
              <a:gd name="adj" fmla="val 7947"/>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11767" y="2331720"/>
            <a:ext cx="2165527" cy="594360"/>
          </a:xfrm>
          <a:prstGeom prst="rect">
            <a:avLst/>
          </a:prstGeom>
          <a:noFill/>
        </p:spPr>
        <p:txBody>
          <a:bodyPr wrap="square" lIns="0" rIns="0" tIns="0" bIns="0" anchor="t">
            <a:noAutofit/>
          </a:bodyPr>
          <a:lstStyle/>
          <a:p>
            <a:pPr algn="l">
              <a:lnSpc>
                <a:spcPts val="2500"/>
              </a:lnSpc>
              <a:spcBef>
                <a:spcPts val="0"/>
              </a:spcBef>
              <a:spcAft>
                <a:spcPts val="0"/>
              </a:spcAft>
              <a:buNone/>
            </a:pPr>
            <a:r>
              <a:rPr sz="2000" b="1">
                <a:solidFill>
                  <a:srgbClr val="FFFFFF"/>
                </a:solidFill>
                <a:latin typeface="Plus Jakarta Sans"/>
              </a:rPr>
              <a:t>Picture Story</a:t>
            </a:r>
          </a:p>
        </p:txBody>
      </p:sp>
      <p:pic>
        <p:nvPicPr>
          <p:cNvPr id="23" name="Picture 22" descr="crop-story.png"/>
          <p:cNvPicPr>
            <a:picLocks noChangeAspect="1"/>
          </p:cNvPicPr>
          <p:nvPr/>
        </p:nvPicPr>
        <p:blipFill>
          <a:blip r:embed="rId6"/>
          <a:stretch>
            <a:fillRect/>
          </a:stretch>
        </p:blipFill>
        <p:spPr>
          <a:xfrm>
            <a:off x="9326430" y="3063240"/>
            <a:ext cx="1736202" cy="1645920"/>
          </a:xfrm>
          <a:prstGeom prst="rect">
            <a:avLst/>
          </a:prstGeom>
        </p:spPr>
      </p:pic>
      <p:sp>
        <p:nvSpPr>
          <p:cNvPr id="24" name="TextBox 23"/>
          <p:cNvSpPr txBox="1"/>
          <p:nvPr/>
        </p:nvSpPr>
        <p:spPr>
          <a:xfrm>
            <a:off x="9111767" y="4937760"/>
            <a:ext cx="2165527" cy="457200"/>
          </a:xfrm>
          <a:prstGeom prst="rect">
            <a:avLst/>
          </a:prstGeom>
          <a:noFill/>
        </p:spPr>
        <p:txBody>
          <a:bodyPr wrap="square" lIns="0" rIns="0" tIns="0" bIns="0" anchor="t">
            <a:noAutofit/>
          </a:bodyPr>
          <a:lstStyle/>
          <a:p>
            <a:pPr algn="l">
              <a:lnSpc>
                <a:spcPts val="1784"/>
              </a:lnSpc>
              <a:spcBef>
                <a:spcPts val="0"/>
              </a:spcBef>
              <a:spcAft>
                <a:spcPts val="0"/>
              </a:spcAft>
              <a:buNone/>
            </a:pPr>
            <a:r>
              <a:rPr sz="1450" b="1">
                <a:solidFill>
                  <a:srgbClr val="06E288"/>
                </a:solidFill>
                <a:latin typeface="Plus Jakarta Sans"/>
              </a:rPr>
              <a:t>Explore a picture sequence.</a:t>
            </a:r>
          </a:p>
        </p:txBody>
      </p:sp>
      <p:sp>
        <p:nvSpPr>
          <p:cNvPr id="25" name="TextBox 24"/>
          <p:cNvSpPr txBox="1"/>
          <p:nvPr/>
        </p:nvSpPr>
        <p:spPr>
          <a:xfrm>
            <a:off x="9111767" y="5468112"/>
            <a:ext cx="2165527" cy="457200"/>
          </a:xfrm>
          <a:prstGeom prst="rect">
            <a:avLst/>
          </a:prstGeom>
          <a:noFill/>
        </p:spPr>
        <p:txBody>
          <a:bodyPr wrap="square" lIns="0" rIns="0" tIns="0" bIns="0" anchor="t">
            <a:noAutofit/>
          </a:bodyPr>
          <a:lstStyle/>
          <a:p>
            <a:pPr algn="l">
              <a:lnSpc>
                <a:spcPts val="1875"/>
              </a:lnSpc>
              <a:spcBef>
                <a:spcPts val="0"/>
              </a:spcBef>
              <a:spcAft>
                <a:spcPts val="0"/>
              </a:spcAft>
              <a:buNone/>
            </a:pPr>
            <a:r>
              <a:rPr sz="1500" b="0">
                <a:solidFill>
                  <a:srgbClr val="D7E0F2"/>
                </a:solidFill>
                <a:latin typeface="Plus Jakarta Sans"/>
              </a:rPr>
              <a:t>Advance when ready.</a:t>
            </a:r>
          </a:p>
        </p:txBody>
      </p:sp>
      <p:sp>
        <p:nvSpPr>
          <p:cNvPr id="26" name="TextBox 25"/>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07</a:t>
            </a:r>
          </a:p>
        </p:txBody>
      </p:sp>
      <p:pic>
        <p:nvPicPr>
          <p:cNvPr id="27" name="Picture 26" descr="icon.png"/>
          <p:cNvPicPr>
            <a:picLocks noChangeAspect="1"/>
          </p:cNvPicPr>
          <p:nvPr/>
        </p:nvPicPr>
        <p:blipFill>
          <a:blip r:embed="rId7"/>
          <a:stretch>
            <a:fillRect/>
          </a:stretch>
        </p:blipFill>
        <p:spPr>
          <a:xfrm>
            <a:off x="731520" y="6382512"/>
            <a:ext cx="237744" cy="237744"/>
          </a:xfrm>
          <a:prstGeom prst="roundRect">
            <a:avLst>
              <a:gd name="adj" fmla="val 26923"/>
            </a:avLst>
          </a:prstGeom>
        </p:spPr>
      </p:pic>
      <p:sp>
        <p:nvSpPr>
          <p:cNvPr id="28" name="TextBox 27"/>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CORE FEATURE · SENSORY CHOICE</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A quieter experience. </a:t>
            </a:r>
            <a:r>
              <a:rPr sz="3800" b="0">
                <a:solidFill>
                  <a:srgbClr val="06E288"/>
                </a:solidFill>
                <a:latin typeface="Plus Jakarta Sans ExtraBold"/>
              </a:rPr>
              <a:t>On your terms.</a:t>
            </a:r>
          </a:p>
        </p:txBody>
      </p:sp>
      <p:pic>
        <p:nvPicPr>
          <p:cNvPr id="6" name="Picture 5" descr="crop-breathing.png"/>
          <p:cNvPicPr>
            <a:picLocks noChangeAspect="1"/>
          </p:cNvPicPr>
          <p:nvPr/>
        </p:nvPicPr>
        <p:blipFill>
          <a:blip r:embed="rId3"/>
          <a:stretch>
            <a:fillRect/>
          </a:stretch>
        </p:blipFill>
        <p:spPr>
          <a:xfrm>
            <a:off x="731520" y="2148840"/>
            <a:ext cx="3383280" cy="2351379"/>
          </a:xfrm>
          <a:prstGeom prst="rect">
            <a:avLst/>
          </a:prstGeom>
        </p:spPr>
      </p:pic>
      <p:pic>
        <p:nvPicPr>
          <p:cNvPr id="7" name="Picture 6" descr="crop-soundscapes.png"/>
          <p:cNvPicPr>
            <a:picLocks noChangeAspect="1"/>
          </p:cNvPicPr>
          <p:nvPr/>
        </p:nvPicPr>
        <p:blipFill>
          <a:blip r:embed="rId4"/>
          <a:stretch>
            <a:fillRect/>
          </a:stretch>
        </p:blipFill>
        <p:spPr>
          <a:xfrm>
            <a:off x="4389120" y="2148840"/>
            <a:ext cx="3383280" cy="2351379"/>
          </a:xfrm>
          <a:prstGeom prst="roundRect">
            <a:avLst>
              <a:gd name="adj" fmla="val 5755"/>
            </a:avLst>
          </a:prstGeom>
        </p:spPr>
      </p:pic>
      <p:sp>
        <p:nvSpPr>
          <p:cNvPr id="8" name="TextBox 7"/>
          <p:cNvSpPr txBox="1"/>
          <p:nvPr/>
        </p:nvSpPr>
        <p:spPr>
          <a:xfrm>
            <a:off x="8138160" y="2194560"/>
            <a:ext cx="329184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Breathing</a:t>
            </a:r>
          </a:p>
        </p:txBody>
      </p:sp>
      <p:sp>
        <p:nvSpPr>
          <p:cNvPr id="9" name="TextBox 8"/>
          <p:cNvSpPr txBox="1"/>
          <p:nvPr/>
        </p:nvSpPr>
        <p:spPr>
          <a:xfrm>
            <a:off x="8138160" y="2651760"/>
            <a:ext cx="3291840" cy="77724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4 seconds in · 4 hold · 6 out. Start and pause yourself.</a:t>
            </a:r>
          </a:p>
        </p:txBody>
      </p:sp>
      <p:sp>
        <p:nvSpPr>
          <p:cNvPr id="10" name="TextBox 9"/>
          <p:cNvSpPr txBox="1"/>
          <p:nvPr/>
        </p:nvSpPr>
        <p:spPr>
          <a:xfrm>
            <a:off x="8138160" y="3474720"/>
            <a:ext cx="329184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Soundscapes</a:t>
            </a:r>
          </a:p>
        </p:txBody>
      </p:sp>
      <p:sp>
        <p:nvSpPr>
          <p:cNvPr id="11" name="TextBox 10"/>
          <p:cNvSpPr txBox="1"/>
          <p:nvPr/>
        </p:nvSpPr>
        <p:spPr>
          <a:xfrm>
            <a:off x="8138160" y="3931920"/>
            <a:ext cx="3291840" cy="77724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Rain, ocean, forest and hearth. Sound starts only on request.</a:t>
            </a:r>
          </a:p>
        </p:txBody>
      </p:sp>
      <p:sp>
        <p:nvSpPr>
          <p:cNvPr id="12" name="TextBox 11"/>
          <p:cNvSpPr txBox="1"/>
          <p:nvPr/>
        </p:nvSpPr>
        <p:spPr>
          <a:xfrm>
            <a:off x="8138160" y="4754879"/>
            <a:ext cx="3291840" cy="41148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Accessibility</a:t>
            </a:r>
          </a:p>
        </p:txBody>
      </p:sp>
      <p:sp>
        <p:nvSpPr>
          <p:cNvPr id="13" name="TextBox 12"/>
          <p:cNvSpPr txBox="1"/>
          <p:nvPr/>
        </p:nvSpPr>
        <p:spPr>
          <a:xfrm>
            <a:off x="8138160" y="5212079"/>
            <a:ext cx="3291840" cy="777240"/>
          </a:xfrm>
          <a:prstGeom prst="rect">
            <a:avLst/>
          </a:prstGeom>
          <a:noFill/>
        </p:spPr>
        <p:txBody>
          <a:bodyPr wrap="square" lIns="0" rIns="0" tIns="0" bIns="0" anchor="t">
            <a:noAutofit/>
          </a:bodyPr>
          <a:lstStyle/>
          <a:p>
            <a:pPr algn="l">
              <a:lnSpc>
                <a:spcPts val="2039"/>
              </a:lnSpc>
              <a:spcBef>
                <a:spcPts val="0"/>
              </a:spcBef>
              <a:spcAft>
                <a:spcPts val="0"/>
              </a:spcAft>
              <a:buNone/>
            </a:pPr>
            <a:r>
              <a:rPr sz="1650" b="0">
                <a:solidFill>
                  <a:srgbClr val="D7E0F2"/>
                </a:solidFill>
                <a:latin typeface="Plus Jakarta Sans"/>
              </a:rPr>
              <a:t>Text sizes, palette choices, high contrast and reduced motion.</a:t>
            </a:r>
          </a:p>
        </p:txBody>
      </p:sp>
      <p:sp>
        <p:nvSpPr>
          <p:cNvPr id="14" name="TextBox 13"/>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08</a:t>
            </a:r>
          </a:p>
        </p:txBody>
      </p:sp>
      <p:pic>
        <p:nvPicPr>
          <p:cNvPr id="15" name="Picture 14" descr="icon.png"/>
          <p:cNvPicPr>
            <a:picLocks noChangeAspect="1"/>
          </p:cNvPicPr>
          <p:nvPr/>
        </p:nvPicPr>
        <p:blipFill>
          <a:blip r:embed="rId5"/>
          <a:stretch>
            <a:fillRect/>
          </a:stretch>
        </p:blipFill>
        <p:spPr>
          <a:xfrm>
            <a:off x="731520" y="6382512"/>
            <a:ext cx="237744" cy="237744"/>
          </a:xfrm>
          <a:prstGeom prst="roundRect">
            <a:avLst>
              <a:gd name="adj" fmla="val 26923"/>
            </a:avLst>
          </a:prstGeom>
        </p:spPr>
      </p:pic>
      <p:sp>
        <p:nvSpPr>
          <p:cNvPr id="16" name="TextBox 15"/>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RESEARCH → DESIGN DECISIONS</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3850"/>
              </a:lnSpc>
              <a:spcBef>
                <a:spcPts val="0"/>
              </a:spcBef>
              <a:spcAft>
                <a:spcPts val="0"/>
              </a:spcAft>
              <a:buNone/>
            </a:pPr>
            <a:r>
              <a:rPr sz="3500" b="0">
                <a:solidFill>
                  <a:srgbClr val="FFFFFF"/>
                </a:solidFill>
                <a:latin typeface="Plus Jakarta Sans ExtraBold"/>
              </a:rPr>
              <a:t>Research-informed. </a:t>
            </a:r>
            <a:r>
              <a:rPr sz="3500" b="0">
                <a:solidFill>
                  <a:srgbClr val="06E288"/>
                </a:solidFill>
                <a:latin typeface="Plus Jakarta Sans ExtraBold"/>
              </a:rPr>
              <a:t>Not clinically validated.</a:t>
            </a:r>
          </a:p>
        </p:txBody>
      </p:sp>
      <p:sp>
        <p:nvSpPr>
          <p:cNvPr id="6" name="Rounded Rectangle 5"/>
          <p:cNvSpPr/>
          <p:nvPr/>
        </p:nvSpPr>
        <p:spPr>
          <a:xfrm>
            <a:off x="731520" y="2148840"/>
            <a:ext cx="10728655" cy="1042415"/>
          </a:xfrm>
          <a:prstGeom prst="roundRect">
            <a:avLst>
              <a:gd name="adj" fmla="val 1929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13432"/>
            <a:ext cx="2560320" cy="640080"/>
          </a:xfrm>
          <a:prstGeom prst="rect">
            <a:avLst/>
          </a:prstGeom>
          <a:noFill/>
        </p:spPr>
        <p:txBody>
          <a:bodyPr wrap="square" lIns="0" rIns="0" tIns="0" bIns="0" anchor="t">
            <a:noAutofit/>
          </a:bodyPr>
          <a:lstStyle/>
          <a:p>
            <a:pPr algn="l">
              <a:lnSpc>
                <a:spcPts val="2125"/>
              </a:lnSpc>
              <a:spcBef>
                <a:spcPts val="0"/>
              </a:spcBef>
              <a:spcAft>
                <a:spcPts val="0"/>
              </a:spcAft>
              <a:buNone/>
            </a:pPr>
            <a:r>
              <a:rPr sz="1700" b="1">
                <a:solidFill>
                  <a:srgbClr val="06E288"/>
                </a:solidFill>
                <a:latin typeface="Plus Jakarta Sans"/>
              </a:rPr>
              <a:t>AASPIRE · 2019</a:t>
            </a:r>
          </a:p>
        </p:txBody>
      </p:sp>
      <p:sp>
        <p:nvSpPr>
          <p:cNvPr id="8" name="TextBox 7"/>
          <p:cNvSpPr txBox="1"/>
          <p:nvPr/>
        </p:nvSpPr>
        <p:spPr>
          <a:xfrm>
            <a:off x="3703320" y="2267712"/>
            <a:ext cx="7315200" cy="36576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Predictability and sensory choice</a:t>
            </a:r>
          </a:p>
        </p:txBody>
      </p:sp>
      <p:sp>
        <p:nvSpPr>
          <p:cNvPr id="9" name="TextBox 8"/>
          <p:cNvSpPr txBox="1"/>
          <p:nvPr/>
        </p:nvSpPr>
        <p:spPr>
          <a:xfrm>
            <a:off x="3703320" y="2715768"/>
            <a:ext cx="7315200"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Consistent navigation, palette options, reduced motion.</a:t>
            </a:r>
          </a:p>
        </p:txBody>
      </p:sp>
      <p:sp>
        <p:nvSpPr>
          <p:cNvPr id="10" name="Rounded Rectangle 9"/>
          <p:cNvSpPr/>
          <p:nvPr/>
        </p:nvSpPr>
        <p:spPr>
          <a:xfrm>
            <a:off x="731520" y="3383280"/>
            <a:ext cx="10728655" cy="1042415"/>
          </a:xfrm>
          <a:prstGeom prst="roundRect">
            <a:avLst>
              <a:gd name="adj" fmla="val 1929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0120" y="3547872"/>
            <a:ext cx="2560320" cy="640080"/>
          </a:xfrm>
          <a:prstGeom prst="rect">
            <a:avLst/>
          </a:prstGeom>
          <a:noFill/>
        </p:spPr>
        <p:txBody>
          <a:bodyPr wrap="square" lIns="0" rIns="0" tIns="0" bIns="0" anchor="t">
            <a:noAutofit/>
          </a:bodyPr>
          <a:lstStyle/>
          <a:p>
            <a:pPr algn="l">
              <a:lnSpc>
                <a:spcPts val="2125"/>
              </a:lnSpc>
              <a:spcBef>
                <a:spcPts val="0"/>
              </a:spcBef>
              <a:spcAft>
                <a:spcPts val="0"/>
              </a:spcAft>
              <a:buNone/>
            </a:pPr>
            <a:r>
              <a:rPr sz="1700" b="1">
                <a:solidFill>
                  <a:srgbClr val="06E288"/>
                </a:solidFill>
                <a:latin typeface="Plus Jakarta Sans"/>
              </a:rPr>
              <a:t>Game research · 2023 / 2025</a:t>
            </a:r>
          </a:p>
        </p:txBody>
      </p:sp>
      <p:sp>
        <p:nvSpPr>
          <p:cNvPr id="12" name="TextBox 11"/>
          <p:cNvSpPr txBox="1"/>
          <p:nvPr/>
        </p:nvSpPr>
        <p:spPr>
          <a:xfrm>
            <a:off x="3703320" y="3502152"/>
            <a:ext cx="7315200" cy="36576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Promising findings; varied studies</a:t>
            </a:r>
          </a:p>
        </p:txBody>
      </p:sp>
      <p:sp>
        <p:nvSpPr>
          <p:cNvPr id="13" name="TextBox 12"/>
          <p:cNvSpPr txBox="1"/>
          <p:nvPr/>
        </p:nvSpPr>
        <p:spPr>
          <a:xfrm>
            <a:off x="3703320" y="3950208"/>
            <a:ext cx="7315200"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Optional practice and enjoyment, not treatment.</a:t>
            </a:r>
          </a:p>
        </p:txBody>
      </p:sp>
      <p:sp>
        <p:nvSpPr>
          <p:cNvPr id="14" name="Rounded Rectangle 13"/>
          <p:cNvSpPr/>
          <p:nvPr/>
        </p:nvSpPr>
        <p:spPr>
          <a:xfrm>
            <a:off x="731520" y="4617720"/>
            <a:ext cx="10728655" cy="1042415"/>
          </a:xfrm>
          <a:prstGeom prst="roundRect">
            <a:avLst>
              <a:gd name="adj" fmla="val 1929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0120" y="4782312"/>
            <a:ext cx="2560320" cy="640080"/>
          </a:xfrm>
          <a:prstGeom prst="rect">
            <a:avLst/>
          </a:prstGeom>
          <a:noFill/>
        </p:spPr>
        <p:txBody>
          <a:bodyPr wrap="square" lIns="0" rIns="0" tIns="0" bIns="0" anchor="t">
            <a:noAutofit/>
          </a:bodyPr>
          <a:lstStyle/>
          <a:p>
            <a:pPr algn="l">
              <a:lnSpc>
                <a:spcPts val="2125"/>
              </a:lnSpc>
              <a:spcBef>
                <a:spcPts val="0"/>
              </a:spcBef>
              <a:spcAft>
                <a:spcPts val="0"/>
              </a:spcAft>
              <a:buNone/>
            </a:pPr>
            <a:r>
              <a:rPr sz="1700" b="1">
                <a:solidFill>
                  <a:srgbClr val="06E288"/>
                </a:solidFill>
                <a:latin typeface="Plus Jakarta Sans"/>
              </a:rPr>
              <a:t>Evidence boundary</a:t>
            </a:r>
          </a:p>
        </p:txBody>
      </p:sp>
      <p:sp>
        <p:nvSpPr>
          <p:cNvPr id="16" name="TextBox 15"/>
          <p:cNvSpPr txBox="1"/>
          <p:nvPr/>
        </p:nvSpPr>
        <p:spPr>
          <a:xfrm>
            <a:off x="3703320" y="4736592"/>
            <a:ext cx="7315200" cy="365760"/>
          </a:xfrm>
          <a:prstGeom prst="rect">
            <a:avLst/>
          </a:prstGeom>
          <a:noFill/>
        </p:spPr>
        <p:txBody>
          <a:bodyPr wrap="square" lIns="0" rIns="0" tIns="0" bIns="0" anchor="t">
            <a:noAutofit/>
          </a:bodyPr>
          <a:lstStyle/>
          <a:p>
            <a:pPr algn="l">
              <a:lnSpc>
                <a:spcPts val="2875"/>
              </a:lnSpc>
              <a:spcBef>
                <a:spcPts val="0"/>
              </a:spcBef>
              <a:spcAft>
                <a:spcPts val="0"/>
              </a:spcAft>
              <a:buNone/>
            </a:pPr>
            <a:r>
              <a:rPr sz="2300" b="1">
                <a:solidFill>
                  <a:srgbClr val="FFFFFF"/>
                </a:solidFill>
                <a:latin typeface="Plus Jakarta Sans"/>
              </a:rPr>
              <a:t>No CareSphere efficacy study</a:t>
            </a:r>
          </a:p>
        </p:txBody>
      </p:sp>
      <p:sp>
        <p:nvSpPr>
          <p:cNvPr id="17" name="TextBox 16"/>
          <p:cNvSpPr txBox="1"/>
          <p:nvPr/>
        </p:nvSpPr>
        <p:spPr>
          <a:xfrm>
            <a:off x="3703320" y="5184648"/>
            <a:ext cx="7315200"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Next: co-design and usability evaluation with intended users.</a:t>
            </a:r>
          </a:p>
        </p:txBody>
      </p:sp>
      <p:sp>
        <p:nvSpPr>
          <p:cNvPr id="18" name="TextBox 17"/>
          <p:cNvSpPr txBox="1"/>
          <p:nvPr/>
        </p:nvSpPr>
        <p:spPr>
          <a:xfrm>
            <a:off x="731520" y="5961888"/>
            <a:ext cx="10728655" cy="32004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Sources: Raymaker et al., 2019 · Alahmari et al., 2023 · Liu et al., 2025. Full links in notes.</a:t>
            </a:r>
          </a:p>
        </p:txBody>
      </p:sp>
      <p:sp>
        <p:nvSpPr>
          <p:cNvPr id="19" name="TextBox 18"/>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09</a:t>
            </a:r>
          </a:p>
        </p:txBody>
      </p:sp>
      <p:pic>
        <p:nvPicPr>
          <p:cNvPr id="20" name="Picture 19"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21" name="TextBox 20"/>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EVERYDAY SUPPORT</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From a reminder to </a:t>
            </a:r>
            <a:r>
              <a:rPr sz="3800" b="0">
                <a:solidFill>
                  <a:srgbClr val="06E288"/>
                </a:solidFill>
                <a:latin typeface="Plus Jakarta Sans ExtraBold"/>
              </a:rPr>
              <a:t>a real connection.</a:t>
            </a:r>
          </a:p>
        </p:txBody>
      </p:sp>
      <p:sp>
        <p:nvSpPr>
          <p:cNvPr id="6" name="Rounded Rectangle 5"/>
          <p:cNvSpPr/>
          <p:nvPr/>
        </p:nvSpPr>
        <p:spPr>
          <a:xfrm>
            <a:off x="731520" y="2011680"/>
            <a:ext cx="3393338" cy="4069080"/>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267712"/>
            <a:ext cx="2936138" cy="411480"/>
          </a:xfrm>
          <a:prstGeom prst="rect">
            <a:avLst/>
          </a:prstGeom>
          <a:noFill/>
        </p:spPr>
        <p:txBody>
          <a:bodyPr wrap="square" lIns="0" rIns="0" tIns="0" bIns="0" anchor="t">
            <a:noAutofit/>
          </a:bodyPr>
          <a:lstStyle/>
          <a:p>
            <a:pPr algn="l">
              <a:lnSpc>
                <a:spcPts val="2750"/>
              </a:lnSpc>
              <a:spcBef>
                <a:spcPts val="0"/>
              </a:spcBef>
              <a:spcAft>
                <a:spcPts val="0"/>
              </a:spcAft>
              <a:buNone/>
            </a:pPr>
            <a:r>
              <a:rPr sz="2200" b="1">
                <a:solidFill>
                  <a:srgbClr val="FFFFFF"/>
                </a:solidFill>
                <a:latin typeface="Plus Jakarta Sans"/>
              </a:rPr>
              <a:t>01  Remember</a:t>
            </a:r>
          </a:p>
        </p:txBody>
      </p:sp>
      <p:sp>
        <p:nvSpPr>
          <p:cNvPr id="8" name="TextBox 7"/>
          <p:cNvSpPr txBox="1"/>
          <p:nvPr/>
        </p:nvSpPr>
        <p:spPr>
          <a:xfrm>
            <a:off x="960120" y="2743200"/>
            <a:ext cx="2936138" cy="457200"/>
          </a:xfrm>
          <a:prstGeom prst="rect">
            <a:avLst/>
          </a:prstGeom>
          <a:noFill/>
        </p:spPr>
        <p:txBody>
          <a:bodyPr wrap="square" lIns="0" rIns="0" tIns="0" bIns="0" anchor="t">
            <a:noAutofit/>
          </a:bodyPr>
          <a:lstStyle/>
          <a:p>
            <a:pPr algn="l">
              <a:lnSpc>
                <a:spcPts val="2000"/>
              </a:lnSpc>
              <a:spcBef>
                <a:spcPts val="0"/>
              </a:spcBef>
              <a:spcAft>
                <a:spcPts val="0"/>
              </a:spcAft>
              <a:buNone/>
            </a:pPr>
            <a:r>
              <a:rPr sz="1600" b="0">
                <a:solidFill>
                  <a:srgbClr val="06E288"/>
                </a:solidFill>
                <a:latin typeface="Plus Jakarta Sans"/>
              </a:rPr>
              <a:t>Medication self-check-ins</a:t>
            </a:r>
          </a:p>
        </p:txBody>
      </p:sp>
      <p:pic>
        <p:nvPicPr>
          <p:cNvPr id="9" name="Picture 8" descr="crop-meds.png"/>
          <p:cNvPicPr>
            <a:picLocks noChangeAspect="1"/>
          </p:cNvPicPr>
          <p:nvPr/>
        </p:nvPicPr>
        <p:blipFill>
          <a:blip r:embed="rId3"/>
          <a:stretch>
            <a:fillRect/>
          </a:stretch>
        </p:blipFill>
        <p:spPr>
          <a:xfrm>
            <a:off x="960120" y="3429000"/>
            <a:ext cx="2936138" cy="2158061"/>
          </a:xfrm>
          <a:prstGeom prst="roundRect">
            <a:avLst>
              <a:gd name="adj" fmla="val 5442"/>
            </a:avLst>
          </a:prstGeom>
        </p:spPr>
      </p:pic>
      <p:sp>
        <p:nvSpPr>
          <p:cNvPr id="10" name="Rounded Rectangle 9"/>
          <p:cNvSpPr/>
          <p:nvPr/>
        </p:nvSpPr>
        <p:spPr>
          <a:xfrm>
            <a:off x="4399178" y="2011680"/>
            <a:ext cx="3393338" cy="4069080"/>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267712"/>
            <a:ext cx="2936138" cy="411480"/>
          </a:xfrm>
          <a:prstGeom prst="rect">
            <a:avLst/>
          </a:prstGeom>
          <a:noFill/>
        </p:spPr>
        <p:txBody>
          <a:bodyPr wrap="square" lIns="0" rIns="0" tIns="0" bIns="0" anchor="t">
            <a:noAutofit/>
          </a:bodyPr>
          <a:lstStyle/>
          <a:p>
            <a:pPr algn="l">
              <a:lnSpc>
                <a:spcPts val="2750"/>
              </a:lnSpc>
              <a:spcBef>
                <a:spcPts val="0"/>
              </a:spcBef>
              <a:spcAft>
                <a:spcPts val="0"/>
              </a:spcAft>
              <a:buNone/>
            </a:pPr>
            <a:r>
              <a:rPr sz="2200" b="1">
                <a:solidFill>
                  <a:srgbClr val="FFFFFF"/>
                </a:solidFill>
                <a:latin typeface="Plus Jakarta Sans"/>
              </a:rPr>
              <a:t>02  Find a rhythm</a:t>
            </a:r>
          </a:p>
        </p:txBody>
      </p:sp>
      <p:sp>
        <p:nvSpPr>
          <p:cNvPr id="12" name="TextBox 11"/>
          <p:cNvSpPr txBox="1"/>
          <p:nvPr/>
        </p:nvSpPr>
        <p:spPr>
          <a:xfrm>
            <a:off x="4627778" y="2743200"/>
            <a:ext cx="2936138" cy="457200"/>
          </a:xfrm>
          <a:prstGeom prst="rect">
            <a:avLst/>
          </a:prstGeom>
          <a:noFill/>
        </p:spPr>
        <p:txBody>
          <a:bodyPr wrap="square" lIns="0" rIns="0" tIns="0" bIns="0" anchor="t">
            <a:noAutofit/>
          </a:bodyPr>
          <a:lstStyle/>
          <a:p>
            <a:pPr algn="l">
              <a:lnSpc>
                <a:spcPts val="2000"/>
              </a:lnSpc>
              <a:spcBef>
                <a:spcPts val="0"/>
              </a:spcBef>
              <a:spcAft>
                <a:spcPts val="0"/>
              </a:spcAft>
              <a:buNone/>
            </a:pPr>
            <a:r>
              <a:rPr sz="1600" b="0">
                <a:solidFill>
                  <a:srgbClr val="06E288"/>
                </a:solidFill>
                <a:latin typeface="Plus Jakarta Sans"/>
              </a:rPr>
              <a:t>Simple daily routines</a:t>
            </a:r>
          </a:p>
        </p:txBody>
      </p:sp>
      <p:pic>
        <p:nvPicPr>
          <p:cNvPr id="13" name="Picture 12" descr="crop-routine.png"/>
          <p:cNvPicPr>
            <a:picLocks noChangeAspect="1"/>
          </p:cNvPicPr>
          <p:nvPr/>
        </p:nvPicPr>
        <p:blipFill>
          <a:blip r:embed="rId4"/>
          <a:stretch>
            <a:fillRect/>
          </a:stretch>
        </p:blipFill>
        <p:spPr>
          <a:xfrm>
            <a:off x="4627778" y="3429000"/>
            <a:ext cx="2936138" cy="2158061"/>
          </a:xfrm>
          <a:prstGeom prst="roundRect">
            <a:avLst>
              <a:gd name="adj" fmla="val 5442"/>
            </a:avLst>
          </a:prstGeom>
        </p:spPr>
      </p:pic>
      <p:sp>
        <p:nvSpPr>
          <p:cNvPr id="14" name="Rounded Rectangle 13"/>
          <p:cNvSpPr/>
          <p:nvPr/>
        </p:nvSpPr>
        <p:spPr>
          <a:xfrm>
            <a:off x="8066836" y="2011680"/>
            <a:ext cx="3393338" cy="4069080"/>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95436" y="2267712"/>
            <a:ext cx="2936138" cy="411480"/>
          </a:xfrm>
          <a:prstGeom prst="rect">
            <a:avLst/>
          </a:prstGeom>
          <a:noFill/>
        </p:spPr>
        <p:txBody>
          <a:bodyPr wrap="square" lIns="0" rIns="0" tIns="0" bIns="0" anchor="t">
            <a:noAutofit/>
          </a:bodyPr>
          <a:lstStyle/>
          <a:p>
            <a:pPr algn="l">
              <a:lnSpc>
                <a:spcPts val="2750"/>
              </a:lnSpc>
              <a:spcBef>
                <a:spcPts val="0"/>
              </a:spcBef>
              <a:spcAft>
                <a:spcPts val="0"/>
              </a:spcAft>
              <a:buNone/>
            </a:pPr>
            <a:r>
              <a:rPr sz="2200" b="1">
                <a:solidFill>
                  <a:srgbClr val="FFFFFF"/>
                </a:solidFill>
                <a:latin typeface="Plus Jakarta Sans"/>
              </a:rPr>
              <a:t>03  Reach someone</a:t>
            </a:r>
          </a:p>
        </p:txBody>
      </p:sp>
      <p:sp>
        <p:nvSpPr>
          <p:cNvPr id="16" name="TextBox 15"/>
          <p:cNvSpPr txBox="1"/>
          <p:nvPr/>
        </p:nvSpPr>
        <p:spPr>
          <a:xfrm>
            <a:off x="8295436" y="2743200"/>
            <a:ext cx="2936138" cy="457200"/>
          </a:xfrm>
          <a:prstGeom prst="rect">
            <a:avLst/>
          </a:prstGeom>
          <a:noFill/>
        </p:spPr>
        <p:txBody>
          <a:bodyPr wrap="square" lIns="0" rIns="0" tIns="0" bIns="0" anchor="t">
            <a:noAutofit/>
          </a:bodyPr>
          <a:lstStyle/>
          <a:p>
            <a:pPr algn="l">
              <a:lnSpc>
                <a:spcPts val="2000"/>
              </a:lnSpc>
              <a:spcBef>
                <a:spcPts val="0"/>
              </a:spcBef>
              <a:spcAft>
                <a:spcPts val="0"/>
              </a:spcAft>
              <a:buNone/>
            </a:pPr>
            <a:r>
              <a:rPr sz="1600" b="0">
                <a:solidFill>
                  <a:srgbClr val="06E288"/>
                </a:solidFill>
                <a:latin typeface="Plus Jakarta Sans"/>
              </a:rPr>
              <a:t>Coffee Circles via Jitsi</a:t>
            </a:r>
          </a:p>
        </p:txBody>
      </p:sp>
      <p:pic>
        <p:nvPicPr>
          <p:cNvPr id="17" name="Picture 16" descr="phone-circles.png"/>
          <p:cNvPicPr>
            <a:picLocks noChangeAspect="1"/>
          </p:cNvPicPr>
          <p:nvPr/>
        </p:nvPicPr>
        <p:blipFill>
          <a:blip r:embed="rId5"/>
          <a:stretch>
            <a:fillRect/>
          </a:stretch>
        </p:blipFill>
        <p:spPr>
          <a:xfrm>
            <a:off x="9086850" y="3291840"/>
            <a:ext cx="1349745" cy="2651760"/>
          </a:xfrm>
          <a:prstGeom prst="rect">
            <a:avLst/>
          </a:prstGeom>
        </p:spPr>
      </p:pic>
      <p:sp>
        <p:nvSpPr>
          <p:cNvPr id="18" name="TextBox 17"/>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19" name="TextBox 18"/>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10</a:t>
            </a:r>
          </a:p>
        </p:txBody>
      </p:sp>
      <p:pic>
        <p:nvPicPr>
          <p:cNvPr id="20" name="Picture 19" descr="icon.png"/>
          <p:cNvPicPr>
            <a:picLocks noChangeAspect="1"/>
          </p:cNvPicPr>
          <p:nvPr/>
        </p:nvPicPr>
        <p:blipFill>
          <a:blip r:embed="rId6"/>
          <a:stretch>
            <a:fillRect/>
          </a:stretch>
        </p:blipFill>
        <p:spPr>
          <a:xfrm>
            <a:off x="731520" y="6382512"/>
            <a:ext cx="237744" cy="237744"/>
          </a:xfrm>
          <a:prstGeom prst="roundRect">
            <a:avLst>
              <a:gd name="adj" fmla="val 26923"/>
            </a:avLst>
          </a:prstGeom>
        </p:spPr>
      </p:pic>
      <p:sp>
        <p:nvSpPr>
          <p:cNvPr id="21" name="TextBox 20"/>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BEYOND ACTIVITIES</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Remember. </a:t>
            </a:r>
            <a:r>
              <a:rPr sz="3800" b="0">
                <a:solidFill>
                  <a:srgbClr val="06E288"/>
                </a:solidFill>
                <a:latin typeface="Plus Jakarta Sans ExtraBold"/>
              </a:rPr>
              <a:t>Reach someone.</a:t>
            </a:r>
            <a:r>
              <a:rPr sz="3800" b="0">
                <a:solidFill>
                  <a:srgbClr val="FFFFFF"/>
                </a:solidFill>
                <a:latin typeface="Plus Jakarta Sans ExtraBold"/>
              </a:rPr>
              <a:t> Prepare.</a:t>
            </a:r>
          </a:p>
        </p:txBody>
      </p:sp>
      <p:sp>
        <p:nvSpPr>
          <p:cNvPr id="6" name="Rounded Rectangle 5"/>
          <p:cNvSpPr/>
          <p:nvPr/>
        </p:nvSpPr>
        <p:spPr>
          <a:xfrm>
            <a:off x="731520" y="2103120"/>
            <a:ext cx="3393338" cy="3977639"/>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04288"/>
            <a:ext cx="2936138" cy="411480"/>
          </a:xfrm>
          <a:prstGeom prst="rect">
            <a:avLst/>
          </a:prstGeom>
          <a:noFill/>
        </p:spPr>
        <p:txBody>
          <a:bodyPr wrap="square" lIns="0" rIns="0" tIns="0" bIns="0" anchor="t">
            <a:noAutofit/>
          </a:bodyPr>
          <a:lstStyle/>
          <a:p>
            <a:pPr algn="l">
              <a:lnSpc>
                <a:spcPts val="3125"/>
              </a:lnSpc>
              <a:spcBef>
                <a:spcPts val="0"/>
              </a:spcBef>
              <a:spcAft>
                <a:spcPts val="0"/>
              </a:spcAft>
              <a:buNone/>
            </a:pPr>
            <a:r>
              <a:rPr sz="2500" b="1">
                <a:solidFill>
                  <a:srgbClr val="FFFFFF"/>
                </a:solidFill>
                <a:latin typeface="Plus Jakarta Sans"/>
              </a:rPr>
              <a:t>Remember</a:t>
            </a:r>
          </a:p>
        </p:txBody>
      </p:sp>
      <p:sp>
        <p:nvSpPr>
          <p:cNvPr id="8" name="TextBox 7"/>
          <p:cNvSpPr txBox="1"/>
          <p:nvPr/>
        </p:nvSpPr>
        <p:spPr>
          <a:xfrm>
            <a:off x="960120" y="2816352"/>
            <a:ext cx="2936138" cy="8229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Confirm a schedule; mark a reminder taken yourself.</a:t>
            </a:r>
          </a:p>
        </p:txBody>
      </p:sp>
      <p:pic>
        <p:nvPicPr>
          <p:cNvPr id="9" name="Picture 8" descr="crop-meds.png"/>
          <p:cNvPicPr>
            <a:picLocks noChangeAspect="1"/>
          </p:cNvPicPr>
          <p:nvPr/>
        </p:nvPicPr>
        <p:blipFill>
          <a:blip r:embed="rId3"/>
          <a:stretch>
            <a:fillRect/>
          </a:stretch>
        </p:blipFill>
        <p:spPr>
          <a:xfrm>
            <a:off x="1090801" y="3840480"/>
            <a:ext cx="2674775" cy="1965960"/>
          </a:xfrm>
          <a:prstGeom prst="roundRect">
            <a:avLst>
              <a:gd name="adj" fmla="val 5442"/>
            </a:avLst>
          </a:prstGeom>
        </p:spPr>
      </p:pic>
      <p:sp>
        <p:nvSpPr>
          <p:cNvPr id="10" name="Rounded Rectangle 9"/>
          <p:cNvSpPr/>
          <p:nvPr/>
        </p:nvSpPr>
        <p:spPr>
          <a:xfrm>
            <a:off x="4399178" y="2103120"/>
            <a:ext cx="3393338" cy="3977639"/>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304288"/>
            <a:ext cx="2936138" cy="411480"/>
          </a:xfrm>
          <a:prstGeom prst="rect">
            <a:avLst/>
          </a:prstGeom>
          <a:noFill/>
        </p:spPr>
        <p:txBody>
          <a:bodyPr wrap="square" lIns="0" rIns="0" tIns="0" bIns="0" anchor="t">
            <a:noAutofit/>
          </a:bodyPr>
          <a:lstStyle/>
          <a:p>
            <a:pPr algn="l">
              <a:lnSpc>
                <a:spcPts val="3125"/>
              </a:lnSpc>
              <a:spcBef>
                <a:spcPts val="0"/>
              </a:spcBef>
              <a:spcAft>
                <a:spcPts val="0"/>
              </a:spcAft>
              <a:buNone/>
            </a:pPr>
            <a:r>
              <a:rPr sz="2500" b="1">
                <a:solidFill>
                  <a:srgbClr val="FFFFFF"/>
                </a:solidFill>
                <a:latin typeface="Plus Jakarta Sans"/>
              </a:rPr>
              <a:t>Reach someone</a:t>
            </a:r>
          </a:p>
        </p:txBody>
      </p:sp>
      <p:sp>
        <p:nvSpPr>
          <p:cNvPr id="12" name="TextBox 11"/>
          <p:cNvSpPr txBox="1"/>
          <p:nvPr/>
        </p:nvSpPr>
        <p:spPr>
          <a:xfrm>
            <a:off x="4627778" y="2816352"/>
            <a:ext cx="2936138" cy="8229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Join a Coffee Circle in a real Jitsi video room.</a:t>
            </a:r>
          </a:p>
        </p:txBody>
      </p:sp>
      <p:pic>
        <p:nvPicPr>
          <p:cNvPr id="13" name="Picture 12" descr="crop-circle-card.png"/>
          <p:cNvPicPr>
            <a:picLocks noChangeAspect="1"/>
          </p:cNvPicPr>
          <p:nvPr/>
        </p:nvPicPr>
        <p:blipFill>
          <a:blip r:embed="rId4"/>
          <a:stretch>
            <a:fillRect/>
          </a:stretch>
        </p:blipFill>
        <p:spPr>
          <a:xfrm>
            <a:off x="4627778" y="3891292"/>
            <a:ext cx="2936138" cy="1864334"/>
          </a:xfrm>
          <a:prstGeom prst="rect">
            <a:avLst/>
          </a:prstGeom>
        </p:spPr>
      </p:pic>
      <p:sp>
        <p:nvSpPr>
          <p:cNvPr id="14" name="Rounded Rectangle 13"/>
          <p:cNvSpPr/>
          <p:nvPr/>
        </p:nvSpPr>
        <p:spPr>
          <a:xfrm>
            <a:off x="8066836" y="2103120"/>
            <a:ext cx="3393338" cy="3977639"/>
          </a:xfrm>
          <a:prstGeom prst="roundRect">
            <a:avLst>
              <a:gd name="adj" fmla="val 5928"/>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95436" y="2304288"/>
            <a:ext cx="2936138" cy="411480"/>
          </a:xfrm>
          <a:prstGeom prst="rect">
            <a:avLst/>
          </a:prstGeom>
          <a:noFill/>
        </p:spPr>
        <p:txBody>
          <a:bodyPr wrap="square" lIns="0" rIns="0" tIns="0" bIns="0" anchor="t">
            <a:noAutofit/>
          </a:bodyPr>
          <a:lstStyle/>
          <a:p>
            <a:pPr algn="l">
              <a:lnSpc>
                <a:spcPts val="3125"/>
              </a:lnSpc>
              <a:spcBef>
                <a:spcPts val="0"/>
              </a:spcBef>
              <a:spcAft>
                <a:spcPts val="0"/>
              </a:spcAft>
              <a:buNone/>
            </a:pPr>
            <a:r>
              <a:rPr sz="2500" b="1">
                <a:solidFill>
                  <a:srgbClr val="FFFFFF"/>
                </a:solidFill>
                <a:latin typeface="Plus Jakarta Sans"/>
              </a:rPr>
              <a:t>Prepare</a:t>
            </a:r>
          </a:p>
        </p:txBody>
      </p:sp>
      <p:sp>
        <p:nvSpPr>
          <p:cNvPr id="16" name="TextBox 15"/>
          <p:cNvSpPr txBox="1"/>
          <p:nvPr/>
        </p:nvSpPr>
        <p:spPr>
          <a:xfrm>
            <a:off x="8295436" y="2816352"/>
            <a:ext cx="2936138" cy="8229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Select what goes into a visit brief and preview the exact text.</a:t>
            </a:r>
          </a:p>
        </p:txBody>
      </p:sp>
      <p:pic>
        <p:nvPicPr>
          <p:cNvPr id="17" name="Picture 16" descr="crop-visitbrief.png"/>
          <p:cNvPicPr>
            <a:picLocks noChangeAspect="1"/>
          </p:cNvPicPr>
          <p:nvPr/>
        </p:nvPicPr>
        <p:blipFill>
          <a:blip r:embed="rId5"/>
          <a:stretch>
            <a:fillRect/>
          </a:stretch>
        </p:blipFill>
        <p:spPr>
          <a:xfrm>
            <a:off x="8841700" y="3840480"/>
            <a:ext cx="1843611" cy="1965960"/>
          </a:xfrm>
          <a:prstGeom prst="rect">
            <a:avLst/>
          </a:prstGeom>
        </p:spPr>
      </p:pic>
      <p:sp>
        <p:nvSpPr>
          <p:cNvPr id="18" name="TextBox 17"/>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11</a:t>
            </a:r>
          </a:p>
        </p:txBody>
      </p:sp>
      <p:pic>
        <p:nvPicPr>
          <p:cNvPr id="19" name="Picture 18" descr="icon.png"/>
          <p:cNvPicPr>
            <a:picLocks noChangeAspect="1"/>
          </p:cNvPicPr>
          <p:nvPr/>
        </p:nvPicPr>
        <p:blipFill>
          <a:blip r:embed="rId6"/>
          <a:stretch>
            <a:fillRect/>
          </a:stretch>
        </p:blipFill>
        <p:spPr>
          <a:xfrm>
            <a:off x="731520" y="6382512"/>
            <a:ext cx="237744" cy="237744"/>
          </a:xfrm>
          <a:prstGeom prst="roundRect">
            <a:avLst>
              <a:gd name="adj" fmla="val 26923"/>
            </a:avLst>
          </a:prstGeom>
        </p:spPr>
      </p:pic>
      <p:sp>
        <p:nvSpPr>
          <p:cNvPr id="20" name="TextBox 19"/>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LIVE APP DEMONSTRATION</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400"/>
              </a:lnSpc>
              <a:spcBef>
                <a:spcPts val="0"/>
              </a:spcBef>
              <a:spcAft>
                <a:spcPts val="0"/>
              </a:spcAft>
              <a:buNone/>
            </a:pPr>
            <a:r>
              <a:rPr sz="4000" b="0">
                <a:solidFill>
                  <a:srgbClr val="FFFFFF"/>
                </a:solidFill>
                <a:latin typeface="Plus Jakarta Sans ExtraBold"/>
              </a:rPr>
              <a:t>Let me show you </a:t>
            </a:r>
            <a:r>
              <a:rPr sz="4000" b="0">
                <a:solidFill>
                  <a:srgbClr val="06E288"/>
                </a:solidFill>
                <a:latin typeface="Plus Jakarta Sans ExtraBold"/>
              </a:rPr>
              <a:t>CareSphere in action.</a:t>
            </a:r>
          </a:p>
        </p:txBody>
      </p:sp>
      <p:sp>
        <p:nvSpPr>
          <p:cNvPr id="6" name="TextBox 5"/>
          <p:cNvSpPr txBox="1"/>
          <p:nvPr/>
        </p:nvSpPr>
        <p:spPr>
          <a:xfrm>
            <a:off x="731520" y="2423160"/>
            <a:ext cx="10728655" cy="914400"/>
          </a:xfrm>
          <a:prstGeom prst="rect">
            <a:avLst/>
          </a:prstGeom>
          <a:noFill/>
        </p:spPr>
        <p:txBody>
          <a:bodyPr wrap="square" lIns="0" rIns="0" tIns="0" bIns="0" anchor="t">
            <a:noAutofit/>
          </a:bodyPr>
          <a:lstStyle/>
          <a:p>
            <a:pPr algn="l">
              <a:lnSpc>
                <a:spcPts val="4250"/>
              </a:lnSpc>
              <a:spcBef>
                <a:spcPts val="0"/>
              </a:spcBef>
              <a:spcAft>
                <a:spcPts val="0"/>
              </a:spcAft>
              <a:buNone/>
            </a:pPr>
            <a:r>
              <a:rPr sz="3400" b="1">
                <a:solidFill>
                  <a:srgbClr val="FFFFFF"/>
                </a:solidFill>
                <a:latin typeface="Plus Jakarta Sans"/>
              </a:rPr>
              <a:t>Play. Pause. Check in. Prepare.</a:t>
            </a:r>
          </a:p>
        </p:txBody>
      </p:sp>
      <p:sp>
        <p:nvSpPr>
          <p:cNvPr id="7" name="Rounded Rectangle 6"/>
          <p:cNvSpPr/>
          <p:nvPr/>
        </p:nvSpPr>
        <p:spPr>
          <a:xfrm>
            <a:off x="731520" y="3794760"/>
            <a:ext cx="2514600" cy="1508760"/>
          </a:xfrm>
          <a:prstGeom prst="roundRect">
            <a:avLst>
              <a:gd name="adj" fmla="val 13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4023360"/>
            <a:ext cx="2148840" cy="365760"/>
          </a:xfrm>
          <a:prstGeom prst="rect">
            <a:avLst/>
          </a:prstGeom>
          <a:noFill/>
        </p:spPr>
        <p:txBody>
          <a:bodyPr wrap="square" lIns="0" rIns="0" tIns="0" bIns="0" anchor="t">
            <a:noAutofit/>
          </a:bodyPr>
          <a:lstStyle/>
          <a:p>
            <a:pPr algn="l">
              <a:lnSpc>
                <a:spcPts val="2000"/>
              </a:lnSpc>
              <a:spcBef>
                <a:spcPts val="0"/>
              </a:spcBef>
              <a:spcAft>
                <a:spcPts val="0"/>
              </a:spcAft>
              <a:buNone/>
            </a:pPr>
            <a:r>
              <a:rPr sz="1600" b="1">
                <a:solidFill>
                  <a:srgbClr val="06E288"/>
                </a:solidFill>
                <a:latin typeface="Plus Jakarta Sans"/>
              </a:rPr>
              <a:t>PLAY</a:t>
            </a:r>
          </a:p>
        </p:txBody>
      </p:sp>
      <p:sp>
        <p:nvSpPr>
          <p:cNvPr id="9" name="TextBox 8"/>
          <p:cNvSpPr txBox="1"/>
          <p:nvPr/>
        </p:nvSpPr>
        <p:spPr>
          <a:xfrm>
            <a:off x="914400" y="4526280"/>
            <a:ext cx="2148840" cy="5943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Repeat a pattern and reveal a pair.</a:t>
            </a:r>
          </a:p>
        </p:txBody>
      </p:sp>
      <p:sp>
        <p:nvSpPr>
          <p:cNvPr id="10" name="Rounded Rectangle 9"/>
          <p:cNvSpPr/>
          <p:nvPr/>
        </p:nvSpPr>
        <p:spPr>
          <a:xfrm>
            <a:off x="3474720" y="3794760"/>
            <a:ext cx="2514600" cy="1508760"/>
          </a:xfrm>
          <a:prstGeom prst="roundRect">
            <a:avLst>
              <a:gd name="adj" fmla="val 13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57600" y="4023360"/>
            <a:ext cx="2148840" cy="365760"/>
          </a:xfrm>
          <a:prstGeom prst="rect">
            <a:avLst/>
          </a:prstGeom>
          <a:noFill/>
        </p:spPr>
        <p:txBody>
          <a:bodyPr wrap="square" lIns="0" rIns="0" tIns="0" bIns="0" anchor="t">
            <a:noAutofit/>
          </a:bodyPr>
          <a:lstStyle/>
          <a:p>
            <a:pPr algn="l">
              <a:lnSpc>
                <a:spcPts val="2000"/>
              </a:lnSpc>
              <a:spcBef>
                <a:spcPts val="0"/>
              </a:spcBef>
              <a:spcAft>
                <a:spcPts val="0"/>
              </a:spcAft>
              <a:buNone/>
            </a:pPr>
            <a:r>
              <a:rPr sz="1600" b="1">
                <a:solidFill>
                  <a:srgbClr val="06E288"/>
                </a:solidFill>
                <a:latin typeface="Plus Jakarta Sans"/>
              </a:rPr>
              <a:t>CHOOSE</a:t>
            </a:r>
          </a:p>
        </p:txBody>
      </p:sp>
      <p:sp>
        <p:nvSpPr>
          <p:cNvPr id="12" name="TextBox 11"/>
          <p:cNvSpPr txBox="1"/>
          <p:nvPr/>
        </p:nvSpPr>
        <p:spPr>
          <a:xfrm>
            <a:off x="3657600" y="4526280"/>
            <a:ext cx="2148840" cy="5943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Start and stop a soundscape.</a:t>
            </a:r>
          </a:p>
        </p:txBody>
      </p:sp>
      <p:sp>
        <p:nvSpPr>
          <p:cNvPr id="13" name="Rounded Rectangle 12"/>
          <p:cNvSpPr/>
          <p:nvPr/>
        </p:nvSpPr>
        <p:spPr>
          <a:xfrm>
            <a:off x="6217920" y="3794760"/>
            <a:ext cx="2514600" cy="1508760"/>
          </a:xfrm>
          <a:prstGeom prst="roundRect">
            <a:avLst>
              <a:gd name="adj" fmla="val 13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023360"/>
            <a:ext cx="2148840" cy="365760"/>
          </a:xfrm>
          <a:prstGeom prst="rect">
            <a:avLst/>
          </a:prstGeom>
          <a:noFill/>
        </p:spPr>
        <p:txBody>
          <a:bodyPr wrap="square" lIns="0" rIns="0" tIns="0" bIns="0" anchor="t">
            <a:noAutofit/>
          </a:bodyPr>
          <a:lstStyle/>
          <a:p>
            <a:pPr algn="l">
              <a:lnSpc>
                <a:spcPts val="2000"/>
              </a:lnSpc>
              <a:spcBef>
                <a:spcPts val="0"/>
              </a:spcBef>
              <a:spcAft>
                <a:spcPts val="0"/>
              </a:spcAft>
              <a:buNone/>
            </a:pPr>
            <a:r>
              <a:rPr sz="1600" b="1">
                <a:solidFill>
                  <a:srgbClr val="06E288"/>
                </a:solidFill>
                <a:latin typeface="Plus Jakarta Sans"/>
              </a:rPr>
              <a:t>CHECK IN</a:t>
            </a:r>
          </a:p>
        </p:txBody>
      </p:sp>
      <p:sp>
        <p:nvSpPr>
          <p:cNvPr id="15" name="TextBox 14"/>
          <p:cNvSpPr txBox="1"/>
          <p:nvPr/>
        </p:nvSpPr>
        <p:spPr>
          <a:xfrm>
            <a:off x="6400800" y="4526280"/>
            <a:ext cx="2148840" cy="5943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Record a mood and complete a routine.</a:t>
            </a:r>
          </a:p>
        </p:txBody>
      </p:sp>
      <p:sp>
        <p:nvSpPr>
          <p:cNvPr id="16" name="Rounded Rectangle 15"/>
          <p:cNvSpPr/>
          <p:nvPr/>
        </p:nvSpPr>
        <p:spPr>
          <a:xfrm>
            <a:off x="8961120" y="3794760"/>
            <a:ext cx="2514600" cy="1508760"/>
          </a:xfrm>
          <a:prstGeom prst="roundRect">
            <a:avLst>
              <a:gd name="adj" fmla="val 1333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0" y="4023360"/>
            <a:ext cx="2148840" cy="365760"/>
          </a:xfrm>
          <a:prstGeom prst="rect">
            <a:avLst/>
          </a:prstGeom>
          <a:noFill/>
        </p:spPr>
        <p:txBody>
          <a:bodyPr wrap="square" lIns="0" rIns="0" tIns="0" bIns="0" anchor="t">
            <a:noAutofit/>
          </a:bodyPr>
          <a:lstStyle/>
          <a:p>
            <a:pPr algn="l">
              <a:lnSpc>
                <a:spcPts val="2000"/>
              </a:lnSpc>
              <a:spcBef>
                <a:spcPts val="0"/>
              </a:spcBef>
              <a:spcAft>
                <a:spcPts val="0"/>
              </a:spcAft>
              <a:buNone/>
            </a:pPr>
            <a:r>
              <a:rPr sz="1600" b="1">
                <a:solidFill>
                  <a:srgbClr val="06E288"/>
                </a:solidFill>
                <a:latin typeface="Plus Jakarta Sans"/>
              </a:rPr>
              <a:t>PREPARE</a:t>
            </a:r>
          </a:p>
        </p:txBody>
      </p:sp>
      <p:sp>
        <p:nvSpPr>
          <p:cNvPr id="18" name="TextBox 17"/>
          <p:cNvSpPr txBox="1"/>
          <p:nvPr/>
        </p:nvSpPr>
        <p:spPr>
          <a:xfrm>
            <a:off x="9144000" y="4526280"/>
            <a:ext cx="2148840" cy="5943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D7E0F2"/>
                </a:solidFill>
                <a:latin typeface="Plus Jakarta Sans"/>
              </a:rPr>
              <a:t>Choose fields and preview a visit brief.</a:t>
            </a:r>
          </a:p>
        </p:txBody>
      </p:sp>
      <p:sp>
        <p:nvSpPr>
          <p:cNvPr id="19" name="TextBox 18"/>
          <p:cNvSpPr txBox="1"/>
          <p:nvPr/>
        </p:nvSpPr>
        <p:spPr>
          <a:xfrm>
            <a:off x="731520" y="5806440"/>
            <a:ext cx="10728655"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0">
                <a:solidFill>
                  <a:srgbClr val="06E288"/>
                </a:solidFill>
                <a:latin typeface="Plus Jakarta Sans"/>
              </a:rPr>
              <a:t>Real app interaction · sample data · user-controlled actions</a:t>
            </a:r>
          </a:p>
        </p:txBody>
      </p:sp>
      <p:sp>
        <p:nvSpPr>
          <p:cNvPr id="20" name="TextBox 19"/>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12</a:t>
            </a:r>
          </a:p>
        </p:txBody>
      </p:sp>
      <p:pic>
        <p:nvPicPr>
          <p:cNvPr id="21" name="Picture 20"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22" name="TextBox 21"/>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50">
        <p:push dir="l"/>
      </p:transition>
    </mc:Choice>
    <mc:Fallback>
      <p:transition spd="med">
        <p:push dir="l"/>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LIVE DEMO</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Let’s see it.</a:t>
            </a:r>
          </a:p>
        </p:txBody>
      </p:sp>
      <p:pic>
        <p:nvPicPr>
          <p:cNvPr id="6" name="Picture 5" descr="web-overview.png"/>
          <p:cNvPicPr>
            <a:picLocks noChangeAspect="1"/>
          </p:cNvPicPr>
          <p:nvPr/>
        </p:nvPicPr>
        <p:blipFill>
          <a:blip r:embed="rId3"/>
          <a:stretch>
            <a:fillRect/>
          </a:stretch>
        </p:blipFill>
        <p:spPr>
          <a:xfrm>
            <a:off x="347472" y="1783080"/>
            <a:ext cx="6766560" cy="4819916"/>
          </a:xfrm>
          <a:prstGeom prst="rect">
            <a:avLst/>
          </a:prstGeom>
        </p:spPr>
      </p:pic>
      <p:pic>
        <p:nvPicPr>
          <p:cNvPr id="7" name="Picture 6" descr="phone-overview.png"/>
          <p:cNvPicPr>
            <a:picLocks noChangeAspect="1"/>
          </p:cNvPicPr>
          <p:nvPr/>
        </p:nvPicPr>
        <p:blipFill>
          <a:blip r:embed="rId4"/>
          <a:stretch>
            <a:fillRect/>
          </a:stretch>
        </p:blipFill>
        <p:spPr>
          <a:xfrm>
            <a:off x="6172200" y="2057400"/>
            <a:ext cx="2303876" cy="4526280"/>
          </a:xfrm>
          <a:prstGeom prst="rect">
            <a:avLst/>
          </a:prstGeom>
        </p:spPr>
      </p:pic>
      <p:sp>
        <p:nvSpPr>
          <p:cNvPr id="8" name="TextBox 7"/>
          <p:cNvSpPr txBox="1"/>
          <p:nvPr/>
        </p:nvSpPr>
        <p:spPr>
          <a:xfrm>
            <a:off x="8732520" y="1874519"/>
            <a:ext cx="2727655"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5F7299"/>
                </a:solidFill>
                <a:latin typeface="Plus Jakarta Sans"/>
              </a:rPr>
              <a:t>SIX SHOTS · ONE TAKE</a:t>
            </a:r>
          </a:p>
        </p:txBody>
      </p:sp>
      <p:sp>
        <p:nvSpPr>
          <p:cNvPr id="9" name="TextBox 8"/>
          <p:cNvSpPr txBox="1"/>
          <p:nvPr/>
        </p:nvSpPr>
        <p:spPr>
          <a:xfrm>
            <a:off x="8732520" y="2286000"/>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01</a:t>
            </a:r>
          </a:p>
        </p:txBody>
      </p:sp>
      <p:sp>
        <p:nvSpPr>
          <p:cNvPr id="10" name="TextBox 9"/>
          <p:cNvSpPr txBox="1"/>
          <p:nvPr/>
        </p:nvSpPr>
        <p:spPr>
          <a:xfrm>
            <a:off x="9144000" y="2286000"/>
            <a:ext cx="2316175" cy="365760"/>
          </a:xfrm>
          <a:prstGeom prst="rect">
            <a:avLst/>
          </a:prstGeom>
          <a:noFill/>
        </p:spPr>
        <p:txBody>
          <a:bodyPr wrap="square" lIns="0" rIns="0" tIns="0" bIns="0" anchor="ctr">
            <a:noAutofit/>
          </a:bodyPr>
          <a:lstStyle/>
          <a:p>
            <a:pPr algn="l">
              <a:lnSpc>
                <a:spcPts val="1875"/>
              </a:lnSpc>
              <a:spcBef>
                <a:spcPts val="0"/>
              </a:spcBef>
              <a:spcAft>
                <a:spcPts val="0"/>
              </a:spcAft>
              <a:buNone/>
            </a:pPr>
            <a:r>
              <a:rPr sz="1500" b="0">
                <a:solidFill>
                  <a:srgbClr val="D7E0F2"/>
                </a:solidFill>
                <a:latin typeface="Plus Jakarta Sans"/>
              </a:rPr>
              <a:t>Mood check-in &amp; routine</a:t>
            </a:r>
          </a:p>
        </p:txBody>
      </p:sp>
      <p:sp>
        <p:nvSpPr>
          <p:cNvPr id="11" name="TextBox 10"/>
          <p:cNvSpPr txBox="1"/>
          <p:nvPr/>
        </p:nvSpPr>
        <p:spPr>
          <a:xfrm>
            <a:off x="8732520" y="2798064"/>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02</a:t>
            </a:r>
          </a:p>
        </p:txBody>
      </p:sp>
      <p:sp>
        <p:nvSpPr>
          <p:cNvPr id="12" name="TextBox 11"/>
          <p:cNvSpPr txBox="1"/>
          <p:nvPr/>
        </p:nvSpPr>
        <p:spPr>
          <a:xfrm>
            <a:off x="9144000" y="2798064"/>
            <a:ext cx="2316175" cy="365760"/>
          </a:xfrm>
          <a:prstGeom prst="rect">
            <a:avLst/>
          </a:prstGeom>
          <a:noFill/>
        </p:spPr>
        <p:txBody>
          <a:bodyPr wrap="square" lIns="0" rIns="0" tIns="0" bIns="0" anchor="ctr">
            <a:noAutofit/>
          </a:bodyPr>
          <a:lstStyle/>
          <a:p>
            <a:pPr algn="l">
              <a:lnSpc>
                <a:spcPts val="1875"/>
              </a:lnSpc>
              <a:spcBef>
                <a:spcPts val="0"/>
              </a:spcBef>
              <a:spcAft>
                <a:spcPts val="0"/>
              </a:spcAft>
              <a:buNone/>
            </a:pPr>
            <a:r>
              <a:rPr sz="1500" b="0">
                <a:solidFill>
                  <a:srgbClr val="D7E0F2"/>
                </a:solidFill>
                <a:latin typeface="Plus Jakarta Sans"/>
              </a:rPr>
              <a:t>Reminder → Taken</a:t>
            </a:r>
          </a:p>
        </p:txBody>
      </p:sp>
      <p:sp>
        <p:nvSpPr>
          <p:cNvPr id="13" name="TextBox 12"/>
          <p:cNvSpPr txBox="1"/>
          <p:nvPr/>
        </p:nvSpPr>
        <p:spPr>
          <a:xfrm>
            <a:off x="8732520" y="3310128"/>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03</a:t>
            </a:r>
          </a:p>
        </p:txBody>
      </p:sp>
      <p:sp>
        <p:nvSpPr>
          <p:cNvPr id="14" name="TextBox 13"/>
          <p:cNvSpPr txBox="1"/>
          <p:nvPr/>
        </p:nvSpPr>
        <p:spPr>
          <a:xfrm>
            <a:off x="9144000" y="3310128"/>
            <a:ext cx="2316175" cy="365760"/>
          </a:xfrm>
          <a:prstGeom prst="rect">
            <a:avLst/>
          </a:prstGeom>
          <a:noFill/>
        </p:spPr>
        <p:txBody>
          <a:bodyPr wrap="square" lIns="0" rIns="0" tIns="0" bIns="0" anchor="ctr">
            <a:noAutofit/>
          </a:bodyPr>
          <a:lstStyle/>
          <a:p>
            <a:pPr algn="l">
              <a:lnSpc>
                <a:spcPts val="1800"/>
              </a:lnSpc>
              <a:spcBef>
                <a:spcPts val="0"/>
              </a:spcBef>
              <a:spcAft>
                <a:spcPts val="0"/>
              </a:spcAft>
              <a:buNone/>
            </a:pPr>
            <a:r>
              <a:rPr sz="1450" b="0">
                <a:solidFill>
                  <a:srgbClr val="D7E0F2"/>
                </a:solidFill>
                <a:latin typeface="Plus Jakarta Sans"/>
              </a:rPr>
              <a:t>Pair a sensor · export CSV</a:t>
            </a:r>
          </a:p>
        </p:txBody>
      </p:sp>
      <p:sp>
        <p:nvSpPr>
          <p:cNvPr id="15" name="TextBox 14"/>
          <p:cNvSpPr txBox="1"/>
          <p:nvPr/>
        </p:nvSpPr>
        <p:spPr>
          <a:xfrm>
            <a:off x="8732520" y="3822191"/>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04</a:t>
            </a:r>
          </a:p>
        </p:txBody>
      </p:sp>
      <p:sp>
        <p:nvSpPr>
          <p:cNvPr id="16" name="TextBox 15"/>
          <p:cNvSpPr txBox="1"/>
          <p:nvPr/>
        </p:nvSpPr>
        <p:spPr>
          <a:xfrm>
            <a:off x="9144000" y="3822191"/>
            <a:ext cx="2316175" cy="365760"/>
          </a:xfrm>
          <a:prstGeom prst="rect">
            <a:avLst/>
          </a:prstGeom>
          <a:noFill/>
        </p:spPr>
        <p:txBody>
          <a:bodyPr wrap="square" lIns="0" rIns="0" tIns="0" bIns="0" anchor="ctr">
            <a:noAutofit/>
          </a:bodyPr>
          <a:lstStyle/>
          <a:p>
            <a:pPr algn="l">
              <a:lnSpc>
                <a:spcPts val="1875"/>
              </a:lnSpc>
              <a:spcBef>
                <a:spcPts val="0"/>
              </a:spcBef>
              <a:spcAft>
                <a:spcPts val="0"/>
              </a:spcAft>
              <a:buNone/>
            </a:pPr>
            <a:r>
              <a:rPr sz="1500" b="0">
                <a:solidFill>
                  <a:srgbClr val="D7E0F2"/>
                </a:solidFill>
                <a:latin typeface="Plus Jakarta Sans"/>
              </a:rPr>
              <a:t>Pattern Recall · Rain</a:t>
            </a:r>
          </a:p>
        </p:txBody>
      </p:sp>
      <p:sp>
        <p:nvSpPr>
          <p:cNvPr id="17" name="TextBox 16"/>
          <p:cNvSpPr txBox="1"/>
          <p:nvPr/>
        </p:nvSpPr>
        <p:spPr>
          <a:xfrm>
            <a:off x="8732520" y="4334256"/>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05</a:t>
            </a:r>
          </a:p>
        </p:txBody>
      </p:sp>
      <p:sp>
        <p:nvSpPr>
          <p:cNvPr id="18" name="TextBox 17"/>
          <p:cNvSpPr txBox="1"/>
          <p:nvPr/>
        </p:nvSpPr>
        <p:spPr>
          <a:xfrm>
            <a:off x="9144000" y="4334256"/>
            <a:ext cx="2316175" cy="365760"/>
          </a:xfrm>
          <a:prstGeom prst="rect">
            <a:avLst/>
          </a:prstGeom>
          <a:noFill/>
        </p:spPr>
        <p:txBody>
          <a:bodyPr wrap="square" lIns="0" rIns="0" tIns="0" bIns="0" anchor="ctr">
            <a:noAutofit/>
          </a:bodyPr>
          <a:lstStyle/>
          <a:p>
            <a:pPr algn="l">
              <a:lnSpc>
                <a:spcPts val="1875"/>
              </a:lnSpc>
              <a:spcBef>
                <a:spcPts val="0"/>
              </a:spcBef>
              <a:spcAft>
                <a:spcPts val="0"/>
              </a:spcAft>
              <a:buNone/>
            </a:pPr>
            <a:r>
              <a:rPr sz="1500" b="0">
                <a:solidFill>
                  <a:srgbClr val="D7E0F2"/>
                </a:solidFill>
                <a:latin typeface="Plus Jakarta Sans"/>
              </a:rPr>
              <a:t>Join a Coffee Circle</a:t>
            </a:r>
          </a:p>
        </p:txBody>
      </p:sp>
      <p:sp>
        <p:nvSpPr>
          <p:cNvPr id="19" name="TextBox 18"/>
          <p:cNvSpPr txBox="1"/>
          <p:nvPr/>
        </p:nvSpPr>
        <p:spPr>
          <a:xfrm>
            <a:off x="8732520" y="4846320"/>
            <a:ext cx="411480" cy="365760"/>
          </a:xfrm>
          <a:prstGeom prst="rect">
            <a:avLst/>
          </a:prstGeom>
          <a:noFill/>
        </p:spPr>
        <p:txBody>
          <a:bodyPr wrap="square" lIns="0" rIns="0" tIns="0" bIns="0" anchor="ctr">
            <a:noAutofit/>
          </a:bodyPr>
          <a:lstStyle/>
          <a:p>
            <a:pPr algn="l">
              <a:lnSpc>
                <a:spcPts val="1500"/>
              </a:lnSpc>
              <a:spcBef>
                <a:spcPts val="0"/>
              </a:spcBef>
              <a:spcAft>
                <a:spcPts val="0"/>
              </a:spcAft>
              <a:buNone/>
            </a:pPr>
            <a:r>
              <a:rPr sz="1200" b="0">
                <a:solidFill>
                  <a:srgbClr val="06E288"/>
                </a:solidFill>
                <a:latin typeface="JetBrains Mono"/>
              </a:rPr>
              <a:t>06</a:t>
            </a:r>
          </a:p>
        </p:txBody>
      </p:sp>
      <p:sp>
        <p:nvSpPr>
          <p:cNvPr id="20" name="TextBox 19"/>
          <p:cNvSpPr txBox="1"/>
          <p:nvPr/>
        </p:nvSpPr>
        <p:spPr>
          <a:xfrm>
            <a:off x="9144000" y="4846320"/>
            <a:ext cx="2316175" cy="365760"/>
          </a:xfrm>
          <a:prstGeom prst="rect">
            <a:avLst/>
          </a:prstGeom>
          <a:noFill/>
        </p:spPr>
        <p:txBody>
          <a:bodyPr wrap="square" lIns="0" rIns="0" tIns="0" bIns="0" anchor="ctr">
            <a:noAutofit/>
          </a:bodyPr>
          <a:lstStyle/>
          <a:p>
            <a:pPr algn="l">
              <a:lnSpc>
                <a:spcPts val="1875"/>
              </a:lnSpc>
              <a:spcBef>
                <a:spcPts val="0"/>
              </a:spcBef>
              <a:spcAft>
                <a:spcPts val="0"/>
              </a:spcAft>
              <a:buNone/>
            </a:pPr>
            <a:r>
              <a:rPr sz="1500" b="0">
                <a:solidFill>
                  <a:srgbClr val="D7E0F2"/>
                </a:solidFill>
                <a:latin typeface="Plus Jakarta Sans"/>
              </a:rPr>
              <a:t>Build the visit brief</a:t>
            </a:r>
          </a:p>
        </p:txBody>
      </p:sp>
      <p:sp>
        <p:nvSpPr>
          <p:cNvPr id="21" name="Rounded Rectangle 20"/>
          <p:cNvSpPr/>
          <p:nvPr/>
        </p:nvSpPr>
        <p:spPr>
          <a:xfrm>
            <a:off x="8732520" y="5532120"/>
            <a:ext cx="26113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732520" y="5532120"/>
            <a:ext cx="2611374" cy="329184"/>
          </a:xfrm>
          <a:prstGeom prst="rect">
            <a:avLst/>
          </a:prstGeom>
          <a:noFill/>
        </p:spPr>
        <p:txBody>
          <a:bodyPr wrap="square" lIns="0" rIns="0" tIns="0" bIns="0" anchor="ctr">
            <a:noAutofit/>
          </a:bodyPr>
          <a:lstStyle/>
          <a:p>
            <a:pPr algn="ctr">
              <a:lnSpc>
                <a:spcPts val="1250"/>
              </a:lnSpc>
              <a:spcBef>
                <a:spcPts val="0"/>
              </a:spcBef>
              <a:spcAft>
                <a:spcPts val="0"/>
              </a:spcAft>
              <a:buNone/>
            </a:pPr>
            <a:r>
              <a:rPr sz="1000" b="1" spc="100">
                <a:solidFill>
                  <a:srgbClr val="06E288"/>
                </a:solidFill>
                <a:latin typeface="Plus Jakarta Sans"/>
              </a:rPr>
              <a:t>REAL WEB APP · SAMPLE DATA</a:t>
            </a:r>
          </a:p>
        </p:txBody>
      </p:sp>
      <p:sp>
        <p:nvSpPr>
          <p:cNvPr id="23" name="TextBox 22"/>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24" name="TextBox 23"/>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13</a:t>
            </a:r>
          </a:p>
        </p:txBody>
      </p:sp>
      <p:pic>
        <p:nvPicPr>
          <p:cNvPr id="25" name="Picture 24" descr="icon.png"/>
          <p:cNvPicPr>
            <a:picLocks noChangeAspect="1"/>
          </p:cNvPicPr>
          <p:nvPr/>
        </p:nvPicPr>
        <p:blipFill>
          <a:blip r:embed="rId5"/>
          <a:stretch>
            <a:fillRect/>
          </a:stretch>
        </p:blipFill>
        <p:spPr>
          <a:xfrm>
            <a:off x="731520" y="6382512"/>
            <a:ext cx="237744" cy="237744"/>
          </a:xfrm>
          <a:prstGeom prst="roundRect">
            <a:avLst>
              <a:gd name="adj" fmla="val 26923"/>
            </a:avLst>
          </a:prstGeom>
        </p:spPr>
      </p:pic>
      <p:sp>
        <p:nvSpPr>
          <p:cNvPr id="26" name="TextBox 25"/>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50">
        <p:push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LIVE DEMONSTRATION</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3850"/>
              </a:lnSpc>
              <a:spcBef>
                <a:spcPts val="0"/>
              </a:spcBef>
              <a:spcAft>
                <a:spcPts val="0"/>
              </a:spcAft>
              <a:buNone/>
            </a:pPr>
            <a:r>
              <a:rPr sz="3500" b="0">
                <a:solidFill>
                  <a:srgbClr val="FFFFFF"/>
                </a:solidFill>
                <a:latin typeface="Plus Jakarta Sans ExtraBold"/>
              </a:rPr>
              <a:t>Show the experience. </a:t>
            </a:r>
            <a:r>
              <a:rPr sz="3500" b="0">
                <a:solidFill>
                  <a:srgbClr val="06E288"/>
                </a:solidFill>
                <a:latin typeface="Plus Jakarta Sans ExtraBold"/>
              </a:rPr>
              <a:t>Not just the screens.</a:t>
            </a:r>
          </a:p>
        </p:txBody>
      </p:sp>
      <p:pic>
        <p:nvPicPr>
          <p:cNvPr id="6" name="Picture 5" descr="web-overview.png"/>
          <p:cNvPicPr>
            <a:picLocks noChangeAspect="1"/>
          </p:cNvPicPr>
          <p:nvPr/>
        </p:nvPicPr>
        <p:blipFill>
          <a:blip r:embed="rId3"/>
          <a:stretch>
            <a:fillRect/>
          </a:stretch>
        </p:blipFill>
        <p:spPr>
          <a:xfrm>
            <a:off x="548640" y="2011680"/>
            <a:ext cx="6858000" cy="4885050"/>
          </a:xfrm>
          <a:prstGeom prst="rect">
            <a:avLst/>
          </a:prstGeom>
        </p:spPr>
      </p:pic>
      <p:sp>
        <p:nvSpPr>
          <p:cNvPr id="7" name="TextBox 6"/>
          <p:cNvSpPr txBox="1"/>
          <p:nvPr/>
        </p:nvSpPr>
        <p:spPr>
          <a:xfrm>
            <a:off x="7818120" y="2148840"/>
            <a:ext cx="3657600" cy="36576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06E288"/>
                </a:solidFill>
                <a:latin typeface="Plus Jakarta Sans"/>
              </a:rPr>
              <a:t>01 · Play</a:t>
            </a:r>
          </a:p>
        </p:txBody>
      </p:sp>
      <p:sp>
        <p:nvSpPr>
          <p:cNvPr id="8" name="TextBox 7"/>
          <p:cNvSpPr txBox="1"/>
          <p:nvPr/>
        </p:nvSpPr>
        <p:spPr>
          <a:xfrm>
            <a:off x="7818120" y="2560320"/>
            <a:ext cx="3657600" cy="502920"/>
          </a:xfrm>
          <a:prstGeom prst="rect">
            <a:avLst/>
          </a:prstGeom>
          <a:noFill/>
        </p:spPr>
        <p:txBody>
          <a:bodyPr wrap="square" lIns="0" rIns="0" tIns="0" bIns="0" anchor="t">
            <a:noAutofit/>
          </a:bodyPr>
          <a:lstStyle/>
          <a:p>
            <a:pPr algn="l">
              <a:lnSpc>
                <a:spcPts val="1954"/>
              </a:lnSpc>
              <a:spcBef>
                <a:spcPts val="0"/>
              </a:spcBef>
              <a:spcAft>
                <a:spcPts val="0"/>
              </a:spcAft>
              <a:buNone/>
            </a:pPr>
            <a:r>
              <a:rPr sz="1550" b="0">
                <a:solidFill>
                  <a:srgbClr val="D7E0F2"/>
                </a:solidFill>
                <a:latin typeface="Plus Jakarta Sans"/>
              </a:rPr>
              <a:t>Repeat a pattern; reveal a picture pair.</a:t>
            </a:r>
          </a:p>
        </p:txBody>
      </p:sp>
      <p:sp>
        <p:nvSpPr>
          <p:cNvPr id="9" name="TextBox 8"/>
          <p:cNvSpPr txBox="1"/>
          <p:nvPr/>
        </p:nvSpPr>
        <p:spPr>
          <a:xfrm>
            <a:off x="7818120" y="3108960"/>
            <a:ext cx="3657600" cy="36576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06E288"/>
                </a:solidFill>
                <a:latin typeface="Plus Jakarta Sans"/>
              </a:rPr>
              <a:t>02 · Choose</a:t>
            </a:r>
          </a:p>
        </p:txBody>
      </p:sp>
      <p:sp>
        <p:nvSpPr>
          <p:cNvPr id="10" name="TextBox 9"/>
          <p:cNvSpPr txBox="1"/>
          <p:nvPr/>
        </p:nvSpPr>
        <p:spPr>
          <a:xfrm>
            <a:off x="7818120" y="3520440"/>
            <a:ext cx="3657600" cy="502920"/>
          </a:xfrm>
          <a:prstGeom prst="rect">
            <a:avLst/>
          </a:prstGeom>
          <a:noFill/>
        </p:spPr>
        <p:txBody>
          <a:bodyPr wrap="square" lIns="0" rIns="0" tIns="0" bIns="0" anchor="t">
            <a:noAutofit/>
          </a:bodyPr>
          <a:lstStyle/>
          <a:p>
            <a:pPr algn="l">
              <a:lnSpc>
                <a:spcPts val="1954"/>
              </a:lnSpc>
              <a:spcBef>
                <a:spcPts val="0"/>
              </a:spcBef>
              <a:spcAft>
                <a:spcPts val="0"/>
              </a:spcAft>
              <a:buNone/>
            </a:pPr>
            <a:r>
              <a:rPr sz="1550" b="0">
                <a:solidFill>
                  <a:srgbClr val="D7E0F2"/>
                </a:solidFill>
                <a:latin typeface="Plus Jakarta Sans"/>
              </a:rPr>
              <a:t>Start and stop rain; pause breathing.</a:t>
            </a:r>
          </a:p>
        </p:txBody>
      </p:sp>
      <p:sp>
        <p:nvSpPr>
          <p:cNvPr id="11" name="TextBox 10"/>
          <p:cNvSpPr txBox="1"/>
          <p:nvPr/>
        </p:nvSpPr>
        <p:spPr>
          <a:xfrm>
            <a:off x="7818120" y="4069080"/>
            <a:ext cx="3657600" cy="36576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06E288"/>
                </a:solidFill>
                <a:latin typeface="Plus Jakarta Sans"/>
              </a:rPr>
              <a:t>03 · Check in</a:t>
            </a:r>
          </a:p>
        </p:txBody>
      </p:sp>
      <p:sp>
        <p:nvSpPr>
          <p:cNvPr id="12" name="TextBox 11"/>
          <p:cNvSpPr txBox="1"/>
          <p:nvPr/>
        </p:nvSpPr>
        <p:spPr>
          <a:xfrm>
            <a:off x="7818120" y="4480560"/>
            <a:ext cx="3657600" cy="502920"/>
          </a:xfrm>
          <a:prstGeom prst="rect">
            <a:avLst/>
          </a:prstGeom>
          <a:noFill/>
        </p:spPr>
        <p:txBody>
          <a:bodyPr wrap="square" lIns="0" rIns="0" tIns="0" bIns="0" anchor="t">
            <a:noAutofit/>
          </a:bodyPr>
          <a:lstStyle/>
          <a:p>
            <a:pPr algn="l">
              <a:lnSpc>
                <a:spcPts val="1954"/>
              </a:lnSpc>
              <a:spcBef>
                <a:spcPts val="0"/>
              </a:spcBef>
              <a:spcAft>
                <a:spcPts val="0"/>
              </a:spcAft>
              <a:buNone/>
            </a:pPr>
            <a:r>
              <a:rPr sz="1550" b="0">
                <a:solidFill>
                  <a:srgbClr val="D7E0F2"/>
                </a:solidFill>
                <a:latin typeface="Plus Jakarta Sans"/>
              </a:rPr>
              <a:t>Record a mood and complete a routine.</a:t>
            </a:r>
          </a:p>
        </p:txBody>
      </p:sp>
      <p:sp>
        <p:nvSpPr>
          <p:cNvPr id="13" name="TextBox 12"/>
          <p:cNvSpPr txBox="1"/>
          <p:nvPr/>
        </p:nvSpPr>
        <p:spPr>
          <a:xfrm>
            <a:off x="7818120" y="5029200"/>
            <a:ext cx="3657600" cy="36576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06E288"/>
                </a:solidFill>
                <a:latin typeface="Plus Jakarta Sans"/>
              </a:rPr>
              <a:t>04 · Prepare</a:t>
            </a:r>
          </a:p>
        </p:txBody>
      </p:sp>
      <p:sp>
        <p:nvSpPr>
          <p:cNvPr id="14" name="TextBox 13"/>
          <p:cNvSpPr txBox="1"/>
          <p:nvPr/>
        </p:nvSpPr>
        <p:spPr>
          <a:xfrm>
            <a:off x="7818120" y="5440680"/>
            <a:ext cx="3657600" cy="502920"/>
          </a:xfrm>
          <a:prstGeom prst="rect">
            <a:avLst/>
          </a:prstGeom>
          <a:noFill/>
        </p:spPr>
        <p:txBody>
          <a:bodyPr wrap="square" lIns="0" rIns="0" tIns="0" bIns="0" anchor="t">
            <a:noAutofit/>
          </a:bodyPr>
          <a:lstStyle/>
          <a:p>
            <a:pPr algn="l">
              <a:lnSpc>
                <a:spcPts val="2039"/>
              </a:lnSpc>
              <a:spcBef>
                <a:spcPts val="0"/>
              </a:spcBef>
              <a:spcAft>
                <a:spcPts val="0"/>
              </a:spcAft>
              <a:buNone/>
            </a:pPr>
            <a:r>
              <a:rPr sz="1650" b="0">
                <a:solidFill>
                  <a:srgbClr val="D7E0F2"/>
                </a:solidFill>
                <a:latin typeface="Plus Jakarta Sans"/>
              </a:rPr>
              <a:t>Select fields; preview the visit brief.</a:t>
            </a:r>
          </a:p>
        </p:txBody>
      </p:sp>
      <p:sp>
        <p:nvSpPr>
          <p:cNvPr id="15" name="TextBox 14"/>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14</a:t>
            </a:r>
          </a:p>
        </p:txBody>
      </p:sp>
      <p:pic>
        <p:nvPicPr>
          <p:cNvPr id="16" name="Picture 15" descr="icon.png"/>
          <p:cNvPicPr>
            <a:picLocks noChangeAspect="1"/>
          </p:cNvPicPr>
          <p:nvPr/>
        </p:nvPicPr>
        <p:blipFill>
          <a:blip r:embed="rId4"/>
          <a:stretch>
            <a:fillRect/>
          </a:stretch>
        </p:blipFill>
        <p:spPr>
          <a:xfrm>
            <a:off x="731520" y="6382512"/>
            <a:ext cx="237744" cy="237744"/>
          </a:xfrm>
          <a:prstGeom prst="roundRect">
            <a:avLst>
              <a:gd name="adj" fmla="val 26923"/>
            </a:avLst>
          </a:prstGeom>
        </p:spPr>
      </p:pic>
      <p:sp>
        <p:nvSpPr>
          <p:cNvPr id="17" name="TextBox 16"/>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50">
        <p:push dir="l"/>
      </p:transition>
    </mc:Choice>
    <mc:Fallback>
      <p:transition spd="med">
        <p:push dir="l"/>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WHAT MAKES IT DIFFERENT</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Four rules, </a:t>
            </a:r>
            <a:r>
              <a:rPr sz="3800" b="0">
                <a:solidFill>
                  <a:srgbClr val="06E288"/>
                </a:solidFill>
                <a:latin typeface="Plus Jakarta Sans ExtraBold"/>
              </a:rPr>
              <a:t>written into the code.</a:t>
            </a:r>
          </a:p>
        </p:txBody>
      </p:sp>
      <p:cxnSp>
        <p:nvCxnSpPr>
          <p:cNvPr id="6" name="Connector 5"/>
          <p:cNvCxnSpPr/>
          <p:nvPr/>
        </p:nvCxnSpPr>
        <p:spPr>
          <a:xfrm>
            <a:off x="731520" y="2331720"/>
            <a:ext cx="10728655" cy="0"/>
          </a:xfrm>
          <a:prstGeom prst="line">
            <a:avLst/>
          </a:prstGeom>
          <a:ln w="9525">
            <a:solidFill>
              <a:srgbClr val="FFFFFF">
                <a:alpha val="10000"/>
              </a:srgbClr>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2606039"/>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01</a:t>
            </a:r>
          </a:p>
        </p:txBody>
      </p:sp>
      <p:sp>
        <p:nvSpPr>
          <p:cNvPr id="8" name="TextBox 7"/>
          <p:cNvSpPr txBox="1"/>
          <p:nvPr/>
        </p:nvSpPr>
        <p:spPr>
          <a:xfrm>
            <a:off x="1280160" y="2532888"/>
            <a:ext cx="3566160" cy="45720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FFFFFF"/>
                </a:solidFill>
                <a:latin typeface="Plus Jakarta Sans"/>
              </a:rPr>
              <a:t>Never fabricate</a:t>
            </a:r>
          </a:p>
        </p:txBody>
      </p:sp>
      <p:sp>
        <p:nvSpPr>
          <p:cNvPr id="9" name="TextBox 8"/>
          <p:cNvSpPr txBox="1"/>
          <p:nvPr/>
        </p:nvSpPr>
        <p:spPr>
          <a:xfrm>
            <a:off x="4937759" y="2578608"/>
            <a:ext cx="3200400" cy="457200"/>
          </a:xfrm>
          <a:prstGeom prst="rect">
            <a:avLst/>
          </a:prstGeom>
          <a:noFill/>
        </p:spPr>
        <p:txBody>
          <a:bodyPr wrap="square" lIns="0" rIns="0" tIns="0" bIns="0" anchor="t">
            <a:noAutofit/>
          </a:bodyPr>
          <a:lstStyle/>
          <a:p>
            <a:pPr algn="l">
              <a:lnSpc>
                <a:spcPts val="1782"/>
              </a:lnSpc>
              <a:spcBef>
                <a:spcPts val="0"/>
              </a:spcBef>
              <a:spcAft>
                <a:spcPts val="0"/>
              </a:spcAft>
              <a:buNone/>
            </a:pPr>
            <a:r>
              <a:rPr sz="1450" b="0">
                <a:solidFill>
                  <a:srgbClr val="93A4C7"/>
                </a:solidFill>
                <a:latin typeface="Plus Jakarta Sans"/>
              </a:rPr>
              <a:t>every reading labeled where it is born</a:t>
            </a:r>
          </a:p>
        </p:txBody>
      </p:sp>
      <p:sp>
        <p:nvSpPr>
          <p:cNvPr id="10" name="Rounded Rectangle 9"/>
          <p:cNvSpPr/>
          <p:nvPr/>
        </p:nvSpPr>
        <p:spPr>
          <a:xfrm>
            <a:off x="8321040" y="2596896"/>
            <a:ext cx="2292095" cy="347472"/>
          </a:xfrm>
          <a:prstGeom prst="roundRect">
            <a:avLst>
              <a:gd name="adj" fmla="val 50000"/>
            </a:avLst>
          </a:prstGeom>
          <a:solidFill>
            <a:srgbClr val="06E28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21040" y="2596896"/>
            <a:ext cx="2292095" cy="347472"/>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0">
                <a:solidFill>
                  <a:srgbClr val="06E288"/>
                </a:solidFill>
                <a:latin typeface="JetBrains Mono"/>
              </a:rPr>
              <a:t>'LIVE_BLE' : 'SIMULATED'</a:t>
            </a:r>
          </a:p>
        </p:txBody>
      </p:sp>
      <p:cxnSp>
        <p:nvCxnSpPr>
          <p:cNvPr id="12" name="Connector 11"/>
          <p:cNvCxnSpPr/>
          <p:nvPr/>
        </p:nvCxnSpPr>
        <p:spPr>
          <a:xfrm>
            <a:off x="731520" y="3246120"/>
            <a:ext cx="10728655" cy="0"/>
          </a:xfrm>
          <a:prstGeom prst="line">
            <a:avLst/>
          </a:prstGeom>
          <a:ln w="9525">
            <a:solidFill>
              <a:srgbClr val="FFFFFF">
                <a:alpha val="10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3520439"/>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02</a:t>
            </a:r>
          </a:p>
        </p:txBody>
      </p:sp>
      <p:sp>
        <p:nvSpPr>
          <p:cNvPr id="14" name="TextBox 13"/>
          <p:cNvSpPr txBox="1"/>
          <p:nvPr/>
        </p:nvSpPr>
        <p:spPr>
          <a:xfrm>
            <a:off x="1280160" y="3447288"/>
            <a:ext cx="3566160" cy="457200"/>
          </a:xfrm>
          <a:prstGeom prst="rect">
            <a:avLst/>
          </a:prstGeom>
          <a:noFill/>
        </p:spPr>
        <p:txBody>
          <a:bodyPr wrap="square" lIns="0" rIns="0" tIns="0" bIns="0" anchor="t">
            <a:noAutofit/>
          </a:bodyPr>
          <a:lstStyle/>
          <a:p>
            <a:pPr algn="l">
              <a:lnSpc>
                <a:spcPts val="2520"/>
              </a:lnSpc>
              <a:spcBef>
                <a:spcPts val="0"/>
              </a:spcBef>
              <a:spcAft>
                <a:spcPts val="0"/>
              </a:spcAft>
              <a:buNone/>
            </a:pPr>
            <a:r>
              <a:rPr sz="2000" b="1">
                <a:solidFill>
                  <a:srgbClr val="FFFFFF"/>
                </a:solidFill>
                <a:latin typeface="Plus Jakarta Sans"/>
              </a:rPr>
              <a:t>Nothing sent automatically</a:t>
            </a:r>
          </a:p>
        </p:txBody>
      </p:sp>
      <p:sp>
        <p:nvSpPr>
          <p:cNvPr id="15" name="TextBox 14"/>
          <p:cNvSpPr txBox="1"/>
          <p:nvPr/>
        </p:nvSpPr>
        <p:spPr>
          <a:xfrm>
            <a:off x="4937759" y="3493008"/>
            <a:ext cx="3200400" cy="457200"/>
          </a:xfrm>
          <a:prstGeom prst="rect">
            <a:avLst/>
          </a:prstGeom>
          <a:noFill/>
        </p:spPr>
        <p:txBody>
          <a:bodyPr wrap="square" lIns="0" rIns="0" tIns="0" bIns="0" anchor="t">
            <a:noAutofit/>
          </a:bodyPr>
          <a:lstStyle/>
          <a:p>
            <a:pPr algn="l">
              <a:lnSpc>
                <a:spcPts val="1937"/>
              </a:lnSpc>
              <a:spcBef>
                <a:spcPts val="0"/>
              </a:spcBef>
              <a:spcAft>
                <a:spcPts val="0"/>
              </a:spcAft>
              <a:buNone/>
            </a:pPr>
            <a:r>
              <a:rPr sz="1550" b="0">
                <a:solidFill>
                  <a:srgbClr val="93A4C7"/>
                </a:solidFill>
                <a:latin typeface="Plus Jakarta Sans"/>
              </a:rPr>
              <a:t>a person always taps Send</a:t>
            </a:r>
          </a:p>
        </p:txBody>
      </p:sp>
      <p:sp>
        <p:nvSpPr>
          <p:cNvPr id="16" name="Rounded Rectangle 15"/>
          <p:cNvSpPr/>
          <p:nvPr/>
        </p:nvSpPr>
        <p:spPr>
          <a:xfrm>
            <a:off x="8321040" y="3511296"/>
            <a:ext cx="2704845" cy="347472"/>
          </a:xfrm>
          <a:prstGeom prst="roundRect">
            <a:avLst>
              <a:gd name="adj" fmla="val 50000"/>
            </a:avLst>
          </a:prstGeom>
          <a:solidFill>
            <a:srgbClr val="06E28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21040" y="3511296"/>
            <a:ext cx="2704845" cy="347472"/>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0">
                <a:solidFill>
                  <a:srgbClr val="06E288"/>
                </a:solidFill>
                <a:latin typeface="JetBrains Mono"/>
              </a:rPr>
              <a:t>navigator.share() · ShareLink</a:t>
            </a:r>
          </a:p>
        </p:txBody>
      </p:sp>
      <p:cxnSp>
        <p:nvCxnSpPr>
          <p:cNvPr id="18" name="Connector 17"/>
          <p:cNvCxnSpPr/>
          <p:nvPr/>
        </p:nvCxnSpPr>
        <p:spPr>
          <a:xfrm>
            <a:off x="731520" y="4160520"/>
            <a:ext cx="10728655" cy="0"/>
          </a:xfrm>
          <a:prstGeom prst="line">
            <a:avLst/>
          </a:prstGeom>
          <a:ln w="9525">
            <a:solidFill>
              <a:srgbClr val="FFFFFF">
                <a:alpha val="10000"/>
              </a:srgbClr>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31520" y="4434840"/>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03</a:t>
            </a:r>
          </a:p>
        </p:txBody>
      </p:sp>
      <p:sp>
        <p:nvSpPr>
          <p:cNvPr id="20" name="TextBox 19"/>
          <p:cNvSpPr txBox="1"/>
          <p:nvPr/>
        </p:nvSpPr>
        <p:spPr>
          <a:xfrm>
            <a:off x="1280160" y="4361688"/>
            <a:ext cx="3566160" cy="45720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FFFFFF"/>
                </a:solidFill>
                <a:latin typeface="Plus Jakarta Sans"/>
              </a:rPr>
              <a:t>Calm by default</a:t>
            </a:r>
          </a:p>
        </p:txBody>
      </p:sp>
      <p:sp>
        <p:nvSpPr>
          <p:cNvPr id="21" name="TextBox 20"/>
          <p:cNvSpPr txBox="1"/>
          <p:nvPr/>
        </p:nvSpPr>
        <p:spPr>
          <a:xfrm>
            <a:off x="4937759" y="4407408"/>
            <a:ext cx="3200400" cy="457200"/>
          </a:xfrm>
          <a:prstGeom prst="rect">
            <a:avLst/>
          </a:prstGeom>
          <a:noFill/>
        </p:spPr>
        <p:txBody>
          <a:bodyPr wrap="square" lIns="0" rIns="0" tIns="0" bIns="0" anchor="t">
            <a:noAutofit/>
          </a:bodyPr>
          <a:lstStyle/>
          <a:p>
            <a:pPr algn="l">
              <a:lnSpc>
                <a:spcPts val="1859"/>
              </a:lnSpc>
              <a:spcBef>
                <a:spcPts val="0"/>
              </a:spcBef>
              <a:spcAft>
                <a:spcPts val="0"/>
              </a:spcAft>
              <a:buNone/>
            </a:pPr>
            <a:r>
              <a:rPr sz="1500" b="0">
                <a:solidFill>
                  <a:srgbClr val="93A4C7"/>
                </a:solidFill>
                <a:latin typeface="Plus Jakarta Sans"/>
              </a:rPr>
              <a:t>no timers, scores or auto-advance</a:t>
            </a:r>
          </a:p>
        </p:txBody>
      </p:sp>
      <p:sp>
        <p:nvSpPr>
          <p:cNvPr id="22" name="Rounded Rectangle 21"/>
          <p:cNvSpPr/>
          <p:nvPr/>
        </p:nvSpPr>
        <p:spPr>
          <a:xfrm>
            <a:off x="8321040" y="4425696"/>
            <a:ext cx="1879345" cy="347472"/>
          </a:xfrm>
          <a:prstGeom prst="roundRect">
            <a:avLst>
              <a:gd name="adj" fmla="val 50000"/>
            </a:avLst>
          </a:prstGeom>
          <a:solidFill>
            <a:srgbClr val="06E28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21040" y="4425696"/>
            <a:ext cx="1879345" cy="347472"/>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0">
                <a:solidFill>
                  <a:srgbClr val="06E288"/>
                </a:solidFill>
                <a:latin typeface="JetBrains Mono"/>
              </a:rPr>
              <a:t>Untimed · No scores</a:t>
            </a:r>
          </a:p>
        </p:txBody>
      </p:sp>
      <p:cxnSp>
        <p:nvCxnSpPr>
          <p:cNvPr id="24" name="Connector 23"/>
          <p:cNvCxnSpPr/>
          <p:nvPr/>
        </p:nvCxnSpPr>
        <p:spPr>
          <a:xfrm>
            <a:off x="731520" y="5074920"/>
            <a:ext cx="10728655" cy="0"/>
          </a:xfrm>
          <a:prstGeom prst="line">
            <a:avLst/>
          </a:prstGeom>
          <a:ln w="9525">
            <a:solidFill>
              <a:srgbClr val="FFFFFF">
                <a:alpha val="10000"/>
              </a:srgbClr>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31520" y="5349240"/>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04</a:t>
            </a:r>
          </a:p>
        </p:txBody>
      </p:sp>
      <p:sp>
        <p:nvSpPr>
          <p:cNvPr id="26" name="TextBox 25"/>
          <p:cNvSpPr txBox="1"/>
          <p:nvPr/>
        </p:nvSpPr>
        <p:spPr>
          <a:xfrm>
            <a:off x="1280160" y="5276088"/>
            <a:ext cx="3566160" cy="457200"/>
          </a:xfrm>
          <a:prstGeom prst="rect">
            <a:avLst/>
          </a:prstGeom>
          <a:noFill/>
        </p:spPr>
        <p:txBody>
          <a:bodyPr wrap="square" lIns="0" rIns="0" tIns="0" bIns="0" anchor="t">
            <a:noAutofit/>
          </a:bodyPr>
          <a:lstStyle/>
          <a:p>
            <a:pPr algn="l">
              <a:lnSpc>
                <a:spcPts val="2625"/>
              </a:lnSpc>
              <a:spcBef>
                <a:spcPts val="0"/>
              </a:spcBef>
              <a:spcAft>
                <a:spcPts val="0"/>
              </a:spcAft>
              <a:buNone/>
            </a:pPr>
            <a:r>
              <a:rPr sz="2100" b="1">
                <a:solidFill>
                  <a:srgbClr val="FFFFFF"/>
                </a:solidFill>
                <a:latin typeface="Plus Jakarta Sans"/>
              </a:rPr>
              <a:t>Private by architecture</a:t>
            </a:r>
          </a:p>
        </p:txBody>
      </p:sp>
      <p:sp>
        <p:nvSpPr>
          <p:cNvPr id="27" name="TextBox 26"/>
          <p:cNvSpPr txBox="1"/>
          <p:nvPr/>
        </p:nvSpPr>
        <p:spPr>
          <a:xfrm>
            <a:off x="4937759" y="5321808"/>
            <a:ext cx="3200400" cy="457200"/>
          </a:xfrm>
          <a:prstGeom prst="rect">
            <a:avLst/>
          </a:prstGeom>
          <a:noFill/>
        </p:spPr>
        <p:txBody>
          <a:bodyPr wrap="square" lIns="0" rIns="0" tIns="0" bIns="0" anchor="t">
            <a:noAutofit/>
          </a:bodyPr>
          <a:lstStyle/>
          <a:p>
            <a:pPr algn="l">
              <a:lnSpc>
                <a:spcPts val="1937"/>
              </a:lnSpc>
              <a:spcBef>
                <a:spcPts val="0"/>
              </a:spcBef>
              <a:spcAft>
                <a:spcPts val="0"/>
              </a:spcAft>
              <a:buNone/>
            </a:pPr>
            <a:r>
              <a:rPr sz="1550" b="0">
                <a:solidFill>
                  <a:srgbClr val="93A4C7"/>
                </a:solidFill>
                <a:latin typeface="Plus Jakarta Sans"/>
              </a:rPr>
              <a:t>no account, no server, encrypted</a:t>
            </a:r>
          </a:p>
        </p:txBody>
      </p:sp>
      <p:sp>
        <p:nvSpPr>
          <p:cNvPr id="28" name="Rounded Rectangle 27"/>
          <p:cNvSpPr/>
          <p:nvPr/>
        </p:nvSpPr>
        <p:spPr>
          <a:xfrm>
            <a:off x="8321040" y="5340096"/>
            <a:ext cx="2126996" cy="347472"/>
          </a:xfrm>
          <a:prstGeom prst="roundRect">
            <a:avLst>
              <a:gd name="adj" fmla="val 50000"/>
            </a:avLst>
          </a:prstGeom>
          <a:solidFill>
            <a:srgbClr val="06E28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21040" y="5340096"/>
            <a:ext cx="2126996" cy="347472"/>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0">
                <a:solidFill>
                  <a:srgbClr val="06E288"/>
                </a:solidFill>
                <a:latin typeface="JetBrains Mono"/>
              </a:rPr>
              <a:t>'AES-GCM', length: 256</a:t>
            </a:r>
          </a:p>
        </p:txBody>
      </p:sp>
      <p:cxnSp>
        <p:nvCxnSpPr>
          <p:cNvPr id="30" name="Connector 29"/>
          <p:cNvCxnSpPr/>
          <p:nvPr/>
        </p:nvCxnSpPr>
        <p:spPr>
          <a:xfrm>
            <a:off x="731520" y="5989320"/>
            <a:ext cx="10728655" cy="0"/>
          </a:xfrm>
          <a:prstGeom prst="line">
            <a:avLst/>
          </a:prstGeom>
          <a:ln w="9525">
            <a:solidFill>
              <a:srgbClr val="FFFFFF">
                <a:alpha val="10000"/>
              </a:srgbClr>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32" name="TextBox 31"/>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15</a:t>
            </a:r>
          </a:p>
        </p:txBody>
      </p:sp>
      <p:pic>
        <p:nvPicPr>
          <p:cNvPr id="33" name="Picture 32"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34" name="TextBox 33"/>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PRIVACY</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Local care data. </a:t>
            </a:r>
            <a:r>
              <a:rPr sz="3800" b="0">
                <a:solidFill>
                  <a:srgbClr val="06E288"/>
                </a:solidFill>
                <a:latin typeface="Plus Jakarta Sans ExtraBold"/>
              </a:rPr>
              <a:t>You choose what to share.</a:t>
            </a:r>
          </a:p>
        </p:txBody>
      </p:sp>
      <p:sp>
        <p:nvSpPr>
          <p:cNvPr id="6" name="Rounded Rectangle 5"/>
          <p:cNvSpPr/>
          <p:nvPr/>
        </p:nvSpPr>
        <p:spPr>
          <a:xfrm>
            <a:off x="731520" y="2240280"/>
            <a:ext cx="6675120" cy="3794760"/>
          </a:xfrm>
          <a:prstGeom prst="roundRect">
            <a:avLst>
              <a:gd name="adj" fmla="val 10843"/>
            </a:avLst>
          </a:prstGeom>
          <a:solidFill>
            <a:srgbClr val="0A1324">
              <a:alpha val="35000"/>
            </a:srgbClr>
          </a:solidFill>
          <a:ln w="19050">
            <a:solidFill>
              <a:srgbClr val="06E288">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051560" y="2514600"/>
            <a:ext cx="153822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514600"/>
            <a:ext cx="1538224" cy="329184"/>
          </a:xfrm>
          <a:prstGeom prst="rect">
            <a:avLst/>
          </a:prstGeom>
          <a:noFill/>
        </p:spPr>
        <p:txBody>
          <a:bodyPr wrap="square" lIns="0" rIns="0" tIns="0" bIns="0" anchor="ctr">
            <a:noAutofit/>
          </a:bodyPr>
          <a:lstStyle/>
          <a:p>
            <a:pPr algn="ctr">
              <a:lnSpc>
                <a:spcPts val="1250"/>
              </a:lnSpc>
              <a:spcBef>
                <a:spcPts val="0"/>
              </a:spcBef>
              <a:spcAft>
                <a:spcPts val="0"/>
              </a:spcAft>
              <a:buNone/>
            </a:pPr>
            <a:r>
              <a:rPr sz="1000" b="1" spc="100">
                <a:solidFill>
                  <a:srgbClr val="06E288"/>
                </a:solidFill>
                <a:latin typeface="Plus Jakarta Sans"/>
              </a:rPr>
              <a:t>ON THE DEVICE</a:t>
            </a:r>
          </a:p>
        </p:txBody>
      </p:sp>
      <p:sp>
        <p:nvSpPr>
          <p:cNvPr id="9" name="Rounded Rectangle 8"/>
          <p:cNvSpPr/>
          <p:nvPr/>
        </p:nvSpPr>
        <p:spPr>
          <a:xfrm>
            <a:off x="1051560" y="301752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52728" y="3218688"/>
            <a:ext cx="1523999" cy="365760"/>
          </a:xfrm>
          <a:prstGeom prst="rect">
            <a:avLst/>
          </a:prstGeom>
          <a:noFill/>
        </p:spPr>
        <p:txBody>
          <a:bodyPr wrap="square" lIns="0" rIns="0" tIns="0" bIns="0" anchor="t">
            <a:noAutofit/>
          </a:bodyPr>
          <a:lstStyle/>
          <a:p>
            <a:pPr algn="l">
              <a:lnSpc>
                <a:spcPts val="1875"/>
              </a:lnSpc>
              <a:spcBef>
                <a:spcPts val="0"/>
              </a:spcBef>
              <a:spcAft>
                <a:spcPts val="0"/>
              </a:spcAft>
              <a:buNone/>
            </a:pPr>
            <a:r>
              <a:rPr sz="1500" b="1">
                <a:solidFill>
                  <a:srgbClr val="FFFFFF"/>
                </a:solidFill>
                <a:latin typeface="Plus Jakarta Sans"/>
              </a:rPr>
              <a:t>Vitals</a:t>
            </a:r>
          </a:p>
        </p:txBody>
      </p:sp>
      <p:sp>
        <p:nvSpPr>
          <p:cNvPr id="11" name="TextBox 10"/>
          <p:cNvSpPr txBox="1"/>
          <p:nvPr/>
        </p:nvSpPr>
        <p:spPr>
          <a:xfrm>
            <a:off x="1252728" y="354787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BLE 0x180D · HealthKit, read-only</a:t>
            </a:r>
          </a:p>
        </p:txBody>
      </p:sp>
      <p:sp>
        <p:nvSpPr>
          <p:cNvPr id="12" name="Rounded Rectangle 11"/>
          <p:cNvSpPr/>
          <p:nvPr/>
        </p:nvSpPr>
        <p:spPr>
          <a:xfrm>
            <a:off x="3124200" y="301752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25368" y="3218688"/>
            <a:ext cx="1523999" cy="365760"/>
          </a:xfrm>
          <a:prstGeom prst="rect">
            <a:avLst/>
          </a:prstGeom>
          <a:noFill/>
        </p:spPr>
        <p:txBody>
          <a:bodyPr wrap="square" lIns="0" rIns="0" tIns="0" bIns="0" anchor="t">
            <a:noAutofit/>
          </a:bodyPr>
          <a:lstStyle/>
          <a:p>
            <a:pPr algn="l">
              <a:lnSpc>
                <a:spcPts val="1875"/>
              </a:lnSpc>
              <a:spcBef>
                <a:spcPts val="0"/>
              </a:spcBef>
              <a:spcAft>
                <a:spcPts val="0"/>
              </a:spcAft>
              <a:buNone/>
            </a:pPr>
            <a:r>
              <a:rPr sz="1500" b="1">
                <a:solidFill>
                  <a:srgbClr val="FFFFFF"/>
                </a:solidFill>
                <a:latin typeface="Plus Jakarta Sans"/>
              </a:rPr>
              <a:t>Health Guide</a:t>
            </a:r>
          </a:p>
        </p:txBody>
      </p:sp>
      <p:sp>
        <p:nvSpPr>
          <p:cNvPr id="14" name="TextBox 13"/>
          <p:cNvSpPr txBox="1"/>
          <p:nvPr/>
        </p:nvSpPr>
        <p:spPr>
          <a:xfrm>
            <a:off x="3325368" y="354787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Qwen2.5-1.5B · llama.cpp, offline</a:t>
            </a:r>
          </a:p>
        </p:txBody>
      </p:sp>
      <p:sp>
        <p:nvSpPr>
          <p:cNvPr id="15" name="Rounded Rectangle 14"/>
          <p:cNvSpPr/>
          <p:nvPr/>
        </p:nvSpPr>
        <p:spPr>
          <a:xfrm>
            <a:off x="5196840" y="301752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98008" y="3218688"/>
            <a:ext cx="1523999" cy="365760"/>
          </a:xfrm>
          <a:prstGeom prst="rect">
            <a:avLst/>
          </a:prstGeom>
          <a:noFill/>
        </p:spPr>
        <p:txBody>
          <a:bodyPr wrap="square" lIns="0" rIns="0" tIns="0" bIns="0" anchor="t">
            <a:noAutofit/>
          </a:bodyPr>
          <a:lstStyle/>
          <a:p>
            <a:pPr algn="l">
              <a:lnSpc>
                <a:spcPts val="1800"/>
              </a:lnSpc>
              <a:spcBef>
                <a:spcPts val="0"/>
              </a:spcBef>
              <a:spcAft>
                <a:spcPts val="0"/>
              </a:spcAft>
              <a:buNone/>
            </a:pPr>
            <a:r>
              <a:rPr sz="1450" b="1">
                <a:solidFill>
                  <a:srgbClr val="FFFFFF"/>
                </a:solidFill>
                <a:latin typeface="Plus Jakarta Sans"/>
              </a:rPr>
              <a:t>Encrypted store</a:t>
            </a:r>
          </a:p>
        </p:txBody>
      </p:sp>
      <p:sp>
        <p:nvSpPr>
          <p:cNvPr id="17" name="TextBox 16"/>
          <p:cNvSpPr txBox="1"/>
          <p:nvPr/>
        </p:nvSpPr>
        <p:spPr>
          <a:xfrm>
            <a:off x="5398008" y="354787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AES-256-GCM · Face ID lock</a:t>
            </a:r>
          </a:p>
        </p:txBody>
      </p:sp>
      <p:sp>
        <p:nvSpPr>
          <p:cNvPr id="18" name="Rounded Rectangle 17"/>
          <p:cNvSpPr/>
          <p:nvPr/>
        </p:nvSpPr>
        <p:spPr>
          <a:xfrm>
            <a:off x="1051560" y="429768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52728" y="4498848"/>
            <a:ext cx="1523999" cy="365760"/>
          </a:xfrm>
          <a:prstGeom prst="rect">
            <a:avLst/>
          </a:prstGeom>
          <a:noFill/>
        </p:spPr>
        <p:txBody>
          <a:bodyPr wrap="square" lIns="0" rIns="0" tIns="0" bIns="0" anchor="t">
            <a:noAutofit/>
          </a:bodyPr>
          <a:lstStyle/>
          <a:p>
            <a:pPr algn="l">
              <a:lnSpc>
                <a:spcPts val="1875"/>
              </a:lnSpc>
              <a:spcBef>
                <a:spcPts val="0"/>
              </a:spcBef>
              <a:spcAft>
                <a:spcPts val="0"/>
              </a:spcAft>
              <a:buNone/>
            </a:pPr>
            <a:r>
              <a:rPr sz="1500" b="1">
                <a:solidFill>
                  <a:srgbClr val="FFFFFF"/>
                </a:solidFill>
                <a:latin typeface="Plus Jakarta Sans"/>
              </a:rPr>
              <a:t>Activities</a:t>
            </a:r>
          </a:p>
        </p:txBody>
      </p:sp>
      <p:sp>
        <p:nvSpPr>
          <p:cNvPr id="20" name="TextBox 19"/>
          <p:cNvSpPr txBox="1"/>
          <p:nvPr/>
        </p:nvSpPr>
        <p:spPr>
          <a:xfrm>
            <a:off x="1252728" y="482803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Web Audio · untimed, unscored</a:t>
            </a:r>
          </a:p>
        </p:txBody>
      </p:sp>
      <p:sp>
        <p:nvSpPr>
          <p:cNvPr id="21" name="Rounded Rectangle 20"/>
          <p:cNvSpPr/>
          <p:nvPr/>
        </p:nvSpPr>
        <p:spPr>
          <a:xfrm>
            <a:off x="3124200" y="429768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25368" y="4498848"/>
            <a:ext cx="1523999" cy="365760"/>
          </a:xfrm>
          <a:prstGeom prst="rect">
            <a:avLst/>
          </a:prstGeom>
          <a:noFill/>
        </p:spPr>
        <p:txBody>
          <a:bodyPr wrap="square" lIns="0" rIns="0" tIns="0" bIns="0" anchor="t">
            <a:noAutofit/>
          </a:bodyPr>
          <a:lstStyle/>
          <a:p>
            <a:pPr algn="l">
              <a:lnSpc>
                <a:spcPts val="1875"/>
              </a:lnSpc>
              <a:spcBef>
                <a:spcPts val="0"/>
              </a:spcBef>
              <a:spcAft>
                <a:spcPts val="0"/>
              </a:spcAft>
              <a:buNone/>
            </a:pPr>
            <a:r>
              <a:rPr sz="1500" b="1">
                <a:solidFill>
                  <a:srgbClr val="FFFFFF"/>
                </a:solidFill>
                <a:latin typeface="Plus Jakarta Sans"/>
              </a:rPr>
              <a:t>Visit brief</a:t>
            </a:r>
          </a:p>
        </p:txBody>
      </p:sp>
      <p:sp>
        <p:nvSpPr>
          <p:cNvPr id="23" name="TextBox 22"/>
          <p:cNvSpPr txBox="1"/>
          <p:nvPr/>
        </p:nvSpPr>
        <p:spPr>
          <a:xfrm>
            <a:off x="3325368" y="482803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fields you pick · exact preview</a:t>
            </a:r>
          </a:p>
        </p:txBody>
      </p:sp>
      <p:sp>
        <p:nvSpPr>
          <p:cNvPr id="24" name="Rounded Rectangle 23"/>
          <p:cNvSpPr/>
          <p:nvPr/>
        </p:nvSpPr>
        <p:spPr>
          <a:xfrm>
            <a:off x="5196840" y="4297680"/>
            <a:ext cx="1889759" cy="1097280"/>
          </a:xfrm>
          <a:prstGeom prst="roundRect">
            <a:avLst>
              <a:gd name="adj" fmla="val 13333"/>
            </a:avLst>
          </a:prstGeom>
          <a:solidFill>
            <a:srgbClr val="0A1324">
              <a:alpha val="6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398008" y="4498848"/>
            <a:ext cx="1523999" cy="365760"/>
          </a:xfrm>
          <a:prstGeom prst="rect">
            <a:avLst/>
          </a:prstGeom>
          <a:noFill/>
        </p:spPr>
        <p:txBody>
          <a:bodyPr wrap="square" lIns="0" rIns="0" tIns="0" bIns="0" anchor="t">
            <a:noAutofit/>
          </a:bodyPr>
          <a:lstStyle/>
          <a:p>
            <a:pPr algn="l">
              <a:lnSpc>
                <a:spcPts val="1875"/>
              </a:lnSpc>
              <a:spcBef>
                <a:spcPts val="0"/>
              </a:spcBef>
              <a:spcAft>
                <a:spcPts val="0"/>
              </a:spcAft>
              <a:buNone/>
            </a:pPr>
            <a:r>
              <a:rPr sz="1500" b="1">
                <a:solidFill>
                  <a:srgbClr val="FFFFFF"/>
                </a:solidFill>
                <a:latin typeface="Plus Jakarta Sans"/>
              </a:rPr>
              <a:t>Coffee Circles</a:t>
            </a:r>
          </a:p>
        </p:txBody>
      </p:sp>
      <p:sp>
        <p:nvSpPr>
          <p:cNvPr id="26" name="TextBox 25"/>
          <p:cNvSpPr txBox="1"/>
          <p:nvPr/>
        </p:nvSpPr>
        <p:spPr>
          <a:xfrm>
            <a:off x="5398008" y="4828032"/>
            <a:ext cx="1523999" cy="502920"/>
          </a:xfrm>
          <a:prstGeom prst="rect">
            <a:avLst/>
          </a:prstGeom>
          <a:noFill/>
        </p:spPr>
        <p:txBody>
          <a:bodyPr wrap="square" lIns="0" rIns="0" tIns="0" bIns="0" anchor="t">
            <a:noAutofit/>
          </a:bodyPr>
          <a:lstStyle/>
          <a:p>
            <a:pPr algn="l">
              <a:lnSpc>
                <a:spcPts val="1500"/>
              </a:lnSpc>
              <a:spcBef>
                <a:spcPts val="0"/>
              </a:spcBef>
              <a:spcAft>
                <a:spcPts val="0"/>
              </a:spcAft>
              <a:buNone/>
            </a:pPr>
            <a:r>
              <a:rPr sz="1200" b="0">
                <a:solidFill>
                  <a:srgbClr val="93A4C7"/>
                </a:solidFill>
                <a:latin typeface="Plus Jakarta Sans"/>
              </a:rPr>
              <a:t>links to real Jitsi rooms</a:t>
            </a:r>
          </a:p>
        </p:txBody>
      </p:sp>
      <p:sp>
        <p:nvSpPr>
          <p:cNvPr id="27" name="TextBox 26"/>
          <p:cNvSpPr txBox="1"/>
          <p:nvPr/>
        </p:nvSpPr>
        <p:spPr>
          <a:xfrm>
            <a:off x="7909560" y="2286000"/>
            <a:ext cx="3550615"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5F7299"/>
                </a:solidFill>
                <a:latin typeface="Plus Jakarta Sans"/>
              </a:rPr>
              <a:t>EXTERNAL CONNECTIONS</a:t>
            </a:r>
          </a:p>
        </p:txBody>
      </p:sp>
      <p:cxnSp>
        <p:nvCxnSpPr>
          <p:cNvPr id="28" name="Connector 27"/>
          <p:cNvCxnSpPr/>
          <p:nvPr/>
        </p:nvCxnSpPr>
        <p:spPr>
          <a:xfrm>
            <a:off x="7406640" y="2990088"/>
            <a:ext cx="393192" cy="0"/>
          </a:xfrm>
          <a:prstGeom prst="line">
            <a:avLst/>
          </a:prstGeom>
          <a:ln w="15875">
            <a:solidFill>
              <a:srgbClr val="06E28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09560" y="2697480"/>
            <a:ext cx="3550615"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1">
                <a:solidFill>
                  <a:srgbClr val="FFFFFF"/>
                </a:solidFill>
                <a:latin typeface="Plus Jakarta Sans"/>
              </a:rPr>
              <a:t>Calls &amp; resources</a:t>
            </a:r>
          </a:p>
        </p:txBody>
      </p:sp>
      <p:sp>
        <p:nvSpPr>
          <p:cNvPr id="30" name="TextBox 29"/>
          <p:cNvSpPr txBox="1"/>
          <p:nvPr/>
        </p:nvSpPr>
        <p:spPr>
          <a:xfrm>
            <a:off x="7909560" y="3044952"/>
            <a:ext cx="3550615" cy="36576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93A4C7"/>
                </a:solidFill>
                <a:latin typeface="Plus Jakarta Sans"/>
              </a:rPr>
              <a:t>Jitsi calls and online reference requests</a:t>
            </a:r>
          </a:p>
        </p:txBody>
      </p:sp>
      <p:cxnSp>
        <p:nvCxnSpPr>
          <p:cNvPr id="31" name="Connector 30"/>
          <p:cNvCxnSpPr/>
          <p:nvPr/>
        </p:nvCxnSpPr>
        <p:spPr>
          <a:xfrm>
            <a:off x="7406640" y="3858768"/>
            <a:ext cx="393192" cy="0"/>
          </a:xfrm>
          <a:prstGeom prst="line">
            <a:avLst/>
          </a:prstGeom>
          <a:ln w="15875">
            <a:solidFill>
              <a:srgbClr val="06E28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909560" y="3566160"/>
            <a:ext cx="3550615" cy="365760"/>
          </a:xfrm>
          <a:prstGeom prst="rect">
            <a:avLst/>
          </a:prstGeom>
          <a:noFill/>
        </p:spPr>
        <p:txBody>
          <a:bodyPr wrap="square" lIns="0" rIns="0" tIns="0" bIns="0" anchor="t">
            <a:noAutofit/>
          </a:bodyPr>
          <a:lstStyle/>
          <a:p>
            <a:pPr algn="l">
              <a:lnSpc>
                <a:spcPts val="2125"/>
              </a:lnSpc>
              <a:spcBef>
                <a:spcPts val="0"/>
              </a:spcBef>
              <a:spcAft>
                <a:spcPts val="0"/>
              </a:spcAft>
              <a:buNone/>
            </a:pPr>
            <a:r>
              <a:rPr sz="1700" b="1">
                <a:solidFill>
                  <a:srgbClr val="FFFFFF"/>
                </a:solidFill>
                <a:latin typeface="Plus Jakarta Sans"/>
              </a:rPr>
              <a:t>A visit brief</a:t>
            </a:r>
          </a:p>
        </p:txBody>
      </p:sp>
      <p:sp>
        <p:nvSpPr>
          <p:cNvPr id="33" name="TextBox 32"/>
          <p:cNvSpPr txBox="1"/>
          <p:nvPr/>
        </p:nvSpPr>
        <p:spPr>
          <a:xfrm>
            <a:off x="7909560" y="3913632"/>
            <a:ext cx="3550615" cy="36576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93A4C7"/>
                </a:solidFill>
                <a:latin typeface="Plus Jakarta Sans"/>
              </a:rPr>
              <a:t>only when you choose to share</a:t>
            </a:r>
          </a:p>
        </p:txBody>
      </p:sp>
      <p:sp>
        <p:nvSpPr>
          <p:cNvPr id="34" name="TextBox 33"/>
          <p:cNvSpPr txBox="1"/>
          <p:nvPr/>
        </p:nvSpPr>
        <p:spPr>
          <a:xfrm>
            <a:off x="7909560" y="4526280"/>
            <a:ext cx="3550615" cy="27432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5F7299"/>
                </a:solidFill>
                <a:latin typeface="Plus Jakarta Sans"/>
              </a:rPr>
              <a:t>CARESPHERE ARCHITECTURE</a:t>
            </a:r>
          </a:p>
        </p:txBody>
      </p:sp>
      <p:sp>
        <p:nvSpPr>
          <p:cNvPr id="35" name="TextBox 34"/>
          <p:cNvSpPr txBox="1"/>
          <p:nvPr/>
        </p:nvSpPr>
        <p:spPr>
          <a:xfrm>
            <a:off x="7909560" y="4846320"/>
            <a:ext cx="1188720" cy="609600"/>
          </a:xfrm>
          <a:prstGeom prst="rect">
            <a:avLst/>
          </a:prstGeom>
          <a:noFill/>
        </p:spPr>
        <p:txBody>
          <a:bodyPr wrap="square" lIns="0" rIns="0" tIns="0" bIns="0" anchor="t">
            <a:noAutofit/>
          </a:bodyPr>
          <a:lstStyle/>
          <a:p>
            <a:pPr algn="l">
              <a:lnSpc>
                <a:spcPts val="4200"/>
              </a:lnSpc>
              <a:spcBef>
                <a:spcPts val="0"/>
              </a:spcBef>
              <a:spcAft>
                <a:spcPts val="0"/>
              </a:spcAft>
              <a:buNone/>
            </a:pPr>
            <a:r>
              <a:rPr sz="4000" b="0">
                <a:solidFill>
                  <a:srgbClr val="FFFFFF"/>
                </a:solidFill>
                <a:latin typeface="Plus Jakarta Sans ExtraBold"/>
              </a:rPr>
              <a:t>0</a:t>
            </a:r>
          </a:p>
        </p:txBody>
      </p:sp>
      <p:sp>
        <p:nvSpPr>
          <p:cNvPr id="36" name="TextBox 35"/>
          <p:cNvSpPr txBox="1"/>
          <p:nvPr/>
        </p:nvSpPr>
        <p:spPr>
          <a:xfrm>
            <a:off x="7909560" y="5474208"/>
            <a:ext cx="1188720"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accounts</a:t>
            </a:r>
          </a:p>
        </p:txBody>
      </p:sp>
      <p:sp>
        <p:nvSpPr>
          <p:cNvPr id="37" name="TextBox 36"/>
          <p:cNvSpPr txBox="1"/>
          <p:nvPr/>
        </p:nvSpPr>
        <p:spPr>
          <a:xfrm>
            <a:off x="9098280" y="4846320"/>
            <a:ext cx="1188720" cy="609600"/>
          </a:xfrm>
          <a:prstGeom prst="rect">
            <a:avLst/>
          </a:prstGeom>
          <a:noFill/>
        </p:spPr>
        <p:txBody>
          <a:bodyPr wrap="square" lIns="0" rIns="0" tIns="0" bIns="0" anchor="t">
            <a:noAutofit/>
          </a:bodyPr>
          <a:lstStyle/>
          <a:p>
            <a:pPr algn="l">
              <a:lnSpc>
                <a:spcPts val="4200"/>
              </a:lnSpc>
              <a:spcBef>
                <a:spcPts val="0"/>
              </a:spcBef>
              <a:spcAft>
                <a:spcPts val="0"/>
              </a:spcAft>
              <a:buNone/>
            </a:pPr>
            <a:r>
              <a:rPr sz="4000" b="0">
                <a:solidFill>
                  <a:srgbClr val="FFFFFF"/>
                </a:solidFill>
                <a:latin typeface="Plus Jakarta Sans ExtraBold"/>
              </a:rPr>
              <a:t>0</a:t>
            </a:r>
          </a:p>
        </p:txBody>
      </p:sp>
      <p:sp>
        <p:nvSpPr>
          <p:cNvPr id="38" name="TextBox 37"/>
          <p:cNvSpPr txBox="1"/>
          <p:nvPr/>
        </p:nvSpPr>
        <p:spPr>
          <a:xfrm>
            <a:off x="9098280" y="5474208"/>
            <a:ext cx="1188720"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care backends</a:t>
            </a:r>
          </a:p>
        </p:txBody>
      </p:sp>
      <p:sp>
        <p:nvSpPr>
          <p:cNvPr id="39" name="TextBox 38"/>
          <p:cNvSpPr txBox="1"/>
          <p:nvPr/>
        </p:nvSpPr>
        <p:spPr>
          <a:xfrm>
            <a:off x="10287000" y="4846320"/>
            <a:ext cx="1188720" cy="609600"/>
          </a:xfrm>
          <a:prstGeom prst="rect">
            <a:avLst/>
          </a:prstGeom>
          <a:noFill/>
        </p:spPr>
        <p:txBody>
          <a:bodyPr wrap="square" lIns="0" rIns="0" tIns="0" bIns="0" anchor="t">
            <a:noAutofit/>
          </a:bodyPr>
          <a:lstStyle/>
          <a:p>
            <a:pPr algn="l">
              <a:lnSpc>
                <a:spcPts val="4200"/>
              </a:lnSpc>
              <a:spcBef>
                <a:spcPts val="0"/>
              </a:spcBef>
              <a:spcAft>
                <a:spcPts val="0"/>
              </a:spcAft>
              <a:buNone/>
            </a:pPr>
            <a:r>
              <a:rPr sz="4000" b="0">
                <a:solidFill>
                  <a:srgbClr val="FFFFFF"/>
                </a:solidFill>
                <a:latin typeface="Plus Jakarta Sans ExtraBold"/>
              </a:rPr>
              <a:t>0</a:t>
            </a:r>
          </a:p>
        </p:txBody>
      </p:sp>
      <p:sp>
        <p:nvSpPr>
          <p:cNvPr id="40" name="TextBox 39"/>
          <p:cNvSpPr txBox="1"/>
          <p:nvPr/>
        </p:nvSpPr>
        <p:spPr>
          <a:xfrm>
            <a:off x="10287000" y="5474208"/>
            <a:ext cx="1188720"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trackers</a:t>
            </a:r>
          </a:p>
        </p:txBody>
      </p:sp>
      <p:sp>
        <p:nvSpPr>
          <p:cNvPr id="41" name="TextBox 40"/>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42" name="TextBox 41"/>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16</a:t>
            </a:r>
          </a:p>
        </p:txBody>
      </p:sp>
      <p:pic>
        <p:nvPicPr>
          <p:cNvPr id="43" name="Picture 42"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44" name="TextBox 43"/>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HOW IT’S BUILT</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Two clients. </a:t>
            </a:r>
            <a:r>
              <a:rPr sz="3800" b="0">
                <a:solidFill>
                  <a:srgbClr val="06E288"/>
                </a:solidFill>
                <a:latin typeface="Plus Jakarta Sans ExtraBold"/>
              </a:rPr>
              <a:t>Local-first care.</a:t>
            </a:r>
          </a:p>
        </p:txBody>
      </p:sp>
      <p:sp>
        <p:nvSpPr>
          <p:cNvPr id="6" name="Rounded Rectangle 5"/>
          <p:cNvSpPr/>
          <p:nvPr/>
        </p:nvSpPr>
        <p:spPr>
          <a:xfrm>
            <a:off x="731520" y="2286000"/>
            <a:ext cx="5204307" cy="2148840"/>
          </a:xfrm>
          <a:prstGeom prst="roundRect">
            <a:avLst>
              <a:gd name="adj" fmla="val 9361"/>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2560320"/>
            <a:ext cx="2743200" cy="457200"/>
          </a:xfrm>
          <a:prstGeom prst="rect">
            <a:avLst/>
          </a:prstGeom>
          <a:noFill/>
        </p:spPr>
        <p:txBody>
          <a:bodyPr wrap="square" lIns="0" rIns="0" tIns="0" bIns="0" anchor="t">
            <a:noAutofit/>
          </a:bodyPr>
          <a:lstStyle/>
          <a:p>
            <a:pPr algn="l">
              <a:lnSpc>
                <a:spcPts val="2750"/>
              </a:lnSpc>
              <a:spcBef>
                <a:spcPts val="0"/>
              </a:spcBef>
              <a:spcAft>
                <a:spcPts val="0"/>
              </a:spcAft>
              <a:buNone/>
            </a:pPr>
            <a:r>
              <a:rPr sz="2200" b="1">
                <a:solidFill>
                  <a:srgbClr val="FFFFFF"/>
                </a:solidFill>
                <a:latin typeface="Plus Jakarta Sans"/>
              </a:rPr>
              <a:t>Web app</a:t>
            </a:r>
          </a:p>
        </p:txBody>
      </p:sp>
      <p:sp>
        <p:nvSpPr>
          <p:cNvPr id="8" name="Rounded Rectangle 7"/>
          <p:cNvSpPr/>
          <p:nvPr/>
        </p:nvSpPr>
        <p:spPr>
          <a:xfrm>
            <a:off x="4249013" y="2615184"/>
            <a:ext cx="13667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49013" y="2615184"/>
            <a:ext cx="1366774" cy="329184"/>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1" spc="100">
                <a:solidFill>
                  <a:srgbClr val="06E288"/>
                </a:solidFill>
                <a:latin typeface="Plus Jakarta Sans"/>
              </a:rPr>
              <a:t>JAVASCRIPT</a:t>
            </a:r>
          </a:p>
        </p:txBody>
      </p:sp>
      <p:sp>
        <p:nvSpPr>
          <p:cNvPr id="10" name="Rounded Rectangle 9"/>
          <p:cNvSpPr/>
          <p:nvPr/>
        </p:nvSpPr>
        <p:spPr>
          <a:xfrm>
            <a:off x="1051560" y="3154680"/>
            <a:ext cx="9331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154680"/>
            <a:ext cx="9331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React 18</a:t>
            </a:r>
          </a:p>
        </p:txBody>
      </p:sp>
      <p:sp>
        <p:nvSpPr>
          <p:cNvPr id="12" name="Rounded Rectangle 11"/>
          <p:cNvSpPr/>
          <p:nvPr/>
        </p:nvSpPr>
        <p:spPr>
          <a:xfrm>
            <a:off x="2076196" y="3154680"/>
            <a:ext cx="7363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076196" y="3154680"/>
            <a:ext cx="7363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Vite 8</a:t>
            </a:r>
          </a:p>
        </p:txBody>
      </p:sp>
      <p:sp>
        <p:nvSpPr>
          <p:cNvPr id="14" name="Rounded Rectangle 13"/>
          <p:cNvSpPr/>
          <p:nvPr/>
        </p:nvSpPr>
        <p:spPr>
          <a:xfrm>
            <a:off x="2903982" y="3154680"/>
            <a:ext cx="10665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03982" y="3154680"/>
            <a:ext cx="10665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Tailwind 3</a:t>
            </a:r>
          </a:p>
        </p:txBody>
      </p:sp>
      <p:sp>
        <p:nvSpPr>
          <p:cNvPr id="16" name="Rounded Rectangle 15"/>
          <p:cNvSpPr/>
          <p:nvPr/>
        </p:nvSpPr>
        <p:spPr>
          <a:xfrm>
            <a:off x="4061968" y="3154680"/>
            <a:ext cx="14602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061968" y="3154680"/>
            <a:ext cx="14602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Web Bluetooth</a:t>
            </a:r>
          </a:p>
        </p:txBody>
      </p:sp>
      <p:sp>
        <p:nvSpPr>
          <p:cNvPr id="18" name="Rounded Rectangle 17"/>
          <p:cNvSpPr/>
          <p:nvPr/>
        </p:nvSpPr>
        <p:spPr>
          <a:xfrm>
            <a:off x="1051560" y="3557016"/>
            <a:ext cx="11490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51560" y="3557016"/>
            <a:ext cx="11490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Web Audio</a:t>
            </a:r>
          </a:p>
        </p:txBody>
      </p:sp>
      <p:sp>
        <p:nvSpPr>
          <p:cNvPr id="20" name="Rounded Rectangle 19"/>
          <p:cNvSpPr/>
          <p:nvPr/>
        </p:nvSpPr>
        <p:spPr>
          <a:xfrm>
            <a:off x="2292096" y="3557016"/>
            <a:ext cx="12443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292096" y="3557016"/>
            <a:ext cx="12443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Web Crypto</a:t>
            </a:r>
          </a:p>
        </p:txBody>
      </p:sp>
      <p:sp>
        <p:nvSpPr>
          <p:cNvPr id="22" name="Rounded Rectangle 21"/>
          <p:cNvSpPr/>
          <p:nvPr/>
        </p:nvSpPr>
        <p:spPr>
          <a:xfrm>
            <a:off x="3627882" y="3557016"/>
            <a:ext cx="14792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627882" y="3557016"/>
            <a:ext cx="14792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installable PWA</a:t>
            </a:r>
          </a:p>
        </p:txBody>
      </p:sp>
      <p:sp>
        <p:nvSpPr>
          <p:cNvPr id="24" name="Rounded Rectangle 23"/>
          <p:cNvSpPr/>
          <p:nvPr/>
        </p:nvSpPr>
        <p:spPr>
          <a:xfrm>
            <a:off x="6255867" y="2286000"/>
            <a:ext cx="5204307" cy="2148840"/>
          </a:xfrm>
          <a:prstGeom prst="roundRect">
            <a:avLst>
              <a:gd name="adj" fmla="val 9361"/>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75907" y="2560320"/>
            <a:ext cx="2743200" cy="457200"/>
          </a:xfrm>
          <a:prstGeom prst="rect">
            <a:avLst/>
          </a:prstGeom>
          <a:noFill/>
        </p:spPr>
        <p:txBody>
          <a:bodyPr wrap="square" lIns="0" rIns="0" tIns="0" bIns="0" anchor="t">
            <a:noAutofit/>
          </a:bodyPr>
          <a:lstStyle/>
          <a:p>
            <a:pPr algn="l">
              <a:lnSpc>
                <a:spcPts val="2750"/>
              </a:lnSpc>
              <a:spcBef>
                <a:spcPts val="0"/>
              </a:spcBef>
              <a:spcAft>
                <a:spcPts val="0"/>
              </a:spcAft>
              <a:buNone/>
            </a:pPr>
            <a:r>
              <a:rPr sz="2200" b="1">
                <a:solidFill>
                  <a:srgbClr val="FFFFFF"/>
                </a:solidFill>
                <a:latin typeface="Plus Jakarta Sans"/>
              </a:rPr>
              <a:t>iPhone app</a:t>
            </a:r>
          </a:p>
        </p:txBody>
      </p:sp>
      <p:sp>
        <p:nvSpPr>
          <p:cNvPr id="26" name="Rounded Rectangle 25"/>
          <p:cNvSpPr/>
          <p:nvPr/>
        </p:nvSpPr>
        <p:spPr>
          <a:xfrm>
            <a:off x="10236911" y="2615184"/>
            <a:ext cx="90322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236911" y="2615184"/>
            <a:ext cx="903224" cy="329184"/>
          </a:xfrm>
          <a:prstGeom prst="rect">
            <a:avLst/>
          </a:prstGeom>
          <a:noFill/>
        </p:spPr>
        <p:txBody>
          <a:bodyPr wrap="square" lIns="0" rIns="0" tIns="0" bIns="0" anchor="ctr">
            <a:noAutofit/>
          </a:bodyPr>
          <a:lstStyle/>
          <a:p>
            <a:pPr algn="ctr">
              <a:lnSpc>
                <a:spcPts val="1312"/>
              </a:lnSpc>
              <a:spcBef>
                <a:spcPts val="0"/>
              </a:spcBef>
              <a:spcAft>
                <a:spcPts val="0"/>
              </a:spcAft>
              <a:buNone/>
            </a:pPr>
            <a:r>
              <a:rPr sz="1050" b="1" spc="100">
                <a:solidFill>
                  <a:srgbClr val="06E288"/>
                </a:solidFill>
                <a:latin typeface="Plus Jakarta Sans"/>
              </a:rPr>
              <a:t>SWIFT</a:t>
            </a:r>
          </a:p>
        </p:txBody>
      </p:sp>
      <p:sp>
        <p:nvSpPr>
          <p:cNvPr id="28" name="Rounded Rectangle 27"/>
          <p:cNvSpPr/>
          <p:nvPr/>
        </p:nvSpPr>
        <p:spPr>
          <a:xfrm>
            <a:off x="6575907" y="3154680"/>
            <a:ext cx="8696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75907" y="3154680"/>
            <a:ext cx="8696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SwiftUI</a:t>
            </a:r>
          </a:p>
        </p:txBody>
      </p:sp>
      <p:sp>
        <p:nvSpPr>
          <p:cNvPr id="30" name="Rounded Rectangle 29"/>
          <p:cNvSpPr/>
          <p:nvPr/>
        </p:nvSpPr>
        <p:spPr>
          <a:xfrm>
            <a:off x="7537043" y="3154680"/>
            <a:ext cx="10157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537043" y="3154680"/>
            <a:ext cx="10157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HealthKit</a:t>
            </a:r>
          </a:p>
        </p:txBody>
      </p:sp>
      <p:sp>
        <p:nvSpPr>
          <p:cNvPr id="32" name="Rounded Rectangle 31"/>
          <p:cNvSpPr/>
          <p:nvPr/>
        </p:nvSpPr>
        <p:spPr>
          <a:xfrm>
            <a:off x="8644229" y="3154680"/>
            <a:ext cx="14538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644229" y="3154680"/>
            <a:ext cx="14538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CoreBluetooth</a:t>
            </a:r>
          </a:p>
        </p:txBody>
      </p:sp>
      <p:sp>
        <p:nvSpPr>
          <p:cNvPr id="34" name="Rounded Rectangle 33"/>
          <p:cNvSpPr/>
          <p:nvPr/>
        </p:nvSpPr>
        <p:spPr>
          <a:xfrm>
            <a:off x="6575907" y="3557016"/>
            <a:ext cx="10601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575907" y="3557016"/>
            <a:ext cx="10601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CryptoKit</a:t>
            </a:r>
          </a:p>
        </p:txBody>
      </p:sp>
      <p:sp>
        <p:nvSpPr>
          <p:cNvPr id="36" name="Rounded Rectangle 35"/>
          <p:cNvSpPr/>
          <p:nvPr/>
        </p:nvSpPr>
        <p:spPr>
          <a:xfrm>
            <a:off x="7727543" y="3557016"/>
            <a:ext cx="8696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27543" y="3557016"/>
            <a:ext cx="8696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Face ID</a:t>
            </a:r>
          </a:p>
        </p:txBody>
      </p:sp>
      <p:sp>
        <p:nvSpPr>
          <p:cNvPr id="38" name="Rounded Rectangle 37"/>
          <p:cNvSpPr/>
          <p:nvPr/>
        </p:nvSpPr>
        <p:spPr>
          <a:xfrm>
            <a:off x="8688679" y="3557016"/>
            <a:ext cx="10728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8679" y="3557016"/>
            <a:ext cx="10728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llama.cpp</a:t>
            </a:r>
          </a:p>
        </p:txBody>
      </p:sp>
      <p:sp>
        <p:nvSpPr>
          <p:cNvPr id="40" name="Rounded Rectangle 39"/>
          <p:cNvSpPr/>
          <p:nvPr/>
        </p:nvSpPr>
        <p:spPr>
          <a:xfrm>
            <a:off x="6575907" y="3959352"/>
            <a:ext cx="142214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575907" y="3959352"/>
            <a:ext cx="142214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Sherpa-ONNX</a:t>
            </a:r>
          </a:p>
        </p:txBody>
      </p:sp>
      <p:sp>
        <p:nvSpPr>
          <p:cNvPr id="42" name="Rounded Rectangle 41"/>
          <p:cNvSpPr/>
          <p:nvPr/>
        </p:nvSpPr>
        <p:spPr>
          <a:xfrm>
            <a:off x="8089493" y="3959352"/>
            <a:ext cx="933196" cy="310896"/>
          </a:xfrm>
          <a:prstGeom prst="roundRect">
            <a:avLst>
              <a:gd name="adj" fmla="val 50000"/>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089493" y="3959352"/>
            <a:ext cx="933196" cy="310896"/>
          </a:xfrm>
          <a:prstGeom prst="rect">
            <a:avLst/>
          </a:prstGeom>
          <a:noFill/>
        </p:spPr>
        <p:txBody>
          <a:bodyPr wrap="square" lIns="0" rIns="0" tIns="0" bIns="0" anchor="ctr">
            <a:noAutofit/>
          </a:bodyPr>
          <a:lstStyle/>
          <a:p>
            <a:pPr algn="ctr">
              <a:lnSpc>
                <a:spcPts val="1562"/>
              </a:lnSpc>
              <a:spcBef>
                <a:spcPts val="0"/>
              </a:spcBef>
              <a:spcAft>
                <a:spcPts val="0"/>
              </a:spcAft>
              <a:buNone/>
            </a:pPr>
            <a:r>
              <a:rPr sz="1250" b="0">
                <a:solidFill>
                  <a:srgbClr val="D7E0F2"/>
                </a:solidFill>
                <a:latin typeface="Plus Jakarta Sans Medium"/>
              </a:rPr>
              <a:t>Jitsi SDK</a:t>
            </a:r>
          </a:p>
        </p:txBody>
      </p:sp>
      <p:sp>
        <p:nvSpPr>
          <p:cNvPr id="44" name="Rounded Rectangle 43"/>
          <p:cNvSpPr/>
          <p:nvPr/>
        </p:nvSpPr>
        <p:spPr>
          <a:xfrm>
            <a:off x="731520" y="4709160"/>
            <a:ext cx="2476423" cy="1325880"/>
          </a:xfrm>
          <a:prstGeom prst="roundRect">
            <a:avLst>
              <a:gd name="adj" fmla="val 15172"/>
            </a:avLst>
          </a:prstGeom>
          <a:solidFill>
            <a:srgbClr val="0A1324">
              <a:alpha val="4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5840" y="4873752"/>
            <a:ext cx="1927783" cy="579120"/>
          </a:xfrm>
          <a:prstGeom prst="rect">
            <a:avLst/>
          </a:prstGeom>
          <a:noFill/>
        </p:spPr>
        <p:txBody>
          <a:bodyPr wrap="square" lIns="0" rIns="0" tIns="0" bIns="0" anchor="t">
            <a:noAutofit/>
          </a:bodyPr>
          <a:lstStyle/>
          <a:p>
            <a:pPr algn="l">
              <a:lnSpc>
                <a:spcPts val="3990"/>
              </a:lnSpc>
              <a:spcBef>
                <a:spcPts val="0"/>
              </a:spcBef>
              <a:spcAft>
                <a:spcPts val="0"/>
              </a:spcAft>
              <a:buNone/>
            </a:pPr>
            <a:r>
              <a:rPr sz="3800" b="0">
                <a:solidFill>
                  <a:srgbClr val="FFFFFF"/>
                </a:solidFill>
                <a:latin typeface="Plus Jakarta Sans ExtraBold"/>
              </a:rPr>
              <a:t>11,400+</a:t>
            </a:r>
          </a:p>
        </p:txBody>
      </p:sp>
      <p:sp>
        <p:nvSpPr>
          <p:cNvPr id="46" name="TextBox 45"/>
          <p:cNvSpPr txBox="1"/>
          <p:nvPr/>
        </p:nvSpPr>
        <p:spPr>
          <a:xfrm>
            <a:off x="1005840" y="5471159"/>
            <a:ext cx="1927783"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lines of code</a:t>
            </a:r>
          </a:p>
        </p:txBody>
      </p:sp>
      <p:sp>
        <p:nvSpPr>
          <p:cNvPr id="47" name="Rounded Rectangle 46"/>
          <p:cNvSpPr/>
          <p:nvPr/>
        </p:nvSpPr>
        <p:spPr>
          <a:xfrm>
            <a:off x="3482263" y="4709160"/>
            <a:ext cx="2476423" cy="1325880"/>
          </a:xfrm>
          <a:prstGeom prst="roundRect">
            <a:avLst>
              <a:gd name="adj" fmla="val 15172"/>
            </a:avLst>
          </a:prstGeom>
          <a:solidFill>
            <a:srgbClr val="0A1324">
              <a:alpha val="4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756583" y="4873752"/>
            <a:ext cx="1927783" cy="579120"/>
          </a:xfrm>
          <a:prstGeom prst="rect">
            <a:avLst/>
          </a:prstGeom>
          <a:noFill/>
        </p:spPr>
        <p:txBody>
          <a:bodyPr wrap="square" lIns="0" rIns="0" tIns="0" bIns="0" anchor="t">
            <a:noAutofit/>
          </a:bodyPr>
          <a:lstStyle/>
          <a:p>
            <a:pPr algn="l">
              <a:lnSpc>
                <a:spcPts val="3990"/>
              </a:lnSpc>
              <a:spcBef>
                <a:spcPts val="0"/>
              </a:spcBef>
              <a:spcAft>
                <a:spcPts val="0"/>
              </a:spcAft>
              <a:buNone/>
            </a:pPr>
            <a:r>
              <a:rPr sz="3800" b="0">
                <a:solidFill>
                  <a:srgbClr val="FFFFFF"/>
                </a:solidFill>
                <a:latin typeface="Plus Jakarta Sans ExtraBold"/>
              </a:rPr>
              <a:t>17 / 17</a:t>
            </a:r>
          </a:p>
        </p:txBody>
      </p:sp>
      <p:sp>
        <p:nvSpPr>
          <p:cNvPr id="49" name="TextBox 48"/>
          <p:cNvSpPr txBox="1"/>
          <p:nvPr/>
        </p:nvSpPr>
        <p:spPr>
          <a:xfrm>
            <a:off x="3756583" y="5471159"/>
            <a:ext cx="1927783"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tests passing</a:t>
            </a:r>
          </a:p>
        </p:txBody>
      </p:sp>
      <p:sp>
        <p:nvSpPr>
          <p:cNvPr id="50" name="Rounded Rectangle 49"/>
          <p:cNvSpPr/>
          <p:nvPr/>
        </p:nvSpPr>
        <p:spPr>
          <a:xfrm>
            <a:off x="6233007" y="4709160"/>
            <a:ext cx="2476423" cy="1325880"/>
          </a:xfrm>
          <a:prstGeom prst="roundRect">
            <a:avLst>
              <a:gd name="adj" fmla="val 15172"/>
            </a:avLst>
          </a:prstGeom>
          <a:solidFill>
            <a:srgbClr val="0A1324">
              <a:alpha val="4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07327" y="4873752"/>
            <a:ext cx="1927783" cy="579120"/>
          </a:xfrm>
          <a:prstGeom prst="rect">
            <a:avLst/>
          </a:prstGeom>
          <a:noFill/>
        </p:spPr>
        <p:txBody>
          <a:bodyPr wrap="square" lIns="0" rIns="0" tIns="0" bIns="0" anchor="t">
            <a:noAutofit/>
          </a:bodyPr>
          <a:lstStyle/>
          <a:p>
            <a:pPr algn="l">
              <a:lnSpc>
                <a:spcPts val="3990"/>
              </a:lnSpc>
              <a:spcBef>
                <a:spcPts val="0"/>
              </a:spcBef>
              <a:spcAft>
                <a:spcPts val="0"/>
              </a:spcAft>
              <a:buNone/>
            </a:pPr>
            <a:r>
              <a:rPr sz="3800" b="0">
                <a:solidFill>
                  <a:srgbClr val="FFFFFF"/>
                </a:solidFill>
                <a:latin typeface="Plus Jakarta Sans ExtraBold"/>
              </a:rPr>
              <a:t>2</a:t>
            </a:r>
          </a:p>
        </p:txBody>
      </p:sp>
      <p:sp>
        <p:nvSpPr>
          <p:cNvPr id="52" name="TextBox 51"/>
          <p:cNvSpPr txBox="1"/>
          <p:nvPr/>
        </p:nvSpPr>
        <p:spPr>
          <a:xfrm>
            <a:off x="6507327" y="5471159"/>
            <a:ext cx="1927783"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CI pipelines</a:t>
            </a:r>
          </a:p>
        </p:txBody>
      </p:sp>
      <p:sp>
        <p:nvSpPr>
          <p:cNvPr id="53" name="Rounded Rectangle 52"/>
          <p:cNvSpPr/>
          <p:nvPr/>
        </p:nvSpPr>
        <p:spPr>
          <a:xfrm>
            <a:off x="8983751" y="4709160"/>
            <a:ext cx="2476423" cy="1325880"/>
          </a:xfrm>
          <a:prstGeom prst="roundRect">
            <a:avLst>
              <a:gd name="adj" fmla="val 15172"/>
            </a:avLst>
          </a:prstGeom>
          <a:solidFill>
            <a:srgbClr val="0A1324">
              <a:alpha val="4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258071" y="4873752"/>
            <a:ext cx="1927783" cy="579120"/>
          </a:xfrm>
          <a:prstGeom prst="rect">
            <a:avLst/>
          </a:prstGeom>
          <a:noFill/>
        </p:spPr>
        <p:txBody>
          <a:bodyPr wrap="square" lIns="0" rIns="0" tIns="0" bIns="0" anchor="t">
            <a:noAutofit/>
          </a:bodyPr>
          <a:lstStyle/>
          <a:p>
            <a:pPr algn="l">
              <a:lnSpc>
                <a:spcPts val="3990"/>
              </a:lnSpc>
              <a:spcBef>
                <a:spcPts val="0"/>
              </a:spcBef>
              <a:spcAft>
                <a:spcPts val="0"/>
              </a:spcAft>
              <a:buNone/>
            </a:pPr>
            <a:r>
              <a:rPr sz="3800" b="0">
                <a:solidFill>
                  <a:srgbClr val="FFFFFF"/>
                </a:solidFill>
                <a:latin typeface="Plus Jakarta Sans ExtraBold"/>
              </a:rPr>
              <a:t>3</a:t>
            </a:r>
          </a:p>
        </p:txBody>
      </p:sp>
      <p:sp>
        <p:nvSpPr>
          <p:cNvPr id="55" name="TextBox 54"/>
          <p:cNvSpPr txBox="1"/>
          <p:nvPr/>
        </p:nvSpPr>
        <p:spPr>
          <a:xfrm>
            <a:off x="9258071" y="5471159"/>
            <a:ext cx="1927783" cy="457200"/>
          </a:xfrm>
          <a:prstGeom prst="rect">
            <a:avLst/>
          </a:prstGeom>
          <a:noFill/>
        </p:spPr>
        <p:txBody>
          <a:bodyPr wrap="square" lIns="0" rIns="0" tIns="0" bIns="0" anchor="t">
            <a:noAutofit/>
          </a:bodyPr>
          <a:lstStyle/>
          <a:p>
            <a:pPr algn="l">
              <a:lnSpc>
                <a:spcPts val="1687"/>
              </a:lnSpc>
              <a:spcBef>
                <a:spcPts val="0"/>
              </a:spcBef>
              <a:spcAft>
                <a:spcPts val="0"/>
              </a:spcAft>
              <a:buNone/>
            </a:pPr>
            <a:r>
              <a:rPr sz="1350" b="0">
                <a:solidFill>
                  <a:srgbClr val="06E288"/>
                </a:solidFill>
                <a:latin typeface="Plus Jakarta Sans Medium"/>
              </a:rPr>
              <a:t>public releases</a:t>
            </a:r>
          </a:p>
        </p:txBody>
      </p:sp>
      <p:sp>
        <p:nvSpPr>
          <p:cNvPr id="56" name="TextBox 55"/>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57" name="TextBox 56"/>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17</a:t>
            </a:r>
          </a:p>
        </p:txBody>
      </p:sp>
      <p:pic>
        <p:nvPicPr>
          <p:cNvPr id="58" name="Picture 57"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59" name="TextBox 58"/>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HARDEST PROBLEM</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Making Bluetooth </a:t>
            </a:r>
            <a:r>
              <a:rPr sz="3800" b="0">
                <a:solidFill>
                  <a:srgbClr val="06E288"/>
                </a:solidFill>
                <a:latin typeface="Plus Jakarta Sans ExtraBold"/>
              </a:rPr>
              <a:t>honest.</a:t>
            </a:r>
          </a:p>
        </p:txBody>
      </p:sp>
      <p:sp>
        <p:nvSpPr>
          <p:cNvPr id="6" name="TextBox 5"/>
          <p:cNvSpPr txBox="1"/>
          <p:nvPr/>
        </p:nvSpPr>
        <p:spPr>
          <a:xfrm>
            <a:off x="731520" y="2057400"/>
            <a:ext cx="4846320" cy="1188720"/>
          </a:xfrm>
          <a:prstGeom prst="rect">
            <a:avLst/>
          </a:prstGeom>
          <a:noFill/>
        </p:spPr>
        <p:txBody>
          <a:bodyPr wrap="square" lIns="0" rIns="0" tIns="0" bIns="0" anchor="t">
            <a:noAutofit/>
          </a:bodyPr>
          <a:lstStyle/>
          <a:p>
            <a:pPr algn="l">
              <a:lnSpc>
                <a:spcPts val="2362"/>
              </a:lnSpc>
              <a:spcBef>
                <a:spcPts val="0"/>
              </a:spcBef>
              <a:spcAft>
                <a:spcPts val="0"/>
              </a:spcAft>
              <a:buNone/>
            </a:pPr>
            <a:r>
              <a:rPr sz="1750" b="0">
                <a:solidFill>
                  <a:srgbClr val="D7E0F2"/>
                </a:solidFill>
                <a:latin typeface="Plus Jakarta Sans"/>
              </a:rPr>
              <a:t>Heart-rate notifications arrive late and out of order — a stale sensor could repaint a new card with a wrong number.</a:t>
            </a:r>
          </a:p>
        </p:txBody>
      </p:sp>
      <p:sp>
        <p:nvSpPr>
          <p:cNvPr id="7" name="TextBox 6"/>
          <p:cNvSpPr txBox="1"/>
          <p:nvPr/>
        </p:nvSpPr>
        <p:spPr>
          <a:xfrm>
            <a:off x="731520" y="3456432"/>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01</a:t>
            </a:r>
          </a:p>
        </p:txBody>
      </p:sp>
      <p:sp>
        <p:nvSpPr>
          <p:cNvPr id="8" name="TextBox 7"/>
          <p:cNvSpPr txBox="1"/>
          <p:nvPr/>
        </p:nvSpPr>
        <p:spPr>
          <a:xfrm>
            <a:off x="1280160" y="3410712"/>
            <a:ext cx="4389120" cy="411480"/>
          </a:xfrm>
          <a:prstGeom prst="rect">
            <a:avLst/>
          </a:prstGeom>
          <a:noFill/>
        </p:spPr>
        <p:txBody>
          <a:bodyPr wrap="square" lIns="0" rIns="0" tIns="0" bIns="0" anchor="t">
            <a:noAutofit/>
          </a:bodyPr>
          <a:lstStyle/>
          <a:p>
            <a:pPr algn="l">
              <a:lnSpc>
                <a:spcPts val="2375"/>
              </a:lnSpc>
              <a:spcBef>
                <a:spcPts val="0"/>
              </a:spcBef>
              <a:spcAft>
                <a:spcPts val="0"/>
              </a:spcAft>
              <a:buNone/>
            </a:pPr>
            <a:r>
              <a:rPr sz="1900" b="1">
                <a:solidFill>
                  <a:srgbClr val="FFFFFF"/>
                </a:solidFill>
                <a:latin typeface="Plus Jakarta Sans"/>
              </a:rPr>
              <a:t>Parse the standard</a:t>
            </a:r>
          </a:p>
        </p:txBody>
      </p:sp>
      <p:sp>
        <p:nvSpPr>
          <p:cNvPr id="9" name="TextBox 8"/>
          <p:cNvSpPr txBox="1"/>
          <p:nvPr/>
        </p:nvSpPr>
        <p:spPr>
          <a:xfrm>
            <a:off x="1280160" y="3794760"/>
            <a:ext cx="4389120" cy="411480"/>
          </a:xfrm>
          <a:prstGeom prst="rect">
            <a:avLst/>
          </a:prstGeom>
          <a:noFill/>
        </p:spPr>
        <p:txBody>
          <a:bodyPr wrap="square" lIns="0" rIns="0" tIns="0" bIns="0" anchor="t">
            <a:noAutofit/>
          </a:bodyPr>
          <a:lstStyle/>
          <a:p>
            <a:pPr algn="l">
              <a:lnSpc>
                <a:spcPts val="1812"/>
              </a:lnSpc>
              <a:spcBef>
                <a:spcPts val="0"/>
              </a:spcBef>
              <a:spcAft>
                <a:spcPts val="0"/>
              </a:spcAft>
              <a:buNone/>
            </a:pPr>
            <a:r>
              <a:rPr sz="1450" b="0">
                <a:solidFill>
                  <a:srgbClr val="93A4C7"/>
                </a:solidFill>
                <a:latin typeface="Plus Jakarta Sans"/>
              </a:rPr>
              <a:t>service 0x180D · flags byte → 8/16-bit BPM</a:t>
            </a:r>
          </a:p>
        </p:txBody>
      </p:sp>
      <p:sp>
        <p:nvSpPr>
          <p:cNvPr id="10" name="TextBox 9"/>
          <p:cNvSpPr txBox="1"/>
          <p:nvPr/>
        </p:nvSpPr>
        <p:spPr>
          <a:xfrm>
            <a:off x="731520" y="4325112"/>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02</a:t>
            </a:r>
          </a:p>
        </p:txBody>
      </p:sp>
      <p:sp>
        <p:nvSpPr>
          <p:cNvPr id="11" name="TextBox 10"/>
          <p:cNvSpPr txBox="1"/>
          <p:nvPr/>
        </p:nvSpPr>
        <p:spPr>
          <a:xfrm>
            <a:off x="1280160" y="4279392"/>
            <a:ext cx="4389120" cy="411480"/>
          </a:xfrm>
          <a:prstGeom prst="rect">
            <a:avLst/>
          </a:prstGeom>
          <a:noFill/>
        </p:spPr>
        <p:txBody>
          <a:bodyPr wrap="square" lIns="0" rIns="0" tIns="0" bIns="0" anchor="t">
            <a:noAutofit/>
          </a:bodyPr>
          <a:lstStyle/>
          <a:p>
            <a:pPr algn="l">
              <a:lnSpc>
                <a:spcPts val="2375"/>
              </a:lnSpc>
              <a:spcBef>
                <a:spcPts val="0"/>
              </a:spcBef>
              <a:spcAft>
                <a:spcPts val="0"/>
              </a:spcAft>
              <a:buNone/>
            </a:pPr>
            <a:r>
              <a:rPr sz="1900" b="1">
                <a:solidFill>
                  <a:srgbClr val="FFFFFF"/>
                </a:solidFill>
                <a:latin typeface="Plus Jakarta Sans"/>
              </a:rPr>
              <a:t>Label at the source</a:t>
            </a:r>
          </a:p>
        </p:txBody>
      </p:sp>
      <p:sp>
        <p:nvSpPr>
          <p:cNvPr id="12" name="TextBox 11"/>
          <p:cNvSpPr txBox="1"/>
          <p:nvPr/>
        </p:nvSpPr>
        <p:spPr>
          <a:xfrm>
            <a:off x="1280160" y="4663440"/>
            <a:ext cx="4389120" cy="411480"/>
          </a:xfrm>
          <a:prstGeom prst="rect">
            <a:avLst/>
          </a:prstGeom>
          <a:noFill/>
        </p:spPr>
        <p:txBody>
          <a:bodyPr wrap="square" lIns="0" rIns="0" tIns="0" bIns="0" anchor="t">
            <a:noAutofit/>
          </a:bodyPr>
          <a:lstStyle/>
          <a:p>
            <a:pPr algn="l">
              <a:lnSpc>
                <a:spcPts val="1812"/>
              </a:lnSpc>
              <a:spcBef>
                <a:spcPts val="0"/>
              </a:spcBef>
              <a:spcAft>
                <a:spcPts val="0"/>
              </a:spcAft>
              <a:buNone/>
            </a:pPr>
            <a:r>
              <a:rPr sz="1450" b="0">
                <a:solidFill>
                  <a:srgbClr val="93A4C7"/>
                </a:solidFill>
                <a:latin typeface="Plus Jakarta Sans"/>
              </a:rPr>
              <a:t>each sample is born LIVE or SIMULATED</a:t>
            </a:r>
          </a:p>
        </p:txBody>
      </p:sp>
      <p:sp>
        <p:nvSpPr>
          <p:cNvPr id="13" name="TextBox 12"/>
          <p:cNvSpPr txBox="1"/>
          <p:nvPr/>
        </p:nvSpPr>
        <p:spPr>
          <a:xfrm>
            <a:off x="731520" y="5193792"/>
            <a:ext cx="548640" cy="365760"/>
          </a:xfrm>
          <a:prstGeom prst="rect">
            <a:avLst/>
          </a:prstGeom>
          <a:noFill/>
        </p:spPr>
        <p:txBody>
          <a:bodyPr wrap="square" lIns="0" rIns="0" tIns="0" bIns="0" anchor="t">
            <a:noAutofit/>
          </a:bodyPr>
          <a:lstStyle/>
          <a:p>
            <a:pPr algn="l">
              <a:lnSpc>
                <a:spcPts val="1625"/>
              </a:lnSpc>
              <a:spcBef>
                <a:spcPts val="0"/>
              </a:spcBef>
              <a:spcAft>
                <a:spcPts val="0"/>
              </a:spcAft>
              <a:buNone/>
            </a:pPr>
            <a:r>
              <a:rPr sz="1300" b="0">
                <a:solidFill>
                  <a:srgbClr val="06E288"/>
                </a:solidFill>
                <a:latin typeface="JetBrains Mono"/>
              </a:rPr>
              <a:t>03</a:t>
            </a:r>
          </a:p>
        </p:txBody>
      </p:sp>
      <p:sp>
        <p:nvSpPr>
          <p:cNvPr id="14" name="TextBox 13"/>
          <p:cNvSpPr txBox="1"/>
          <p:nvPr/>
        </p:nvSpPr>
        <p:spPr>
          <a:xfrm>
            <a:off x="1280160" y="5148072"/>
            <a:ext cx="4389120" cy="411480"/>
          </a:xfrm>
          <a:prstGeom prst="rect">
            <a:avLst/>
          </a:prstGeom>
          <a:noFill/>
        </p:spPr>
        <p:txBody>
          <a:bodyPr wrap="square" lIns="0" rIns="0" tIns="0" bIns="0" anchor="t">
            <a:noAutofit/>
          </a:bodyPr>
          <a:lstStyle/>
          <a:p>
            <a:pPr algn="l">
              <a:lnSpc>
                <a:spcPts val="2375"/>
              </a:lnSpc>
              <a:spcBef>
                <a:spcPts val="0"/>
              </a:spcBef>
              <a:spcAft>
                <a:spcPts val="0"/>
              </a:spcAft>
              <a:buNone/>
            </a:pPr>
            <a:r>
              <a:rPr sz="1900" b="1">
                <a:solidFill>
                  <a:srgbClr val="FFFFFF"/>
                </a:solidFill>
                <a:latin typeface="Plus Jakarta Sans"/>
              </a:rPr>
              <a:t>Drop stale sessions</a:t>
            </a:r>
          </a:p>
        </p:txBody>
      </p:sp>
      <p:sp>
        <p:nvSpPr>
          <p:cNvPr id="15" name="TextBox 14"/>
          <p:cNvSpPr txBox="1"/>
          <p:nvPr/>
        </p:nvSpPr>
        <p:spPr>
          <a:xfrm>
            <a:off x="1280160" y="5532120"/>
            <a:ext cx="4389120" cy="411480"/>
          </a:xfrm>
          <a:prstGeom prst="rect">
            <a:avLst/>
          </a:prstGeom>
          <a:noFill/>
        </p:spPr>
        <p:txBody>
          <a:bodyPr wrap="square" lIns="0" rIns="0" tIns="0" bIns="0" anchor="t">
            <a:noAutofit/>
          </a:bodyPr>
          <a:lstStyle/>
          <a:p>
            <a:pPr algn="l">
              <a:lnSpc>
                <a:spcPts val="1812"/>
              </a:lnSpc>
              <a:spcBef>
                <a:spcPts val="0"/>
              </a:spcBef>
              <a:spcAft>
                <a:spcPts val="0"/>
              </a:spcAft>
              <a:buNone/>
            </a:pPr>
            <a:r>
              <a:rPr sz="1450" b="0">
                <a:solidFill>
                  <a:srgbClr val="93A4C7"/>
                </a:solidFill>
                <a:latin typeface="Plus Jakarta Sans"/>
              </a:rPr>
              <a:t>a generation counter ignores old pairings</a:t>
            </a:r>
          </a:p>
        </p:txBody>
      </p:sp>
      <p:sp>
        <p:nvSpPr>
          <p:cNvPr id="16" name="Rounded Rectangle 15"/>
          <p:cNvSpPr/>
          <p:nvPr/>
        </p:nvSpPr>
        <p:spPr>
          <a:xfrm>
            <a:off x="6400800" y="2011680"/>
            <a:ext cx="5059375" cy="3200400"/>
          </a:xfrm>
          <a:prstGeom prst="roundRect">
            <a:avLst>
              <a:gd name="adj" fmla="val 6285"/>
            </a:avLst>
          </a:prstGeom>
          <a:solidFill>
            <a:srgbClr val="0A1324">
              <a:alpha val="7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0" y="2267712"/>
            <a:ext cx="4327855" cy="274320"/>
          </a:xfrm>
          <a:prstGeom prst="rect">
            <a:avLst/>
          </a:prstGeom>
          <a:noFill/>
        </p:spPr>
        <p:txBody>
          <a:bodyPr wrap="square" lIns="0" rIns="0" tIns="0" bIns="0" anchor="t">
            <a:noAutofit/>
          </a:bodyPr>
          <a:lstStyle/>
          <a:p>
            <a:pPr algn="l">
              <a:lnSpc>
                <a:spcPts val="1375"/>
              </a:lnSpc>
              <a:spcBef>
                <a:spcPts val="0"/>
              </a:spcBef>
              <a:spcAft>
                <a:spcPts val="0"/>
              </a:spcAft>
              <a:buNone/>
            </a:pPr>
            <a:r>
              <a:rPr sz="1100" b="0">
                <a:solidFill>
                  <a:srgbClr val="06E288"/>
                </a:solidFill>
                <a:latin typeface="JetBrains Mono"/>
              </a:rPr>
              <a:t>src/lib/bluetooth.js  </a:t>
            </a:r>
            <a:r>
              <a:rPr sz="1100" b="0">
                <a:solidFill>
                  <a:srgbClr val="93A4C7"/>
                </a:solidFill>
                <a:latin typeface="JetBrains Mono"/>
              </a:rPr>
              <a:t>·  src/App.jsx</a:t>
            </a:r>
          </a:p>
        </p:txBody>
      </p:sp>
      <p:sp>
        <p:nvSpPr>
          <p:cNvPr id="18" name="TextBox 17"/>
          <p:cNvSpPr txBox="1"/>
          <p:nvPr/>
        </p:nvSpPr>
        <p:spPr>
          <a:xfrm>
            <a:off x="6766560" y="2633472"/>
            <a:ext cx="4327855" cy="2514600"/>
          </a:xfrm>
          <a:prstGeom prst="rect">
            <a:avLst/>
          </a:prstGeom>
          <a:noFill/>
        </p:spPr>
        <p:txBody>
          <a:bodyPr wrap="square" lIns="0" rIns="0" tIns="0" bIns="0" anchor="t">
            <a:noAutofit/>
          </a:bodyPr>
          <a:lstStyle/>
          <a:p>
            <a:pPr algn="l">
              <a:lnSpc>
                <a:spcPts val="1428"/>
              </a:lnSpc>
              <a:spcBef>
                <a:spcPts val="0"/>
              </a:spcBef>
              <a:spcAft>
                <a:spcPts val="0"/>
              </a:spcAft>
              <a:buNone/>
            </a:pPr>
            <a:r>
              <a:rPr sz="1050" b="0">
                <a:solidFill>
                  <a:srgbClr val="D7E0F2"/>
                </a:solidFill>
                <a:latin typeface="JetBrains Mono"/>
              </a:rPr>
              <a:t>const flags = dv.getUint8(0)</a:t>
            </a:r>
          </a:p>
          <a:p>
            <a:pPr algn="l">
              <a:lnSpc>
                <a:spcPts val="1428"/>
              </a:lnSpc>
              <a:spcBef>
                <a:spcPts val="0"/>
              </a:spcBef>
              <a:spcAft>
                <a:spcPts val="0"/>
              </a:spcAft>
              <a:buNone/>
            </a:pPr>
            <a:r>
              <a:rPr sz="1050" b="0">
                <a:solidFill>
                  <a:srgbClr val="D7E0F2"/>
                </a:solidFill>
                <a:latin typeface="JetBrains Mono"/>
              </a:rPr>
              <a:t>const bpm = flags &amp; 0x1</a:t>
            </a:r>
          </a:p>
          <a:p>
            <a:pPr algn="l">
              <a:lnSpc>
                <a:spcPts val="1428"/>
              </a:lnSpc>
              <a:spcBef>
                <a:spcPts val="0"/>
              </a:spcBef>
              <a:spcAft>
                <a:spcPts val="0"/>
              </a:spcAft>
              <a:buNone/>
            </a:pPr>
            <a:r>
              <a:rPr sz="1050" b="0">
                <a:solidFill>
                  <a:srgbClr val="D7E0F2"/>
                </a:solidFill>
                <a:latin typeface="JetBrains Mono"/>
              </a:rPr>
              <a:t>  ? dv.getUint16(1, true)</a:t>
            </a:r>
          </a:p>
          <a:p>
            <a:pPr algn="l">
              <a:lnSpc>
                <a:spcPts val="1428"/>
              </a:lnSpc>
              <a:spcBef>
                <a:spcPts val="0"/>
              </a:spcBef>
              <a:spcAft>
                <a:spcPts val="0"/>
              </a:spcAft>
              <a:buNone/>
            </a:pPr>
            <a:r>
              <a:rPr sz="1050" b="0">
                <a:solidFill>
                  <a:srgbClr val="D7E0F2"/>
                </a:solidFill>
                <a:latin typeface="JetBrains Mono"/>
              </a:rPr>
              <a:t>  : dv.getUint8(1)</a:t>
            </a:r>
          </a:p>
          <a:p>
            <a:pPr algn="l">
              <a:lnSpc>
                <a:spcPts val="1428"/>
              </a:lnSpc>
              <a:spcBef>
                <a:spcPts val="0"/>
              </a:spcBef>
              <a:spcAft>
                <a:spcPts val="0"/>
              </a:spcAft>
              <a:buNone/>
            </a:pPr>
            <a:r>
              <a:rPr sz="1050" b="0">
                <a:solidFill>
                  <a:srgbClr val="D7E0F2"/>
                </a:solidFill>
                <a:latin typeface="JetBrains Mono"/>
              </a:rPr>
              <a:t>if (bpm &gt; 20 &amp;&amp; bpm &lt; 250) onReading(bpm)</a:t>
            </a:r>
          </a:p>
          <a:p>
            <a:pPr algn="l">
              <a:lnSpc>
                <a:spcPts val="1428"/>
              </a:lnSpc>
              <a:spcBef>
                <a:spcPts val="0"/>
              </a:spcBef>
              <a:spcAft>
                <a:spcPts val="0"/>
              </a:spcAft>
              <a:buNone/>
            </a:pPr>
          </a:p>
          <a:p>
            <a:pPr algn="l">
              <a:lnSpc>
                <a:spcPts val="1428"/>
              </a:lnSpc>
              <a:spcBef>
                <a:spcPts val="0"/>
              </a:spcBef>
              <a:spcAft>
                <a:spcPts val="0"/>
              </a:spcAft>
              <a:buNone/>
            </a:pPr>
            <a:r>
              <a:rPr sz="1050" b="0">
                <a:solidFill>
                  <a:srgbClr val="D7E0F2"/>
                </a:solidFill>
                <a:latin typeface="JetBrains Mono"/>
              </a:rPr>
              <a:t>const source =</a:t>
            </a:r>
          </a:p>
          <a:p>
            <a:pPr algn="l">
              <a:lnSpc>
                <a:spcPts val="1428"/>
              </a:lnSpc>
              <a:spcBef>
                <a:spcPts val="0"/>
              </a:spcBef>
              <a:spcAft>
                <a:spcPts val="0"/>
              </a:spcAft>
              <a:buNone/>
            </a:pPr>
            <a:r>
              <a:rPr sz="1050" b="0">
                <a:solidFill>
                  <a:srgbClr val="D7E0F2"/>
                </a:solidFill>
                <a:latin typeface="JetBrains Mono"/>
              </a:rPr>
              <a:t>  hrModeRef.current === 'live'</a:t>
            </a:r>
          </a:p>
          <a:p>
            <a:pPr algn="l">
              <a:lnSpc>
                <a:spcPts val="1428"/>
              </a:lnSpc>
              <a:spcBef>
                <a:spcPts val="0"/>
              </a:spcBef>
              <a:spcAft>
                <a:spcPts val="0"/>
              </a:spcAft>
              <a:buNone/>
            </a:pPr>
            <a:r>
              <a:rPr sz="1050" b="0">
                <a:solidFill>
                  <a:srgbClr val="D7E0F2"/>
                </a:solidFill>
                <a:latin typeface="JetBrains Mono"/>
              </a:rPr>
              <a:t>    ? 'LIVE_BLE' : 'SIMULATED'</a:t>
            </a:r>
          </a:p>
          <a:p>
            <a:pPr algn="l">
              <a:lnSpc>
                <a:spcPts val="1428"/>
              </a:lnSpc>
              <a:spcBef>
                <a:spcPts val="0"/>
              </a:spcBef>
              <a:spcAft>
                <a:spcPts val="0"/>
              </a:spcAft>
              <a:buNone/>
            </a:pPr>
          </a:p>
          <a:p>
            <a:pPr algn="l">
              <a:lnSpc>
                <a:spcPts val="1428"/>
              </a:lnSpc>
              <a:spcBef>
                <a:spcPts val="0"/>
              </a:spcBef>
              <a:spcAft>
                <a:spcPts val="0"/>
              </a:spcAft>
              <a:buNone/>
            </a:pPr>
            <a:r>
              <a:rPr sz="1050" b="0">
                <a:solidFill>
                  <a:srgbClr val="D7E0F2"/>
                </a:solidFill>
                <a:latin typeface="JetBrains Mono"/>
              </a:rPr>
              <a:t>if (generation !==</a:t>
            </a:r>
          </a:p>
          <a:p>
            <a:pPr algn="l">
              <a:lnSpc>
                <a:spcPts val="1428"/>
              </a:lnSpc>
              <a:spcBef>
                <a:spcPts val="0"/>
              </a:spcBef>
              <a:spcAft>
                <a:spcPts val="0"/>
              </a:spcAft>
              <a:buNone/>
            </a:pPr>
            <a:r>
              <a:rPr sz="1050" b="0">
                <a:solidFill>
                  <a:srgbClr val="D7E0F2"/>
                </a:solidFill>
                <a:latin typeface="JetBrains Mono"/>
              </a:rPr>
              <a:t>    hrConnectionGenerationRef.current)</a:t>
            </a:r>
          </a:p>
          <a:p>
            <a:pPr algn="l">
              <a:lnSpc>
                <a:spcPts val="1428"/>
              </a:lnSpc>
              <a:spcBef>
                <a:spcPts val="0"/>
              </a:spcBef>
              <a:spcAft>
                <a:spcPts val="0"/>
              </a:spcAft>
              <a:buNone/>
            </a:pPr>
            <a:r>
              <a:rPr sz="1050" b="0">
                <a:solidFill>
                  <a:srgbClr val="D7E0F2"/>
                </a:solidFill>
                <a:latin typeface="JetBrains Mono"/>
              </a:rPr>
              <a:t>  return</a:t>
            </a:r>
          </a:p>
        </p:txBody>
      </p:sp>
      <p:pic>
        <p:nvPicPr>
          <p:cNvPr id="19" name="Picture 18" descr="crop-hr.png"/>
          <p:cNvPicPr>
            <a:picLocks noChangeAspect="1"/>
          </p:cNvPicPr>
          <p:nvPr/>
        </p:nvPicPr>
        <p:blipFill>
          <a:blip r:embed="rId3"/>
          <a:stretch>
            <a:fillRect/>
          </a:stretch>
        </p:blipFill>
        <p:spPr>
          <a:xfrm>
            <a:off x="8716975" y="4846320"/>
            <a:ext cx="2743200" cy="1664255"/>
          </a:xfrm>
          <a:prstGeom prst="roundRect">
            <a:avLst>
              <a:gd name="adj" fmla="val 6593"/>
            </a:avLst>
          </a:prstGeom>
        </p:spPr>
      </p:pic>
      <p:sp>
        <p:nvSpPr>
          <p:cNvPr id="20" name="TextBox 19"/>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21" name="TextBox 20"/>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18</a:t>
            </a:r>
          </a:p>
        </p:txBody>
      </p:sp>
      <p:pic>
        <p:nvPicPr>
          <p:cNvPr id="22" name="Picture 21" descr="icon.png"/>
          <p:cNvPicPr>
            <a:picLocks noChangeAspect="1"/>
          </p:cNvPicPr>
          <p:nvPr/>
        </p:nvPicPr>
        <p:blipFill>
          <a:blip r:embed="rId4"/>
          <a:stretch>
            <a:fillRect/>
          </a:stretch>
        </p:blipFill>
        <p:spPr>
          <a:xfrm>
            <a:off x="731520" y="6382512"/>
            <a:ext cx="237744" cy="237744"/>
          </a:xfrm>
          <a:prstGeom prst="roundRect">
            <a:avLst>
              <a:gd name="adj" fmla="val 26923"/>
            </a:avLst>
          </a:prstGeom>
        </p:spPr>
      </p:pic>
      <p:sp>
        <p:nvSpPr>
          <p:cNvPr id="23" name="TextBox 22"/>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WHERE IT STANDS</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Built. Tested. </a:t>
            </a:r>
            <a:r>
              <a:rPr sz="3800" b="0">
                <a:solidFill>
                  <a:srgbClr val="06E288"/>
                </a:solidFill>
                <a:latin typeface="Plus Jakarta Sans ExtraBold"/>
              </a:rPr>
              <a:t>Ready for co-design.</a:t>
            </a:r>
          </a:p>
        </p:txBody>
      </p:sp>
      <p:cxnSp>
        <p:nvCxnSpPr>
          <p:cNvPr id="6" name="Connector 5"/>
          <p:cNvCxnSpPr/>
          <p:nvPr/>
        </p:nvCxnSpPr>
        <p:spPr>
          <a:xfrm>
            <a:off x="1005840" y="3246120"/>
            <a:ext cx="6718810" cy="0"/>
          </a:xfrm>
          <a:prstGeom prst="line">
            <a:avLst/>
          </a:prstGeom>
          <a:ln w="25400">
            <a:solidFill>
              <a:srgbClr val="06E28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724650" y="3246120"/>
            <a:ext cx="3461205" cy="0"/>
          </a:xfrm>
          <a:prstGeom prst="line">
            <a:avLst/>
          </a:prstGeom>
          <a:ln w="15875">
            <a:solidFill>
              <a:srgbClr val="FFFFFF">
                <a:alpha val="35000"/>
              </a:srgbClr>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05840"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125641"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45443"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365245"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5046"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604848"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24650" y="3337560"/>
            <a:ext cx="0" cy="91440"/>
          </a:xfrm>
          <a:prstGeom prst="line">
            <a:avLst/>
          </a:prstGeom>
          <a:ln w="9525">
            <a:solidFill>
              <a:srgbClr val="FFFFFF">
                <a:alpha val="30000"/>
              </a:srgbClr>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483863"/>
            <a:ext cx="1097280" cy="274320"/>
          </a:xfrm>
          <a:prstGeom prst="rect">
            <a:avLst/>
          </a:prstGeom>
          <a:noFill/>
        </p:spPr>
        <p:txBody>
          <a:bodyPr wrap="square" lIns="0" rIns="0" tIns="0" bIns="0" anchor="t">
            <a:noAutofit/>
          </a:bodyPr>
          <a:lstStyle/>
          <a:p>
            <a:pPr algn="ctr">
              <a:lnSpc>
                <a:spcPts val="1312"/>
              </a:lnSpc>
              <a:spcBef>
                <a:spcPts val="0"/>
              </a:spcBef>
              <a:spcAft>
                <a:spcPts val="0"/>
              </a:spcAft>
              <a:buNone/>
            </a:pPr>
            <a:r>
              <a:rPr sz="1050" b="0">
                <a:solidFill>
                  <a:srgbClr val="5F7299"/>
                </a:solidFill>
                <a:latin typeface="Plus Jakarta Sans"/>
              </a:rPr>
              <a:t>Sep 2</a:t>
            </a:r>
          </a:p>
        </p:txBody>
      </p:sp>
      <p:sp>
        <p:nvSpPr>
          <p:cNvPr id="16" name="TextBox 15"/>
          <p:cNvSpPr txBox="1"/>
          <p:nvPr/>
        </p:nvSpPr>
        <p:spPr>
          <a:xfrm>
            <a:off x="2696803" y="3483863"/>
            <a:ext cx="1097280" cy="274320"/>
          </a:xfrm>
          <a:prstGeom prst="rect">
            <a:avLst/>
          </a:prstGeom>
          <a:noFill/>
        </p:spPr>
        <p:txBody>
          <a:bodyPr wrap="square" lIns="0" rIns="0" tIns="0" bIns="0" anchor="t">
            <a:noAutofit/>
          </a:bodyPr>
          <a:lstStyle/>
          <a:p>
            <a:pPr algn="ctr">
              <a:lnSpc>
                <a:spcPts val="1312"/>
              </a:lnSpc>
              <a:spcBef>
                <a:spcPts val="0"/>
              </a:spcBef>
              <a:spcAft>
                <a:spcPts val="0"/>
              </a:spcAft>
              <a:buNone/>
            </a:pPr>
            <a:r>
              <a:rPr sz="1050" b="0">
                <a:solidFill>
                  <a:srgbClr val="5F7299"/>
                </a:solidFill>
                <a:latin typeface="Plus Jakarta Sans"/>
              </a:rPr>
              <a:t>Sep 16</a:t>
            </a:r>
          </a:p>
        </p:txBody>
      </p:sp>
      <p:sp>
        <p:nvSpPr>
          <p:cNvPr id="17" name="TextBox 16"/>
          <p:cNvSpPr txBox="1"/>
          <p:nvPr/>
        </p:nvSpPr>
        <p:spPr>
          <a:xfrm>
            <a:off x="4936406" y="3483863"/>
            <a:ext cx="1097280" cy="274320"/>
          </a:xfrm>
          <a:prstGeom prst="rect">
            <a:avLst/>
          </a:prstGeom>
          <a:noFill/>
        </p:spPr>
        <p:txBody>
          <a:bodyPr wrap="square" lIns="0" rIns="0" tIns="0" bIns="0" anchor="t">
            <a:noAutofit/>
          </a:bodyPr>
          <a:lstStyle/>
          <a:p>
            <a:pPr algn="ctr">
              <a:lnSpc>
                <a:spcPts val="1312"/>
              </a:lnSpc>
              <a:spcBef>
                <a:spcPts val="0"/>
              </a:spcBef>
              <a:spcAft>
                <a:spcPts val="0"/>
              </a:spcAft>
              <a:buNone/>
            </a:pPr>
            <a:r>
              <a:rPr sz="1050" b="0">
                <a:solidFill>
                  <a:srgbClr val="5F7299"/>
                </a:solidFill>
                <a:latin typeface="Plus Jakarta Sans"/>
              </a:rPr>
              <a:t>Sep 30</a:t>
            </a:r>
          </a:p>
        </p:txBody>
      </p:sp>
      <p:sp>
        <p:nvSpPr>
          <p:cNvPr id="18" name="TextBox 17"/>
          <p:cNvSpPr txBox="1"/>
          <p:nvPr/>
        </p:nvSpPr>
        <p:spPr>
          <a:xfrm>
            <a:off x="7176010" y="3483863"/>
            <a:ext cx="1097280" cy="274320"/>
          </a:xfrm>
          <a:prstGeom prst="rect">
            <a:avLst/>
          </a:prstGeom>
          <a:noFill/>
        </p:spPr>
        <p:txBody>
          <a:bodyPr wrap="square" lIns="0" rIns="0" tIns="0" bIns="0" anchor="t">
            <a:noAutofit/>
          </a:bodyPr>
          <a:lstStyle/>
          <a:p>
            <a:pPr algn="ctr">
              <a:lnSpc>
                <a:spcPts val="1312"/>
              </a:lnSpc>
              <a:spcBef>
                <a:spcPts val="0"/>
              </a:spcBef>
              <a:spcAft>
                <a:spcPts val="0"/>
              </a:spcAft>
              <a:buNone/>
            </a:pPr>
            <a:r>
              <a:rPr sz="1050" b="0">
                <a:solidFill>
                  <a:srgbClr val="5F7299"/>
                </a:solidFill>
                <a:latin typeface="Plus Jakarta Sans"/>
              </a:rPr>
              <a:t>Oct 14</a:t>
            </a:r>
          </a:p>
        </p:txBody>
      </p:sp>
      <p:sp>
        <p:nvSpPr>
          <p:cNvPr id="19" name="Oval 18"/>
          <p:cNvSpPr/>
          <p:nvPr/>
        </p:nvSpPr>
        <p:spPr>
          <a:xfrm>
            <a:off x="905256" y="3145536"/>
            <a:ext cx="201168" cy="201168"/>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5256" y="2194560"/>
            <a:ext cx="1828800" cy="365760"/>
          </a:xfrm>
          <a:prstGeom prst="rect">
            <a:avLst/>
          </a:prstGeom>
          <a:noFill/>
        </p:spPr>
        <p:txBody>
          <a:bodyPr wrap="square" lIns="0" rIns="0" tIns="0" bIns="0" anchor="t">
            <a:noAutofit/>
          </a:bodyPr>
          <a:lstStyle/>
          <a:p>
            <a:pPr algn="l">
              <a:lnSpc>
                <a:spcPts val="2000"/>
              </a:lnSpc>
              <a:spcBef>
                <a:spcPts val="0"/>
              </a:spcBef>
              <a:spcAft>
                <a:spcPts val="0"/>
              </a:spcAft>
              <a:buNone/>
            </a:pPr>
            <a:r>
              <a:rPr sz="1600" b="1">
                <a:solidFill>
                  <a:srgbClr val="FFFFFF"/>
                </a:solidFill>
                <a:latin typeface="Plus Jakarta Sans"/>
              </a:rPr>
              <a:t>First commit</a:t>
            </a:r>
          </a:p>
        </p:txBody>
      </p:sp>
      <p:sp>
        <p:nvSpPr>
          <p:cNvPr id="21" name="TextBox 20"/>
          <p:cNvSpPr txBox="1"/>
          <p:nvPr/>
        </p:nvSpPr>
        <p:spPr>
          <a:xfrm>
            <a:off x="905256" y="2532887"/>
            <a:ext cx="1828800" cy="320040"/>
          </a:xfrm>
          <a:prstGeom prst="rect">
            <a:avLst/>
          </a:prstGeom>
          <a:noFill/>
        </p:spPr>
        <p:txBody>
          <a:bodyPr wrap="square" lIns="0" rIns="0" tIns="0" bIns="0" anchor="t">
            <a:noAutofit/>
          </a:bodyPr>
          <a:lstStyle/>
          <a:p>
            <a:pPr algn="l">
              <a:lnSpc>
                <a:spcPts val="1562"/>
              </a:lnSpc>
              <a:spcBef>
                <a:spcPts val="0"/>
              </a:spcBef>
              <a:spcAft>
                <a:spcPts val="0"/>
              </a:spcAft>
              <a:buNone/>
            </a:pPr>
            <a:r>
              <a:rPr sz="1250" b="0">
                <a:solidFill>
                  <a:srgbClr val="93A4C7"/>
                </a:solidFill>
                <a:latin typeface="Plus Jakarta Sans"/>
              </a:rPr>
              <a:t>repo created</a:t>
            </a:r>
          </a:p>
        </p:txBody>
      </p:sp>
      <p:sp>
        <p:nvSpPr>
          <p:cNvPr id="22" name="Oval 21"/>
          <p:cNvSpPr/>
          <p:nvPr/>
        </p:nvSpPr>
        <p:spPr>
          <a:xfrm>
            <a:off x="1865086" y="3145536"/>
            <a:ext cx="201168" cy="201168"/>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51270" y="3813048"/>
            <a:ext cx="1828800" cy="365760"/>
          </a:xfrm>
          <a:prstGeom prst="rect">
            <a:avLst/>
          </a:prstGeom>
          <a:noFill/>
        </p:spPr>
        <p:txBody>
          <a:bodyPr wrap="square" lIns="0" rIns="0" tIns="0" bIns="0" anchor="t">
            <a:noAutofit/>
          </a:bodyPr>
          <a:lstStyle/>
          <a:p>
            <a:pPr algn="ctr">
              <a:lnSpc>
                <a:spcPts val="2000"/>
              </a:lnSpc>
              <a:spcBef>
                <a:spcPts val="0"/>
              </a:spcBef>
              <a:spcAft>
                <a:spcPts val="0"/>
              </a:spcAft>
              <a:buNone/>
            </a:pPr>
            <a:r>
              <a:rPr sz="1600" b="1">
                <a:solidFill>
                  <a:srgbClr val="FFFFFF"/>
                </a:solidFill>
                <a:latin typeface="Plus Jakarta Sans"/>
              </a:rPr>
              <a:t>v1.0 + v2.0</a:t>
            </a:r>
          </a:p>
        </p:txBody>
      </p:sp>
      <p:sp>
        <p:nvSpPr>
          <p:cNvPr id="24" name="TextBox 23"/>
          <p:cNvSpPr txBox="1"/>
          <p:nvPr/>
        </p:nvSpPr>
        <p:spPr>
          <a:xfrm>
            <a:off x="1051270" y="4142231"/>
            <a:ext cx="1828800" cy="320040"/>
          </a:xfrm>
          <a:prstGeom prst="rect">
            <a:avLst/>
          </a:prstGeom>
          <a:noFill/>
        </p:spPr>
        <p:txBody>
          <a:bodyPr wrap="square" lIns="0" rIns="0" tIns="0" bIns="0" anchor="t">
            <a:noAutofit/>
          </a:bodyPr>
          <a:lstStyle/>
          <a:p>
            <a:pPr algn="ctr">
              <a:lnSpc>
                <a:spcPts val="1562"/>
              </a:lnSpc>
              <a:spcBef>
                <a:spcPts val="0"/>
              </a:spcBef>
              <a:spcAft>
                <a:spcPts val="0"/>
              </a:spcAft>
              <a:buNone/>
            </a:pPr>
            <a:r>
              <a:rPr sz="1250" b="0">
                <a:solidFill>
                  <a:srgbClr val="93A4C7"/>
                </a:solidFill>
                <a:latin typeface="Plus Jakarta Sans"/>
              </a:rPr>
              <a:t>first public releases</a:t>
            </a:r>
          </a:p>
        </p:txBody>
      </p:sp>
      <p:sp>
        <p:nvSpPr>
          <p:cNvPr id="25" name="Oval 24"/>
          <p:cNvSpPr/>
          <p:nvPr/>
        </p:nvSpPr>
        <p:spPr>
          <a:xfrm>
            <a:off x="5064519" y="3145536"/>
            <a:ext cx="201168" cy="201168"/>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50703" y="2194560"/>
            <a:ext cx="1828800" cy="365760"/>
          </a:xfrm>
          <a:prstGeom prst="rect">
            <a:avLst/>
          </a:prstGeom>
          <a:noFill/>
        </p:spPr>
        <p:txBody>
          <a:bodyPr wrap="square" lIns="0" rIns="0" tIns="0" bIns="0" anchor="t">
            <a:noAutofit/>
          </a:bodyPr>
          <a:lstStyle/>
          <a:p>
            <a:pPr algn="ctr">
              <a:lnSpc>
                <a:spcPts val="2000"/>
              </a:lnSpc>
              <a:spcBef>
                <a:spcPts val="0"/>
              </a:spcBef>
              <a:spcAft>
                <a:spcPts val="0"/>
              </a:spcAft>
              <a:buNone/>
            </a:pPr>
            <a:r>
              <a:rPr sz="1600" b="1">
                <a:solidFill>
                  <a:srgbClr val="FFFFFF"/>
                </a:solidFill>
                <a:latin typeface="Plus Jakarta Sans"/>
              </a:rPr>
              <a:t>v2.1</a:t>
            </a:r>
          </a:p>
        </p:txBody>
      </p:sp>
      <p:sp>
        <p:nvSpPr>
          <p:cNvPr id="27" name="TextBox 26"/>
          <p:cNvSpPr txBox="1"/>
          <p:nvPr/>
        </p:nvSpPr>
        <p:spPr>
          <a:xfrm>
            <a:off x="4250703" y="2532887"/>
            <a:ext cx="1828800" cy="320040"/>
          </a:xfrm>
          <a:prstGeom prst="rect">
            <a:avLst/>
          </a:prstGeom>
          <a:noFill/>
        </p:spPr>
        <p:txBody>
          <a:bodyPr wrap="square" lIns="0" rIns="0" tIns="0" bIns="0" anchor="t">
            <a:noAutofit/>
          </a:bodyPr>
          <a:lstStyle/>
          <a:p>
            <a:pPr algn="ctr">
              <a:lnSpc>
                <a:spcPts val="1562"/>
              </a:lnSpc>
              <a:spcBef>
                <a:spcPts val="0"/>
              </a:spcBef>
              <a:spcAft>
                <a:spcPts val="0"/>
              </a:spcAft>
              <a:buNone/>
            </a:pPr>
            <a:r>
              <a:rPr sz="1250" b="0">
                <a:solidFill>
                  <a:srgbClr val="93A4C7"/>
                </a:solidFill>
                <a:latin typeface="Plus Jakarta Sans"/>
              </a:rPr>
              <a:t>release · Sep 28</a:t>
            </a:r>
          </a:p>
        </p:txBody>
      </p:sp>
      <p:sp>
        <p:nvSpPr>
          <p:cNvPr id="28" name="Oval 27"/>
          <p:cNvSpPr/>
          <p:nvPr/>
        </p:nvSpPr>
        <p:spPr>
          <a:xfrm>
            <a:off x="7624066" y="3145536"/>
            <a:ext cx="201168" cy="201168"/>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10250" y="3813048"/>
            <a:ext cx="1828800" cy="365760"/>
          </a:xfrm>
          <a:prstGeom prst="rect">
            <a:avLst/>
          </a:prstGeom>
          <a:noFill/>
        </p:spPr>
        <p:txBody>
          <a:bodyPr wrap="square" lIns="0" rIns="0" tIns="0" bIns="0" anchor="t">
            <a:noAutofit/>
          </a:bodyPr>
          <a:lstStyle/>
          <a:p>
            <a:pPr algn="ctr">
              <a:lnSpc>
                <a:spcPts val="2000"/>
              </a:lnSpc>
              <a:spcBef>
                <a:spcPts val="0"/>
              </a:spcBef>
              <a:spcAft>
                <a:spcPts val="0"/>
              </a:spcAft>
              <a:buNone/>
            </a:pPr>
            <a:r>
              <a:rPr sz="1600" b="1">
                <a:solidFill>
                  <a:srgbClr val="FFFFFF"/>
                </a:solidFill>
                <a:latin typeface="Plus Jakarta Sans"/>
              </a:rPr>
              <a:t>v2.2</a:t>
            </a:r>
          </a:p>
        </p:txBody>
      </p:sp>
      <p:sp>
        <p:nvSpPr>
          <p:cNvPr id="30" name="TextBox 29"/>
          <p:cNvSpPr txBox="1"/>
          <p:nvPr/>
        </p:nvSpPr>
        <p:spPr>
          <a:xfrm>
            <a:off x="6810250" y="4142231"/>
            <a:ext cx="1828800" cy="320040"/>
          </a:xfrm>
          <a:prstGeom prst="rect">
            <a:avLst/>
          </a:prstGeom>
          <a:noFill/>
        </p:spPr>
        <p:txBody>
          <a:bodyPr wrap="square" lIns="0" rIns="0" tIns="0" bIns="0" anchor="t">
            <a:noAutofit/>
          </a:bodyPr>
          <a:lstStyle/>
          <a:p>
            <a:pPr algn="ctr">
              <a:lnSpc>
                <a:spcPts val="1562"/>
              </a:lnSpc>
              <a:spcBef>
                <a:spcPts val="0"/>
              </a:spcBef>
              <a:spcAft>
                <a:spcPts val="0"/>
              </a:spcAft>
              <a:buNone/>
            </a:pPr>
            <a:r>
              <a:rPr sz="1250" b="0">
                <a:solidFill>
                  <a:srgbClr val="93A4C7"/>
                </a:solidFill>
                <a:latin typeface="Plus Jakarta Sans"/>
              </a:rPr>
              <a:t>iOS + web, building in CI</a:t>
            </a:r>
          </a:p>
        </p:txBody>
      </p:sp>
      <p:sp>
        <p:nvSpPr>
          <p:cNvPr id="31" name="Oval 30"/>
          <p:cNvSpPr/>
          <p:nvPr/>
        </p:nvSpPr>
        <p:spPr>
          <a:xfrm>
            <a:off x="11094415" y="3154679"/>
            <a:ext cx="182880" cy="182880"/>
          </a:xfrm>
          <a:prstGeom prst="ellipse">
            <a:avLst/>
          </a:prstGeom>
          <a:solidFill>
            <a:srgbClr val="0A1324"/>
          </a:solidFill>
          <a:ln w="15875">
            <a:solidFill>
              <a:srgbClr val="06E28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905695" y="2194560"/>
            <a:ext cx="1554480" cy="365760"/>
          </a:xfrm>
          <a:prstGeom prst="rect">
            <a:avLst/>
          </a:prstGeom>
          <a:noFill/>
        </p:spPr>
        <p:txBody>
          <a:bodyPr wrap="square" lIns="0" rIns="0" tIns="0" bIns="0" anchor="t">
            <a:noAutofit/>
          </a:bodyPr>
          <a:lstStyle/>
          <a:p>
            <a:pPr algn="r">
              <a:lnSpc>
                <a:spcPts val="2000"/>
              </a:lnSpc>
              <a:spcBef>
                <a:spcPts val="0"/>
              </a:spcBef>
              <a:spcAft>
                <a:spcPts val="0"/>
              </a:spcAft>
              <a:buNone/>
            </a:pPr>
            <a:r>
              <a:rPr sz="1600" b="1">
                <a:solidFill>
                  <a:srgbClr val="06E288"/>
                </a:solidFill>
                <a:latin typeface="Plus Jakarta Sans"/>
              </a:rPr>
              <a:t>Next</a:t>
            </a:r>
          </a:p>
        </p:txBody>
      </p:sp>
      <p:sp>
        <p:nvSpPr>
          <p:cNvPr id="33" name="TextBox 32"/>
          <p:cNvSpPr txBox="1"/>
          <p:nvPr/>
        </p:nvSpPr>
        <p:spPr>
          <a:xfrm>
            <a:off x="9631375" y="2532887"/>
            <a:ext cx="1828800" cy="320040"/>
          </a:xfrm>
          <a:prstGeom prst="rect">
            <a:avLst/>
          </a:prstGeom>
          <a:noFill/>
        </p:spPr>
        <p:txBody>
          <a:bodyPr wrap="square" lIns="0" rIns="0" tIns="0" bIns="0" anchor="t">
            <a:noAutofit/>
          </a:bodyPr>
          <a:lstStyle/>
          <a:p>
            <a:pPr algn="r">
              <a:lnSpc>
                <a:spcPts val="1562"/>
              </a:lnSpc>
              <a:spcBef>
                <a:spcPts val="0"/>
              </a:spcBef>
              <a:spcAft>
                <a:spcPts val="0"/>
              </a:spcAft>
              <a:buNone/>
            </a:pPr>
            <a:r>
              <a:rPr sz="1250" b="0">
                <a:solidFill>
                  <a:srgbClr val="93A4C7"/>
                </a:solidFill>
                <a:latin typeface="Plus Jakarta Sans"/>
              </a:rPr>
              <a:t>co-design → TestFlight</a:t>
            </a:r>
          </a:p>
        </p:txBody>
      </p:sp>
      <p:sp>
        <p:nvSpPr>
          <p:cNvPr id="34" name="Rounded Rectangle 33"/>
          <p:cNvSpPr/>
          <p:nvPr/>
        </p:nvSpPr>
        <p:spPr>
          <a:xfrm>
            <a:off x="731520" y="4709160"/>
            <a:ext cx="3393338" cy="1417320"/>
          </a:xfrm>
          <a:prstGeom prst="roundRect">
            <a:avLst>
              <a:gd name="adj" fmla="val 14193"/>
            </a:avLst>
          </a:prstGeom>
          <a:solidFill>
            <a:srgbClr val="0A1324">
              <a:alpha val="55000"/>
            </a:srgbClr>
          </a:solidFill>
          <a:ln w="12700">
            <a:solidFill>
              <a:srgbClr val="06E28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05840" y="4892040"/>
            <a:ext cx="2844698" cy="32004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06E288"/>
                </a:solidFill>
                <a:latin typeface="Plus Jakarta Sans"/>
              </a:rPr>
              <a:t>NEXT · V2.0 OF THIS ENTRY</a:t>
            </a:r>
          </a:p>
        </p:txBody>
      </p:sp>
      <p:sp>
        <p:nvSpPr>
          <p:cNvPr id="36" name="TextBox 35"/>
          <p:cNvSpPr txBox="1"/>
          <p:nvPr/>
        </p:nvSpPr>
        <p:spPr>
          <a:xfrm>
            <a:off x="1005840" y="5193792"/>
            <a:ext cx="2844698" cy="868680"/>
          </a:xfrm>
          <a:prstGeom prst="rect">
            <a:avLst/>
          </a:prstGeom>
          <a:noFill/>
        </p:spPr>
        <p:txBody>
          <a:bodyPr wrap="square" lIns="0" rIns="0" tIns="0" bIns="0" anchor="t">
            <a:noAutofit/>
          </a:bodyPr>
          <a:lstStyle/>
          <a:p>
            <a:pPr algn="l">
              <a:lnSpc>
                <a:spcPts val="1690"/>
              </a:lnSpc>
              <a:spcBef>
                <a:spcPts val="0"/>
              </a:spcBef>
              <a:spcAft>
                <a:spcPts val="0"/>
              </a:spcAft>
              <a:buNone/>
            </a:pPr>
            <a:r>
              <a:rPr sz="1300" b="0">
                <a:solidFill>
                  <a:srgbClr val="D7E0F2"/>
                </a:solidFill>
                <a:latin typeface="Plus Jakarta Sans"/>
              </a:rPr>
              <a:t>Co-design sessions with autistic people, people living with dementia and caregivers; TestFlight beta.</a:t>
            </a:r>
          </a:p>
        </p:txBody>
      </p:sp>
      <p:sp>
        <p:nvSpPr>
          <p:cNvPr id="37" name="Rounded Rectangle 36"/>
          <p:cNvSpPr/>
          <p:nvPr/>
        </p:nvSpPr>
        <p:spPr>
          <a:xfrm>
            <a:off x="4399178" y="4709160"/>
            <a:ext cx="3393338" cy="1417320"/>
          </a:xfrm>
          <a:prstGeom prst="roundRect">
            <a:avLst>
              <a:gd name="adj" fmla="val 1419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673498" y="4892040"/>
            <a:ext cx="2844698" cy="32004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5F7299"/>
                </a:solidFill>
                <a:latin typeface="Plus Jakarta Sans"/>
              </a:rPr>
              <a:t>THEN</a:t>
            </a:r>
          </a:p>
        </p:txBody>
      </p:sp>
      <p:sp>
        <p:nvSpPr>
          <p:cNvPr id="39" name="TextBox 38"/>
          <p:cNvSpPr txBox="1"/>
          <p:nvPr/>
        </p:nvSpPr>
        <p:spPr>
          <a:xfrm>
            <a:off x="4673498" y="5193792"/>
            <a:ext cx="2844698" cy="868680"/>
          </a:xfrm>
          <a:prstGeom prst="rect">
            <a:avLst/>
          </a:prstGeom>
          <a:noFill/>
        </p:spPr>
        <p:txBody>
          <a:bodyPr wrap="square" lIns="0" rIns="0" tIns="0" bIns="0" anchor="t">
            <a:noAutofit/>
          </a:bodyPr>
          <a:lstStyle/>
          <a:p>
            <a:pPr algn="l">
              <a:lnSpc>
                <a:spcPts val="1690"/>
              </a:lnSpc>
              <a:spcBef>
                <a:spcPts val="0"/>
              </a:spcBef>
              <a:spcAft>
                <a:spcPts val="0"/>
              </a:spcAft>
              <a:buNone/>
            </a:pPr>
            <a:r>
              <a:rPr sz="1300" b="0">
                <a:solidFill>
                  <a:srgbClr val="D7E0F2"/>
                </a:solidFill>
                <a:latin typeface="Plus Jakarta Sans"/>
              </a:rPr>
              <a:t>Apple Health and Bluetooth history in the visit brief, with true source labels · non-diagnostic trends only from real readings.</a:t>
            </a:r>
          </a:p>
        </p:txBody>
      </p:sp>
      <p:sp>
        <p:nvSpPr>
          <p:cNvPr id="40" name="Rounded Rectangle 39"/>
          <p:cNvSpPr/>
          <p:nvPr/>
        </p:nvSpPr>
        <p:spPr>
          <a:xfrm>
            <a:off x="8066836" y="4709160"/>
            <a:ext cx="3393338" cy="1417320"/>
          </a:xfrm>
          <a:prstGeom prst="roundRect">
            <a:avLst>
              <a:gd name="adj" fmla="val 14193"/>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341156" y="4892040"/>
            <a:ext cx="2844698" cy="320040"/>
          </a:xfrm>
          <a:prstGeom prst="rect">
            <a:avLst/>
          </a:prstGeom>
          <a:noFill/>
        </p:spPr>
        <p:txBody>
          <a:bodyPr wrap="square" lIns="0" rIns="0" tIns="0" bIns="0" anchor="t">
            <a:noAutofit/>
          </a:bodyPr>
          <a:lstStyle/>
          <a:p>
            <a:pPr algn="l">
              <a:lnSpc>
                <a:spcPts val="1312"/>
              </a:lnSpc>
              <a:spcBef>
                <a:spcPts val="0"/>
              </a:spcBef>
              <a:spcAft>
                <a:spcPts val="0"/>
              </a:spcAft>
              <a:buNone/>
            </a:pPr>
            <a:r>
              <a:rPr sz="1050" b="1" spc="140">
                <a:solidFill>
                  <a:srgbClr val="5F7299"/>
                </a:solidFill>
                <a:latin typeface="Plus Jakarta Sans"/>
              </a:rPr>
              <a:t>DELIBERATELY NOT</a:t>
            </a:r>
          </a:p>
        </p:txBody>
      </p:sp>
      <p:sp>
        <p:nvSpPr>
          <p:cNvPr id="42" name="TextBox 41"/>
          <p:cNvSpPr txBox="1"/>
          <p:nvPr/>
        </p:nvSpPr>
        <p:spPr>
          <a:xfrm>
            <a:off x="8341156" y="5193792"/>
            <a:ext cx="2844698" cy="868680"/>
          </a:xfrm>
          <a:prstGeom prst="rect">
            <a:avLst/>
          </a:prstGeom>
          <a:noFill/>
        </p:spPr>
        <p:txBody>
          <a:bodyPr wrap="square" lIns="0" rIns="0" tIns="0" bIns="0" anchor="t">
            <a:noAutofit/>
          </a:bodyPr>
          <a:lstStyle/>
          <a:p>
            <a:pPr algn="l">
              <a:lnSpc>
                <a:spcPts val="1690"/>
              </a:lnSpc>
              <a:spcBef>
                <a:spcPts val="0"/>
              </a:spcBef>
              <a:spcAft>
                <a:spcPts val="0"/>
              </a:spcAft>
              <a:buNone/>
            </a:pPr>
            <a:r>
              <a:rPr sz="1300" b="0">
                <a:solidFill>
                  <a:srgbClr val="D7E0F2"/>
                </a:solidFill>
                <a:latin typeface="Plus Jakarta Sans"/>
              </a:rPr>
              <a:t>Cloud sync, a clinician portal or a drug-interaction checker — not without clinical review.</a:t>
            </a:r>
          </a:p>
        </p:txBody>
      </p:sp>
      <p:sp>
        <p:nvSpPr>
          <p:cNvPr id="43" name="TextBox 42"/>
          <p:cNvSpPr txBox="1"/>
          <p:nvPr/>
        </p:nvSpPr>
        <p:spPr>
          <a:xfrm>
            <a:off x="6522415" y="6473952"/>
            <a:ext cx="4937760" cy="164592"/>
          </a:xfrm>
          <a:prstGeom prst="rect">
            <a:avLst/>
          </a:prstGeom>
          <a:noFill/>
        </p:spPr>
        <p:txBody>
          <a:bodyPr wrap="square" lIns="0" rIns="0" tIns="0" bIns="0" anchor="t">
            <a:noAutofit/>
          </a:bodyPr>
          <a:lstStyle/>
          <a:p>
            <a:pPr algn="r">
              <a:lnSpc>
                <a:spcPts val="1000"/>
              </a:lnSpc>
              <a:spcBef>
                <a:spcPts val="0"/>
              </a:spcBef>
              <a:spcAft>
                <a:spcPts val="0"/>
              </a:spcAft>
              <a:buNone/>
            </a:pPr>
            <a:r>
              <a:rPr sz="800" b="0">
                <a:solidFill>
                  <a:srgbClr val="93A4C7"/>
                </a:solidFill>
                <a:latin typeface="Plus Jakarta Sans"/>
              </a:rPr>
              <a:t>REAL WEB-APP CAPTURES · SAMPLE DATA</a:t>
            </a:r>
          </a:p>
        </p:txBody>
      </p:sp>
      <p:sp>
        <p:nvSpPr>
          <p:cNvPr id="44" name="TextBox 43"/>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19</a:t>
            </a:r>
          </a:p>
        </p:txBody>
      </p:sp>
      <p:pic>
        <p:nvPicPr>
          <p:cNvPr id="45" name="Picture 44"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46" name="TextBox 45"/>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Backdrop" descr="bg-mesh.png"/>
          <p:cNvPicPr>
            <a:picLocks noChangeAspect="1"/>
          </p:cNvPicPr>
          <p:nvPr/>
        </p:nvPicPr>
        <p:blipFill>
          <a:blip r:embed="rId2"/>
          <a:stretch>
            <a:fillRect/>
          </a:stretch>
        </p:blipFill>
        <p:spPr>
          <a:xfrm>
            <a:off x="0" y="0"/>
            <a:ext cx="12191695" cy="6858000"/>
          </a:xfrm>
          <a:prstGeom prst="rect">
            <a:avLst/>
          </a:prstGeom>
        </p:spPr>
      </p:pic>
      <p:sp>
        <p:nvSpPr>
          <p:cNvPr id="3" name="Oval 2"/>
          <p:cNvSpPr/>
          <p:nvPr/>
        </p:nvSpPr>
        <p:spPr>
          <a:xfrm>
            <a:off x="731520" y="617220"/>
            <a:ext cx="118872" cy="118872"/>
          </a:xfrm>
          <a:prstGeom prst="ellipse">
            <a:avLst/>
          </a:prstGeom>
          <a:solidFill>
            <a:srgbClr val="06E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9264" y="530352"/>
            <a:ext cx="6400800" cy="274320"/>
          </a:xfrm>
          <a:prstGeom prst="rect">
            <a:avLst/>
          </a:prstGeom>
          <a:noFill/>
        </p:spPr>
        <p:txBody>
          <a:bodyPr wrap="square" lIns="0" rIns="0" tIns="0" bIns="0" anchor="t">
            <a:noAutofit/>
          </a:bodyPr>
          <a:lstStyle/>
          <a:p>
            <a:pPr algn="l">
              <a:lnSpc>
                <a:spcPts val="1437"/>
              </a:lnSpc>
              <a:spcBef>
                <a:spcPts val="0"/>
              </a:spcBef>
              <a:spcAft>
                <a:spcPts val="0"/>
              </a:spcAft>
              <a:buNone/>
            </a:pPr>
            <a:r>
              <a:rPr sz="1150" b="1" spc="160">
                <a:solidFill>
                  <a:srgbClr val="06E288"/>
                </a:solidFill>
                <a:latin typeface="Plus Jakarta Sans"/>
              </a:rPr>
              <a:t>WHAT THIS PROJECT TAUGHT ME</a:t>
            </a:r>
          </a:p>
        </p:txBody>
      </p:sp>
      <p:sp>
        <p:nvSpPr>
          <p:cNvPr id="5" name="TextBox 4"/>
          <p:cNvSpPr txBox="1"/>
          <p:nvPr/>
        </p:nvSpPr>
        <p:spPr>
          <a:xfrm>
            <a:off x="731520" y="896112"/>
            <a:ext cx="9692640" cy="1371600"/>
          </a:xfrm>
          <a:prstGeom prst="rect">
            <a:avLst/>
          </a:prstGeom>
          <a:noFill/>
        </p:spPr>
        <p:txBody>
          <a:bodyPr wrap="square" lIns="0" rIns="0" tIns="0" bIns="0" anchor="t">
            <a:noAutofit/>
          </a:bodyPr>
          <a:lstStyle/>
          <a:p>
            <a:pPr algn="l">
              <a:lnSpc>
                <a:spcPts val="4180"/>
              </a:lnSpc>
              <a:spcBef>
                <a:spcPts val="0"/>
              </a:spcBef>
              <a:spcAft>
                <a:spcPts val="0"/>
              </a:spcAft>
              <a:buNone/>
            </a:pPr>
            <a:r>
              <a:rPr sz="3800" b="0">
                <a:solidFill>
                  <a:srgbClr val="FFFFFF"/>
                </a:solidFill>
                <a:latin typeface="Plus Jakarta Sans ExtraBold"/>
              </a:rPr>
              <a:t>Trust is </a:t>
            </a:r>
            <a:r>
              <a:rPr sz="3800" b="0">
                <a:solidFill>
                  <a:srgbClr val="06E288"/>
                </a:solidFill>
                <a:latin typeface="Plus Jakarta Sans ExtraBold"/>
              </a:rPr>
              <a:t>a design requirement.</a:t>
            </a:r>
          </a:p>
        </p:txBody>
      </p:sp>
      <p:sp>
        <p:nvSpPr>
          <p:cNvPr id="6" name="Rounded Rectangle 5"/>
          <p:cNvSpPr/>
          <p:nvPr/>
        </p:nvSpPr>
        <p:spPr>
          <a:xfrm>
            <a:off x="731520" y="2194560"/>
            <a:ext cx="10728655" cy="1005840"/>
          </a:xfrm>
          <a:prstGeom prst="roundRect">
            <a:avLst>
              <a:gd name="adj" fmla="val 2000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59152"/>
            <a:ext cx="3749039" cy="640080"/>
          </a:xfrm>
          <a:prstGeom prst="rect">
            <a:avLst/>
          </a:prstGeom>
          <a:noFill/>
        </p:spPr>
        <p:txBody>
          <a:bodyPr wrap="square" lIns="0" rIns="0" tIns="0" bIns="0" anchor="t">
            <a:noAutofit/>
          </a:bodyPr>
          <a:lstStyle/>
          <a:p>
            <a:pPr algn="l">
              <a:lnSpc>
                <a:spcPts val="3000"/>
              </a:lnSpc>
              <a:spcBef>
                <a:spcPts val="0"/>
              </a:spcBef>
              <a:spcAft>
                <a:spcPts val="0"/>
              </a:spcAft>
              <a:buNone/>
            </a:pPr>
            <a:r>
              <a:rPr sz="2400" b="1">
                <a:solidFill>
                  <a:srgbClr val="FFFFFF"/>
                </a:solidFill>
                <a:latin typeface="Plus Jakarta Sans"/>
              </a:rPr>
              <a:t>Choice over pressure</a:t>
            </a:r>
          </a:p>
        </p:txBody>
      </p:sp>
      <p:sp>
        <p:nvSpPr>
          <p:cNvPr id="8" name="TextBox 7"/>
          <p:cNvSpPr txBox="1"/>
          <p:nvPr/>
        </p:nvSpPr>
        <p:spPr>
          <a:xfrm>
            <a:off x="4983480" y="2377440"/>
            <a:ext cx="6035040" cy="640080"/>
          </a:xfrm>
          <a:prstGeom prst="rect">
            <a:avLst/>
          </a:prstGeom>
          <a:noFill/>
        </p:spPr>
        <p:txBody>
          <a:bodyPr wrap="square" lIns="0" rIns="0" tIns="0" bIns="0" anchor="t">
            <a:noAutofit/>
          </a:bodyPr>
          <a:lstStyle/>
          <a:p>
            <a:pPr algn="l">
              <a:lnSpc>
                <a:spcPts val="2375"/>
              </a:lnSpc>
              <a:spcBef>
                <a:spcPts val="0"/>
              </a:spcBef>
              <a:spcAft>
                <a:spcPts val="0"/>
              </a:spcAft>
              <a:buNone/>
            </a:pPr>
            <a:r>
              <a:rPr sz="1900" b="0">
                <a:solidFill>
                  <a:srgbClr val="D7E0F2"/>
                </a:solidFill>
                <a:latin typeface="Plus Jakarta Sans"/>
              </a:rPr>
              <a:t>Games are untimed and unscored; sound and progression are user-led.</a:t>
            </a:r>
          </a:p>
        </p:txBody>
      </p:sp>
      <p:sp>
        <p:nvSpPr>
          <p:cNvPr id="9" name="Rounded Rectangle 8"/>
          <p:cNvSpPr/>
          <p:nvPr/>
        </p:nvSpPr>
        <p:spPr>
          <a:xfrm>
            <a:off x="731520" y="3401568"/>
            <a:ext cx="10728655" cy="1005840"/>
          </a:xfrm>
          <a:prstGeom prst="roundRect">
            <a:avLst>
              <a:gd name="adj" fmla="val 2000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3566160"/>
            <a:ext cx="3749039" cy="640080"/>
          </a:xfrm>
          <a:prstGeom prst="rect">
            <a:avLst/>
          </a:prstGeom>
          <a:noFill/>
        </p:spPr>
        <p:txBody>
          <a:bodyPr wrap="square" lIns="0" rIns="0" tIns="0" bIns="0" anchor="t">
            <a:noAutofit/>
          </a:bodyPr>
          <a:lstStyle/>
          <a:p>
            <a:pPr algn="l">
              <a:lnSpc>
                <a:spcPts val="2640"/>
              </a:lnSpc>
              <a:spcBef>
                <a:spcPts val="0"/>
              </a:spcBef>
              <a:spcAft>
                <a:spcPts val="0"/>
              </a:spcAft>
              <a:buNone/>
            </a:pPr>
            <a:r>
              <a:rPr sz="2100" b="1">
                <a:solidFill>
                  <a:srgbClr val="FFFFFF"/>
                </a:solidFill>
                <a:latin typeface="Plus Jakarta Sans"/>
              </a:rPr>
              <a:t>Truth over a polished demo</a:t>
            </a:r>
          </a:p>
        </p:txBody>
      </p:sp>
      <p:sp>
        <p:nvSpPr>
          <p:cNvPr id="11" name="TextBox 10"/>
          <p:cNvSpPr txBox="1"/>
          <p:nvPr/>
        </p:nvSpPr>
        <p:spPr>
          <a:xfrm>
            <a:off x="4983480" y="3584448"/>
            <a:ext cx="6035040" cy="640080"/>
          </a:xfrm>
          <a:prstGeom prst="rect">
            <a:avLst/>
          </a:prstGeom>
          <a:noFill/>
        </p:spPr>
        <p:txBody>
          <a:bodyPr wrap="square" lIns="0" rIns="0" tIns="0" bIns="0" anchor="t">
            <a:noAutofit/>
          </a:bodyPr>
          <a:lstStyle/>
          <a:p>
            <a:pPr algn="l">
              <a:lnSpc>
                <a:spcPts val="2375"/>
              </a:lnSpc>
              <a:spcBef>
                <a:spcPts val="0"/>
              </a:spcBef>
              <a:spcAft>
                <a:spcPts val="0"/>
              </a:spcAft>
              <a:buNone/>
            </a:pPr>
            <a:r>
              <a:rPr sz="1900" b="0">
                <a:solidFill>
                  <a:srgbClr val="D7E0F2"/>
                </a:solidFill>
                <a:latin typeface="Plus Jakarta Sans"/>
              </a:rPr>
              <a:t>Sensor values stay labeled LIVE_BLE or SIMULATED, including exports.</a:t>
            </a:r>
          </a:p>
        </p:txBody>
      </p:sp>
      <p:sp>
        <p:nvSpPr>
          <p:cNvPr id="12" name="Rounded Rectangle 11"/>
          <p:cNvSpPr/>
          <p:nvPr/>
        </p:nvSpPr>
        <p:spPr>
          <a:xfrm>
            <a:off x="731520" y="4608576"/>
            <a:ext cx="10728655" cy="1005840"/>
          </a:xfrm>
          <a:prstGeom prst="roundRect">
            <a:avLst>
              <a:gd name="adj" fmla="val 20000"/>
            </a:avLst>
          </a:prstGeom>
          <a:solidFill>
            <a:srgbClr val="0A1324">
              <a:alpha val="55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4773168"/>
            <a:ext cx="3749039" cy="640080"/>
          </a:xfrm>
          <a:prstGeom prst="rect">
            <a:avLst/>
          </a:prstGeom>
          <a:noFill/>
        </p:spPr>
        <p:txBody>
          <a:bodyPr wrap="square" lIns="0" rIns="0" tIns="0" bIns="0" anchor="t">
            <a:noAutofit/>
          </a:bodyPr>
          <a:lstStyle/>
          <a:p>
            <a:pPr algn="l">
              <a:lnSpc>
                <a:spcPts val="3000"/>
              </a:lnSpc>
              <a:spcBef>
                <a:spcPts val="0"/>
              </a:spcBef>
              <a:spcAft>
                <a:spcPts val="0"/>
              </a:spcAft>
              <a:buNone/>
            </a:pPr>
            <a:r>
              <a:rPr sz="2400" b="1">
                <a:solidFill>
                  <a:srgbClr val="FFFFFF"/>
                </a:solidFill>
                <a:latin typeface="Plus Jakarta Sans"/>
              </a:rPr>
              <a:t>Evidence over promises</a:t>
            </a:r>
          </a:p>
        </p:txBody>
      </p:sp>
      <p:sp>
        <p:nvSpPr>
          <p:cNvPr id="14" name="TextBox 13"/>
          <p:cNvSpPr txBox="1"/>
          <p:nvPr/>
        </p:nvSpPr>
        <p:spPr>
          <a:xfrm>
            <a:off x="4983480" y="4791456"/>
            <a:ext cx="6035040" cy="640080"/>
          </a:xfrm>
          <a:prstGeom prst="rect">
            <a:avLst/>
          </a:prstGeom>
          <a:noFill/>
        </p:spPr>
        <p:txBody>
          <a:bodyPr wrap="square" lIns="0" rIns="0" tIns="0" bIns="0" anchor="t">
            <a:noAutofit/>
          </a:bodyPr>
          <a:lstStyle/>
          <a:p>
            <a:pPr algn="l">
              <a:lnSpc>
                <a:spcPts val="2375"/>
              </a:lnSpc>
              <a:spcBef>
                <a:spcPts val="0"/>
              </a:spcBef>
              <a:spcAft>
                <a:spcPts val="0"/>
              </a:spcAft>
              <a:buNone/>
            </a:pPr>
            <a:r>
              <a:rPr sz="1900" b="0">
                <a:solidFill>
                  <a:srgbClr val="D7E0F2"/>
                </a:solidFill>
                <a:latin typeface="Plus Jakarta Sans"/>
              </a:rPr>
              <a:t>Research informs design. Usability and health outcomes still need evaluation.</a:t>
            </a:r>
          </a:p>
        </p:txBody>
      </p:sp>
      <p:sp>
        <p:nvSpPr>
          <p:cNvPr id="15" name="TextBox 14"/>
          <p:cNvSpPr txBox="1"/>
          <p:nvPr/>
        </p:nvSpPr>
        <p:spPr>
          <a:xfrm>
            <a:off x="9448495" y="292608"/>
            <a:ext cx="2011680" cy="1280160"/>
          </a:xfrm>
          <a:prstGeom prst="rect">
            <a:avLst/>
          </a:prstGeom>
          <a:noFill/>
        </p:spPr>
        <p:txBody>
          <a:bodyPr wrap="square" lIns="0" rIns="0" tIns="0" bIns="0" anchor="t">
            <a:noAutofit/>
          </a:bodyPr>
          <a:lstStyle/>
          <a:p>
            <a:pPr algn="r">
              <a:lnSpc>
                <a:spcPts val="9200"/>
              </a:lnSpc>
              <a:spcBef>
                <a:spcPts val="0"/>
              </a:spcBef>
              <a:spcAft>
                <a:spcPts val="0"/>
              </a:spcAft>
              <a:buNone/>
            </a:pPr>
            <a:r>
              <a:rPr sz="9200" b="0">
                <a:solidFill>
                  <a:srgbClr val="FFFFFF">
                    <a:alpha val="7000"/>
                  </a:srgbClr>
                </a:solidFill>
                <a:latin typeface="Plus Jakarta Sans ExtraBold"/>
              </a:rPr>
              <a:t>20</a:t>
            </a:r>
          </a:p>
        </p:txBody>
      </p:sp>
      <p:pic>
        <p:nvPicPr>
          <p:cNvPr id="16" name="Picture 15" descr="icon.png"/>
          <p:cNvPicPr>
            <a:picLocks noChangeAspect="1"/>
          </p:cNvPicPr>
          <p:nvPr/>
        </p:nvPicPr>
        <p:blipFill>
          <a:blip r:embed="rId3"/>
          <a:stretch>
            <a:fillRect/>
          </a:stretch>
        </p:blipFill>
        <p:spPr>
          <a:xfrm>
            <a:off x="731520" y="6382512"/>
            <a:ext cx="237744" cy="237744"/>
          </a:xfrm>
          <a:prstGeom prst="roundRect">
            <a:avLst>
              <a:gd name="adj" fmla="val 26923"/>
            </a:avLst>
          </a:prstGeom>
        </p:spPr>
      </p:pic>
      <p:sp>
        <p:nvSpPr>
          <p:cNvPr id="17" name="TextBox 16"/>
          <p:cNvSpPr txBox="1"/>
          <p:nvPr/>
        </p:nvSpPr>
        <p:spPr>
          <a:xfrm>
            <a:off x="1060704" y="6400800"/>
            <a:ext cx="3657600" cy="201168"/>
          </a:xfrm>
          <a:prstGeom prst="rect">
            <a:avLst/>
          </a:prstGeom>
          <a:noFill/>
        </p:spPr>
        <p:txBody>
          <a:bodyPr wrap="square" lIns="0" rIns="0" tIns="0" bIns="0" anchor="ctr">
            <a:noAutofit/>
          </a:bodyPr>
          <a:lstStyle/>
          <a:p>
            <a:pPr algn="l">
              <a:lnSpc>
                <a:spcPts val="1260"/>
              </a:lnSpc>
              <a:spcBef>
                <a:spcPts val="0"/>
              </a:spcBef>
              <a:spcAft>
                <a:spcPts val="0"/>
              </a:spcAft>
              <a:buNone/>
            </a:pPr>
            <a:r>
              <a:rPr sz="1050" b="1" spc="60">
                <a:solidFill>
                  <a:srgbClr val="5F7299"/>
                </a:solidFill>
                <a:latin typeface="Plus Jakarta Sans"/>
              </a:rPr>
              <a:t>CareSphere AI</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1733"/>
            </a:gs>
            <a:gs pos="100000">
              <a:srgbClr val="0F2659"/>
            </a:gs>
          </a:gsLst>
          <a:lin scaled="0" ang="5400000"/>
        </a:gradFill>
        <a:effectLst/>
      </p:bgPr>
    </p:bg>
    <p:spTree>
      <p:nvGrpSpPr>
        <p:cNvPr id="1" name=""/>
        <p:cNvGrpSpPr/>
        <p:nvPr/>
      </p:nvGrpSpPr>
      <p:grpSpPr/>
      <p:pic>
        <p:nvPicPr>
          <p:cNvPr id="2" name="Picture 1" descr="bg-mesh.png"/>
          <p:cNvPicPr>
            <a:picLocks noChangeAspect="1"/>
          </p:cNvPicPr>
          <p:nvPr/>
        </p:nvPicPr>
        <p:blipFill>
          <a:blip r:embed="rId2"/>
          <a:stretch>
            <a:fillRect/>
          </a:stretch>
        </p:blipFill>
        <p:spPr>
          <a:xfrm>
            <a:off x="0" y="85"/>
            <a:ext cx="12191695" cy="6857828"/>
          </a:xfrm>
          <a:prstGeom prst="rect">
            <a:avLst/>
          </a:prstGeom>
        </p:spPr>
      </p:pic>
      <p:pic>
        <p:nvPicPr>
          <p:cNvPr id="3" name="Picture 2" descr="glow.png"/>
          <p:cNvPicPr>
            <a:picLocks noChangeAspect="1"/>
          </p:cNvPicPr>
          <p:nvPr/>
        </p:nvPicPr>
        <p:blipFill>
          <a:blip r:embed="rId3"/>
          <a:stretch>
            <a:fillRect/>
          </a:stretch>
        </p:blipFill>
        <p:spPr>
          <a:xfrm>
            <a:off x="1752447" y="-3291840"/>
            <a:ext cx="8686800" cy="8686800"/>
          </a:xfrm>
          <a:prstGeom prst="rect">
            <a:avLst/>
          </a:prstGeom>
        </p:spPr>
      </p:pic>
      <p:pic>
        <p:nvPicPr>
          <p:cNvPr id="4" name="Picture 3" descr="icon.png"/>
          <p:cNvPicPr>
            <a:picLocks noChangeAspect="1"/>
          </p:cNvPicPr>
          <p:nvPr/>
        </p:nvPicPr>
        <p:blipFill>
          <a:blip r:embed="rId4"/>
          <a:stretch>
            <a:fillRect/>
          </a:stretch>
        </p:blipFill>
        <p:spPr>
          <a:xfrm>
            <a:off x="5684367" y="1143000"/>
            <a:ext cx="822960" cy="822960"/>
          </a:xfrm>
          <a:prstGeom prst="roundRect">
            <a:avLst>
              <a:gd name="adj" fmla="val 24444"/>
            </a:avLst>
          </a:prstGeom>
        </p:spPr>
      </p:pic>
      <p:sp>
        <p:nvSpPr>
          <p:cNvPr id="5" name="TextBox 4"/>
          <p:cNvSpPr txBox="1"/>
          <p:nvPr/>
        </p:nvSpPr>
        <p:spPr>
          <a:xfrm>
            <a:off x="731520" y="2240280"/>
            <a:ext cx="10728655" cy="1005840"/>
          </a:xfrm>
          <a:prstGeom prst="rect">
            <a:avLst/>
          </a:prstGeom>
          <a:noFill/>
        </p:spPr>
        <p:txBody>
          <a:bodyPr wrap="square" lIns="0" rIns="0" tIns="0" bIns="0" anchor="t">
            <a:noAutofit/>
          </a:bodyPr>
          <a:lstStyle/>
          <a:p>
            <a:pPr algn="ctr">
              <a:lnSpc>
                <a:spcPts val="5880"/>
              </a:lnSpc>
              <a:spcBef>
                <a:spcPts val="0"/>
              </a:spcBef>
              <a:spcAft>
                <a:spcPts val="0"/>
              </a:spcAft>
              <a:buNone/>
            </a:pPr>
            <a:r>
              <a:rPr sz="5600" b="0">
                <a:solidFill>
                  <a:srgbClr val="FFFFFF"/>
                </a:solidFill>
                <a:latin typeface="Plus Jakarta Sans ExtraBold"/>
              </a:rPr>
              <a:t>Care that stays yours.</a:t>
            </a:r>
          </a:p>
        </p:txBody>
      </p:sp>
      <p:sp>
        <p:nvSpPr>
          <p:cNvPr id="6" name="TextBox 5"/>
          <p:cNvSpPr txBox="1"/>
          <p:nvPr/>
        </p:nvSpPr>
        <p:spPr>
          <a:xfrm>
            <a:off x="2103120" y="3291840"/>
            <a:ext cx="7985455" cy="731520"/>
          </a:xfrm>
          <a:prstGeom prst="rect">
            <a:avLst/>
          </a:prstGeom>
          <a:noFill/>
        </p:spPr>
        <p:txBody>
          <a:bodyPr wrap="square" lIns="0" rIns="0" tIns="0" bIns="0" anchor="t">
            <a:noAutofit/>
          </a:bodyPr>
          <a:lstStyle/>
          <a:p>
            <a:pPr algn="ctr">
              <a:lnSpc>
                <a:spcPts val="2700"/>
              </a:lnSpc>
              <a:spcBef>
                <a:spcPts val="0"/>
              </a:spcBef>
              <a:spcAft>
                <a:spcPts val="0"/>
              </a:spcAft>
              <a:buNone/>
            </a:pPr>
            <a:r>
              <a:rPr sz="2000" b="0">
                <a:solidFill>
                  <a:srgbClr val="D7E0F2"/>
                </a:solidFill>
                <a:latin typeface="Plus Jakarta Sans"/>
              </a:rPr>
              <a:t>Connected, calm and local-first — with real readings or clearly labeled simulation.</a:t>
            </a:r>
          </a:p>
        </p:txBody>
      </p:sp>
      <p:sp>
        <p:nvSpPr>
          <p:cNvPr id="7" name="Rounded Rectangle 6"/>
          <p:cNvSpPr/>
          <p:nvPr/>
        </p:nvSpPr>
        <p:spPr>
          <a:xfrm>
            <a:off x="3034131" y="4206240"/>
            <a:ext cx="23065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034131" y="4206240"/>
            <a:ext cx="230657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EXPLORE THE PROJECT</a:t>
            </a:r>
          </a:p>
        </p:txBody>
      </p:sp>
      <p:sp>
        <p:nvSpPr>
          <p:cNvPr id="9" name="Rounded Rectangle 8"/>
          <p:cNvSpPr/>
          <p:nvPr/>
        </p:nvSpPr>
        <p:spPr>
          <a:xfrm>
            <a:off x="5523585" y="4206240"/>
            <a:ext cx="173507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523585" y="4206240"/>
            <a:ext cx="173507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READ THE CODE</a:t>
            </a:r>
          </a:p>
        </p:txBody>
      </p:sp>
      <p:sp>
        <p:nvSpPr>
          <p:cNvPr id="11" name="Rounded Rectangle 10"/>
          <p:cNvSpPr/>
          <p:nvPr/>
        </p:nvSpPr>
        <p:spPr>
          <a:xfrm>
            <a:off x="7441539" y="4206240"/>
            <a:ext cx="1716024" cy="329184"/>
          </a:xfrm>
          <a:prstGeom prst="roundRect">
            <a:avLst>
              <a:gd name="adj" fmla="val 50000"/>
            </a:avLst>
          </a:prstGeom>
          <a:solidFill>
            <a:srgbClr val="06E288">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441539" y="4206240"/>
            <a:ext cx="1716024" cy="329184"/>
          </a:xfrm>
          <a:prstGeom prst="rect">
            <a:avLst/>
          </a:prstGeom>
          <a:noFill/>
        </p:spPr>
        <p:txBody>
          <a:bodyPr wrap="square" lIns="0" rIns="0" tIns="0" bIns="0" anchor="ctr">
            <a:noAutofit/>
          </a:bodyPr>
          <a:lstStyle/>
          <a:p>
            <a:pPr algn="ctr">
              <a:lnSpc>
                <a:spcPts val="1375"/>
              </a:lnSpc>
              <a:spcBef>
                <a:spcPts val="0"/>
              </a:spcBef>
              <a:spcAft>
                <a:spcPts val="0"/>
              </a:spcAft>
              <a:buNone/>
            </a:pPr>
            <a:r>
              <a:rPr sz="1100" b="1" spc="100">
                <a:solidFill>
                  <a:srgbClr val="06E288"/>
                </a:solidFill>
                <a:latin typeface="Plus Jakarta Sans"/>
              </a:rPr>
              <a:t>BUILD LOCALLY</a:t>
            </a:r>
          </a:p>
        </p:txBody>
      </p:sp>
      <p:sp>
        <p:nvSpPr>
          <p:cNvPr id="13" name="TextBox 12"/>
          <p:cNvSpPr txBox="1"/>
          <p:nvPr/>
        </p:nvSpPr>
        <p:spPr>
          <a:xfrm>
            <a:off x="731520" y="4846320"/>
            <a:ext cx="10728655" cy="411480"/>
          </a:xfrm>
          <a:prstGeom prst="rect">
            <a:avLst/>
          </a:prstGeom>
          <a:noFill/>
        </p:spPr>
        <p:txBody>
          <a:bodyPr wrap="square" lIns="0" rIns="0" tIns="0" bIns="0" anchor="t">
            <a:noAutofit/>
          </a:bodyPr>
          <a:lstStyle/>
          <a:p>
            <a:pPr algn="ctr">
              <a:lnSpc>
                <a:spcPts val="2625"/>
              </a:lnSpc>
              <a:spcBef>
                <a:spcPts val="0"/>
              </a:spcBef>
              <a:spcAft>
                <a:spcPts val="0"/>
              </a:spcAft>
              <a:buNone/>
            </a:pPr>
            <a:r>
              <a:rPr sz="2100" b="1">
                <a:solidFill>
                  <a:srgbClr val="FFFFFF"/>
                </a:solidFill>
                <a:latin typeface="Plus Jakarta Sans"/>
              </a:rPr>
              <a:t>github.com/engineer2025-sudo/Care</a:t>
            </a:r>
          </a:p>
        </p:txBody>
      </p:sp>
      <p:sp>
        <p:nvSpPr>
          <p:cNvPr id="14" name="TextBox 13"/>
          <p:cNvSpPr txBox="1"/>
          <p:nvPr/>
        </p:nvSpPr>
        <p:spPr>
          <a:xfrm>
            <a:off x="731520" y="5349240"/>
            <a:ext cx="10728655" cy="365760"/>
          </a:xfrm>
          <a:prstGeom prst="rect">
            <a:avLst/>
          </a:prstGeom>
          <a:noFill/>
        </p:spPr>
        <p:txBody>
          <a:bodyPr wrap="square" lIns="0" rIns="0" tIns="0" bIns="0" anchor="t">
            <a:noAutofit/>
          </a:bodyPr>
          <a:lstStyle/>
          <a:p>
            <a:pPr algn="ctr">
              <a:lnSpc>
                <a:spcPts val="1812"/>
              </a:lnSpc>
              <a:spcBef>
                <a:spcPts val="0"/>
              </a:spcBef>
              <a:spcAft>
                <a:spcPts val="0"/>
              </a:spcAft>
              <a:buNone/>
            </a:pPr>
            <a:r>
              <a:rPr sz="1450" b="0">
                <a:solidFill>
                  <a:srgbClr val="93A4C7"/>
                </a:solidFill>
                <a:latin typeface="Plus Jakarta Sans"/>
              </a:rPr>
              <a:t>Arnav Kochar  ·  CA-10  ·  kochar4646@gmail.com</a:t>
            </a:r>
          </a:p>
        </p:txBody>
      </p:sp>
      <p:sp>
        <p:nvSpPr>
          <p:cNvPr id="15" name="TextBox 14"/>
          <p:cNvSpPr txBox="1"/>
          <p:nvPr/>
        </p:nvSpPr>
        <p:spPr>
          <a:xfrm>
            <a:off x="731520" y="5760720"/>
            <a:ext cx="10728655" cy="320040"/>
          </a:xfrm>
          <a:prstGeom prst="rect">
            <a:avLst/>
          </a:prstGeom>
          <a:noFill/>
        </p:spPr>
        <p:txBody>
          <a:bodyPr wrap="square" lIns="0" rIns="0" tIns="0" bIns="0" anchor="t">
            <a:noAutofit/>
          </a:bodyPr>
          <a:lstStyle/>
          <a:p>
            <a:pPr algn="ctr">
              <a:lnSpc>
                <a:spcPts val="1562"/>
              </a:lnSpc>
              <a:spcBef>
                <a:spcPts val="0"/>
              </a:spcBef>
              <a:spcAft>
                <a:spcPts val="0"/>
              </a:spcAft>
              <a:buNone/>
            </a:pPr>
            <a:r>
              <a:rPr sz="1250" b="0">
                <a:solidFill>
                  <a:srgbClr val="5F7299"/>
                </a:solidFill>
                <a:latin typeface="Plus Jakarta Sans"/>
              </a:rPr>
              <a:t>Explore the source, build instructions and project documentation.</a:t>
            </a:r>
          </a:p>
        </p:txBody>
      </p:sp>
      <p:sp>
        <p:nvSpPr>
          <p:cNvPr id="16" name="Rounded Rectangle 15"/>
          <p:cNvSpPr/>
          <p:nvPr/>
        </p:nvSpPr>
        <p:spPr>
          <a:xfrm>
            <a:off x="10134295" y="685800"/>
            <a:ext cx="1325880" cy="1645920"/>
          </a:xfrm>
          <a:prstGeom prst="roundRect">
            <a:avLst>
              <a:gd name="adj" fmla="val 15172"/>
            </a:avLst>
          </a:prstGeom>
          <a:solidFill>
            <a:srgbClr val="0A1324">
              <a:alpha val="50000"/>
            </a:srgbClr>
          </a:solidFill>
          <a:ln w="9525">
            <a:solidFill>
              <a:srgbClr val="FFFFFF">
                <a:alpha val="9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qr.png"/>
          <p:cNvPicPr>
            <a:picLocks noChangeAspect="1"/>
          </p:cNvPicPr>
          <p:nvPr/>
        </p:nvPicPr>
        <p:blipFill>
          <a:blip r:embed="rId5"/>
          <a:stretch>
            <a:fillRect/>
          </a:stretch>
        </p:blipFill>
        <p:spPr>
          <a:xfrm>
            <a:off x="10289743" y="841248"/>
            <a:ext cx="1014984" cy="1014984"/>
          </a:xfrm>
          <a:prstGeom prst="roundRect">
            <a:avLst>
              <a:gd name="adj" fmla="val 7207"/>
            </a:avLst>
          </a:prstGeom>
        </p:spPr>
      </p:pic>
      <p:sp>
        <p:nvSpPr>
          <p:cNvPr id="18" name="TextBox 17"/>
          <p:cNvSpPr txBox="1"/>
          <p:nvPr/>
        </p:nvSpPr>
        <p:spPr>
          <a:xfrm>
            <a:off x="10134295" y="1929384"/>
            <a:ext cx="1325880" cy="320040"/>
          </a:xfrm>
          <a:prstGeom prst="rect">
            <a:avLst/>
          </a:prstGeom>
          <a:noFill/>
        </p:spPr>
        <p:txBody>
          <a:bodyPr wrap="square" lIns="0" rIns="0" tIns="0" bIns="0" anchor="t">
            <a:noAutofit/>
          </a:bodyPr>
          <a:lstStyle/>
          <a:p>
            <a:pPr algn="ctr">
              <a:lnSpc>
                <a:spcPts val="1187"/>
              </a:lnSpc>
              <a:spcBef>
                <a:spcPts val="0"/>
              </a:spcBef>
              <a:spcAft>
                <a:spcPts val="0"/>
              </a:spcAft>
              <a:buNone/>
            </a:pPr>
            <a:r>
              <a:rPr sz="950" b="1" spc="80">
                <a:solidFill>
                  <a:srgbClr val="5F7299"/>
                </a:solidFill>
                <a:latin typeface="Plus Jakarta Sans"/>
              </a:rPr>
              <a:t>scan for source</a:t>
            </a:r>
          </a:p>
        </p:txBody>
      </p:sp>
    </p:spTree>
  </p:cSld>
  <p:clrMapOvr>
    <a:masterClrMapping/>
  </p:clrMapOvr>
  <mc:AlternateContent xmlns:mc="http://schemas.openxmlformats.org/markup-compatibility/2006">
    <mc:Choice xmlns:p14="http://schemas.microsoft.com/office/powerpoint/2010/main" Requires="p14">
      <p:transition spd="slow" p14:dur="900">
        <p:fade thruBlk="1"/>
      </p:transition>
    </mc:Choice>
    <mc:Fallback>
      <p:transition spd="slow">
        <p:fade thruBlk="1"/>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