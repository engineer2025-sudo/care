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embeddedFontLst>
    <p:embeddedFont>
      <p:font typeface="Plus Jakarta Sans" panose="00000000000000000000" pitchFamily="34" charset="0"/>
      <p:regular r:id="rId21"/>
      <p:bold r:id="rId22"/>
    </p:embeddedFont>
    <p:embeddedFont>
      <p:font typeface="Plus Jakarta Sans Medium" panose="00000000000000000000" pitchFamily="34" charset="0"/>
      <p:regular r:id="rId23"/>
    </p:embeddedFont>
    <p:embeddedFont>
      <p:font typeface="Plus Jakarta Sans ExtraBold" panose="00000000000000000000" pitchFamily="34" charset="0"/>
      <p:regular r:id="rId24"/>
    </p:embeddedFont>
    <p:embeddedFont>
      <p:font typeface="JetBrains Mono" panose="02000009000000000000" pitchFamily="49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[0:00–0:14] Hi, I'm [NAME], a [GRADE] at [SCHOOL] in [CITY], California. This is CareSphere AI — a private care companion for older adults, autistic people and their families, on iPhone and on the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[0:14–0:26] (Your story in one sentence — name a specific person, a specific moment. E.g.: My grandmother lives alone, and every call started the same way: did you take your pills? did you talk to anyone today?) So I built the app I wished she had: calm, honest, and private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[0:26–0:39] One in four older adults is socially isolated — a twenty-nine percent higher risk of early death. One in thirty-one children is autistic. Half of long-term medications aren't taken as prescribed. And sixty-three million family caregivers hold it all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[0:39–0:47] Today a family juggles four apps — four accounts, four clouds — and none of them was designed for autistic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[0:47–0:57] CareSphere is one calm app with five tabs — Overview, Activities, Coffee Circles, Care Circle and Vitals — with no server behind any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[0:57–1:42] Let me show you. (Switch to the screen recording — six shots, see VIDEO_SCRIPT.md: mood check-in and routine; medication reminder and Taken; Bluetooth pairing or the labeled demo plus Export CSV; Pattern Recall and the Rain soundscape; join a Coffee Circle; build and download a visit brief.)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[1:42–1:53] What makes it different isn't a feature — it's four rules in the code: never fabricate a reading, never send anything automatically, calm by default, private by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[1:53–2:01] It's built for three people at once: older adults, autistic teens and adults, and the caregivers who support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[2:01–2:12] Everything stays on the device: AES-256 encryption, Bluetooth and HealthKit read locally, and a 1.5-billion-parameter model that answers health questions offline. Zero accounts, zero servers, zero trackers.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[2:12–2:23] It's React and JavaScript on the web, Swift and SwiftUI on iPhone — Web Bluetooth, HealthKit, CryptoKit and llama.cpp. Eleven thousand lines, seventeen tests, three public releases.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[2:23–2:35] The hardest problem was keeping Bluetooth honest: notifications arrive late and out of order, so I label every sample live or simulated at the source and drop stale sessions with a generation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[2:35–2:47] Version 2.0 starts with co-design sessions with autistic people, people living with dementia and caregivers, then a TestFlight beta and sensor history in the visit brief — still with no server. (Deliberately not planned: cloud sync, a clinician portal or a drug-interaction checker — not without clinical review.)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[2:47–2:53] CareSphere AI — care that stays yours. The code and install guide are on GitHub.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-2651760"/>
            <a:ext cx="8686800" cy="86868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1037844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97280" y="9235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CONGRESSIONAL APP CHALLENGE 2026  ·  [CA-XX]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0" b="0">
                <a:solidFill>
                  <a:srgbClr val="FFFFFF"/>
                </a:solidFill>
                <a:latin typeface="Plus Jakarta Sans ExtraBold"/>
              </a:rPr>
              <a:t>CareSphere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0">
                <a:solidFill>
                  <a:srgbClr val="06E288"/>
                </a:solidFill>
                <a:latin typeface="Plus Jakarta Sans Medium"/>
              </a:rPr>
              <a:t>Connected care for independent living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612648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D7E0F2"/>
                </a:solidFill>
                <a:latin typeface="Plus Jakarta Sans"/>
              </a:rPr>
              <a:t>A private care companion for older adults, autistic people and the families who care for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5780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FFFFFF"/>
                </a:solidFill>
                <a:latin typeface="Plus Jakarta Sans"/>
              </a:rPr>
              <a:t>[Student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93A4C7"/>
                </a:solidFill>
                <a:latin typeface="Plus Jakarta Sans"/>
              </a:rPr>
              <a:t>[School]  ·  [City], California  ·  [email@example.com]</a:t>
            </a:r>
          </a:p>
        </p:txBody>
      </p:sp>
      <p:pic>
        <p:nvPicPr>
          <p:cNvPr id="10" name="Picture 9" descr="phon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868680"/>
            <a:ext cx="3397636" cy="6675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WHY I BUILT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6400800" cy="2926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900" b="1">
                <a:solidFill>
                  <a:srgbClr val="FFFFFF"/>
                </a:solidFill>
                <a:latin typeface="Plus Jakarta Sans"/>
              </a:rPr>
              <a:t>“[Your story in one or two sentences — e.g. My grandmother lives alone, and every call started the same way: did you take your pills? did you talk to anyone today?]”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17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6E288"/>
                </a:solidFill>
                <a:latin typeface="Plus Jakarta Sans Medium"/>
              </a:rPr>
              <a:t>— [Student Name], [grade], [School]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93A4C7"/>
                </a:solidFill>
                <a:latin typeface="Plus Jakarta Sans"/>
              </a:rPr>
              <a:t>So I built the app I wished she had: calm, honest, and private by design.</a:t>
            </a:r>
          </a:p>
        </p:txBody>
      </p:sp>
      <p:pic>
        <p:nvPicPr>
          <p:cNvPr id="7" name="Picture 6" descr="phone-to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685800"/>
            <a:ext cx="3211464" cy="6309360"/>
          </a:xfrm>
          <a:prstGeom prst="rect">
            <a:avLst/>
          </a:prstGeom>
        </p:spPr>
      </p:pic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02  / 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Growing older — or growing up autistic — too often means facing care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3271418" cy="134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/>
                </a:solidFill>
                <a:latin typeface="Plus Jakarta Sans ExtraBold"/>
              </a:rPr>
              <a:t>1 in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9956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older adults are socially isolated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F7299"/>
                </a:solidFill>
                <a:latin typeface="Plus Jakarta Sans Medium"/>
              </a:rPr>
              <a:t>NASEM, 2020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0138" y="2697480"/>
            <a:ext cx="3271418" cy="134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/>
                </a:solidFill>
                <a:latin typeface="Plus Jakarta Sans ExtraBold"/>
              </a:rPr>
              <a:t>1 in 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0138" y="409956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children are autistic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0138" y="507492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F7299"/>
                </a:solidFill>
                <a:latin typeface="Plus Jakarta Sans Medium"/>
              </a:rPr>
              <a:t>CDC,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8756" y="2697480"/>
            <a:ext cx="3271418" cy="134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/>
                </a:solidFill>
                <a:latin typeface="Plus Jakarta Sans ExtraBold"/>
              </a:rPr>
              <a:t>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8756" y="409956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of long-term medicines aren’t taken as prescribed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8756" y="507492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F7299"/>
                </a:solidFill>
                <a:latin typeface="Plus Jakarta Sans Medium"/>
              </a:rPr>
              <a:t>WHO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7150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D7E0F2"/>
                </a:solidFill>
                <a:latin typeface="Plus Jakarta Sans"/>
              </a:rPr>
              <a:t>Behind them: 63 million family caregivers.   </a:t>
            </a:r>
            <a:r>
              <a:rPr sz="1700" b="0">
                <a:solidFill>
                  <a:srgbClr val="93A4C7"/>
                </a:solidFill>
                <a:latin typeface="Plus Jakarta Sans"/>
              </a:rPr>
              <a:t>AARP &amp; NAC, 2025</a:t>
            </a:r>
          </a:p>
        </p:txBody>
      </p:sp>
      <p:pic>
        <p:nvPicPr>
          <p:cNvPr id="15" name="Picture 1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03  / 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Four apps. Four accounts. Four clouds.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Medication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5768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990087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Video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0087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0016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74336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Health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record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4336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84264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58583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Family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updates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3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04504" y="3474720"/>
            <a:ext cx="566928" cy="0"/>
          </a:xfrm>
          <a:prstGeom prst="line">
            <a:avLst/>
          </a:prstGeom>
          <a:ln w="31750">
            <a:solidFill>
              <a:srgbClr val="06E2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81744" y="2240280"/>
            <a:ext cx="2078431" cy="2468880"/>
          </a:xfrm>
          <a:prstGeom prst="roundRect">
            <a:avLst>
              <a:gd name="adj" fmla="val 8798"/>
            </a:avLst>
          </a:prstGeom>
          <a:solidFill>
            <a:srgbClr val="06E288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74352" y="2450592"/>
            <a:ext cx="1621231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ExtraBold"/>
              </a:rPr>
              <a:t>CareSphere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3035808"/>
            <a:ext cx="1621231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Medium"/>
              </a:rPr>
              <a:t>1 app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Medium"/>
              </a:rPr>
              <a:t>0 accounts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Medium"/>
              </a:rPr>
              <a:t>0 clouds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4924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Medisafe · FaceTime · MyChart · CaringBridge — none designed for autistic users.</a:t>
            </a:r>
          </a:p>
        </p:txBody>
      </p:sp>
      <p:pic>
        <p:nvPicPr>
          <p:cNvPr id="22" name="Picture 2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3" name="TextBox 22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04  / 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One calm app. Five tabs. Zero servers.</a:t>
            </a:r>
          </a:p>
        </p:txBody>
      </p:sp>
      <p:pic>
        <p:nvPicPr>
          <p:cNvPr id="5" name="Picture 4" descr="phone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050" y="1737360"/>
            <a:ext cx="2286000" cy="4491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2050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Overview</a:t>
            </a:r>
          </a:p>
        </p:txBody>
      </p:sp>
      <p:pic>
        <p:nvPicPr>
          <p:cNvPr id="7" name="Picture 6" descr="phone-activ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449" y="1737360"/>
            <a:ext cx="2286000" cy="4491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07449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Activities</a:t>
            </a:r>
          </a:p>
        </p:txBody>
      </p:sp>
      <p:pic>
        <p:nvPicPr>
          <p:cNvPr id="9" name="Picture 8" descr="phone-circ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847" y="1737360"/>
            <a:ext cx="2286000" cy="44911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52847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Coffee Circles</a:t>
            </a:r>
          </a:p>
        </p:txBody>
      </p:sp>
      <p:pic>
        <p:nvPicPr>
          <p:cNvPr id="11" name="Picture 10" descr="phone-c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8246" y="1737360"/>
            <a:ext cx="2286000" cy="44911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8246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Care Circle</a:t>
            </a:r>
          </a:p>
        </p:txBody>
      </p:sp>
      <p:pic>
        <p:nvPicPr>
          <p:cNvPr id="13" name="Picture 12" descr="phone-vita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3644" y="1737360"/>
            <a:ext cx="2286000" cy="449115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43644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Vitals</a:t>
            </a:r>
          </a:p>
        </p:txBody>
      </p:sp>
      <p:pic>
        <p:nvPicPr>
          <p:cNvPr id="15" name="Picture 14" descr="ic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05  / 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Let’s see it.</a:t>
            </a:r>
          </a:p>
        </p:txBody>
      </p:sp>
      <p:pic>
        <p:nvPicPr>
          <p:cNvPr id="5" name="Picture 4" descr="web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71600"/>
            <a:ext cx="7772400" cy="553639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2039112"/>
            <a:ext cx="36576" cy="868680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23960" y="1965960"/>
            <a:ext cx="26362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Real video rooms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2423160"/>
            <a:ext cx="26362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no account needed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364991"/>
            <a:ext cx="36576" cy="868680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23960" y="3291839"/>
            <a:ext cx="26362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Honest vitals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3749039"/>
            <a:ext cx="26362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every card says LIVE or SIMULATED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4690872"/>
            <a:ext cx="36576" cy="868680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23960" y="4617720"/>
            <a:ext cx="26362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A brief you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074920"/>
            <a:ext cx="26362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pick · preview · download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5852160"/>
            <a:ext cx="254787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23960" y="5852160"/>
            <a:ext cx="25478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spc="100">
                <a:solidFill>
                  <a:srgbClr val="06E288"/>
                </a:solidFill>
                <a:latin typeface="Plus Jakarta Sans"/>
              </a:rPr>
              <a:t>REAL APP · NOTHING STAGED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8" name="TextBox 17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06  / 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WHAT MAKES IT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Four rules, written into the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2450591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40487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  <a:latin typeface="Plus Jakarta Sans"/>
              </a:rPr>
              <a:t>Never fabricate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99923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every reading says LIVE or SIMULATED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10312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90207" y="2450591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1727" y="240487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Nothing sent automatically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1727" y="299923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93A4C7"/>
                </a:solidFill>
                <a:latin typeface="Plus Jakarta Sans"/>
              </a:rPr>
              <a:t>a person always taps Send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455371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50799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  <a:latin typeface="Plus Jakarta Sans"/>
              </a:rPr>
              <a:t>Calm by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510235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no timers, scores or auto-advance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8727" y="420624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90207" y="455371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1727" y="450799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  <a:latin typeface="Plus Jakarta Sans"/>
              </a:rPr>
              <a:t>Private by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1727" y="510235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93A4C7"/>
                </a:solidFill>
                <a:latin typeface="Plus Jakarta Sans"/>
              </a:rPr>
              <a:t>no account, no server, encrypted</a:t>
            </a:r>
          </a:p>
        </p:txBody>
      </p:sp>
      <p:pic>
        <p:nvPicPr>
          <p:cNvPr id="21" name="Picture 20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2" name="TextBox 21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07  / 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WHO IT’S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Built for three people at once.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332378" cy="3977639"/>
          </a:xfrm>
          <a:prstGeom prst="roundRect">
            <a:avLst>
              <a:gd name="adj" fmla="val 5487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26008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Older adults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260085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93A4C7"/>
                </a:solidFill>
                <a:latin typeface="Plus Jakarta Sans"/>
              </a:rPr>
              <a:t>routines, reminders, real company</a:t>
            </a:r>
          </a:p>
        </p:txBody>
      </p:sp>
      <p:pic>
        <p:nvPicPr>
          <p:cNvPr id="8" name="Picture 7" descr="crop-rout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94809"/>
            <a:ext cx="2600858" cy="1911630"/>
          </a:xfrm>
          <a:prstGeom prst="roundRect">
            <a:avLst>
              <a:gd name="adj" fmla="val 544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29658" y="2103120"/>
            <a:ext cx="3332378" cy="3977639"/>
          </a:xfrm>
          <a:prstGeom prst="roundRect">
            <a:avLst>
              <a:gd name="adj" fmla="val 5487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95418" y="2423160"/>
            <a:ext cx="26008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FFFFFF"/>
                </a:solidFill>
                <a:latin typeface="Plus Jakarta Sans"/>
              </a:rPr>
              <a:t>Autistic teens &amp; adults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5418" y="2926080"/>
            <a:ext cx="260085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93A4C7"/>
                </a:solidFill>
                <a:latin typeface="Plus Jakarta Sans"/>
              </a:rPr>
              <a:t>predictable, untimed, sensory-calm</a:t>
            </a:r>
          </a:p>
        </p:txBody>
      </p:sp>
      <p:pic>
        <p:nvPicPr>
          <p:cNvPr id="12" name="Picture 11" descr="crop-soundsca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418" y="3998843"/>
            <a:ext cx="2600858" cy="1807596"/>
          </a:xfrm>
          <a:prstGeom prst="roundRect">
            <a:avLst>
              <a:gd name="adj" fmla="val 5755"/>
            </a:avLst>
          </a:prstGeom>
        </p:spPr>
      </p:pic>
      <p:sp>
        <p:nvSpPr>
          <p:cNvPr id="13" name="Rounded Rectangle 12"/>
          <p:cNvSpPr/>
          <p:nvPr/>
        </p:nvSpPr>
        <p:spPr>
          <a:xfrm>
            <a:off x="8127796" y="2103120"/>
            <a:ext cx="3332378" cy="3977639"/>
          </a:xfrm>
          <a:prstGeom prst="roundRect">
            <a:avLst>
              <a:gd name="adj" fmla="val 5487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93556" y="2423160"/>
            <a:ext cx="26008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Family caregivers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3556" y="2926080"/>
            <a:ext cx="260085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93A4C7"/>
                </a:solidFill>
                <a:latin typeface="Plus Jakarta Sans"/>
              </a:rPr>
              <a:t>notes and a brief they can trust</a:t>
            </a:r>
          </a:p>
        </p:txBody>
      </p:sp>
      <p:pic>
        <p:nvPicPr>
          <p:cNvPr id="16" name="Picture 15" descr="crop-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585" y="3703320"/>
            <a:ext cx="2580800" cy="2103120"/>
          </a:xfrm>
          <a:prstGeom prst="roundRect">
            <a:avLst>
              <a:gd name="adj" fmla="val 4908"/>
            </a:avLst>
          </a:prstGeom>
        </p:spPr>
      </p:pic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8" name="TextBox 17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08  / 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Everything stays on the device.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2057400" cy="1402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59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331720"/>
            <a:ext cx="2057400" cy="1402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794759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servers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331720"/>
            <a:ext cx="2057400" cy="1402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794759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trackers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2514600"/>
            <a:ext cx="27432" cy="27432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18119" y="2468880"/>
            <a:ext cx="3642055" cy="2926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AES-256 encrypted on the device</a:t>
            </a:r>
          </a:p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AI health guide runs on the phone</a:t>
            </a:r>
          </a:p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Bluetooth &amp; HealthKit read locally</a:t>
            </a:r>
          </a:p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Face ID lock · export · erase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Only live video calls — and a message you tap to send — ever leave the phone.</a:t>
            </a:r>
          </a:p>
        </p:txBody>
      </p:sp>
      <p:pic>
        <p:nvPicPr>
          <p:cNvPr id="14" name="Picture 13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5" name="TextBox 14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09  / 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HOW IT’S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Two clients. One promise. No server.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181447" cy="2240280"/>
          </a:xfrm>
          <a:prstGeom prst="roundRect">
            <a:avLst>
              <a:gd name="adj" fmla="val 816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2377440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FFFFFF"/>
                </a:solidFill>
                <a:latin typeface="Plus Jakarta Sans"/>
              </a:rPr>
              <a:t>Web 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84167" y="243230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084167" y="2432304"/>
            <a:ext cx="14173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JAVASCRIPT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971800"/>
            <a:ext cx="4358487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React · Vite · Tailwind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Web Bluetooth · Web Audio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Web Crypto · installable PWA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03120"/>
            <a:ext cx="5181447" cy="2240280"/>
          </a:xfrm>
          <a:prstGeom prst="roundRect">
            <a:avLst>
              <a:gd name="adj" fmla="val 816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90207" y="2377440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FFFFFF"/>
                </a:solidFill>
                <a:latin typeface="Plus Jakarta Sans"/>
              </a:rPr>
              <a:t>iPhone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31375" y="243230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31375" y="2432304"/>
            <a:ext cx="14173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SWIFT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0207" y="2971800"/>
            <a:ext cx="4358487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SwiftUI · HealthKit · CoreBluetooth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CryptoKit · Face ID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llama.cpp · Sherpa-ONNX · Jitsi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11,400+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lines of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123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17 / 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123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tests passing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7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CI pipelines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331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331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public releases</a:t>
            </a:r>
          </a:p>
        </p:txBody>
      </p:sp>
      <p:pic>
        <p:nvPicPr>
          <p:cNvPr id="23" name="Picture 2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4" name="TextBox 23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10  / 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HARDEST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Making Bluetooth honest.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Heart-rate notifications arrive late and out of order — a stale sensor could repaint a new card with a wrong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6440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spc="100">
                <a:solidFill>
                  <a:srgbClr val="06E288"/>
                </a:solidFill>
                <a:latin typeface="Plus Jakarta Sa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22783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Parse the standard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63016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>
                <a:solidFill>
                  <a:srgbClr val="93A4C7"/>
                </a:solidFill>
                <a:latin typeface="Plus Jakarta Sans"/>
              </a:rPr>
              <a:t>service 0x180D · flags byte → 8/16-bit BPM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78807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spc="100">
                <a:solidFill>
                  <a:srgbClr val="06E288"/>
                </a:solidFill>
                <a:latin typeface="Plus Jakarta Sa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14223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Label at the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54456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>
                <a:solidFill>
                  <a:srgbClr val="93A4C7"/>
                </a:solidFill>
                <a:latin typeface="Plus Jakarta Sans"/>
              </a:rPr>
              <a:t>each sample is born LIVE or SIMULATED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93207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spc="100">
                <a:solidFill>
                  <a:srgbClr val="06E288"/>
                </a:solidFill>
                <a:latin typeface="Plus Jakarta San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505663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Drop stale 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545896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>
                <a:solidFill>
                  <a:srgbClr val="93A4C7"/>
                </a:solidFill>
                <a:latin typeface="Plus Jakarta Sans"/>
              </a:rPr>
              <a:t>a generation counter ignores old pairings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2011680"/>
            <a:ext cx="4785055" cy="3931920"/>
          </a:xfrm>
          <a:prstGeom prst="roundRect">
            <a:avLst>
              <a:gd name="adj" fmla="val 4651"/>
            </a:avLst>
          </a:prstGeom>
          <a:solidFill>
            <a:srgbClr val="0A1324">
              <a:alpha val="75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040880" y="2240280"/>
            <a:ext cx="4053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20">
                <a:solidFill>
                  <a:srgbClr val="06E288"/>
                </a:solidFill>
                <a:latin typeface="Plus Jakarta Sans"/>
              </a:rPr>
              <a:t>src/lib/bluetooth.js  ·  src/App.jsx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651760"/>
            <a:ext cx="4053535" cy="320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const flags = dv.getUint8(0)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const bpm = flags &amp; 0x1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? dv.getUint16(1, true)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: dv.getUint8(1)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if (bpm &gt; 20 &amp;&amp; bpm &lt; 250) onReading(bpm)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const source =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hrModeRef.current === 'live'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  ? 'LIVE_BLE' : 'SIMULATED'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if (generation !==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  hrConnectionGenerationRef.current)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return</a:t>
            </a:r>
          </a:p>
        </p:txBody>
      </p:sp>
      <p:pic>
        <p:nvPicPr>
          <p:cNvPr id="18" name="Picture 1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9" name="TextBox 18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11  / 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Shipped and tested. Next: built with the people it serves.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2642616"/>
            <a:ext cx="10362895" cy="0"/>
          </a:xfrm>
          <a:prstGeom prst="line">
            <a:avLst/>
          </a:prstGeom>
          <a:ln w="19050">
            <a:solidFill>
              <a:srgbClr val="FFFFFF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86384" y="2514600"/>
            <a:ext cx="256032" cy="256032"/>
          </a:xfrm>
          <a:prstGeom prst="ellipse">
            <a:avLst/>
          </a:prstGeom>
          <a:solidFill>
            <a:srgbClr val="06E288"/>
          </a:solidFill>
          <a:ln w="25400">
            <a:solidFill>
              <a:srgbClr val="06E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34440" y="2478024"/>
            <a:ext cx="278373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10896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FFFFFF"/>
                </a:solidFill>
                <a:latin typeface="Plus Jakarta Sans"/>
              </a:rPr>
              <a:t>v2.2 on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703320"/>
            <a:ext cx="29666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3 releases · 17 tests · CI for web and iOS</a:t>
            </a:r>
          </a:p>
        </p:txBody>
      </p:sp>
      <p:sp>
        <p:nvSpPr>
          <p:cNvPr id="10" name="Oval 9"/>
          <p:cNvSpPr/>
          <p:nvPr/>
        </p:nvSpPr>
        <p:spPr>
          <a:xfrm>
            <a:off x="4484522" y="2514600"/>
            <a:ext cx="256032" cy="256032"/>
          </a:xfrm>
          <a:prstGeom prst="ellipse">
            <a:avLst/>
          </a:prstGeom>
          <a:solidFill>
            <a:srgbClr val="0A1324"/>
          </a:solidFill>
          <a:ln w="25400">
            <a:solidFill>
              <a:srgbClr val="06E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932578" y="2478024"/>
            <a:ext cx="278373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NEXT · V2.0 OF THIS 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4522" y="310896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Co-design &amp; TestFlight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4522" y="3703320"/>
            <a:ext cx="29666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sessions with autistic people, people with dementia, caregivers</a:t>
            </a:r>
          </a:p>
        </p:txBody>
      </p:sp>
      <p:sp>
        <p:nvSpPr>
          <p:cNvPr id="14" name="Oval 13"/>
          <p:cNvSpPr/>
          <p:nvPr/>
        </p:nvSpPr>
        <p:spPr>
          <a:xfrm>
            <a:off x="8182660" y="2514600"/>
            <a:ext cx="256032" cy="256032"/>
          </a:xfrm>
          <a:prstGeom prst="ellipse">
            <a:avLst/>
          </a:prstGeom>
          <a:solidFill>
            <a:srgbClr val="0A1324"/>
          </a:solidFill>
          <a:ln w="25400">
            <a:solidFill>
              <a:srgbClr val="06E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30716" y="2478024"/>
            <a:ext cx="278373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THEN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310896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FFFFFF"/>
                </a:solidFill>
                <a:latin typeface="Plus Jakarta Sans"/>
              </a:rPr>
              <a:t>Real data, no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703320"/>
            <a:ext cx="29666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sensor history in the visit brief · encrypted backup · Spanish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10728655" cy="731520"/>
          </a:xfrm>
          <a:prstGeom prst="roundRect">
            <a:avLst>
              <a:gd name="adj" fmla="val 2500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97280" y="521208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RELEASES ·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5413248"/>
            <a:ext cx="133502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74720" y="5413248"/>
            <a:ext cx="133502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V1.0 · SEP 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10912" y="5413248"/>
            <a:ext cx="13540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10912" y="5413248"/>
            <a:ext cx="13540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V2.0 · SEP 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66153" y="5413248"/>
            <a:ext cx="1404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66153" y="5413248"/>
            <a:ext cx="14048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V2.1 · SEP 28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2195" y="5413248"/>
            <a:ext cx="20652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72195" y="5413248"/>
            <a:ext cx="20652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V2.2 · BUILDING IN CI</a:t>
            </a:r>
          </a:p>
        </p:txBody>
      </p:sp>
      <p:pic>
        <p:nvPicPr>
          <p:cNvPr id="28" name="Picture 2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9" name="TextBox 28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12  /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26080" y="-3108960"/>
            <a:ext cx="8686800" cy="8686800"/>
          </a:xfrm>
          <a:prstGeom prst="rect">
            <a:avLst/>
          </a:prstGeom>
        </p:spPr>
      </p:pic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914400" cy="914400"/>
          </a:xfrm>
          <a:prstGeom prst="roundRect">
            <a:avLst>
              <a:gd name="adj" fmla="val 24000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731520" y="2423160"/>
            <a:ext cx="7863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>
                <a:solidFill>
                  <a:srgbClr val="FFFFFF"/>
                </a:solidFill>
                <a:latin typeface="Plus Jakarta Sans ExtraBold"/>
              </a:rPr>
              <a:t>Care that stays yours.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D7E0F2"/>
                </a:solidFill>
                <a:latin typeface="Plus Jakarta Sans"/>
              </a:rPr>
              <a:t>Connected, calm and private — with no account, no server and no fabricated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9204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6E288"/>
                </a:solidFill>
                <a:latin typeface="Plus Jakarta Sans"/>
              </a:rPr>
              <a:t>Try the web app  ·  read the code  ·  watch the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FFFFFF"/>
                </a:solidFill>
                <a:latin typeface="Plus Jakarta Sans Medium"/>
              </a:rPr>
              <a:t>github.com/engineer2025-sudo/Care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93A4C7"/>
                </a:solidFill>
                <a:latin typeface="Plus Jakarta Sans"/>
              </a:rPr>
              <a:t>[Student Name]  ·  [email@example.com]  ·  [School], [City], California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34095" y="1600200"/>
            <a:ext cx="2926080" cy="3657600"/>
          </a:xfrm>
          <a:prstGeom prst="roundRect">
            <a:avLst>
              <a:gd name="adj" fmla="val 625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5575" y="1874519"/>
            <a:ext cx="2103120" cy="2103120"/>
          </a:xfrm>
          <a:prstGeom prst="roundRect">
            <a:avLst>
              <a:gd name="adj" fmla="val 6086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8534095" y="42062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Plus Jakarta Sans"/>
              </a:rPr>
              <a:t>Source, docs &amp; install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45262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93A4C7"/>
                </a:solidFill>
                <a:latin typeface="Plus Jakarta Sans"/>
              </a:rPr>
              <a:t>Demo video: [YouTube link]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