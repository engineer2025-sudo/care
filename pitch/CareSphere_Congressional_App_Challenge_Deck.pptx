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[0:00–0:15] Hi, I'm [NAME], a [GRADE] at [SCHOOL] in [CITY], California. This is CareSphere AI — a private care companion for older adults, autistic people and the families who look after them, on iPhone and on the web.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[0:15–0:31] One in four older adults is socially isolated — a twenty-nine percent higher risk of early death. One in thirty-one children is autistic, and they become adults who still need support. Half of long-term medications aren't taken as prescribed.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[0:31–0:43] Today a family juggles a medication app, a video app, a health portal and a family-update site — four accounts, four clouds — and none was designed for autistic users. (Optional: one sentence on why you built it.)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[0:43–0:53] CareSphere is one calm app with five tabs — Overview, Activities, Coffee Circles, Care Circle and Vitals — with no server behind any of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[0:53–1:40] Let me show you. (Switch to the screen recording — six shots, see VIDEO_SCRIPT.md: mood check-in and routine; medication reminder and Taken; Bluetooth pairing or the labeled demo plus Export CSV; Pattern Recall and the Rain soundscape; join a Coffee Circle; build and download a visit brief.)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[1:40–1:51] What makes it different isn't a feature — it's four rules in the code: never fabricate a reading, never send anything automatically, calm by default, private by architecture.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[1:51–1:58] Three people who rarely get the same app: older adults, autistic teens and adults, and their caregivers.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[1:58–2:09] Everything stays on the device: AES-256 encryption, Bluetooth and HealthKit read locally, and a 1.5-billion-parameter model that answers health questions offline. Zero accounts, zero servers, zero trackers.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[2:09–2:20] It's React and JavaScript on the web, Swift and SwiftUI on iPhone — Web Bluetooth, HealthKit, CryptoKit and llama.cpp. Eleven thousand lines, seventeen tests, three public releases.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[2:20–2:33] The hardest problem was keeping Bluetooth honest. Notifications arrive late and out of order, so I parse the standard profile, label every sample at the source, and drop stale sessions with a generation counter.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[2:33–2:45] Version 2.0 starts with co-design sessions with autistic people, people living with dementia and caregivers, then a TestFlight beta and sensor history in the visit brief — still with no server.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[2:45–2:51] CareSphere AI — care that stays yours. The code and install guide are on GitHub. Thank you.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image" Target="../media/image7.png"/><Relationship Id="rId7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12.png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2D63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g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0" y="-2377440"/>
            <a:ext cx="9144000" cy="9144000"/>
          </a:xfrm>
          <a:prstGeom prst="rect">
            <a:avLst/>
          </a:prstGeom>
        </p:spPr>
      </p:pic>
      <p:pic>
        <p:nvPicPr>
          <p:cNvPr id="3" name="Picture 2" descr="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234440"/>
            <a:ext cx="960120" cy="960120"/>
          </a:xfrm>
          <a:prstGeom prst="roundRect">
            <a:avLst>
              <a:gd name="adj" fmla="val 22857"/>
            </a:avLst>
          </a:prstGeom>
        </p:spPr>
      </p:pic>
      <p:sp>
        <p:nvSpPr>
          <p:cNvPr id="4" name="TextBox 3"/>
          <p:cNvSpPr txBox="1"/>
          <p:nvPr/>
        </p:nvSpPr>
        <p:spPr>
          <a:xfrm>
            <a:off x="640080" y="2423160"/>
            <a:ext cx="6949440" cy="10972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743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6200" b="1" i="0">
                <a:solidFill>
                  <a:srgbClr val="FFFFFF"/>
                </a:solidFill>
                <a:latin typeface="Arial"/>
              </a:rPr>
              <a:t>CareSphere 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520440"/>
            <a:ext cx="6766560" cy="548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1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600" b="0" i="0">
                <a:solidFill>
                  <a:srgbClr val="4ADE80"/>
                </a:solidFill>
                <a:latin typeface="Arial"/>
              </a:rPr>
              <a:t>Connected care for independent living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206240"/>
            <a:ext cx="6583680" cy="914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47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900" b="0" i="0">
                <a:solidFill>
                  <a:srgbClr val="C7D7F2"/>
                </a:solidFill>
                <a:latin typeface="Arial"/>
              </a:rPr>
              <a:t>A private companion for older adults, autistic people and the families who care for them.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486400"/>
            <a:ext cx="676656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1" i="0">
                <a:solidFill>
                  <a:srgbClr val="FFFFFF"/>
                </a:solidFill>
                <a:latin typeface="Arial"/>
              </a:rPr>
              <a:t>[Student Name]  ·  [School], [City], CA  ·  [email@example.com]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5870448"/>
            <a:ext cx="6766560" cy="3200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A6BBE0"/>
                </a:solidFill>
                <a:latin typeface="Arial"/>
              </a:rPr>
              <a:t>Congressional App Challenge 2026  ·  [CA-XX]</a:t>
            </a:r>
          </a:p>
        </p:txBody>
      </p:sp>
      <p:pic>
        <p:nvPicPr>
          <p:cNvPr id="9" name="Picture 8" descr="phone-overvie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38160" y="502920"/>
            <a:ext cx="2679202" cy="603504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2D6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11535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3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4ADE80"/>
                </a:solidFill>
                <a:latin typeface="Arial"/>
              </a:rPr>
              <a:t>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911535" cy="10972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03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3600" b="1" i="0">
                <a:solidFill>
                  <a:srgbClr val="FFFFFF"/>
                </a:solidFill>
                <a:latin typeface="Arial"/>
              </a:rPr>
              <a:t>Growing older — or growing up autistic — too often means facing care alone.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331720"/>
            <a:ext cx="3332378" cy="11887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91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600" b="1" i="0">
                <a:solidFill>
                  <a:srgbClr val="4ADE80"/>
                </a:solidFill>
                <a:latin typeface="Arial"/>
              </a:rPr>
              <a:t>1 in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611879"/>
            <a:ext cx="3332378" cy="914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4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000" b="0" i="0">
                <a:solidFill>
                  <a:srgbClr val="EAF0FB"/>
                </a:solidFill>
                <a:latin typeface="Arial"/>
              </a:rPr>
              <a:t>older adults in the U.S. are socially isolated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72000"/>
            <a:ext cx="3332378" cy="3200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3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 i="0">
                <a:solidFill>
                  <a:srgbClr val="7F98C6"/>
                </a:solidFill>
                <a:latin typeface="Arial"/>
              </a:rPr>
              <a:t>NASEM, 2020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29658" y="2331720"/>
            <a:ext cx="3332378" cy="11887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91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600" b="1" i="0">
                <a:solidFill>
                  <a:srgbClr val="B8A6FF"/>
                </a:solidFill>
                <a:latin typeface="Arial"/>
              </a:rPr>
              <a:t>1 in 31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29658" y="3611879"/>
            <a:ext cx="3332378" cy="914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4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000" b="0" i="0">
                <a:solidFill>
                  <a:srgbClr val="EAF0FB"/>
                </a:solidFill>
                <a:latin typeface="Arial"/>
              </a:rPr>
              <a:t>children are autistic — and become adults who still need support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29658" y="4572000"/>
            <a:ext cx="3332378" cy="3200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3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 i="0">
                <a:solidFill>
                  <a:srgbClr val="7F98C6"/>
                </a:solidFill>
                <a:latin typeface="Arial"/>
              </a:rPr>
              <a:t>CDC, 2025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19236" y="2331720"/>
            <a:ext cx="3332378" cy="11887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91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600" b="1" i="0">
                <a:solidFill>
                  <a:srgbClr val="FFC94D"/>
                </a:solidFill>
                <a:latin typeface="Arial"/>
              </a:rPr>
              <a:t>50%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19236" y="3611879"/>
            <a:ext cx="3332378" cy="914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4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000" b="0" i="0">
                <a:solidFill>
                  <a:srgbClr val="EAF0FB"/>
                </a:solidFill>
                <a:latin typeface="Arial"/>
              </a:rPr>
              <a:t>of long-term medications are not taken as prescribed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19236" y="4572000"/>
            <a:ext cx="3332378" cy="3200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3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 i="0">
                <a:solidFill>
                  <a:srgbClr val="7F98C6"/>
                </a:solidFill>
                <a:latin typeface="Arial"/>
              </a:rPr>
              <a:t>WHO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5577840"/>
            <a:ext cx="10911535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 i="0">
                <a:solidFill>
                  <a:srgbClr val="A6BBE0"/>
                </a:solidFill>
                <a:latin typeface="Arial"/>
              </a:rPr>
              <a:t>Behind them: 63 million family caregivers, nearly one in four American adults.  (AARP &amp; NAC, 2025)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180015" y="6446520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 i="0">
                <a:solidFill>
                  <a:srgbClr val="7F98C6"/>
                </a:solidFill>
                <a:latin typeface="Arial"/>
              </a:rPr>
              <a:t>2 / 12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2D6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11535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3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4ADE80"/>
                </a:solidFill>
                <a:latin typeface="Arial"/>
              </a:rPr>
              <a:t>TODAY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911535" cy="10972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03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3600" b="1" i="0">
                <a:solidFill>
                  <a:srgbClr val="FFFFFF"/>
                </a:solidFill>
                <a:latin typeface="Arial"/>
              </a:rPr>
              <a:t>Families juggle four apps, four accounts — and hand their health data to the cloud.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2331720"/>
            <a:ext cx="1737360" cy="1828800"/>
          </a:xfrm>
          <a:prstGeom prst="roundRect">
            <a:avLst>
              <a:gd name="adj" fmla="val 10526"/>
            </a:avLst>
          </a:prstGeom>
          <a:solidFill>
            <a:srgbClr val="1540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896112" y="2606039"/>
            <a:ext cx="1280160" cy="7315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9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900" b="1" i="0">
                <a:solidFill>
                  <a:srgbClr val="FFFFFF"/>
                </a:solidFill>
                <a:latin typeface="Arial"/>
              </a:rPr>
              <a:t>Medication app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96112" y="3246120"/>
            <a:ext cx="128016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0" i="0">
                <a:solidFill>
                  <a:srgbClr val="A6BBE0"/>
                </a:solidFill>
                <a:latin typeface="Arial"/>
              </a:rPr>
              <a:t>reminders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96112" y="3657600"/>
            <a:ext cx="128016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9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FF7B7B"/>
                </a:solidFill>
                <a:latin typeface="Arial"/>
              </a:rPr>
              <a:t>account · cloud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578608" y="2331720"/>
            <a:ext cx="1737360" cy="1828800"/>
          </a:xfrm>
          <a:prstGeom prst="roundRect">
            <a:avLst>
              <a:gd name="adj" fmla="val 10526"/>
            </a:avLst>
          </a:prstGeom>
          <a:solidFill>
            <a:srgbClr val="1540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2834640" y="2606039"/>
            <a:ext cx="1280160" cy="7315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9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900" b="1" i="0">
                <a:solidFill>
                  <a:srgbClr val="FFFFFF"/>
                </a:solidFill>
                <a:latin typeface="Arial"/>
              </a:rPr>
              <a:t>Video calls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34640" y="3246120"/>
            <a:ext cx="128016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1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 b="0" i="0">
                <a:solidFill>
                  <a:srgbClr val="A6BBE0"/>
                </a:solidFill>
                <a:latin typeface="Arial"/>
              </a:rPr>
              <a:t>staying in touch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834640" y="3657600"/>
            <a:ext cx="128016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9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FF7B7B"/>
                </a:solidFill>
                <a:latin typeface="Arial"/>
              </a:rPr>
              <a:t>account · cloud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17136" y="2331720"/>
            <a:ext cx="1737360" cy="1828800"/>
          </a:xfrm>
          <a:prstGeom prst="roundRect">
            <a:avLst>
              <a:gd name="adj" fmla="val 10526"/>
            </a:avLst>
          </a:prstGeom>
          <a:solidFill>
            <a:srgbClr val="1540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4773168" y="2606039"/>
            <a:ext cx="1280160" cy="7315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9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900" b="1" i="0">
                <a:solidFill>
                  <a:srgbClr val="FFFFFF"/>
                </a:solidFill>
                <a:latin typeface="Arial"/>
              </a:rPr>
              <a:t>Health record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73168" y="3246120"/>
            <a:ext cx="128016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0" i="0">
                <a:solidFill>
                  <a:srgbClr val="A6BBE0"/>
                </a:solidFill>
                <a:latin typeface="Arial"/>
              </a:rPr>
              <a:t>vitals &amp; visits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73168" y="3657600"/>
            <a:ext cx="128016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9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FF7B7B"/>
                </a:solidFill>
                <a:latin typeface="Arial"/>
              </a:rPr>
              <a:t>account · cloud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55664" y="2331720"/>
            <a:ext cx="1737360" cy="1828800"/>
          </a:xfrm>
          <a:prstGeom prst="roundRect">
            <a:avLst>
              <a:gd name="adj" fmla="val 10526"/>
            </a:avLst>
          </a:prstGeom>
          <a:solidFill>
            <a:srgbClr val="1540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711696" y="2606039"/>
            <a:ext cx="1280160" cy="7315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9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900" b="1" i="0">
                <a:solidFill>
                  <a:srgbClr val="FFFFFF"/>
                </a:solidFill>
                <a:latin typeface="Arial"/>
              </a:rPr>
              <a:t>Family updates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11696" y="3246120"/>
            <a:ext cx="128016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0" i="0">
                <a:solidFill>
                  <a:srgbClr val="A6BBE0"/>
                </a:solidFill>
                <a:latin typeface="Arial"/>
              </a:rPr>
              <a:t>care notes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11696" y="3657600"/>
            <a:ext cx="128016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9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FF7B7B"/>
                </a:solidFill>
                <a:latin typeface="Arial"/>
              </a:rPr>
              <a:t>account · cloud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8302751" y="3246120"/>
            <a:ext cx="548640" cy="0"/>
          </a:xfrm>
          <a:prstGeom prst="line">
            <a:avLst/>
          </a:prstGeom>
          <a:ln w="31750">
            <a:solidFill>
              <a:srgbClr val="4ADE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9034272" y="2148839"/>
            <a:ext cx="2517343" cy="2194560"/>
          </a:xfrm>
          <a:prstGeom prst="roundRect">
            <a:avLst>
              <a:gd name="adj" fmla="val 8333"/>
            </a:avLst>
          </a:prstGeom>
          <a:solidFill>
            <a:srgbClr val="22C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308592" y="2377439"/>
            <a:ext cx="2060143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>
                <a:solidFill>
                  <a:srgbClr val="FFFFFF"/>
                </a:solidFill>
                <a:latin typeface="Arial"/>
              </a:rPr>
              <a:t>CareSphere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08592" y="2926079"/>
            <a:ext cx="2060143" cy="14630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8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1600" b="0" i="0">
                <a:solidFill>
                  <a:srgbClr val="FFFFFF"/>
                </a:solidFill>
                <a:latin typeface="Arial"/>
              </a:rPr>
              <a:t>one app</a:t>
            </a:r>
          </a:p>
          <a:p>
            <a:pPr algn="l">
              <a:lnSpc>
                <a:spcPts val="208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1600" b="0" i="0">
                <a:solidFill>
                  <a:srgbClr val="FFFFFF"/>
                </a:solidFill>
                <a:latin typeface="Arial"/>
              </a:rPr>
              <a:t>no account</a:t>
            </a:r>
          </a:p>
          <a:p>
            <a:pPr algn="l">
              <a:lnSpc>
                <a:spcPts val="208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1600" b="0" i="0">
                <a:solidFill>
                  <a:srgbClr val="FFFFFF"/>
                </a:solidFill>
                <a:latin typeface="Arial"/>
              </a:rPr>
              <a:t>nothing in the cloud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4937760"/>
            <a:ext cx="10911535" cy="7315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0" i="0">
                <a:solidFill>
                  <a:srgbClr val="A6BBE0"/>
                </a:solidFill>
                <a:latin typeface="Arial"/>
              </a:rPr>
              <a:t>Medisafe · FaceTime · MyChart · CaringBridge — each solves one slice, each needs an account, none was designed for autistic users.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80015" y="6446520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 i="0">
                <a:solidFill>
                  <a:srgbClr val="7F98C6"/>
                </a:solidFill>
                <a:latin typeface="Arial"/>
              </a:rPr>
              <a:t>3 / 12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2D6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11535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3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4ADE80"/>
                </a:solidFill>
                <a:latin typeface="Arial"/>
              </a:rPr>
              <a:t>THE SOLUTION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911535" cy="10972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03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3600" b="1" i="0">
                <a:solidFill>
                  <a:srgbClr val="FFFFFF"/>
                </a:solidFill>
                <a:latin typeface="Arial"/>
              </a:rPr>
              <a:t>One calm app. Five tabs. Zero servers.</a:t>
            </a:r>
          </a:p>
        </p:txBody>
      </p:sp>
      <p:pic>
        <p:nvPicPr>
          <p:cNvPr id="4" name="Picture 3" descr="phone-over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4124" y="1783080"/>
            <a:ext cx="1806431" cy="40690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943600"/>
            <a:ext cx="1874519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9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1" i="0">
                <a:solidFill>
                  <a:srgbClr val="FFFFFF"/>
                </a:solidFill>
                <a:latin typeface="Arial"/>
              </a:rPr>
              <a:t>Overview</a:t>
            </a:r>
          </a:p>
        </p:txBody>
      </p:sp>
      <p:pic>
        <p:nvPicPr>
          <p:cNvPr id="6" name="Picture 5" descr="phone-activiti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33377" y="1783080"/>
            <a:ext cx="1806431" cy="40690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2899333" y="5943600"/>
            <a:ext cx="1874519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9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1" i="0">
                <a:solidFill>
                  <a:srgbClr val="FFFFFF"/>
                </a:solidFill>
                <a:latin typeface="Arial"/>
              </a:rPr>
              <a:t>Activities</a:t>
            </a:r>
          </a:p>
        </p:txBody>
      </p:sp>
      <p:pic>
        <p:nvPicPr>
          <p:cNvPr id="8" name="Picture 7" descr="phone-circle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92631" y="1783080"/>
            <a:ext cx="1806431" cy="40690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158587" y="5943600"/>
            <a:ext cx="1874519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9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1" i="0">
                <a:solidFill>
                  <a:srgbClr val="FFFFFF"/>
                </a:solidFill>
                <a:latin typeface="Arial"/>
              </a:rPr>
              <a:t>Coffee Circles</a:t>
            </a:r>
          </a:p>
        </p:txBody>
      </p:sp>
      <p:pic>
        <p:nvPicPr>
          <p:cNvPr id="10" name="Picture 9" descr="phone-car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51885" y="1783080"/>
            <a:ext cx="1806431" cy="40690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417841" y="5943600"/>
            <a:ext cx="1874519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9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1" i="0">
                <a:solidFill>
                  <a:srgbClr val="FFFFFF"/>
                </a:solidFill>
                <a:latin typeface="Arial"/>
              </a:rPr>
              <a:t>Care Circle</a:t>
            </a:r>
          </a:p>
        </p:txBody>
      </p:sp>
      <p:pic>
        <p:nvPicPr>
          <p:cNvPr id="12" name="Picture 11" descr="phone-vital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711139" y="1783080"/>
            <a:ext cx="1806431" cy="406908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9677095" y="5943600"/>
            <a:ext cx="1874519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9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1" i="0">
                <a:solidFill>
                  <a:srgbClr val="FFFFFF"/>
                </a:solidFill>
                <a:latin typeface="Arial"/>
              </a:rPr>
              <a:t>Vitals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180015" y="6446520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 i="0">
                <a:solidFill>
                  <a:srgbClr val="7F98C6"/>
                </a:solidFill>
                <a:latin typeface="Arial"/>
              </a:rPr>
              <a:t>4 / 12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2D6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11535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3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4ADE80"/>
                </a:solidFill>
                <a:latin typeface="Arial"/>
              </a:rPr>
              <a:t>LIVE DEMO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911535" cy="10972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03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3600" b="1" i="0">
                <a:solidFill>
                  <a:srgbClr val="FFFFFF"/>
                </a:solidFill>
                <a:latin typeface="Arial"/>
              </a:rPr>
              <a:t>Let's see it.</a:t>
            </a:r>
          </a:p>
        </p:txBody>
      </p:sp>
      <p:pic>
        <p:nvPicPr>
          <p:cNvPr id="4" name="Picture 3" descr="web-over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1948" y="1600200"/>
            <a:ext cx="6931463" cy="4572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29600" y="1828800"/>
            <a:ext cx="3322015" cy="4114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900" b="1" i="0">
                <a:solidFill>
                  <a:srgbClr val="FFFFFF"/>
                </a:solidFill>
                <a:latin typeface="Arial"/>
              </a:rPr>
              <a:t>Real video rooms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0" y="2240280"/>
            <a:ext cx="3322015" cy="7315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0" i="0">
                <a:solidFill>
                  <a:srgbClr val="C7D7F2"/>
                </a:solidFill>
                <a:latin typeface="Arial"/>
              </a:rPr>
              <a:t>Coffee Circles open live Jitsi rooms — no account.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0" y="3291840"/>
            <a:ext cx="3322015" cy="4114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900" b="1" i="0">
                <a:solidFill>
                  <a:srgbClr val="FFFFFF"/>
                </a:solidFill>
                <a:latin typeface="Arial"/>
              </a:rPr>
              <a:t>Honest vitals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0" y="3703320"/>
            <a:ext cx="3322015" cy="7315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0" i="0">
                <a:solidFill>
                  <a:srgbClr val="C7D7F2"/>
                </a:solidFill>
                <a:latin typeface="Arial"/>
              </a:rPr>
              <a:t>Bluetooth heart-rate, labeled LIVE or SIMULATED.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0" y="4754880"/>
            <a:ext cx="3322015" cy="4114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900" b="1" i="0">
                <a:solidFill>
                  <a:srgbClr val="FFFFFF"/>
                </a:solidFill>
                <a:latin typeface="Arial"/>
              </a:rPr>
              <a:t>A brief you control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0" y="5166360"/>
            <a:ext cx="3322015" cy="7315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0" i="0">
                <a:solidFill>
                  <a:srgbClr val="C7D7F2"/>
                </a:solidFill>
                <a:latin typeface="Arial"/>
              </a:rPr>
              <a:t>Pick the fields, see the text, download it.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6309360"/>
            <a:ext cx="3642360" cy="274320"/>
          </a:xfrm>
          <a:prstGeom prst="roundRect">
            <a:avLst>
              <a:gd name="adj" fmla="val 50000"/>
            </a:avLst>
          </a:prstGeom>
          <a:solidFill>
            <a:srgbClr val="1B4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640080" y="6309360"/>
            <a:ext cx="3642360" cy="2743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FFC94D"/>
                </a:solidFill>
                <a:latin typeface="Arial"/>
              </a:rPr>
              <a:t>RECORDED ON THE REAL APP — NOTHING STAGED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80015" y="6446520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 i="0">
                <a:solidFill>
                  <a:srgbClr val="7F98C6"/>
                </a:solidFill>
                <a:latin typeface="Arial"/>
              </a:rPr>
              <a:t>5 / 12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2D6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11535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3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4ADE80"/>
                </a:solidFill>
                <a:latin typeface="Arial"/>
              </a:rPr>
              <a:t>WHAT MAKES IT DIFFERENT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911535" cy="10972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03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3600" b="1" i="0">
                <a:solidFill>
                  <a:srgbClr val="FFFFFF"/>
                </a:solidFill>
                <a:latin typeface="Arial"/>
              </a:rPr>
              <a:t>Four rules, written into the code.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920240"/>
            <a:ext cx="5272887" cy="1874519"/>
          </a:xfrm>
          <a:prstGeom prst="roundRect">
            <a:avLst>
              <a:gd name="adj" fmla="val 9756"/>
            </a:avLst>
          </a:prstGeom>
          <a:solidFill>
            <a:srgbClr val="1540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640080" y="2240280"/>
            <a:ext cx="73152" cy="1234439"/>
          </a:xfrm>
          <a:prstGeom prst="roundRect">
            <a:avLst>
              <a:gd name="adj" fmla="val 50000"/>
            </a:avLst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1051560" y="2240280"/>
            <a:ext cx="4632807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4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1" i="0">
                <a:solidFill>
                  <a:srgbClr val="FFFFFF"/>
                </a:solidFill>
                <a:latin typeface="Arial"/>
              </a:rPr>
              <a:t>Never fabricate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788920"/>
            <a:ext cx="4632807" cy="914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50" b="0" i="0">
                <a:solidFill>
                  <a:srgbClr val="C7D7F2"/>
                </a:solidFill>
                <a:latin typeface="Arial"/>
              </a:rPr>
              <a:t>Every reading is tagged LIVE or SIMULATED. Cancel a pairing and the card stays blank.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78727" y="1920240"/>
            <a:ext cx="5272887" cy="1874519"/>
          </a:xfrm>
          <a:prstGeom prst="roundRect">
            <a:avLst>
              <a:gd name="adj" fmla="val 9756"/>
            </a:avLst>
          </a:prstGeom>
          <a:solidFill>
            <a:srgbClr val="1540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6278727" y="2240280"/>
            <a:ext cx="73152" cy="1234439"/>
          </a:xfrm>
          <a:prstGeom prst="roundRect">
            <a:avLst>
              <a:gd name="adj" fmla="val 50000"/>
            </a:avLst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6690207" y="2240280"/>
            <a:ext cx="4632807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4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1" i="0">
                <a:solidFill>
                  <a:srgbClr val="FFFFFF"/>
                </a:solidFill>
                <a:latin typeface="Arial"/>
              </a:rPr>
              <a:t>Nothing sent automatically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90207" y="2788920"/>
            <a:ext cx="4632807" cy="914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50" b="0" i="0">
                <a:solidFill>
                  <a:srgbClr val="C7D7F2"/>
                </a:solidFill>
                <a:latin typeface="Arial"/>
              </a:rPr>
              <a:t>Briefs, texts and SOS messages always end with a human tap.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4114800"/>
            <a:ext cx="5272887" cy="1874519"/>
          </a:xfrm>
          <a:prstGeom prst="roundRect">
            <a:avLst>
              <a:gd name="adj" fmla="val 9756"/>
            </a:avLst>
          </a:prstGeom>
          <a:solidFill>
            <a:srgbClr val="1540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640080" y="4434840"/>
            <a:ext cx="73152" cy="1234439"/>
          </a:xfrm>
          <a:prstGeom prst="roundRect">
            <a:avLst>
              <a:gd name="adj" fmla="val 50000"/>
            </a:avLst>
          </a:prstGeom>
          <a:solidFill>
            <a:srgbClr val="B8A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1051560" y="4434840"/>
            <a:ext cx="4632807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4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1" i="0">
                <a:solidFill>
                  <a:srgbClr val="FFFFFF"/>
                </a:solidFill>
                <a:latin typeface="Arial"/>
              </a:rPr>
              <a:t>Calm by default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" y="4983480"/>
            <a:ext cx="4632807" cy="914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50" b="0" i="0">
                <a:solidFill>
                  <a:srgbClr val="C7D7F2"/>
                </a:solidFill>
                <a:latin typeface="Arial"/>
              </a:rPr>
              <a:t>No timers, no scores, no auto-advance. Reduce-motion and high-contrast built in.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78727" y="4114800"/>
            <a:ext cx="5272887" cy="1874519"/>
          </a:xfrm>
          <a:prstGeom prst="roundRect">
            <a:avLst>
              <a:gd name="adj" fmla="val 9756"/>
            </a:avLst>
          </a:prstGeom>
          <a:solidFill>
            <a:srgbClr val="1540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6278727" y="4434840"/>
            <a:ext cx="73152" cy="1234439"/>
          </a:xfrm>
          <a:prstGeom prst="roundRect">
            <a:avLst>
              <a:gd name="adj" fmla="val 50000"/>
            </a:avLst>
          </a:prstGeom>
          <a:solidFill>
            <a:srgbClr val="FFC9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6690207" y="4434840"/>
            <a:ext cx="4632807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4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1" i="0">
                <a:solidFill>
                  <a:srgbClr val="FFFFFF"/>
                </a:solidFill>
                <a:latin typeface="Arial"/>
              </a:rPr>
              <a:t>Private by architecture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90207" y="4983480"/>
            <a:ext cx="4632807" cy="914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50" b="0" i="0">
                <a:solidFill>
                  <a:srgbClr val="C7D7F2"/>
                </a:solidFill>
                <a:latin typeface="Arial"/>
              </a:rPr>
              <a:t>No account, no server, encrypted on the device, AI that runs on the phone.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180015" y="6446520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 i="0">
                <a:solidFill>
                  <a:srgbClr val="7F98C6"/>
                </a:solidFill>
                <a:latin typeface="Arial"/>
              </a:rPr>
              <a:t>6 / 12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2D6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11535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3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4ADE80"/>
                </a:solidFill>
                <a:latin typeface="Arial"/>
              </a:rPr>
              <a:t>WHO IT'S FOR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911535" cy="10972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03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3600" b="1" i="0">
                <a:solidFill>
                  <a:srgbClr val="FFFFFF"/>
                </a:solidFill>
                <a:latin typeface="Arial"/>
              </a:rPr>
              <a:t>Three people who rarely get the same app.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920240"/>
            <a:ext cx="3393338" cy="4114800"/>
          </a:xfrm>
          <a:prstGeom prst="roundRect">
            <a:avLst>
              <a:gd name="adj" fmla="val 5389"/>
            </a:avLst>
          </a:prstGeom>
          <a:solidFill>
            <a:srgbClr val="1540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960119" y="2194560"/>
            <a:ext cx="2753258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>
                <a:solidFill>
                  <a:srgbClr val="FFFFFF"/>
                </a:solidFill>
                <a:latin typeface="Arial"/>
              </a:rPr>
              <a:t>Older adults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19" y="2697480"/>
            <a:ext cx="2753258" cy="10058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50" b="0" i="0">
                <a:solidFill>
                  <a:srgbClr val="C7D7F2"/>
                </a:solidFill>
                <a:latin typeface="Arial"/>
              </a:rPr>
              <a:t>Routines, reminders and real company — in large type.</a:t>
            </a:r>
          </a:p>
        </p:txBody>
      </p:sp>
      <p:pic>
        <p:nvPicPr>
          <p:cNvPr id="7" name="Picture 6" descr="crop-rout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19" y="3737075"/>
            <a:ext cx="2753258" cy="2023644"/>
          </a:xfrm>
          <a:prstGeom prst="roundRect">
            <a:avLst>
              <a:gd name="adj" fmla="val 5442"/>
            </a:avLst>
          </a:prstGeom>
        </p:spPr>
      </p:pic>
      <p:sp>
        <p:nvSpPr>
          <p:cNvPr id="8" name="Rounded Rectangle 7"/>
          <p:cNvSpPr/>
          <p:nvPr/>
        </p:nvSpPr>
        <p:spPr>
          <a:xfrm>
            <a:off x="4399178" y="1920240"/>
            <a:ext cx="3393338" cy="4114800"/>
          </a:xfrm>
          <a:prstGeom prst="roundRect">
            <a:avLst>
              <a:gd name="adj" fmla="val 5389"/>
            </a:avLst>
          </a:prstGeom>
          <a:solidFill>
            <a:srgbClr val="1540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4719218" y="2194560"/>
            <a:ext cx="2753258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1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50" b="1" i="0">
                <a:solidFill>
                  <a:srgbClr val="FFFFFF"/>
                </a:solidFill>
                <a:latin typeface="Arial"/>
              </a:rPr>
              <a:t>Autistic teens &amp; adults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19218" y="2697480"/>
            <a:ext cx="2753258" cy="10058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50" b="0" i="0">
                <a:solidFill>
                  <a:srgbClr val="C7D7F2"/>
                </a:solidFill>
                <a:latin typeface="Arial"/>
              </a:rPr>
              <a:t>Predictable screens, untimed activities, soundscapes, breathing.</a:t>
            </a:r>
          </a:p>
        </p:txBody>
      </p:sp>
      <p:pic>
        <p:nvPicPr>
          <p:cNvPr id="11" name="Picture 10" descr="crop-soundscap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19218" y="3847205"/>
            <a:ext cx="2753258" cy="1913514"/>
          </a:xfrm>
          <a:prstGeom prst="roundRect">
            <a:avLst>
              <a:gd name="adj" fmla="val 5755"/>
            </a:avLst>
          </a:prstGeom>
        </p:spPr>
      </p:pic>
      <p:sp>
        <p:nvSpPr>
          <p:cNvPr id="12" name="Rounded Rectangle 11"/>
          <p:cNvSpPr/>
          <p:nvPr/>
        </p:nvSpPr>
        <p:spPr>
          <a:xfrm>
            <a:off x="8158276" y="1920240"/>
            <a:ext cx="3393338" cy="4114800"/>
          </a:xfrm>
          <a:prstGeom prst="roundRect">
            <a:avLst>
              <a:gd name="adj" fmla="val 5389"/>
            </a:avLst>
          </a:prstGeom>
          <a:solidFill>
            <a:srgbClr val="1540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478316" y="2194560"/>
            <a:ext cx="2753258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>
                <a:solidFill>
                  <a:srgbClr val="FFFFFF"/>
                </a:solidFill>
                <a:latin typeface="Arial"/>
              </a:rPr>
              <a:t>Family caregivers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78316" y="2697480"/>
            <a:ext cx="2753258" cy="10058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50" b="0" i="0">
                <a:solidFill>
                  <a:srgbClr val="C7D7F2"/>
                </a:solidFill>
                <a:latin typeface="Arial"/>
              </a:rPr>
              <a:t>Care notes, a visit brief they can trust, honest vitals.</a:t>
            </a:r>
          </a:p>
        </p:txBody>
      </p:sp>
      <p:pic>
        <p:nvPicPr>
          <p:cNvPr id="15" name="Picture 14" descr="crop-summar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36493" y="3611880"/>
            <a:ext cx="2636904" cy="2148840"/>
          </a:xfrm>
          <a:prstGeom prst="roundRect">
            <a:avLst>
              <a:gd name="adj" fmla="val 4908"/>
            </a:avLst>
          </a:prstGeom>
        </p:spPr>
      </p:pic>
      <p:sp>
        <p:nvSpPr>
          <p:cNvPr id="16" name="TextBox 15"/>
          <p:cNvSpPr txBox="1"/>
          <p:nvPr/>
        </p:nvSpPr>
        <p:spPr>
          <a:xfrm>
            <a:off x="10180015" y="6446520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 i="0">
                <a:solidFill>
                  <a:srgbClr val="7F98C6"/>
                </a:solidFill>
                <a:latin typeface="Arial"/>
              </a:rPr>
              <a:t>7 / 12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2D6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11535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3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4ADE80"/>
                </a:solidFill>
                <a:latin typeface="Arial"/>
              </a:rPr>
              <a:t>PRIVACY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911535" cy="10972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03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3600" b="1" i="0">
                <a:solidFill>
                  <a:srgbClr val="FFFFFF"/>
                </a:solidFill>
                <a:latin typeface="Arial"/>
              </a:rPr>
              <a:t>Everything stays on the device.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920240"/>
            <a:ext cx="7223760" cy="3977639"/>
          </a:xfrm>
          <a:prstGeom prst="roundRect">
            <a:avLst>
              <a:gd name="adj" fmla="val 6896"/>
            </a:avLst>
          </a:prstGeom>
          <a:noFill/>
          <a:ln w="25400">
            <a:solidFill>
              <a:srgbClr val="4ADE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960119" y="2148840"/>
            <a:ext cx="658368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3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4ADE80"/>
                </a:solidFill>
                <a:latin typeface="Arial"/>
              </a:rPr>
              <a:t>YOUR PHONE OR BROWSER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60119" y="2651760"/>
            <a:ext cx="3154680" cy="1280160"/>
          </a:xfrm>
          <a:prstGeom prst="roundRect">
            <a:avLst>
              <a:gd name="adj" fmla="val 14285"/>
            </a:avLst>
          </a:prstGeom>
          <a:solidFill>
            <a:srgbClr val="1540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188719" y="2880360"/>
            <a:ext cx="269748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3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00" b="1" i="0">
                <a:solidFill>
                  <a:srgbClr val="FFFFFF"/>
                </a:solidFill>
                <a:latin typeface="Arial"/>
              </a:rPr>
              <a:t>Encrypted store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19" y="3273552"/>
            <a:ext cx="2697480" cy="548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8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 b="0" i="0">
                <a:solidFill>
                  <a:srgbClr val="C7D7F2"/>
                </a:solidFill>
                <a:latin typeface="Arial"/>
              </a:rPr>
              <a:t>AES-256-GCM · key never leaves the device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0" y="2651760"/>
            <a:ext cx="3154680" cy="1280160"/>
          </a:xfrm>
          <a:prstGeom prst="roundRect">
            <a:avLst>
              <a:gd name="adj" fmla="val 14285"/>
            </a:avLst>
          </a:prstGeom>
          <a:solidFill>
            <a:srgbClr val="1540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4617720" y="2880360"/>
            <a:ext cx="269748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3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00" b="1" i="0">
                <a:solidFill>
                  <a:srgbClr val="FFFFFF"/>
                </a:solidFill>
                <a:latin typeface="Arial"/>
              </a:rPr>
              <a:t>On-device AI guide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17720" y="3273552"/>
            <a:ext cx="2697480" cy="548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8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 b="0" i="0">
                <a:solidFill>
                  <a:srgbClr val="C7D7F2"/>
                </a:solidFill>
                <a:latin typeface="Arial"/>
              </a:rPr>
              <a:t>Qwen 1.5B via llama.cpp · MedlinePlus offline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60119" y="4160520"/>
            <a:ext cx="3154680" cy="1280160"/>
          </a:xfrm>
          <a:prstGeom prst="roundRect">
            <a:avLst>
              <a:gd name="adj" fmla="val 14285"/>
            </a:avLst>
          </a:prstGeom>
          <a:solidFill>
            <a:srgbClr val="1540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1188719" y="4389120"/>
            <a:ext cx="269748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3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00" b="1" i="0">
                <a:solidFill>
                  <a:srgbClr val="FFFFFF"/>
                </a:solidFill>
                <a:latin typeface="Arial"/>
              </a:rPr>
              <a:t>Real sensors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88719" y="4782312"/>
            <a:ext cx="2697480" cy="548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8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 b="0" i="0">
                <a:solidFill>
                  <a:srgbClr val="C7D7F2"/>
                </a:solidFill>
                <a:latin typeface="Arial"/>
              </a:rPr>
              <a:t>Bluetooth heart-rate · HealthKit (read-only)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89120" y="4160520"/>
            <a:ext cx="3154680" cy="1280160"/>
          </a:xfrm>
          <a:prstGeom prst="roundRect">
            <a:avLst>
              <a:gd name="adj" fmla="val 14285"/>
            </a:avLst>
          </a:prstGeom>
          <a:solidFill>
            <a:srgbClr val="1540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4617720" y="4389120"/>
            <a:ext cx="269748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3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00" b="1" i="0">
                <a:solidFill>
                  <a:srgbClr val="FFFFFF"/>
                </a:solidFill>
                <a:latin typeface="Arial"/>
              </a:rPr>
              <a:t>Face ID lock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17720" y="4782312"/>
            <a:ext cx="2697480" cy="548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8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 b="0" i="0">
                <a:solidFill>
                  <a:srgbClr val="C7D7F2"/>
                </a:solidFill>
                <a:latin typeface="Arial"/>
              </a:rPr>
              <a:t>Export or erase everything in one tap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21040" y="2011680"/>
            <a:ext cx="3230575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3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7F98C6"/>
                </a:solidFill>
                <a:latin typeface="Arial"/>
              </a:rPr>
              <a:t>THE ONLY THINGS THAT LEAVE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21040" y="2423160"/>
            <a:ext cx="3230575" cy="2011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800"/>
              </a:spcAft>
              <a:buNone/>
            </a:pPr>
            <a:r>
              <a:rPr sz="1500" b="0" i="0">
                <a:solidFill>
                  <a:srgbClr val="C7D7F2"/>
                </a:solidFill>
                <a:latin typeface="Arial"/>
              </a:rPr>
              <a:t>Live video in rooms you choose to join</a:t>
            </a:r>
          </a:p>
          <a:p>
            <a:pPr algn="l">
              <a:lnSpc>
                <a:spcPts val="1950"/>
              </a:lnSpc>
              <a:spcBef>
                <a:spcPts val="0"/>
              </a:spcBef>
              <a:spcAft>
                <a:spcPts val="800"/>
              </a:spcAft>
              <a:buNone/>
            </a:pPr>
            <a:r>
              <a:rPr sz="1500" b="0" i="0">
                <a:solidFill>
                  <a:srgbClr val="C7D7F2"/>
                </a:solidFill>
                <a:latin typeface="Arial"/>
              </a:rPr>
              <a:t>Optional one-time downloads: MedlinePlus, the AI model, the voice</a:t>
            </a:r>
          </a:p>
          <a:p>
            <a:pPr algn="l">
              <a:lnSpc>
                <a:spcPts val="1950"/>
              </a:lnSpc>
              <a:spcBef>
                <a:spcPts val="0"/>
              </a:spcBef>
              <a:spcAft>
                <a:spcPts val="800"/>
              </a:spcAft>
              <a:buNone/>
            </a:pPr>
            <a:r>
              <a:rPr sz="1500" b="0" i="0">
                <a:solidFill>
                  <a:srgbClr val="C7D7F2"/>
                </a:solidFill>
                <a:latin typeface="Arial"/>
              </a:rPr>
              <a:t>A text or call — after you tap Send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21040" y="4343400"/>
            <a:ext cx="3230575" cy="1371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400" b="1" i="0">
                <a:solidFill>
                  <a:srgbClr val="FFFFFF"/>
                </a:solidFill>
                <a:latin typeface="Arial"/>
              </a:rPr>
              <a:t>0</a:t>
            </a:r>
            <a:r>
              <a:rPr sz="2400" b="0" i="0">
                <a:solidFill>
                  <a:srgbClr val="4ADE80"/>
                </a:solidFill>
                <a:latin typeface="Arial"/>
              </a:rPr>
              <a:t> accounts</a:t>
            </a:r>
          </a:p>
          <a:p>
            <a:pPr algn="l">
              <a:lnSpc>
                <a:spcPts val="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400" b="1" i="0">
                <a:solidFill>
                  <a:srgbClr val="FFFFFF"/>
                </a:solidFill>
                <a:latin typeface="Arial"/>
              </a:rPr>
              <a:t>0</a:t>
            </a:r>
            <a:r>
              <a:rPr sz="2400" b="0" i="0">
                <a:solidFill>
                  <a:srgbClr val="4ADE80"/>
                </a:solidFill>
                <a:latin typeface="Arial"/>
              </a:rPr>
              <a:t> servers</a:t>
            </a:r>
          </a:p>
          <a:p>
            <a:pPr algn="l">
              <a:lnSpc>
                <a:spcPts val="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400" b="1" i="0">
                <a:solidFill>
                  <a:srgbClr val="FFFFFF"/>
                </a:solidFill>
                <a:latin typeface="Arial"/>
              </a:rPr>
              <a:t>0</a:t>
            </a:r>
            <a:r>
              <a:rPr sz="2400" b="0" i="0">
                <a:solidFill>
                  <a:srgbClr val="4ADE80"/>
                </a:solidFill>
                <a:latin typeface="Arial"/>
              </a:rPr>
              <a:t> trackers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6053328"/>
            <a:ext cx="10911535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0" i="0">
                <a:solidFill>
                  <a:srgbClr val="A6BBE0"/>
                </a:solidFill>
                <a:latin typeface="Arial"/>
              </a:rPr>
              <a:t>Why now: phones can finally run a useful language model offline — private AI help no longer needs a cloud.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180015" y="6446520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 i="0">
                <a:solidFill>
                  <a:srgbClr val="7F98C6"/>
                </a:solidFill>
                <a:latin typeface="Arial"/>
              </a:rPr>
              <a:t>8 / 12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2D6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11535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3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4ADE80"/>
                </a:solidFill>
                <a:latin typeface="Arial"/>
              </a:rPr>
              <a:t>HOW IT'S BUILT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911535" cy="10972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03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3600" b="1" i="0">
                <a:solidFill>
                  <a:srgbClr val="FFFFFF"/>
                </a:solidFill>
                <a:latin typeface="Arial"/>
              </a:rPr>
              <a:t>Two clients. One promise. No server.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874519"/>
            <a:ext cx="5272887" cy="2651760"/>
          </a:xfrm>
          <a:prstGeom prst="roundRect">
            <a:avLst>
              <a:gd name="adj" fmla="val 6896"/>
            </a:avLst>
          </a:prstGeom>
          <a:solidFill>
            <a:srgbClr val="1540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1005840" y="2103120"/>
            <a:ext cx="4541367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4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1" i="0">
                <a:solidFill>
                  <a:srgbClr val="FFFFFF"/>
                </a:solidFill>
                <a:latin typeface="Arial"/>
              </a:rPr>
              <a:t>Web app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75607" y="2157984"/>
            <a:ext cx="1371600" cy="310896"/>
          </a:xfrm>
          <a:prstGeom prst="roundRect">
            <a:avLst>
              <a:gd name="adj" fmla="val 50000"/>
            </a:avLst>
          </a:prstGeom>
          <a:solidFill>
            <a:srgbClr val="1B4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4175607" y="2157984"/>
            <a:ext cx="1371600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7CC4FF"/>
                </a:solidFill>
                <a:latin typeface="Arial"/>
              </a:rPr>
              <a:t>JAVASCRIPT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697480"/>
            <a:ext cx="4541367" cy="17373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219456" indent="-219456">
              <a:lnSpc>
                <a:spcPts val="1891"/>
              </a:lnSpc>
              <a:spcBef>
                <a:spcPts val="0"/>
              </a:spcBef>
              <a:spcAft>
                <a:spcPts val="400"/>
              </a:spcAft>
              <a:buClr>
                <a:srgbClr val="4ADE80"/>
              </a:buClr>
              <a:buFont typeface="Arial"/>
              <a:buChar char="•"/>
            </a:pPr>
            <a:r>
              <a:rPr sz="1550" b="0" i="0">
                <a:solidFill>
                  <a:srgbClr val="C7D7F2"/>
                </a:solidFill>
                <a:latin typeface="Arial"/>
              </a:rPr>
              <a:t>React 18 · Vite · Tailwind</a:t>
            </a:r>
          </a:p>
          <a:p>
            <a:pPr algn="l" marL="219456" indent="-219456">
              <a:lnSpc>
                <a:spcPts val="1891"/>
              </a:lnSpc>
              <a:spcBef>
                <a:spcPts val="0"/>
              </a:spcBef>
              <a:spcAft>
                <a:spcPts val="400"/>
              </a:spcAft>
              <a:buClr>
                <a:srgbClr val="4ADE80"/>
              </a:buClr>
              <a:buFont typeface="Arial"/>
              <a:buChar char="•"/>
            </a:pPr>
            <a:r>
              <a:rPr sz="1550" b="0" i="0">
                <a:solidFill>
                  <a:srgbClr val="C7D7F2"/>
                </a:solidFill>
                <a:latin typeface="Arial"/>
              </a:rPr>
              <a:t>Web Bluetooth · Web Audio</a:t>
            </a:r>
          </a:p>
          <a:p>
            <a:pPr algn="l" marL="219456" indent="-219456">
              <a:lnSpc>
                <a:spcPts val="1891"/>
              </a:lnSpc>
              <a:spcBef>
                <a:spcPts val="0"/>
              </a:spcBef>
              <a:spcAft>
                <a:spcPts val="400"/>
              </a:spcAft>
              <a:buClr>
                <a:srgbClr val="4ADE80"/>
              </a:buClr>
              <a:buFont typeface="Arial"/>
              <a:buChar char="•"/>
            </a:pPr>
            <a:r>
              <a:rPr sz="1550" b="0" i="0">
                <a:solidFill>
                  <a:srgbClr val="C7D7F2"/>
                </a:solidFill>
                <a:latin typeface="Arial"/>
              </a:rPr>
              <a:t>Web Crypto (AES-256-GCM)</a:t>
            </a:r>
          </a:p>
          <a:p>
            <a:pPr algn="l" marL="219456" indent="-219456">
              <a:lnSpc>
                <a:spcPts val="1891"/>
              </a:lnSpc>
              <a:spcBef>
                <a:spcPts val="0"/>
              </a:spcBef>
              <a:spcAft>
                <a:spcPts val="400"/>
              </a:spcAft>
              <a:buClr>
                <a:srgbClr val="4ADE80"/>
              </a:buClr>
              <a:buFont typeface="Arial"/>
              <a:buChar char="•"/>
            </a:pPr>
            <a:r>
              <a:rPr sz="1550" b="0" i="0">
                <a:solidFill>
                  <a:srgbClr val="C7D7F2"/>
                </a:solidFill>
                <a:latin typeface="Arial"/>
              </a:rPr>
              <a:t>Installable PWA, works offline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78727" y="1874519"/>
            <a:ext cx="5272887" cy="2651760"/>
          </a:xfrm>
          <a:prstGeom prst="roundRect">
            <a:avLst>
              <a:gd name="adj" fmla="val 6896"/>
            </a:avLst>
          </a:prstGeom>
          <a:solidFill>
            <a:srgbClr val="1540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6644487" y="2103120"/>
            <a:ext cx="4541367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4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1" i="0">
                <a:solidFill>
                  <a:srgbClr val="FFFFFF"/>
                </a:solidFill>
                <a:latin typeface="Arial"/>
              </a:rPr>
              <a:t>iPhone app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814255" y="2157984"/>
            <a:ext cx="1371600" cy="310896"/>
          </a:xfrm>
          <a:prstGeom prst="roundRect">
            <a:avLst>
              <a:gd name="adj" fmla="val 50000"/>
            </a:avLst>
          </a:prstGeom>
          <a:solidFill>
            <a:srgbClr val="1B4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814255" y="2157984"/>
            <a:ext cx="1371600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4ADE80"/>
                </a:solidFill>
                <a:latin typeface="Arial"/>
              </a:rPr>
              <a:t>SWIFT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44487" y="2697480"/>
            <a:ext cx="4541367" cy="17373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219456" indent="-219456">
              <a:lnSpc>
                <a:spcPts val="1891"/>
              </a:lnSpc>
              <a:spcBef>
                <a:spcPts val="0"/>
              </a:spcBef>
              <a:spcAft>
                <a:spcPts val="400"/>
              </a:spcAft>
              <a:buClr>
                <a:srgbClr val="4ADE80"/>
              </a:buClr>
              <a:buFont typeface="Arial"/>
              <a:buChar char="•"/>
            </a:pPr>
            <a:r>
              <a:rPr sz="1550" b="0" i="0">
                <a:solidFill>
                  <a:srgbClr val="C7D7F2"/>
                </a:solidFill>
                <a:latin typeface="Arial"/>
              </a:rPr>
              <a:t>SwiftUI · HealthKit · CoreBluetooth</a:t>
            </a:r>
          </a:p>
          <a:p>
            <a:pPr algn="l" marL="219456" indent="-219456">
              <a:lnSpc>
                <a:spcPts val="1891"/>
              </a:lnSpc>
              <a:spcBef>
                <a:spcPts val="0"/>
              </a:spcBef>
              <a:spcAft>
                <a:spcPts val="400"/>
              </a:spcAft>
              <a:buClr>
                <a:srgbClr val="4ADE80"/>
              </a:buClr>
              <a:buFont typeface="Arial"/>
              <a:buChar char="•"/>
            </a:pPr>
            <a:r>
              <a:rPr sz="1550" b="0" i="0">
                <a:solidFill>
                  <a:srgbClr val="C7D7F2"/>
                </a:solidFill>
                <a:latin typeface="Arial"/>
              </a:rPr>
              <a:t>CryptoKit · Face ID</a:t>
            </a:r>
          </a:p>
          <a:p>
            <a:pPr algn="l" marL="219456" indent="-219456">
              <a:lnSpc>
                <a:spcPts val="1891"/>
              </a:lnSpc>
              <a:spcBef>
                <a:spcPts val="0"/>
              </a:spcBef>
              <a:spcAft>
                <a:spcPts val="400"/>
              </a:spcAft>
              <a:buClr>
                <a:srgbClr val="4ADE80"/>
              </a:buClr>
              <a:buFont typeface="Arial"/>
              <a:buChar char="•"/>
            </a:pPr>
            <a:r>
              <a:rPr sz="1550" b="0" i="0">
                <a:solidFill>
                  <a:srgbClr val="C7D7F2"/>
                </a:solidFill>
                <a:latin typeface="Arial"/>
              </a:rPr>
              <a:t>llama.cpp · Sherpa-ONNX</a:t>
            </a:r>
          </a:p>
          <a:p>
            <a:pPr algn="l" marL="219456" indent="-219456">
              <a:lnSpc>
                <a:spcPts val="1891"/>
              </a:lnSpc>
              <a:spcBef>
                <a:spcPts val="0"/>
              </a:spcBef>
              <a:spcAft>
                <a:spcPts val="400"/>
              </a:spcAft>
              <a:buClr>
                <a:srgbClr val="4ADE80"/>
              </a:buClr>
              <a:buFont typeface="Arial"/>
              <a:buChar char="•"/>
            </a:pPr>
            <a:r>
              <a:rPr sz="1550" b="0" i="0">
                <a:solidFill>
                  <a:srgbClr val="C7D7F2"/>
                </a:solidFill>
                <a:latin typeface="Arial"/>
              </a:rPr>
              <a:t>Jitsi Meet SDK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4846320"/>
            <a:ext cx="2453563" cy="7315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48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4000" b="1" i="0">
                <a:solidFill>
                  <a:srgbClr val="4ADE80"/>
                </a:solidFill>
                <a:latin typeface="Arial"/>
              </a:rPr>
              <a:t>11,400+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5577840"/>
            <a:ext cx="2453563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6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0" i="0">
                <a:solidFill>
                  <a:srgbClr val="A6BBE0"/>
                </a:solidFill>
                <a:latin typeface="Arial"/>
              </a:rPr>
              <a:t>lines of code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59403" y="4846320"/>
            <a:ext cx="2453563" cy="7315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48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4000" b="1" i="0">
                <a:solidFill>
                  <a:srgbClr val="4ADE80"/>
                </a:solidFill>
                <a:latin typeface="Arial"/>
              </a:rPr>
              <a:t>17 / 17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59403" y="5577840"/>
            <a:ext cx="2453563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6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0" i="0">
                <a:solidFill>
                  <a:srgbClr val="A6BBE0"/>
                </a:solidFill>
                <a:latin typeface="Arial"/>
              </a:rPr>
              <a:t>automated tests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78727" y="4846320"/>
            <a:ext cx="2453563" cy="7315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48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4000" b="1" i="0">
                <a:solidFill>
                  <a:srgbClr val="4ADE80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78727" y="5577840"/>
            <a:ext cx="2453563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6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0" i="0">
                <a:solidFill>
                  <a:srgbClr val="A6BBE0"/>
                </a:solidFill>
                <a:latin typeface="Arial"/>
              </a:rPr>
              <a:t>CI pipelines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98051" y="4846320"/>
            <a:ext cx="2453563" cy="7315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48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4000" b="1" i="0">
                <a:solidFill>
                  <a:srgbClr val="FFC94D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98051" y="5577840"/>
            <a:ext cx="2453563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6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0" i="0">
                <a:solidFill>
                  <a:srgbClr val="A6BBE0"/>
                </a:solidFill>
                <a:latin typeface="Arial"/>
              </a:rPr>
              <a:t>public releases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180015" y="6446520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 i="0">
                <a:solidFill>
                  <a:srgbClr val="7F98C6"/>
                </a:solidFill>
                <a:latin typeface="Arial"/>
              </a:rPr>
              <a:t>9 / 12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2D6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11535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3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4ADE80"/>
                </a:solidFill>
                <a:latin typeface="Arial"/>
              </a:rPr>
              <a:t>HARDEST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911535" cy="10972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03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3600" b="1" i="0">
                <a:solidFill>
                  <a:srgbClr val="FFFFFF"/>
                </a:solidFill>
                <a:latin typeface="Arial"/>
              </a:rPr>
              <a:t>Making Bluetooth honest.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783080"/>
            <a:ext cx="6858000" cy="8229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C7D7F2"/>
                </a:solidFill>
                <a:latin typeface="Arial"/>
              </a:rPr>
              <a:t>Heart-rate notifications arrive late and out of order — a stale sensor could repaint a new card with a wrong number.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880360"/>
            <a:ext cx="3393338" cy="2286000"/>
          </a:xfrm>
          <a:prstGeom prst="roundRect">
            <a:avLst>
              <a:gd name="adj" fmla="val 8000"/>
            </a:avLst>
          </a:prstGeom>
          <a:solidFill>
            <a:srgbClr val="1540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960119" y="3063240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6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3000" b="1" i="0">
                <a:solidFill>
                  <a:srgbClr val="4ADE80"/>
                </a:solidFill>
                <a:latin typeface="Arial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19" y="3657600"/>
            <a:ext cx="2753258" cy="4114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8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1" i="0">
                <a:solidFill>
                  <a:srgbClr val="FFFFFF"/>
                </a:solidFill>
                <a:latin typeface="Arial"/>
              </a:rPr>
              <a:t>Parse the standard profile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19" y="4069080"/>
            <a:ext cx="2753258" cy="10058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0" i="0">
                <a:solidFill>
                  <a:srgbClr val="C7D7F2"/>
                </a:solidFill>
                <a:latin typeface="Arial"/>
              </a:rPr>
              <a:t>Heart Rate service 0x180D; the flags byte picks 8- or 16-bit BPM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99178" y="2880360"/>
            <a:ext cx="3393338" cy="2286000"/>
          </a:xfrm>
          <a:prstGeom prst="roundRect">
            <a:avLst>
              <a:gd name="adj" fmla="val 8000"/>
            </a:avLst>
          </a:prstGeom>
          <a:solidFill>
            <a:srgbClr val="1540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4719218" y="3063240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6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3000" b="1" i="0">
                <a:solidFill>
                  <a:srgbClr val="4ADE80"/>
                </a:solidFill>
                <a:latin typeface="Arial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19218" y="3657600"/>
            <a:ext cx="2753258" cy="4114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 b="1" i="0">
                <a:solidFill>
                  <a:srgbClr val="FFFFFF"/>
                </a:solidFill>
                <a:latin typeface="Arial"/>
              </a:rPr>
              <a:t>Label at the source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19218" y="4069080"/>
            <a:ext cx="2753258" cy="10058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0" i="0">
                <a:solidFill>
                  <a:srgbClr val="C7D7F2"/>
                </a:solidFill>
                <a:latin typeface="Arial"/>
              </a:rPr>
              <a:t>Each sample is tagged LIVE or SIMULATED when it is produced — the tag follows it into the CSV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58276" y="2880360"/>
            <a:ext cx="3393338" cy="2286000"/>
          </a:xfrm>
          <a:prstGeom prst="roundRect">
            <a:avLst>
              <a:gd name="adj" fmla="val 8000"/>
            </a:avLst>
          </a:prstGeom>
          <a:solidFill>
            <a:srgbClr val="1540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78316" y="3063240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6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3000" b="1" i="0">
                <a:solidFill>
                  <a:srgbClr val="4ADE80"/>
                </a:solidFill>
                <a:latin typeface="Arial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78316" y="3657600"/>
            <a:ext cx="2753258" cy="4114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 b="1" i="0">
                <a:solidFill>
                  <a:srgbClr val="FFFFFF"/>
                </a:solidFill>
                <a:latin typeface="Arial"/>
              </a:rPr>
              <a:t>Drop stale sessions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78316" y="4069080"/>
            <a:ext cx="2753258" cy="10058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0" i="0">
                <a:solidFill>
                  <a:srgbClr val="C7D7F2"/>
                </a:solidFill>
                <a:latin typeface="Arial"/>
              </a:rPr>
              <a:t>A generation counter discards callbacks from any earlier pairing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5394960"/>
            <a:ext cx="10911535" cy="777240"/>
          </a:xfrm>
          <a:prstGeom prst="roundRect">
            <a:avLst>
              <a:gd name="adj" fmla="val 23529"/>
            </a:avLst>
          </a:prstGeom>
          <a:solidFill>
            <a:srgbClr val="1B4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14400" y="5394960"/>
            <a:ext cx="10362895" cy="7772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4ADE80"/>
                </a:solidFill>
                <a:latin typeface="Courier New"/>
              </a:rPr>
              <a:t>const bpm = flags &amp; 0x1 ? dv.getUint16(1, true) : dv.getUint8(1)   // src/lib/bluetooth.js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80015" y="6446520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 i="0">
                <a:solidFill>
                  <a:srgbClr val="7F98C6"/>
                </a:solidFill>
                <a:latin typeface="Arial"/>
              </a:rPr>
              <a:t>10 / 12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2D6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11535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3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4ADE80"/>
                </a:solidFill>
                <a:latin typeface="Arial"/>
              </a:rPr>
              <a:t>WHERE IT STANDS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911535" cy="10972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03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3600" b="1" i="0">
                <a:solidFill>
                  <a:srgbClr val="FFFFFF"/>
                </a:solidFill>
                <a:latin typeface="Arial"/>
              </a:rPr>
              <a:t>Shipped, tested — and next, built with the people it serves.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914400" y="2203704"/>
            <a:ext cx="10362895" cy="0"/>
          </a:xfrm>
          <a:prstGeom prst="line">
            <a:avLst/>
          </a:prstGeom>
          <a:ln w="25400">
            <a:solidFill>
              <a:srgbClr val="2E5C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Oval 4"/>
          <p:cNvSpPr/>
          <p:nvPr/>
        </p:nvSpPr>
        <p:spPr>
          <a:xfrm>
            <a:off x="804671" y="2057400"/>
            <a:ext cx="292608" cy="292608"/>
          </a:xfrm>
          <a:prstGeom prst="ellipse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1280160" y="2011680"/>
            <a:ext cx="2753258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3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4ADE80"/>
                </a:solidFill>
                <a:latin typeface="Arial"/>
              </a:rPr>
              <a:t>TODAY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1" y="2651760"/>
            <a:ext cx="3119018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4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1" i="0">
                <a:solidFill>
                  <a:srgbClr val="FFFFFF"/>
                </a:solidFill>
                <a:latin typeface="Arial"/>
              </a:rPr>
              <a:t>v2.2 on GitHub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1" y="3291840"/>
            <a:ext cx="3119018" cy="1828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219456" indent="-219456">
              <a:lnSpc>
                <a:spcPts val="2013"/>
              </a:lnSpc>
              <a:spcBef>
                <a:spcPts val="0"/>
              </a:spcBef>
              <a:spcAft>
                <a:spcPts val="1000"/>
              </a:spcAft>
              <a:buClr>
                <a:srgbClr val="4ADE80"/>
              </a:buClr>
              <a:buFont typeface="Arial"/>
              <a:buChar char="•"/>
            </a:pPr>
            <a:r>
              <a:rPr sz="1650" b="0" i="0">
                <a:solidFill>
                  <a:srgbClr val="C7D7F2"/>
                </a:solidFill>
                <a:latin typeface="Arial"/>
              </a:rPr>
              <a:t>3 public releases since September</a:t>
            </a:r>
          </a:p>
          <a:p>
            <a:pPr algn="l" marL="219456" indent="-219456">
              <a:lnSpc>
                <a:spcPts val="2013"/>
              </a:lnSpc>
              <a:spcBef>
                <a:spcPts val="0"/>
              </a:spcBef>
              <a:spcAft>
                <a:spcPts val="1000"/>
              </a:spcAft>
              <a:buClr>
                <a:srgbClr val="4ADE80"/>
              </a:buClr>
              <a:buFont typeface="Arial"/>
              <a:buChar char="•"/>
            </a:pPr>
            <a:r>
              <a:rPr sz="1650" b="0" i="0">
                <a:solidFill>
                  <a:srgbClr val="C7D7F2"/>
                </a:solidFill>
                <a:latin typeface="Arial"/>
              </a:rPr>
              <a:t>17 automated tests · CI for web and iOS</a:t>
            </a:r>
          </a:p>
        </p:txBody>
      </p:sp>
      <p:sp>
        <p:nvSpPr>
          <p:cNvPr id="9" name="Oval 8"/>
          <p:cNvSpPr/>
          <p:nvPr/>
        </p:nvSpPr>
        <p:spPr>
          <a:xfrm>
            <a:off x="4563770" y="2057400"/>
            <a:ext cx="292608" cy="292608"/>
          </a:xfrm>
          <a:prstGeom prst="ellipse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5039258" y="2011680"/>
            <a:ext cx="2753258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3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7CC4FF"/>
                </a:solidFill>
                <a:latin typeface="Arial"/>
              </a:rPr>
              <a:t>NEXT · V2.0 OF THIS ENTRY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63770" y="2651760"/>
            <a:ext cx="3119018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3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>
                <a:solidFill>
                  <a:srgbClr val="FFFFFF"/>
                </a:solidFill>
                <a:latin typeface="Arial"/>
              </a:rPr>
              <a:t>Co-design &amp; TestFlight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63770" y="3291840"/>
            <a:ext cx="3119018" cy="1828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219456" indent="-219456">
              <a:lnSpc>
                <a:spcPts val="2013"/>
              </a:lnSpc>
              <a:spcBef>
                <a:spcPts val="0"/>
              </a:spcBef>
              <a:spcAft>
                <a:spcPts val="1000"/>
              </a:spcAft>
              <a:buClr>
                <a:srgbClr val="4ADE80"/>
              </a:buClr>
              <a:buFont typeface="Arial"/>
              <a:buChar char="•"/>
            </a:pPr>
            <a:r>
              <a:rPr sz="1650" b="0" i="0">
                <a:solidFill>
                  <a:srgbClr val="C7D7F2"/>
                </a:solidFill>
                <a:latin typeface="Arial"/>
              </a:rPr>
              <a:t>Sessions with autistic people, people with dementia and caregivers</a:t>
            </a:r>
          </a:p>
          <a:p>
            <a:pPr algn="l" marL="219456" indent="-219456">
              <a:lnSpc>
                <a:spcPts val="2013"/>
              </a:lnSpc>
              <a:spcBef>
                <a:spcPts val="0"/>
              </a:spcBef>
              <a:spcAft>
                <a:spcPts val="1000"/>
              </a:spcAft>
              <a:buClr>
                <a:srgbClr val="4ADE80"/>
              </a:buClr>
              <a:buFont typeface="Arial"/>
              <a:buChar char="•"/>
            </a:pPr>
            <a:r>
              <a:rPr sz="1650" b="0" i="0">
                <a:solidFill>
                  <a:srgbClr val="C7D7F2"/>
                </a:solidFill>
                <a:latin typeface="Arial"/>
              </a:rPr>
              <a:t>TestFlight beta · VoiceOver testing on devices</a:t>
            </a:r>
          </a:p>
        </p:txBody>
      </p:sp>
      <p:sp>
        <p:nvSpPr>
          <p:cNvPr id="13" name="Oval 12"/>
          <p:cNvSpPr/>
          <p:nvPr/>
        </p:nvSpPr>
        <p:spPr>
          <a:xfrm>
            <a:off x="8322868" y="2057400"/>
            <a:ext cx="292608" cy="292608"/>
          </a:xfrm>
          <a:prstGeom prst="ellipse">
            <a:avLst/>
          </a:prstGeom>
          <a:solidFill>
            <a:srgbClr val="B8A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798356" y="2011680"/>
            <a:ext cx="2753258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3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B8A6FF"/>
                </a:solidFill>
                <a:latin typeface="Arial"/>
              </a:rPr>
              <a:t>THEN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22868" y="2651760"/>
            <a:ext cx="3119018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4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1" i="0">
                <a:solidFill>
                  <a:srgbClr val="FFFFFF"/>
                </a:solidFill>
                <a:latin typeface="Arial"/>
              </a:rPr>
              <a:t>Real data, no server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22868" y="3291840"/>
            <a:ext cx="3119018" cy="1828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219456" indent="-219456">
              <a:lnSpc>
                <a:spcPts val="2013"/>
              </a:lnSpc>
              <a:spcBef>
                <a:spcPts val="0"/>
              </a:spcBef>
              <a:spcAft>
                <a:spcPts val="1000"/>
              </a:spcAft>
              <a:buClr>
                <a:srgbClr val="4ADE80"/>
              </a:buClr>
              <a:buFont typeface="Arial"/>
              <a:buChar char="•"/>
            </a:pPr>
            <a:r>
              <a:rPr sz="1650" b="0" i="0">
                <a:solidFill>
                  <a:srgbClr val="C7D7F2"/>
                </a:solidFill>
                <a:latin typeface="Arial"/>
              </a:rPr>
              <a:t>Sensor history inside the visit brief — real, labeled data only</a:t>
            </a:r>
          </a:p>
          <a:p>
            <a:pPr algn="l" marL="219456" indent="-219456">
              <a:lnSpc>
                <a:spcPts val="2013"/>
              </a:lnSpc>
              <a:spcBef>
                <a:spcPts val="0"/>
              </a:spcBef>
              <a:spcAft>
                <a:spcPts val="1000"/>
              </a:spcAft>
              <a:buClr>
                <a:srgbClr val="4ADE80"/>
              </a:buClr>
              <a:buFont typeface="Arial"/>
              <a:buChar char="•"/>
            </a:pPr>
            <a:r>
              <a:rPr sz="1650" b="0" i="0">
                <a:solidFill>
                  <a:srgbClr val="C7D7F2"/>
                </a:solidFill>
                <a:latin typeface="Arial"/>
              </a:rPr>
              <a:t>Encrypted backup · Spanish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5074920"/>
            <a:ext cx="10911535" cy="713232"/>
          </a:xfrm>
          <a:prstGeom prst="roundRect">
            <a:avLst>
              <a:gd name="adj" fmla="val 25641"/>
            </a:avLst>
          </a:prstGeom>
          <a:solidFill>
            <a:srgbClr val="1540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60119" y="5074920"/>
            <a:ext cx="2377440" cy="71323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43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4ADE80"/>
                </a:solidFill>
                <a:latin typeface="Arial"/>
              </a:rPr>
              <a:t>RELEASES · 2026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291839" y="5276088"/>
            <a:ext cx="1159510" cy="310896"/>
          </a:xfrm>
          <a:prstGeom prst="roundRect">
            <a:avLst>
              <a:gd name="adj" fmla="val 50000"/>
            </a:avLst>
          </a:prstGeom>
          <a:solidFill>
            <a:srgbClr val="0C2D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3291839" y="5276088"/>
            <a:ext cx="1159510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4ADE80"/>
                </a:solidFill>
                <a:latin typeface="Arial"/>
              </a:rPr>
              <a:t>V1.0 · SEP 8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679950" y="5276088"/>
            <a:ext cx="1159510" cy="310896"/>
          </a:xfrm>
          <a:prstGeom prst="roundRect">
            <a:avLst>
              <a:gd name="adj" fmla="val 50000"/>
            </a:avLst>
          </a:prstGeom>
          <a:solidFill>
            <a:srgbClr val="0C2D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4679950" y="5276088"/>
            <a:ext cx="1159510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4ADE80"/>
                </a:solidFill>
                <a:latin typeface="Arial"/>
              </a:rPr>
              <a:t>V2.0 · SEP 8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068060" y="5276088"/>
            <a:ext cx="1235709" cy="310896"/>
          </a:xfrm>
          <a:prstGeom prst="roundRect">
            <a:avLst>
              <a:gd name="adj" fmla="val 50000"/>
            </a:avLst>
          </a:prstGeom>
          <a:solidFill>
            <a:srgbClr val="0C2D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6068060" y="5276088"/>
            <a:ext cx="1235709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4ADE80"/>
                </a:solidFill>
                <a:latin typeface="Arial"/>
              </a:rPr>
              <a:t>V2.1 · SEP 28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532370" y="5276088"/>
            <a:ext cx="1794510" cy="310896"/>
          </a:xfrm>
          <a:prstGeom prst="roundRect">
            <a:avLst>
              <a:gd name="adj" fmla="val 50000"/>
            </a:avLst>
          </a:prstGeom>
          <a:solidFill>
            <a:srgbClr val="0C2D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7532370" y="5276088"/>
            <a:ext cx="1794510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7CC4FF"/>
                </a:solidFill>
                <a:latin typeface="Arial"/>
              </a:rPr>
              <a:t>V2.2 · BUILDING IN CI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" y="6035040"/>
            <a:ext cx="10911535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 b="0" i="0">
                <a:solidFill>
                  <a:srgbClr val="A6BBE0"/>
                </a:solidFill>
                <a:latin typeface="Arial"/>
              </a:rPr>
              <a:t>Deliberately not planned: cloud sync, a clinician portal or a drug-interaction checker — not without clinical review.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180015" y="6446520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 i="0">
                <a:solidFill>
                  <a:srgbClr val="7F98C6"/>
                </a:solidFill>
                <a:latin typeface="Arial"/>
              </a:rPr>
              <a:t>11 / 12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2D63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g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2743200" y="-2743200"/>
            <a:ext cx="9144000" cy="9144000"/>
          </a:xfrm>
          <a:prstGeom prst="rect">
            <a:avLst/>
          </a:prstGeom>
        </p:spPr>
      </p:pic>
      <p:pic>
        <p:nvPicPr>
          <p:cNvPr id="3" name="Picture 2" descr="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097280"/>
            <a:ext cx="1005840" cy="1005840"/>
          </a:xfrm>
          <a:prstGeom prst="roundRect">
            <a:avLst>
              <a:gd name="adj" fmla="val 22727"/>
            </a:avLst>
          </a:prstGeom>
        </p:spPr>
      </p:pic>
      <p:sp>
        <p:nvSpPr>
          <p:cNvPr id="4" name="TextBox 3"/>
          <p:cNvSpPr txBox="1"/>
          <p:nvPr/>
        </p:nvSpPr>
        <p:spPr>
          <a:xfrm>
            <a:off x="640080" y="2286000"/>
            <a:ext cx="7315200" cy="10972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624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5200" b="1" i="0">
                <a:solidFill>
                  <a:srgbClr val="FFFFFF"/>
                </a:solidFill>
                <a:latin typeface="Arial"/>
              </a:rPr>
              <a:t>Care that stays yours.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429000"/>
            <a:ext cx="6766560" cy="914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34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 b="0" i="0">
                <a:solidFill>
                  <a:srgbClr val="C7D7F2"/>
                </a:solidFill>
                <a:latin typeface="Arial"/>
              </a:rPr>
              <a:t>Keeping older adults connected, autistic users calm and caregivers informed — with no account, no server and no fabricated number.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754880"/>
            <a:ext cx="676656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1" i="0">
                <a:solidFill>
                  <a:srgbClr val="4ADE80"/>
                </a:solidFill>
                <a:latin typeface="Arial"/>
              </a:rPr>
              <a:t>Try the web app  ·  read the code  ·  watch the demo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166360"/>
            <a:ext cx="676656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 i="0">
                <a:solidFill>
                  <a:srgbClr val="FFFFFF"/>
                </a:solidFill>
                <a:latin typeface="Arial"/>
              </a:rPr>
              <a:t>github.com/engineer2025-sudo/Care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5669280"/>
            <a:ext cx="676656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0" i="0">
                <a:solidFill>
                  <a:srgbClr val="A6BBE0"/>
                </a:solidFill>
                <a:latin typeface="Arial"/>
              </a:rPr>
              <a:t>[Student Name]  ·  [email@example.com]  ·  [School], [City], CA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534095" y="1554480"/>
            <a:ext cx="3017520" cy="3749039"/>
          </a:xfrm>
          <a:prstGeom prst="roundRect">
            <a:avLst>
              <a:gd name="adj" fmla="val 6060"/>
            </a:avLst>
          </a:prstGeom>
          <a:solidFill>
            <a:srgbClr val="1540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0" name="Picture 9" descr="q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45575" y="1828800"/>
            <a:ext cx="2194560" cy="2194560"/>
          </a:xfrm>
          <a:prstGeom prst="roundRect">
            <a:avLst>
              <a:gd name="adj" fmla="val 6250"/>
            </a:avLst>
          </a:prstGeom>
        </p:spPr>
      </p:pic>
      <p:sp>
        <p:nvSpPr>
          <p:cNvPr id="11" name="TextBox 10"/>
          <p:cNvSpPr txBox="1"/>
          <p:nvPr/>
        </p:nvSpPr>
        <p:spPr>
          <a:xfrm>
            <a:off x="8534095" y="420624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>
                <a:solidFill>
                  <a:srgbClr val="FFFFFF"/>
                </a:solidFill>
                <a:latin typeface="Arial"/>
              </a:rPr>
              <a:t>Source, docs &amp; install guide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34095" y="4526280"/>
            <a:ext cx="3017520" cy="548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0">
                <a:solidFill>
                  <a:srgbClr val="A6BBE0"/>
                </a:solidFill>
                <a:latin typeface="Arial"/>
              </a:rPr>
              <a:t>Demo video: [YouTube link]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