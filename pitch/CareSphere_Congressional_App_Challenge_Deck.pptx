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embeddedFontLst>
    <p:embeddedFont>
      <p:font typeface="Plus Jakarta Sans" panose="00000000000000000000" pitchFamily="34" charset="0"/>
      <p:regular r:id="rId21"/>
      <p:bold r:id="rId22"/>
    </p:embeddedFont>
    <p:embeddedFont>
      <p:font typeface="Plus Jakarta Sans Medium" panose="00000000000000000000" pitchFamily="34" charset="0"/>
      <p:regular r:id="rId23"/>
    </p:embeddedFont>
    <p:embeddedFont>
      <p:font typeface="Plus Jakarta Sans ExtraBold" panose="00000000000000000000" pitchFamily="34" charset="0"/>
      <p:regular r:id="rId24"/>
    </p:embeddedFont>
    <p:embeddedFont>
      <p:font typeface="JetBrains Mono" panose="02000009000000000000" pitchFamily="49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[0:00–0:14] Hi, I'm [NAME], a [GRADE] at [SCHOOL] in [CITY], California. This is CareSphere AI — a private care companion for older adults, autistic people and their families,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[0:14–0:26] (Your story in one sentence — name a specific person, a specific moment. E.g.: My grandmother lives alone, and every call started the same way: did you take your pills? did you talk to anyone today?) So I built the app I wished she had: calm, honest, and private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[0:26–0:39] One in four older adults is socially isolated — a twenty-nine percent higher risk of early death. One in thirty-one children is autistic. Half of long-term medications aren't taken as prescribed. And sixty-three million family caregivers hold it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[0:39–0:47] Today a family juggles four apps — four accounts, four clouds — and none of them was designed for autistic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[0:47–0:57] CareSphere is one calm app with five tabs — Overview, Activities, Coffee Circles, Care Circle and Vitals —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[0:57–1:42]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[1:42–1:53] What makes it different isn't a feature — it's four rules in the code: never fabricate a reading, never send anything automatically, calm by default, private by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[1:53–2:01] It's built for three people at once: older adults, autistic teens and adults, and the caregivers who support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[2:01–2:12] Everything stays on the device: AES-256 encryption, Bluetooth and HealthKit read locally, and a 1.5-billion-parameter model that answers health questions offline. Zero accounts, zero servers, zero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[2:12–2:23] It's React and JavaScript on the web, Swift and SwiftUI on iPhone — Web Bluetooth, HealthKit, CryptoKit and llama.cpp. Eleven thousand lines, seventeen tests,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[2:23–2:35] The hardest problem was keeping Bluetooth honest: notifications arrive late and out of order, so I label every sample live or simulated at the source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[2:35–2:47] Version 2.0 starts with co-design sessions with autistic people, people living with dementia and caregivers, then a TestFlight beta and sensor history in the visit brief — still with no server. (Deliberately not planned: cloud sync, a clinician portal or a drug-interaction checker — not without clinical review.)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[2:47–2:53]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-2651760"/>
            <a:ext cx="8686800" cy="86868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1037844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97280" y="9235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CONGRESSIONAL APP CHALLENGE 2026  ·  [CA-XX]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3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0" b="0">
                <a:solidFill>
                  <a:srgbClr val="FFFFFF"/>
                </a:solidFill>
                <a:latin typeface="Plus Jakarta Sans ExtraBold"/>
              </a:rPr>
              <a:t>CareSphere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0">
                <a:solidFill>
                  <a:srgbClr val="06E288"/>
                </a:solidFill>
                <a:latin typeface="Plus Jakarta Sans Medium"/>
              </a:rPr>
              <a:t>Connected care for independent living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612648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A private care companion for older adults, autistic people and the families who care for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25780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[Student Name]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[School]  ·  [City], California  ·  [email@example.com]</a:t>
            </a:r>
          </a:p>
        </p:txBody>
      </p:sp>
      <p:pic>
        <p:nvPicPr>
          <p:cNvPr id="10" name="Picture 9" descr="phon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868680"/>
            <a:ext cx="3397636" cy="66751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WHY I BUILT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6400800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7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900" b="1">
                <a:solidFill>
                  <a:srgbClr val="FFFFFF"/>
                </a:solidFill>
                <a:latin typeface="Plus Jakarta Sans"/>
              </a:rPr>
              <a:t>“[Your story in one or two sentences — e.g. My grandmother lives alone, and every call started the same way: did you take your pills? did you talk to anyone today?]”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617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— [Student Name], [grade], [School]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So I built the app I wished she had: calm, honest, and private by design.</a:t>
            </a:r>
          </a:p>
        </p:txBody>
      </p:sp>
      <p:pic>
        <p:nvPicPr>
          <p:cNvPr id="7" name="Picture 6" descr="phone-t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685800"/>
            <a:ext cx="3211464" cy="6309360"/>
          </a:xfrm>
          <a:prstGeom prst="rect">
            <a:avLst/>
          </a:prstGeom>
        </p:spPr>
      </p:pic>
      <p:pic>
        <p:nvPicPr>
          <p:cNvPr id="8" name="Picture 7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9" name="TextBox 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02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Growing older — or growing up autistic — too often means facing care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older adults are socially isolated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NASEM, 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0138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1 in 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0138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children are autistic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0138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CDC,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8756" y="2697480"/>
            <a:ext cx="3271418" cy="13436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/>
                </a:solidFill>
                <a:latin typeface="Plus Jakarta Sans ExtraBold"/>
              </a:rPr>
              <a:t>50%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8756" y="4099560"/>
            <a:ext cx="3271418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of long-term medicines aren’t taken as prescribed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8756" y="5074920"/>
            <a:ext cx="327141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5F7299"/>
                </a:solidFill>
                <a:latin typeface="Plus Jakarta Sans Medium"/>
              </a:rPr>
              <a:t>WHO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1500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D7E0F2"/>
                </a:solidFill>
                <a:latin typeface="Plus Jakarta Sans"/>
              </a:rPr>
              <a:t>Behind them: 63 million family caregivers.   </a:t>
            </a:r>
            <a:r>
              <a:rPr sz="1700" b="0">
                <a:solidFill>
                  <a:srgbClr val="93A4C7"/>
                </a:solidFill>
                <a:latin typeface="Plus Jakarta Sans"/>
              </a:rPr>
              <a:t>AARP &amp; NAC, 2025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03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apps. Four accounts. Four clouds.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Medication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15768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990087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Video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90087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0016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74336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Health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record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84264" y="2468880"/>
            <a:ext cx="1783080" cy="20116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58583" y="2761488"/>
            <a:ext cx="13258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Family</a:t>
            </a:r>
          </a:p>
          <a:p>
            <a:pPr algn="l">
              <a:lnSpc>
                <a:spcPts val="2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updates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88620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 Medium"/>
              </a:rPr>
              <a:t>account · cloud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04504" y="3474720"/>
            <a:ext cx="566928" cy="0"/>
          </a:xfrm>
          <a:prstGeom prst="line">
            <a:avLst/>
          </a:prstGeom>
          <a:ln w="31750">
            <a:solidFill>
              <a:srgbClr val="06E28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381744" y="2240280"/>
            <a:ext cx="2078431" cy="2468880"/>
          </a:xfrm>
          <a:prstGeom prst="roundRect">
            <a:avLst>
              <a:gd name="adj" fmla="val 8798"/>
            </a:avLst>
          </a:prstGeom>
          <a:solidFill>
            <a:srgbClr val="06E288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74352" y="2450592"/>
            <a:ext cx="1621231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ExtraBold"/>
              </a:rPr>
              <a:t>CareSphere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74352" y="3035808"/>
            <a:ext cx="1621231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1 app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accounts</a:t>
            </a:r>
          </a:p>
          <a:p>
            <a:pPr algn="l">
              <a:lnSpc>
                <a:spcPts val="2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0">
                <a:solidFill>
                  <a:srgbClr val="0A1324"/>
                </a:solidFill>
                <a:latin typeface="Plus Jakarta Sans Medium"/>
              </a:rPr>
              <a:t>0 clouds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4924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Medisafe · FaceTime · MyChart · CaringBridge — none designed for autistic users.</a:t>
            </a:r>
          </a:p>
        </p:txBody>
      </p:sp>
      <p:pic>
        <p:nvPicPr>
          <p:cNvPr id="22" name="Picture 2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3" name="TextBox 2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04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One calm app. Five tabs. Zero servers.</a:t>
            </a:r>
          </a:p>
        </p:txBody>
      </p:sp>
      <p:pic>
        <p:nvPicPr>
          <p:cNvPr id="5" name="Picture 4" descr="phone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50" y="1737360"/>
            <a:ext cx="2286000" cy="44911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2050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Overview</a:t>
            </a:r>
          </a:p>
        </p:txBody>
      </p:sp>
      <p:pic>
        <p:nvPicPr>
          <p:cNvPr id="7" name="Picture 6" descr="phone-activit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449" y="1737360"/>
            <a:ext cx="2286000" cy="4491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07449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Activities</a:t>
            </a:r>
          </a:p>
        </p:txBody>
      </p:sp>
      <p:pic>
        <p:nvPicPr>
          <p:cNvPr id="9" name="Picture 8" descr="phone-circl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847" y="1737360"/>
            <a:ext cx="2286000" cy="449115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52847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Coffee Circles</a:t>
            </a:r>
          </a:p>
        </p:txBody>
      </p:sp>
      <p:pic>
        <p:nvPicPr>
          <p:cNvPr id="11" name="Picture 10" descr="phone-ca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8246" y="1737360"/>
            <a:ext cx="2286000" cy="44911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8246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Care Circle</a:t>
            </a:r>
          </a:p>
        </p:txBody>
      </p:sp>
      <p:pic>
        <p:nvPicPr>
          <p:cNvPr id="13" name="Picture 12" descr="phone-vital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3644" y="1737360"/>
            <a:ext cx="2286000" cy="449115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443644" y="6053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1">
                <a:solidFill>
                  <a:srgbClr val="FFFFFF"/>
                </a:solidFill>
                <a:latin typeface="Plus Jakarta Sans"/>
              </a:rPr>
              <a:t>Vitals</a:t>
            </a:r>
          </a:p>
        </p:txBody>
      </p:sp>
      <p:pic>
        <p:nvPicPr>
          <p:cNvPr id="15" name="Picture 14" descr="i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05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Let’s see it.</a:t>
            </a:r>
          </a:p>
        </p:txBody>
      </p:sp>
      <p:pic>
        <p:nvPicPr>
          <p:cNvPr id="5" name="Picture 4" descr="web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71600"/>
            <a:ext cx="7772400" cy="553639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203911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23960" y="196596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Real video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3960" y="242316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no account needed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3364991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823960" y="3291839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Honest vitals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3749039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every card says LIVE or SIMULATED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49640" y="4690872"/>
            <a:ext cx="36576" cy="868680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23960" y="4617720"/>
            <a:ext cx="263621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A brief you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5074920"/>
            <a:ext cx="2636215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pick · preview · download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5852160"/>
            <a:ext cx="25478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23960" y="5852160"/>
            <a:ext cx="2547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spc="100">
                <a:solidFill>
                  <a:srgbClr val="06E288"/>
                </a:solidFill>
                <a:latin typeface="Plus Jakarta Sans"/>
              </a:rPr>
              <a:t>REAL APP · NOTHING STAGED</a:t>
            </a:r>
          </a:p>
        </p:txBody>
      </p:sp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06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WHAT MAKES IT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Four rules, written into the code.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Never fabricate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every reading says LIVE or SIMULATED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210312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90207" y="2450591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1727" y="240487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Nothing sent automatically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1727" y="299923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a person always taps Send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Calm by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no timers, scores or auto-advance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78727" y="4206240"/>
            <a:ext cx="5181447" cy="1783080"/>
          </a:xfrm>
          <a:prstGeom prst="roundRect">
            <a:avLst>
              <a:gd name="adj" fmla="val 10256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690207" y="455371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spc="100">
                <a:solidFill>
                  <a:srgbClr val="06E288"/>
                </a:solidFill>
                <a:latin typeface="Plus Jakarta San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1727" y="4507992"/>
            <a:ext cx="3718407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FFFFFF"/>
                </a:solidFill>
                <a:latin typeface="Plus Jakarta Sans"/>
              </a:rPr>
              <a:t>Private by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1727" y="5102352"/>
            <a:ext cx="3718407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no account, no server, encrypted</a:t>
            </a:r>
          </a:p>
        </p:txBody>
      </p:sp>
      <p:pic>
        <p:nvPicPr>
          <p:cNvPr id="21" name="Picture 20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07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WHO IT’S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Built for three people at once.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Older adults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routines, reminders, real company</a:t>
            </a:r>
          </a:p>
        </p:txBody>
      </p:sp>
      <p:pic>
        <p:nvPicPr>
          <p:cNvPr id="8" name="Picture 7" descr="crop-rout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894809"/>
            <a:ext cx="2600858" cy="1911630"/>
          </a:xfrm>
          <a:prstGeom prst="roundRect">
            <a:avLst>
              <a:gd name="adj" fmla="val 5442"/>
            </a:avLst>
          </a:prstGeom>
        </p:spPr>
      </p:pic>
      <p:sp>
        <p:nvSpPr>
          <p:cNvPr id="9" name="Rounded Rectangle 8"/>
          <p:cNvSpPr/>
          <p:nvPr/>
        </p:nvSpPr>
        <p:spPr>
          <a:xfrm>
            <a:off x="4429658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795418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FFFFFF"/>
                </a:solidFill>
                <a:latin typeface="Plus Jakarta Sans"/>
              </a:rPr>
              <a:t>Autistic teens &amp; adults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5418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predictable, untimed, sensory-calm</a:t>
            </a:r>
          </a:p>
        </p:txBody>
      </p:sp>
      <p:pic>
        <p:nvPicPr>
          <p:cNvPr id="12" name="Picture 11" descr="crop-soundsca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5418" y="3998843"/>
            <a:ext cx="2600858" cy="1807596"/>
          </a:xfrm>
          <a:prstGeom prst="roundRect">
            <a:avLst>
              <a:gd name="adj" fmla="val 5755"/>
            </a:avLst>
          </a:prstGeom>
        </p:spPr>
      </p:pic>
      <p:sp>
        <p:nvSpPr>
          <p:cNvPr id="13" name="Rounded Rectangle 12"/>
          <p:cNvSpPr/>
          <p:nvPr/>
        </p:nvSpPr>
        <p:spPr>
          <a:xfrm>
            <a:off x="8127796" y="2103120"/>
            <a:ext cx="3332378" cy="3977639"/>
          </a:xfrm>
          <a:prstGeom prst="roundRect">
            <a:avLst>
              <a:gd name="adj" fmla="val 5487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93556" y="2423160"/>
            <a:ext cx="26008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Family caregivers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93556" y="2926080"/>
            <a:ext cx="2600858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93A4C7"/>
                </a:solidFill>
                <a:latin typeface="Plus Jakarta Sans"/>
              </a:rPr>
              <a:t>notes and a brief they can trust</a:t>
            </a:r>
          </a:p>
        </p:txBody>
      </p:sp>
      <p:pic>
        <p:nvPicPr>
          <p:cNvPr id="16" name="Picture 15" descr="crop-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585" y="3703320"/>
            <a:ext cx="2580800" cy="2103120"/>
          </a:xfrm>
          <a:prstGeom prst="roundRect">
            <a:avLst>
              <a:gd name="adj" fmla="val 4908"/>
            </a:avLst>
          </a:prstGeom>
        </p:spPr>
      </p:pic>
      <p:pic>
        <p:nvPicPr>
          <p:cNvPr id="17" name="Picture 16" descr="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08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Everything stays on the device.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servers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331720"/>
            <a:ext cx="2057400" cy="1402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794759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06E288"/>
                </a:solidFill>
                <a:latin typeface="Plus Jakarta Sans Medium"/>
              </a:rPr>
              <a:t>trackers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2514600"/>
            <a:ext cx="27432" cy="2743200"/>
          </a:xfrm>
          <a:prstGeom prst="rect">
            <a:avLst/>
          </a:prstGeom>
          <a:solidFill>
            <a:srgbClr val="FFFFFF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18119" y="2468880"/>
            <a:ext cx="3642055" cy="292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AES-256 encrypted on the device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AI health guide runs on the phone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Bluetooth &amp; HealthKit read locally</a:t>
            </a:r>
          </a:p>
          <a:p>
            <a:pPr algn="l">
              <a:lnSpc>
                <a:spcPts val="2470"/>
              </a:lnSpc>
              <a:spcBef>
                <a:spcPts val="0"/>
              </a:spcBef>
              <a:spcAft>
                <a:spcPts val="130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Face ID lock · export · erase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Only live video calls — and a message you tap to send — ever leave the phone.</a:t>
            </a:r>
          </a:p>
        </p:txBody>
      </p:sp>
      <p:pic>
        <p:nvPicPr>
          <p:cNvPr id="14" name="Picture 1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5" name="TextBox 14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09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HOW IT’S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Two clients. One promise. No server.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Web 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84167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084167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JAVASCRIPT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React · Vite · Tailwind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Bluetooth · Web Audio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Web Crypto · installable PWA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181447" cy="2240280"/>
          </a:xfrm>
          <a:prstGeom prst="roundRect">
            <a:avLst>
              <a:gd name="adj" fmla="val 8163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90207" y="2377440"/>
            <a:ext cx="4358487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FFFFFF"/>
                </a:solidFill>
                <a:latin typeface="Plus Jakarta Sans"/>
              </a:rPr>
              <a:t>iPhone 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31375" y="2432304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631375" y="2432304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SWIFT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0207" y="2971800"/>
            <a:ext cx="4358487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SwiftUI · HealthKit · CoreBluetooth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CryptoKit · Face ID</a:t>
            </a:r>
          </a:p>
          <a:p>
            <a:pPr algn="l" marL="237744" indent="-237744">
              <a:lnSpc>
                <a:spcPts val="2250"/>
              </a:lnSpc>
              <a:spcBef>
                <a:spcPts val="0"/>
              </a:spcBef>
              <a:spcAft>
                <a:spcPts val="500"/>
              </a:spcAft>
              <a:buClr>
                <a:srgbClr val="06E288"/>
              </a:buClr>
              <a:buFont typeface="Plus Jakarta Sans"/>
              <a:buChar char="•"/>
            </a:pPr>
            <a:r>
              <a:rPr sz="1800" b="0">
                <a:solidFill>
                  <a:srgbClr val="D7E0F2"/>
                </a:solidFill>
                <a:latin typeface="Plus Jakarta Sans"/>
              </a:rPr>
              <a:t>llama.cpp · Sherpa-ONNX · Jitsi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11,400+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lines of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17 / 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123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tests passing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CI pipelines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331" y="4709160"/>
            <a:ext cx="2407843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5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>
                <a:solidFill>
                  <a:srgbClr val="FFFFFF"/>
                </a:solidFill>
                <a:latin typeface="Plus Jakarta Sans Extra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331" y="5532120"/>
            <a:ext cx="2407843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6E288"/>
                </a:solidFill>
                <a:latin typeface="Plus Jakarta Sans Medium"/>
              </a:rPr>
              <a:t>public releases</a:t>
            </a:r>
          </a:p>
        </p:txBody>
      </p:sp>
      <p:pic>
        <p:nvPicPr>
          <p:cNvPr id="23" name="Picture 2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10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HARDEST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Making Bluetooth honest.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Heart-rate notifications arrive late and out of order — a stale sensor could repaint a new card with a wrong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6440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278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Parse the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6301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service 0x180D · flags byte → 8/16-bit BPM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788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1422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Label at the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445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each sample is born LIVE or SIMULATED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93207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spc="100">
                <a:solidFill>
                  <a:srgbClr val="06E288"/>
                </a:solidFill>
                <a:latin typeface="Plus Jakarta San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50566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Drop stale sessions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45896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a generation counter ignores old pairings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2011680"/>
            <a:ext cx="4785055" cy="3931920"/>
          </a:xfrm>
          <a:prstGeom prst="roundRect">
            <a:avLst>
              <a:gd name="adj" fmla="val 4651"/>
            </a:avLst>
          </a:prstGeom>
          <a:solidFill>
            <a:srgbClr val="0A1324">
              <a:alpha val="75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040880" y="2240280"/>
            <a:ext cx="4053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20">
                <a:solidFill>
                  <a:srgbClr val="06E288"/>
                </a:solidFill>
                <a:latin typeface="Plus Jakarta Sans"/>
              </a:rPr>
              <a:t>src/lib/bluetooth.js  ·  src/App.jsx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651760"/>
            <a:ext cx="4053535" cy="3200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flags = dv.getUint8(0)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bpm = flags &amp; 0x1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? dv.getUint16(1, true)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: dv.getUint8(1)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(bpm &gt; 20 &amp;&amp; bpm &lt; 250) onReading(bpm)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const source 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hrModeRef.current === 'live'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? 'LIVE_BLE' : 'SIMULATED'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if (generation !==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  hrConnectionGenerationRef.current)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>
                <a:solidFill>
                  <a:srgbClr val="D7E0F2"/>
                </a:solidFill>
                <a:latin typeface="JetBrains Mono"/>
              </a:rPr>
              <a:t>  return</a:t>
            </a:r>
          </a:p>
        </p:txBody>
      </p:sp>
      <p:pic>
        <p:nvPicPr>
          <p:cNvPr id="18" name="Picture 1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9" name="TextBox 1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11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44652"/>
            <a:ext cx="256032" cy="32004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97280" y="5303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Shipped and tested. Next: built with the people it serves.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2642616"/>
            <a:ext cx="10362895" cy="0"/>
          </a:xfrm>
          <a:prstGeom prst="line">
            <a:avLst/>
          </a:prstGeom>
          <a:ln w="19050">
            <a:solidFill>
              <a:srgbClr val="FFFFFF">
                <a:alpha val="18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86384" y="2514600"/>
            <a:ext cx="256032" cy="256032"/>
          </a:xfrm>
          <a:prstGeom prst="ellipse">
            <a:avLst/>
          </a:prstGeom>
          <a:solidFill>
            <a:srgbClr val="06E288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34440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v2.2 on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3 releases · 17 tests · CI for web and iOS</a:t>
            </a:r>
          </a:p>
        </p:txBody>
      </p:sp>
      <p:sp>
        <p:nvSpPr>
          <p:cNvPr id="10" name="Oval 9"/>
          <p:cNvSpPr/>
          <p:nvPr/>
        </p:nvSpPr>
        <p:spPr>
          <a:xfrm>
            <a:off x="4484522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932578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NEXT · V2.0 OF THIS 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4522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Co-design &amp; TestFlight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4522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sessions with autistic people, people with dementia, caregivers</a:t>
            </a:r>
          </a:p>
        </p:txBody>
      </p:sp>
      <p:sp>
        <p:nvSpPr>
          <p:cNvPr id="14" name="Oval 13"/>
          <p:cNvSpPr/>
          <p:nvPr/>
        </p:nvSpPr>
        <p:spPr>
          <a:xfrm>
            <a:off x="8182660" y="2514600"/>
            <a:ext cx="256032" cy="256032"/>
          </a:xfrm>
          <a:prstGeom prst="ellipse">
            <a:avLst/>
          </a:prstGeom>
          <a:solidFill>
            <a:srgbClr val="0A1324"/>
          </a:solidFill>
          <a:ln w="25400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630716" y="2478024"/>
            <a:ext cx="278373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THEN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2660" y="3108960"/>
            <a:ext cx="305805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FFFFFF"/>
                </a:solidFill>
                <a:latin typeface="Plus Jakarta Sans"/>
              </a:rPr>
              <a:t>Real data, no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2660" y="3703320"/>
            <a:ext cx="2966618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93A4C7"/>
                </a:solidFill>
                <a:latin typeface="Plus Jakarta Sans"/>
              </a:rPr>
              <a:t>sensor history in the visit brief · encrypted backup · Spanish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212080"/>
            <a:ext cx="10728655" cy="731520"/>
          </a:xfrm>
          <a:prstGeom prst="roundRect">
            <a:avLst>
              <a:gd name="adj" fmla="val 2500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40">
                <a:solidFill>
                  <a:srgbClr val="06E288"/>
                </a:solidFill>
                <a:latin typeface="Plus Jakarta Sans"/>
              </a:rPr>
              <a:t>RELEASES ·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0" y="5413248"/>
            <a:ext cx="133502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74720" y="5413248"/>
            <a:ext cx="13350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V1.0 · SEP 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5413248"/>
            <a:ext cx="13540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010912" y="5413248"/>
            <a:ext cx="13540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V2.0 · SEP 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66153" y="5413248"/>
            <a:ext cx="14048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66153" y="5413248"/>
            <a:ext cx="1404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V2.1 · SEP 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2195" y="5413248"/>
            <a:ext cx="2065274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72195" y="5413248"/>
            <a:ext cx="20652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FFFFFF"/>
                </a:solidFill>
                <a:latin typeface="Plus Jakarta Sans"/>
              </a:rPr>
              <a:t>V2.2 · BUILDING IN CI</a:t>
            </a:r>
          </a:p>
        </p:txBody>
      </p:sp>
      <p:pic>
        <p:nvPicPr>
          <p:cNvPr id="28" name="Picture 27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9" name="TextBox 28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88575" y="6400800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spc="60">
                <a:solidFill>
                  <a:srgbClr val="5F7299"/>
                </a:solidFill>
                <a:latin typeface="Plus Jakarta Sans Medium"/>
              </a:rPr>
              <a:t>12  /  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26080" y="-3108960"/>
            <a:ext cx="8686800" cy="8686800"/>
          </a:xfrm>
          <a:prstGeom prst="rect">
            <a:avLst/>
          </a:prstGeom>
        </p:spPr>
      </p:pic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34440"/>
            <a:ext cx="914400" cy="914400"/>
          </a:xfrm>
          <a:prstGeom prst="roundRect">
            <a:avLst>
              <a:gd name="adj" fmla="val 24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731520" y="2423160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>
                <a:solidFill>
                  <a:srgbClr val="FFFFFF"/>
                </a:solidFill>
                <a:latin typeface="Plus Jakarta Sans ExtraBold"/>
              </a:rPr>
              <a:t>Care that stays yours.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Connected, calm and private — with no account, no server and no fabricated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920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Try the web app  ·  read the code  ·  watch the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FFFFFF"/>
                </a:solidFill>
                <a:latin typeface="Plus Jakarta Sans Medium"/>
              </a:rPr>
              <a:t>github.com/engineer2025-sudo/Care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0644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93A4C7"/>
                </a:solidFill>
                <a:latin typeface="Plus Jakarta Sans"/>
              </a:rPr>
              <a:t>[Student Name]  ·  [email@example.com]  ·  [School], [City], California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34095" y="1600200"/>
            <a:ext cx="2926080" cy="3657600"/>
          </a:xfrm>
          <a:prstGeom prst="roundRect">
            <a:avLst>
              <a:gd name="adj" fmla="val 6250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5575" y="1874519"/>
            <a:ext cx="2103120" cy="2103120"/>
          </a:xfrm>
          <a:prstGeom prst="roundRect">
            <a:avLst>
              <a:gd name="adj" fmla="val 6086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8534095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rgbClr val="FFFFFF"/>
                </a:solidFill>
                <a:latin typeface="Plus Jakarta Sans"/>
              </a:rPr>
              <a:t>Source, docs &amp; install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34095" y="45262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Demo video: [YouTube link]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 thruBlk="1"/>
      </p:transition>
    </mc:Choice>
    <mc:Fallback>
      <p:transition spd="slow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