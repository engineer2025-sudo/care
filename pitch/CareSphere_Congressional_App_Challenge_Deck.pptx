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Hi, I'm [NAME], a [GRADE] at [SCHOOL] in [CITY], California. This is CareSphere AI — a privacy-first care companion for older adults, autistic people and the families who look after them, built as a native iPhone app and an installable web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[0:15–0:33] One in four older adults is socially isolated — a 29 percent higher risk of early death. One in 31 children is autistic. Half of long-term medications aren't taken as prescribed. And 63 million family caregivers are coping with apps that demand an account and send everything to the cloud.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[0:33–0:50] [Your story in one sentence.] I wrote four rules into the code: never fabricate a reading, never send anything automatically, stay calm by default, and keep everything private by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[0:50–1:02, with slide 5] Five calm tabs — Overview, Activities, Coffee Circles, Care Circle and Vitals — plus an offline Health Guide on iPhone, designed for older adults, autistic teens and adults, and their caregivers.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[0:50–1:02, continued from slide 4] …designed for older adults living independently, autistic teens and adults, and the family caregivers who support them — all in one place, without an account.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[1:02–1:05] Let me show you. (Switch to the screen recording — 1:05–2:05. Follow the eight-step shot list in VIDEO_SCRIPT.md; call out the LIVE BLE / SIMULATED labels and the "nothing is uploaded" moment in the visit brief.)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Routines and mood are keyed to the local day. Medication reminders only begin after the user explicitly confirms a schedule; the reminder loop checks every 15 seconds and offers Taken (a self-report) or a 10-minute snooze.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Coffee Circles are real Jitsi Meet rooms — three scheduled themes plus an ad-hoc room — embedded with the Jitsi External API on the web and the native JitsiMeetSDK on iPhone. No account is needed, and the app is honest that it has no moderator because it has no server.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real Web Bluetooth: the app subscribes to the standard heart-rate characteristic and parses the flags byte. Every card is labeled LIVE BLE or SIMULATED, and if you cancel pairing nothing is invented. On iPhone, CoreBluetooth and HealthKit feed the same honest pipeline.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Activities are untimed and unscored. The four soundscapes are generated live with the Web Audio API — filtered noise, slow swells, procedural birdsong and crackle — so there are no audio files and everything works offline. The breathing tool uses a 4-4-6 rhythm.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visit brief lets the user choose every field, preview the exact text, and save or share it themselves. Simulated data is excluded unless they opt in, and even then it is labeled. Nothing is uploaded anywhere.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deliberately boring: a deterministic flow. If a live heart-rate stays above 110 for 90 seconds, or the user taps "I'm stressed", the app asks whether they are moving, how they feel, breathes with them, checks again, and only then offers a text, a video room or 911. The user always taps Send.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Health Guide answers health questions without the internet. A deterministic safety gate runs first; then MedlinePlus topics and an optional local Wikipedia are searched; then a 1.5-billion-parameter Qwen model runs on the phone itself through llama.cpp. There is no API key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encrypted at rest with AES-256-GCM — a non-extractable Web Crypto key on the web and a device-only Keychain key on iPhone. There is no account and no server. Accessibility is built in: three text sizes, warm-light and high-contrast themes, reduced motion and spoken reminders.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[2:05–2:17] The web app is React and JavaScript with Web Bluetooth, Web Audio and Web Crypto; the iPhone app is Swift and SwiftUI with HealthKit, CoreBluetooth, CryptoKit and llama.cpp — eleven thousand lines of code, seventeen automated tests, zero servers.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[2:17–2:25] The hardest problem was keeping Bluetooth honest: a late notification from an old sensor could repaint a new card, so I label every sample at the source and drop stale connections with a generation counter.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products each solve one slice — and almost all need an account and a cloud. CareSphere is the combination: connection, routines, honest vitals, autism-friendly tools, offline AI and safety, with no server at all. And it is honest about what it is not.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[2:25–2:43] I learned that honest engineering beats impressive demos, and that accessibility is a design input, not a checkbox. Version 2.0 starts with co-design sessions with autistic people, people living with dementia and caregivers, adds real sensor data to the visit brief, and encrypted backup that still needs no server.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[2:43–2:52] CareSphere AI — care that stays yours. The code and install guide are on GitHub.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4.png"/><Relationship Id="rId5"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pic>
        <p:nvPicPr>
          <p:cNvPr id="2" name="Picture 1" descr="glow.png"/>
          <p:cNvPicPr>
            <a:picLocks noChangeAspect="1"/>
          </p:cNvPicPr>
          <p:nvPr/>
        </p:nvPicPr>
        <p:blipFill>
          <a:blip r:embed="rId2"/>
          <a:stretch>
            <a:fillRect/>
          </a:stretch>
        </p:blipFill>
        <p:spPr>
          <a:xfrm>
            <a:off x="6583680" y="-2011680"/>
            <a:ext cx="8229600" cy="8229600"/>
          </a:xfrm>
          <a:prstGeom prst="rect">
            <a:avLst/>
          </a:prstGeom>
        </p:spPr>
      </p:pic>
      <p:sp>
        <p:nvSpPr>
          <p:cNvPr id="3" name="Rounded Rectangle 2"/>
          <p:cNvSpPr/>
          <p:nvPr/>
        </p:nvSpPr>
        <p:spPr>
          <a:xfrm>
            <a:off x="548640" y="502920"/>
            <a:ext cx="73152" cy="1005840"/>
          </a:xfrm>
          <a:prstGeom prst="roundRect">
            <a:avLst>
              <a:gd name="adj" fmla="val 50000"/>
            </a:avLst>
          </a:prstGeom>
          <a:solidFill>
            <a:srgbClr val="5B8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59" y="502920"/>
            <a:ext cx="6858000"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9FC1AA"/>
                </a:solidFill>
                <a:latin typeface="Arial"/>
              </a:rPr>
              <a:t>CONGRESSIONAL APP CHALLENGE 2026  ·  [CA-XX]</a:t>
            </a:r>
          </a:p>
        </p:txBody>
      </p:sp>
      <p:pic>
        <p:nvPicPr>
          <p:cNvPr id="5" name="Picture 4" descr="icon.png"/>
          <p:cNvPicPr>
            <a:picLocks noChangeAspect="1"/>
          </p:cNvPicPr>
          <p:nvPr/>
        </p:nvPicPr>
        <p:blipFill>
          <a:blip r:embed="rId3"/>
          <a:stretch>
            <a:fillRect/>
          </a:stretch>
        </p:blipFill>
        <p:spPr>
          <a:xfrm>
            <a:off x="777240" y="868680"/>
            <a:ext cx="777240" cy="777240"/>
          </a:xfrm>
          <a:prstGeom prst="roundRect">
            <a:avLst>
              <a:gd name="adj" fmla="val 22352"/>
            </a:avLst>
          </a:prstGeom>
        </p:spPr>
      </p:pic>
      <p:sp>
        <p:nvSpPr>
          <p:cNvPr id="6" name="TextBox 5"/>
          <p:cNvSpPr txBox="1"/>
          <p:nvPr/>
        </p:nvSpPr>
        <p:spPr>
          <a:xfrm>
            <a:off x="1737360" y="868680"/>
            <a:ext cx="6858000" cy="822960"/>
          </a:xfrm>
          <a:prstGeom prst="rect">
            <a:avLst/>
          </a:prstGeom>
          <a:noFill/>
        </p:spPr>
        <p:txBody>
          <a:bodyPr wrap="square" lIns="0" rIns="0" tIns="0" bIns="0" anchor="ctr">
            <a:noAutofit/>
          </a:bodyPr>
          <a:lstStyle/>
          <a:p>
            <a:pPr algn="l">
              <a:lnSpc>
                <a:spcPts val="6000"/>
              </a:lnSpc>
              <a:spcBef>
                <a:spcPts val="0"/>
              </a:spcBef>
              <a:spcAft>
                <a:spcPts val="0"/>
              </a:spcAft>
              <a:buNone/>
            </a:pPr>
            <a:r>
              <a:rPr sz="5000" b="1" i="0">
                <a:solidFill>
                  <a:srgbClr val="F4F6F2"/>
                </a:solidFill>
                <a:latin typeface="Arial"/>
              </a:rPr>
              <a:t>CareSphere AI</a:t>
            </a:r>
          </a:p>
        </p:txBody>
      </p:sp>
      <p:sp>
        <p:nvSpPr>
          <p:cNvPr id="7" name="TextBox 6"/>
          <p:cNvSpPr txBox="1"/>
          <p:nvPr/>
        </p:nvSpPr>
        <p:spPr>
          <a:xfrm>
            <a:off x="548640" y="1965960"/>
            <a:ext cx="6766560" cy="457200"/>
          </a:xfrm>
          <a:prstGeom prst="rect">
            <a:avLst/>
          </a:prstGeom>
          <a:noFill/>
        </p:spPr>
        <p:txBody>
          <a:bodyPr wrap="square" lIns="0" rIns="0" tIns="0" bIns="0" anchor="t">
            <a:noAutofit/>
          </a:bodyPr>
          <a:lstStyle/>
          <a:p>
            <a:pPr algn="l">
              <a:lnSpc>
                <a:spcPts val="2640"/>
              </a:lnSpc>
              <a:spcBef>
                <a:spcPts val="0"/>
              </a:spcBef>
              <a:spcAft>
                <a:spcPts val="0"/>
              </a:spcAft>
              <a:buNone/>
            </a:pPr>
            <a:r>
              <a:rPr sz="2200" b="0" i="0">
                <a:solidFill>
                  <a:srgbClr val="9FC1AA"/>
                </a:solidFill>
                <a:latin typeface="Arial"/>
              </a:rPr>
              <a:t>Connected care for independent living</a:t>
            </a:r>
          </a:p>
        </p:txBody>
      </p:sp>
      <p:sp>
        <p:nvSpPr>
          <p:cNvPr id="8" name="TextBox 7"/>
          <p:cNvSpPr txBox="1"/>
          <p:nvPr/>
        </p:nvSpPr>
        <p:spPr>
          <a:xfrm>
            <a:off x="548640" y="2606040"/>
            <a:ext cx="6309360" cy="1463040"/>
          </a:xfrm>
          <a:prstGeom prst="rect">
            <a:avLst/>
          </a:prstGeom>
          <a:noFill/>
        </p:spPr>
        <p:txBody>
          <a:bodyPr wrap="square" lIns="0" rIns="0" tIns="0" bIns="0" anchor="t">
            <a:noAutofit/>
          </a:bodyPr>
          <a:lstStyle/>
          <a:p>
            <a:pPr algn="l">
              <a:lnSpc>
                <a:spcPts val="2080"/>
              </a:lnSpc>
              <a:spcBef>
                <a:spcPts val="0"/>
              </a:spcBef>
              <a:spcAft>
                <a:spcPts val="0"/>
              </a:spcAft>
              <a:buNone/>
            </a:pPr>
            <a:r>
              <a:rPr sz="1600" b="0" i="0">
                <a:solidFill>
                  <a:srgbClr val="C3CEC4"/>
                </a:solidFill>
                <a:latin typeface="Arial"/>
              </a:rPr>
              <a:t>A </a:t>
            </a:r>
            <a:r>
              <a:rPr sz="1600" b="1" i="0">
                <a:solidFill>
                  <a:srgbClr val="F4F6F2"/>
                </a:solidFill>
                <a:latin typeface="Arial"/>
              </a:rPr>
              <a:t>privacy-first companion</a:t>
            </a:r>
            <a:r>
              <a:rPr sz="1600" b="0" i="0">
                <a:solidFill>
                  <a:srgbClr val="C3CEC4"/>
                </a:solidFill>
                <a:latin typeface="Arial"/>
              </a:rPr>
              <a:t> for older adults, autistic people and the families who care for them — real video coffee circles, honest wearable vitals, calm sensory tools and an AI health guide that never leaves the phone.</a:t>
            </a:r>
          </a:p>
        </p:txBody>
      </p:sp>
      <p:cxnSp>
        <p:nvCxnSpPr>
          <p:cNvPr id="9" name="Connector 8"/>
          <p:cNvCxnSpPr/>
          <p:nvPr/>
        </p:nvCxnSpPr>
        <p:spPr>
          <a:xfrm>
            <a:off x="548640" y="4343400"/>
            <a:ext cx="6309360" cy="0"/>
          </a:xfrm>
          <a:prstGeom prst="line">
            <a:avLst/>
          </a:prstGeom>
          <a:ln w="12700">
            <a:solidFill>
              <a:srgbClr val="3C4B4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4526280"/>
            <a:ext cx="6309360" cy="320040"/>
          </a:xfrm>
          <a:prstGeom prst="rect">
            <a:avLst/>
          </a:prstGeom>
          <a:noFill/>
        </p:spPr>
        <p:txBody>
          <a:bodyPr wrap="square" lIns="0" rIns="0" tIns="0" bIns="0" anchor="t">
            <a:noAutofit/>
          </a:bodyPr>
          <a:lstStyle/>
          <a:p>
            <a:pPr algn="l">
              <a:lnSpc>
                <a:spcPts val="1680"/>
              </a:lnSpc>
              <a:spcBef>
                <a:spcPts val="0"/>
              </a:spcBef>
              <a:spcAft>
                <a:spcPts val="0"/>
              </a:spcAft>
              <a:buNone/>
            </a:pPr>
            <a:r>
              <a:rPr sz="1400" b="1" i="0">
                <a:solidFill>
                  <a:srgbClr val="F4F6F2"/>
                </a:solidFill>
                <a:latin typeface="Arial"/>
              </a:rPr>
              <a:t>[Student Name]  ·  [Grade]  ·  [School], [City], CA</a:t>
            </a:r>
          </a:p>
        </p:txBody>
      </p:sp>
      <p:sp>
        <p:nvSpPr>
          <p:cNvPr id="11" name="TextBox 10"/>
          <p:cNvSpPr txBox="1"/>
          <p:nvPr/>
        </p:nvSpPr>
        <p:spPr>
          <a:xfrm>
            <a:off x="548640" y="4864608"/>
            <a:ext cx="6309360" cy="320040"/>
          </a:xfrm>
          <a:prstGeom prst="rect">
            <a:avLst/>
          </a:prstGeom>
          <a:noFill/>
        </p:spPr>
        <p:txBody>
          <a:bodyPr wrap="square" lIns="0" rIns="0" tIns="0" bIns="0" anchor="t">
            <a:noAutofit/>
          </a:bodyPr>
          <a:lstStyle/>
          <a:p>
            <a:pPr algn="l">
              <a:lnSpc>
                <a:spcPts val="1500"/>
              </a:lnSpc>
              <a:spcBef>
                <a:spcPts val="0"/>
              </a:spcBef>
              <a:spcAft>
                <a:spcPts val="0"/>
              </a:spcAft>
              <a:buNone/>
            </a:pPr>
            <a:r>
              <a:rPr sz="1250" b="0" i="0">
                <a:solidFill>
                  <a:srgbClr val="A2B0A3"/>
                </a:solidFill>
                <a:latin typeface="Arial"/>
              </a:rPr>
              <a:t>Native iOS app (SwiftUI)  +  installable web app (React PWA)</a:t>
            </a:r>
          </a:p>
        </p:txBody>
      </p:sp>
      <p:sp>
        <p:nvSpPr>
          <p:cNvPr id="12" name="Rounded Rectangle 11"/>
          <p:cNvSpPr/>
          <p:nvPr/>
        </p:nvSpPr>
        <p:spPr>
          <a:xfrm>
            <a:off x="548640" y="5349240"/>
            <a:ext cx="1823720" cy="256032"/>
          </a:xfrm>
          <a:prstGeom prst="roundRect">
            <a:avLst>
              <a:gd name="adj" fmla="val 50000"/>
            </a:avLst>
          </a:prstGeom>
          <a:solidFill>
            <a:srgbClr val="28352C"/>
          </a:solidFill>
          <a:ln w="9525">
            <a:solidFill>
              <a:srgbClr val="9FC1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5349240"/>
            <a:ext cx="1823720" cy="256032"/>
          </a:xfrm>
          <a:prstGeom prst="rect">
            <a:avLst/>
          </a:prstGeom>
          <a:noFill/>
        </p:spPr>
        <p:txBody>
          <a:bodyPr wrap="square" lIns="0" rIns="0" tIns="0" bIns="0" anchor="ctr">
            <a:noAutofit/>
          </a:bodyPr>
          <a:lstStyle/>
          <a:p>
            <a:pPr algn="ctr">
              <a:lnSpc>
                <a:spcPts val="1200"/>
              </a:lnSpc>
              <a:spcBef>
                <a:spcPts val="0"/>
              </a:spcBef>
              <a:spcAft>
                <a:spcPts val="0"/>
              </a:spcAft>
              <a:buNone/>
            </a:pPr>
            <a:r>
              <a:rPr sz="1000" b="1" i="0">
                <a:solidFill>
                  <a:srgbClr val="9FC1AA"/>
                </a:solidFill>
                <a:latin typeface="Arial"/>
              </a:rPr>
              <a:t>ISOLATION PREVENTION</a:t>
            </a:r>
          </a:p>
        </p:txBody>
      </p:sp>
      <p:sp>
        <p:nvSpPr>
          <p:cNvPr id="14" name="Rounded Rectangle 13"/>
          <p:cNvSpPr/>
          <p:nvPr/>
        </p:nvSpPr>
        <p:spPr>
          <a:xfrm>
            <a:off x="2509520" y="5349240"/>
            <a:ext cx="1410970" cy="256032"/>
          </a:xfrm>
          <a:prstGeom prst="roundRect">
            <a:avLst>
              <a:gd name="adj" fmla="val 50000"/>
            </a:avLst>
          </a:prstGeom>
          <a:solidFill>
            <a:srgbClr val="28352C"/>
          </a:solidFill>
          <a:ln w="9525">
            <a:solidFill>
              <a:srgbClr val="A08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509520" y="5349240"/>
            <a:ext cx="1410970" cy="256032"/>
          </a:xfrm>
          <a:prstGeom prst="rect">
            <a:avLst/>
          </a:prstGeom>
          <a:noFill/>
        </p:spPr>
        <p:txBody>
          <a:bodyPr wrap="square" lIns="0" rIns="0" tIns="0" bIns="0" anchor="ctr">
            <a:noAutofit/>
          </a:bodyPr>
          <a:lstStyle/>
          <a:p>
            <a:pPr algn="ctr">
              <a:lnSpc>
                <a:spcPts val="1200"/>
              </a:lnSpc>
              <a:spcBef>
                <a:spcPts val="0"/>
              </a:spcBef>
              <a:spcAft>
                <a:spcPts val="0"/>
              </a:spcAft>
              <a:buNone/>
            </a:pPr>
            <a:r>
              <a:rPr sz="1000" b="1" i="0">
                <a:solidFill>
                  <a:srgbClr val="A08AE0"/>
                </a:solidFill>
                <a:latin typeface="Arial"/>
              </a:rPr>
              <a:t>AUTISM SUPPORT</a:t>
            </a:r>
          </a:p>
        </p:txBody>
      </p:sp>
      <p:sp>
        <p:nvSpPr>
          <p:cNvPr id="16" name="Rounded Rectangle 15"/>
          <p:cNvSpPr/>
          <p:nvPr/>
        </p:nvSpPr>
        <p:spPr>
          <a:xfrm>
            <a:off x="4057650" y="5349240"/>
            <a:ext cx="1144270" cy="256032"/>
          </a:xfrm>
          <a:prstGeom prst="roundRect">
            <a:avLst>
              <a:gd name="adj" fmla="val 50000"/>
            </a:avLst>
          </a:prstGeom>
          <a:solidFill>
            <a:srgbClr val="28352C"/>
          </a:solidFill>
          <a:ln w="9525">
            <a:solidFill>
              <a:srgbClr val="F0B2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057650" y="5349240"/>
            <a:ext cx="1144270" cy="256032"/>
          </a:xfrm>
          <a:prstGeom prst="rect">
            <a:avLst/>
          </a:prstGeom>
          <a:noFill/>
        </p:spPr>
        <p:txBody>
          <a:bodyPr wrap="square" lIns="0" rIns="0" tIns="0" bIns="0" anchor="ctr">
            <a:noAutofit/>
          </a:bodyPr>
          <a:lstStyle/>
          <a:p>
            <a:pPr algn="ctr">
              <a:lnSpc>
                <a:spcPts val="1200"/>
              </a:lnSpc>
              <a:spcBef>
                <a:spcPts val="0"/>
              </a:spcBef>
              <a:spcAft>
                <a:spcPts val="0"/>
              </a:spcAft>
              <a:buNone/>
            </a:pPr>
            <a:r>
              <a:rPr sz="1000" b="1" i="0">
                <a:solidFill>
                  <a:srgbClr val="F0B23A"/>
                </a:solidFill>
                <a:latin typeface="Arial"/>
              </a:rPr>
              <a:t>SENIOR CARE</a:t>
            </a:r>
          </a:p>
        </p:txBody>
      </p:sp>
      <p:sp>
        <p:nvSpPr>
          <p:cNvPr id="18" name="Rounded Rectangle 17"/>
          <p:cNvSpPr/>
          <p:nvPr/>
        </p:nvSpPr>
        <p:spPr>
          <a:xfrm>
            <a:off x="5339080" y="5349240"/>
            <a:ext cx="1944369" cy="256032"/>
          </a:xfrm>
          <a:prstGeom prst="roundRect">
            <a:avLst>
              <a:gd name="adj" fmla="val 50000"/>
            </a:avLst>
          </a:prstGeom>
          <a:solidFill>
            <a:srgbClr val="28352C"/>
          </a:solidFill>
          <a:ln w="9525">
            <a:solidFill>
              <a:srgbClr val="5EB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39080" y="5349240"/>
            <a:ext cx="1944369" cy="256032"/>
          </a:xfrm>
          <a:prstGeom prst="rect">
            <a:avLst/>
          </a:prstGeom>
          <a:noFill/>
        </p:spPr>
        <p:txBody>
          <a:bodyPr wrap="square" lIns="0" rIns="0" tIns="0" bIns="0" anchor="ctr">
            <a:noAutofit/>
          </a:bodyPr>
          <a:lstStyle/>
          <a:p>
            <a:pPr algn="ctr">
              <a:lnSpc>
                <a:spcPts val="1200"/>
              </a:lnSpc>
              <a:spcBef>
                <a:spcPts val="0"/>
              </a:spcBef>
              <a:spcAft>
                <a:spcPts val="0"/>
              </a:spcAft>
              <a:buNone/>
            </a:pPr>
            <a:r>
              <a:rPr sz="1000" b="1" i="0">
                <a:solidFill>
                  <a:srgbClr val="5EB3E6"/>
                </a:solidFill>
                <a:latin typeface="Arial"/>
              </a:rPr>
              <a:t>NO CLOUD · NO ACCOUNT</a:t>
            </a:r>
          </a:p>
        </p:txBody>
      </p:sp>
      <p:pic>
        <p:nvPicPr>
          <p:cNvPr id="20" name="Picture 19" descr="phone-overview.png"/>
          <p:cNvPicPr>
            <a:picLocks noChangeAspect="1"/>
          </p:cNvPicPr>
          <p:nvPr/>
        </p:nvPicPr>
        <p:blipFill>
          <a:blip r:embed="rId4"/>
          <a:stretch>
            <a:fillRect/>
          </a:stretch>
        </p:blipFill>
        <p:spPr>
          <a:xfrm>
            <a:off x="7818120" y="384048"/>
            <a:ext cx="2821281" cy="6355080"/>
          </a:xfrm>
          <a:prstGeom prst="rect">
            <a:avLst/>
          </a:prstGeom>
        </p:spPr>
      </p:pic>
      <p:sp>
        <p:nvSpPr>
          <p:cNvPr id="21" name="TextBox 20"/>
          <p:cNvSpPr txBox="1"/>
          <p:nvPr/>
        </p:nvSpPr>
        <p:spPr>
          <a:xfrm>
            <a:off x="548640" y="6446520"/>
            <a:ext cx="6309360" cy="27432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77857A"/>
                </a:solidFill>
                <a:latin typeface="Arial"/>
              </a:rPr>
              <a:t>github.com/engineer2025-sudo/Care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THE PROBLEM</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Care is getting harder to give — and harder to accept</a:t>
            </a:r>
          </a:p>
        </p:txBody>
      </p:sp>
      <p:sp>
        <p:nvSpPr>
          <p:cNvPr id="4" name="Rounded Rectangle 3"/>
          <p:cNvSpPr/>
          <p:nvPr/>
        </p:nvSpPr>
        <p:spPr>
          <a:xfrm>
            <a:off x="548640" y="1371600"/>
            <a:ext cx="2602153" cy="2743200"/>
          </a:xfrm>
          <a:prstGeom prst="roundRect">
            <a:avLst>
              <a:gd name="adj" fmla="val 5622"/>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48640" y="1554480"/>
            <a:ext cx="54864" cy="2377440"/>
          </a:xfrm>
          <a:prstGeom prst="roundRect">
            <a:avLst>
              <a:gd name="adj" fmla="val 50000"/>
            </a:avLst>
          </a:prstGeom>
          <a:solidFill>
            <a:srgbClr val="9FC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04672" y="1572768"/>
            <a:ext cx="2190673" cy="731520"/>
          </a:xfrm>
          <a:prstGeom prst="rect">
            <a:avLst/>
          </a:prstGeom>
          <a:noFill/>
        </p:spPr>
        <p:txBody>
          <a:bodyPr wrap="square" lIns="0" rIns="0" tIns="0" bIns="0" anchor="t">
            <a:noAutofit/>
          </a:bodyPr>
          <a:lstStyle/>
          <a:p>
            <a:pPr algn="l">
              <a:lnSpc>
                <a:spcPts val="4800"/>
              </a:lnSpc>
              <a:spcBef>
                <a:spcPts val="0"/>
              </a:spcBef>
              <a:spcAft>
                <a:spcPts val="0"/>
              </a:spcAft>
              <a:buNone/>
            </a:pPr>
            <a:r>
              <a:rPr sz="4000" b="1" i="0">
                <a:solidFill>
                  <a:srgbClr val="9FC1AA"/>
                </a:solidFill>
                <a:latin typeface="Arial"/>
              </a:rPr>
              <a:t>1 in 4</a:t>
            </a:r>
          </a:p>
        </p:txBody>
      </p:sp>
      <p:sp>
        <p:nvSpPr>
          <p:cNvPr id="7" name="TextBox 6"/>
          <p:cNvSpPr txBox="1"/>
          <p:nvPr/>
        </p:nvSpPr>
        <p:spPr>
          <a:xfrm>
            <a:off x="804672" y="2359152"/>
            <a:ext cx="2190673" cy="1234440"/>
          </a:xfrm>
          <a:prstGeom prst="rect">
            <a:avLst/>
          </a:prstGeom>
          <a:noFill/>
        </p:spPr>
        <p:txBody>
          <a:bodyPr wrap="square" lIns="0" rIns="0" tIns="0" bIns="0" anchor="t">
            <a:noAutofit/>
          </a:bodyPr>
          <a:lstStyle/>
          <a:p>
            <a:pPr algn="l">
              <a:lnSpc>
                <a:spcPts val="1647"/>
              </a:lnSpc>
              <a:spcBef>
                <a:spcPts val="0"/>
              </a:spcBef>
              <a:spcAft>
                <a:spcPts val="0"/>
              </a:spcAft>
              <a:buNone/>
            </a:pPr>
            <a:r>
              <a:rPr sz="1350" b="0" i="0">
                <a:solidFill>
                  <a:srgbClr val="E6EBE6"/>
                </a:solidFill>
                <a:latin typeface="Arial"/>
              </a:rPr>
              <a:t>adults aged 65+ in the U.S. are socially isolated — a health risk comparable to smoking or obesity.</a:t>
            </a:r>
          </a:p>
        </p:txBody>
      </p:sp>
      <p:sp>
        <p:nvSpPr>
          <p:cNvPr id="8" name="TextBox 7"/>
          <p:cNvSpPr txBox="1"/>
          <p:nvPr/>
        </p:nvSpPr>
        <p:spPr>
          <a:xfrm>
            <a:off x="804672" y="3657600"/>
            <a:ext cx="2190673" cy="320040"/>
          </a:xfrm>
          <a:prstGeom prst="rect">
            <a:avLst/>
          </a:prstGeom>
          <a:noFill/>
        </p:spPr>
        <p:txBody>
          <a:bodyPr wrap="square" lIns="0" rIns="0" tIns="0" bIns="0" anchor="b">
            <a:noAutofit/>
          </a:bodyPr>
          <a:lstStyle/>
          <a:p>
            <a:pPr algn="l">
              <a:lnSpc>
                <a:spcPts val="1140"/>
              </a:lnSpc>
              <a:spcBef>
                <a:spcPts val="0"/>
              </a:spcBef>
              <a:spcAft>
                <a:spcPts val="0"/>
              </a:spcAft>
              <a:buNone/>
            </a:pPr>
            <a:r>
              <a:rPr sz="950" b="0" i="0">
                <a:solidFill>
                  <a:srgbClr val="77857A"/>
                </a:solidFill>
                <a:latin typeface="Arial"/>
              </a:rPr>
              <a:t>National Academies (NASEM), 2020</a:t>
            </a:r>
          </a:p>
        </p:txBody>
      </p:sp>
      <p:sp>
        <p:nvSpPr>
          <p:cNvPr id="9" name="Rounded Rectangle 8"/>
          <p:cNvSpPr/>
          <p:nvPr/>
        </p:nvSpPr>
        <p:spPr>
          <a:xfrm>
            <a:off x="3379393" y="1371600"/>
            <a:ext cx="2602153" cy="2743200"/>
          </a:xfrm>
          <a:prstGeom prst="roundRect">
            <a:avLst>
              <a:gd name="adj" fmla="val 5622"/>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379393" y="1554480"/>
            <a:ext cx="54864" cy="2377440"/>
          </a:xfrm>
          <a:prstGeom prst="roundRect">
            <a:avLst>
              <a:gd name="adj" fmla="val 50000"/>
            </a:avLst>
          </a:prstGeom>
          <a:solidFill>
            <a:srgbClr val="E26D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35425" y="1572768"/>
            <a:ext cx="2190673" cy="731520"/>
          </a:xfrm>
          <a:prstGeom prst="rect">
            <a:avLst/>
          </a:prstGeom>
          <a:noFill/>
        </p:spPr>
        <p:txBody>
          <a:bodyPr wrap="square" lIns="0" rIns="0" tIns="0" bIns="0" anchor="t">
            <a:noAutofit/>
          </a:bodyPr>
          <a:lstStyle/>
          <a:p>
            <a:pPr algn="l">
              <a:lnSpc>
                <a:spcPts val="4800"/>
              </a:lnSpc>
              <a:spcBef>
                <a:spcPts val="0"/>
              </a:spcBef>
              <a:spcAft>
                <a:spcPts val="0"/>
              </a:spcAft>
              <a:buNone/>
            </a:pPr>
            <a:r>
              <a:rPr sz="4000" b="1" i="0">
                <a:solidFill>
                  <a:srgbClr val="E26D6D"/>
                </a:solidFill>
                <a:latin typeface="Arial"/>
              </a:rPr>
              <a:t>29%</a:t>
            </a:r>
          </a:p>
        </p:txBody>
      </p:sp>
      <p:sp>
        <p:nvSpPr>
          <p:cNvPr id="12" name="TextBox 11"/>
          <p:cNvSpPr txBox="1"/>
          <p:nvPr/>
        </p:nvSpPr>
        <p:spPr>
          <a:xfrm>
            <a:off x="3635425" y="2359152"/>
            <a:ext cx="2190673" cy="1234440"/>
          </a:xfrm>
          <a:prstGeom prst="rect">
            <a:avLst/>
          </a:prstGeom>
          <a:noFill/>
        </p:spPr>
        <p:txBody>
          <a:bodyPr wrap="square" lIns="0" rIns="0" tIns="0" bIns="0" anchor="t">
            <a:noAutofit/>
          </a:bodyPr>
          <a:lstStyle/>
          <a:p>
            <a:pPr algn="l">
              <a:lnSpc>
                <a:spcPts val="1647"/>
              </a:lnSpc>
              <a:spcBef>
                <a:spcPts val="0"/>
              </a:spcBef>
              <a:spcAft>
                <a:spcPts val="0"/>
              </a:spcAft>
              <a:buNone/>
            </a:pPr>
            <a:r>
              <a:rPr sz="1350" b="0" i="0">
                <a:solidFill>
                  <a:srgbClr val="E6EBE6"/>
                </a:solidFill>
                <a:latin typeface="Arial"/>
              </a:rPr>
              <a:t>higher risk of premature death associated with social isolation.</a:t>
            </a:r>
          </a:p>
        </p:txBody>
      </p:sp>
      <p:sp>
        <p:nvSpPr>
          <p:cNvPr id="13" name="TextBox 12"/>
          <p:cNvSpPr txBox="1"/>
          <p:nvPr/>
        </p:nvSpPr>
        <p:spPr>
          <a:xfrm>
            <a:off x="3635425" y="3657600"/>
            <a:ext cx="2190673" cy="320040"/>
          </a:xfrm>
          <a:prstGeom prst="rect">
            <a:avLst/>
          </a:prstGeom>
          <a:noFill/>
        </p:spPr>
        <p:txBody>
          <a:bodyPr wrap="square" lIns="0" rIns="0" tIns="0" bIns="0" anchor="b">
            <a:noAutofit/>
          </a:bodyPr>
          <a:lstStyle/>
          <a:p>
            <a:pPr algn="l">
              <a:lnSpc>
                <a:spcPts val="1140"/>
              </a:lnSpc>
              <a:spcBef>
                <a:spcPts val="0"/>
              </a:spcBef>
              <a:spcAft>
                <a:spcPts val="0"/>
              </a:spcAft>
              <a:buNone/>
            </a:pPr>
            <a:r>
              <a:rPr sz="950" b="0" i="0">
                <a:solidFill>
                  <a:srgbClr val="77857A"/>
                </a:solidFill>
                <a:latin typeface="Arial"/>
              </a:rPr>
              <a:t>U.S. Surgeon General Advisory, 2023</a:t>
            </a:r>
          </a:p>
        </p:txBody>
      </p:sp>
      <p:sp>
        <p:nvSpPr>
          <p:cNvPr id="14" name="Rounded Rectangle 13"/>
          <p:cNvSpPr/>
          <p:nvPr/>
        </p:nvSpPr>
        <p:spPr>
          <a:xfrm>
            <a:off x="6210147" y="1371600"/>
            <a:ext cx="2602153" cy="2743200"/>
          </a:xfrm>
          <a:prstGeom prst="roundRect">
            <a:avLst>
              <a:gd name="adj" fmla="val 5622"/>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210147" y="1554480"/>
            <a:ext cx="54864" cy="2377440"/>
          </a:xfrm>
          <a:prstGeom prst="roundRect">
            <a:avLst>
              <a:gd name="adj" fmla="val 50000"/>
            </a:avLst>
          </a:prstGeom>
          <a:solidFill>
            <a:srgbClr val="A08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66179" y="1572768"/>
            <a:ext cx="2190673" cy="731520"/>
          </a:xfrm>
          <a:prstGeom prst="rect">
            <a:avLst/>
          </a:prstGeom>
          <a:noFill/>
        </p:spPr>
        <p:txBody>
          <a:bodyPr wrap="square" lIns="0" rIns="0" tIns="0" bIns="0" anchor="t">
            <a:noAutofit/>
          </a:bodyPr>
          <a:lstStyle/>
          <a:p>
            <a:pPr algn="l">
              <a:lnSpc>
                <a:spcPts val="4800"/>
              </a:lnSpc>
              <a:spcBef>
                <a:spcPts val="0"/>
              </a:spcBef>
              <a:spcAft>
                <a:spcPts val="0"/>
              </a:spcAft>
              <a:buNone/>
            </a:pPr>
            <a:r>
              <a:rPr sz="4000" b="1" i="0">
                <a:solidFill>
                  <a:srgbClr val="A08AE0"/>
                </a:solidFill>
                <a:latin typeface="Arial"/>
              </a:rPr>
              <a:t>1 in 31</a:t>
            </a:r>
          </a:p>
        </p:txBody>
      </p:sp>
      <p:sp>
        <p:nvSpPr>
          <p:cNvPr id="17" name="TextBox 16"/>
          <p:cNvSpPr txBox="1"/>
          <p:nvPr/>
        </p:nvSpPr>
        <p:spPr>
          <a:xfrm>
            <a:off x="6466179" y="2359152"/>
            <a:ext cx="2190673" cy="1234440"/>
          </a:xfrm>
          <a:prstGeom prst="rect">
            <a:avLst/>
          </a:prstGeom>
          <a:noFill/>
        </p:spPr>
        <p:txBody>
          <a:bodyPr wrap="square" lIns="0" rIns="0" tIns="0" bIns="0" anchor="t">
            <a:noAutofit/>
          </a:bodyPr>
          <a:lstStyle/>
          <a:p>
            <a:pPr algn="l">
              <a:lnSpc>
                <a:spcPts val="1647"/>
              </a:lnSpc>
              <a:spcBef>
                <a:spcPts val="0"/>
              </a:spcBef>
              <a:spcAft>
                <a:spcPts val="0"/>
              </a:spcAft>
              <a:buNone/>
            </a:pPr>
            <a:r>
              <a:rPr sz="1350" b="0" i="0">
                <a:solidFill>
                  <a:srgbClr val="E6EBE6"/>
                </a:solidFill>
                <a:latin typeface="Arial"/>
              </a:rPr>
              <a:t>8-year-olds identified with autism — children who grow into autistic adults needing lifelong, respectful support.</a:t>
            </a:r>
          </a:p>
        </p:txBody>
      </p:sp>
      <p:sp>
        <p:nvSpPr>
          <p:cNvPr id="18" name="TextBox 17"/>
          <p:cNvSpPr txBox="1"/>
          <p:nvPr/>
        </p:nvSpPr>
        <p:spPr>
          <a:xfrm>
            <a:off x="6466179" y="3657600"/>
            <a:ext cx="2190673" cy="320040"/>
          </a:xfrm>
          <a:prstGeom prst="rect">
            <a:avLst/>
          </a:prstGeom>
          <a:noFill/>
        </p:spPr>
        <p:txBody>
          <a:bodyPr wrap="square" lIns="0" rIns="0" tIns="0" bIns="0" anchor="b">
            <a:noAutofit/>
          </a:bodyPr>
          <a:lstStyle/>
          <a:p>
            <a:pPr algn="l">
              <a:lnSpc>
                <a:spcPts val="1140"/>
              </a:lnSpc>
              <a:spcBef>
                <a:spcPts val="0"/>
              </a:spcBef>
              <a:spcAft>
                <a:spcPts val="0"/>
              </a:spcAft>
              <a:buNone/>
            </a:pPr>
            <a:r>
              <a:rPr sz="950" b="0" i="0">
                <a:solidFill>
                  <a:srgbClr val="77857A"/>
                </a:solidFill>
                <a:latin typeface="Arial"/>
              </a:rPr>
              <a:t>CDC ADDM Network, 2025</a:t>
            </a:r>
          </a:p>
        </p:txBody>
      </p:sp>
      <p:sp>
        <p:nvSpPr>
          <p:cNvPr id="19" name="Rounded Rectangle 18"/>
          <p:cNvSpPr/>
          <p:nvPr/>
        </p:nvSpPr>
        <p:spPr>
          <a:xfrm>
            <a:off x="9040901" y="1371600"/>
            <a:ext cx="2602153" cy="2743200"/>
          </a:xfrm>
          <a:prstGeom prst="roundRect">
            <a:avLst>
              <a:gd name="adj" fmla="val 5622"/>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9040901" y="1554480"/>
            <a:ext cx="54864" cy="2377440"/>
          </a:xfrm>
          <a:prstGeom prst="roundRect">
            <a:avLst>
              <a:gd name="adj" fmla="val 50000"/>
            </a:avLst>
          </a:prstGeom>
          <a:solidFill>
            <a:srgbClr val="F0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296933" y="1572768"/>
            <a:ext cx="2190673" cy="731520"/>
          </a:xfrm>
          <a:prstGeom prst="rect">
            <a:avLst/>
          </a:prstGeom>
          <a:noFill/>
        </p:spPr>
        <p:txBody>
          <a:bodyPr wrap="square" lIns="0" rIns="0" tIns="0" bIns="0" anchor="t">
            <a:noAutofit/>
          </a:bodyPr>
          <a:lstStyle/>
          <a:p>
            <a:pPr algn="l">
              <a:lnSpc>
                <a:spcPts val="4800"/>
              </a:lnSpc>
              <a:spcBef>
                <a:spcPts val="0"/>
              </a:spcBef>
              <a:spcAft>
                <a:spcPts val="0"/>
              </a:spcAft>
              <a:buNone/>
            </a:pPr>
            <a:r>
              <a:rPr sz="4000" b="1" i="0">
                <a:solidFill>
                  <a:srgbClr val="F0B23A"/>
                </a:solidFill>
                <a:latin typeface="Arial"/>
              </a:rPr>
              <a:t>~50%</a:t>
            </a:r>
          </a:p>
        </p:txBody>
      </p:sp>
      <p:sp>
        <p:nvSpPr>
          <p:cNvPr id="22" name="TextBox 21"/>
          <p:cNvSpPr txBox="1"/>
          <p:nvPr/>
        </p:nvSpPr>
        <p:spPr>
          <a:xfrm>
            <a:off x="9296933" y="2359152"/>
            <a:ext cx="2190673" cy="1234440"/>
          </a:xfrm>
          <a:prstGeom prst="rect">
            <a:avLst/>
          </a:prstGeom>
          <a:noFill/>
        </p:spPr>
        <p:txBody>
          <a:bodyPr wrap="square" lIns="0" rIns="0" tIns="0" bIns="0" anchor="t">
            <a:noAutofit/>
          </a:bodyPr>
          <a:lstStyle/>
          <a:p>
            <a:pPr algn="l">
              <a:lnSpc>
                <a:spcPts val="1647"/>
              </a:lnSpc>
              <a:spcBef>
                <a:spcPts val="0"/>
              </a:spcBef>
              <a:spcAft>
                <a:spcPts val="0"/>
              </a:spcAft>
              <a:buNone/>
            </a:pPr>
            <a:r>
              <a:rPr sz="1350" b="0" i="0">
                <a:solidFill>
                  <a:srgbClr val="E6EBE6"/>
                </a:solidFill>
                <a:latin typeface="Arial"/>
              </a:rPr>
              <a:t>of long-term medications are not taken as prescribed.</a:t>
            </a:r>
          </a:p>
        </p:txBody>
      </p:sp>
      <p:sp>
        <p:nvSpPr>
          <p:cNvPr id="23" name="TextBox 22"/>
          <p:cNvSpPr txBox="1"/>
          <p:nvPr/>
        </p:nvSpPr>
        <p:spPr>
          <a:xfrm>
            <a:off x="9296933" y="3657600"/>
            <a:ext cx="2190673" cy="320040"/>
          </a:xfrm>
          <a:prstGeom prst="rect">
            <a:avLst/>
          </a:prstGeom>
          <a:noFill/>
        </p:spPr>
        <p:txBody>
          <a:bodyPr wrap="square" lIns="0" rIns="0" tIns="0" bIns="0" anchor="b">
            <a:noAutofit/>
          </a:bodyPr>
          <a:lstStyle/>
          <a:p>
            <a:pPr algn="l">
              <a:lnSpc>
                <a:spcPts val="1140"/>
              </a:lnSpc>
              <a:spcBef>
                <a:spcPts val="0"/>
              </a:spcBef>
              <a:spcAft>
                <a:spcPts val="0"/>
              </a:spcAft>
              <a:buNone/>
            </a:pPr>
            <a:r>
              <a:rPr sz="950" b="0" i="0">
                <a:solidFill>
                  <a:srgbClr val="77857A"/>
                </a:solidFill>
                <a:latin typeface="Arial"/>
              </a:rPr>
              <a:t>World Health Organization</a:t>
            </a:r>
          </a:p>
        </p:txBody>
      </p:sp>
      <p:sp>
        <p:nvSpPr>
          <p:cNvPr id="24" name="Rounded Rectangle 23"/>
          <p:cNvSpPr/>
          <p:nvPr/>
        </p:nvSpPr>
        <p:spPr>
          <a:xfrm>
            <a:off x="548640" y="4389120"/>
            <a:ext cx="11094415" cy="1737360"/>
          </a:xfrm>
          <a:prstGeom prst="roundRect">
            <a:avLst>
              <a:gd name="adj" fmla="val 8421"/>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68680" y="4572000"/>
            <a:ext cx="3017520" cy="1371600"/>
          </a:xfrm>
          <a:prstGeom prst="rect">
            <a:avLst/>
          </a:prstGeom>
          <a:noFill/>
        </p:spPr>
        <p:txBody>
          <a:bodyPr wrap="square" lIns="0" rIns="0" tIns="0" bIns="0" anchor="t">
            <a:noAutofit/>
          </a:bodyPr>
          <a:lstStyle/>
          <a:p>
            <a:pPr algn="l">
              <a:lnSpc>
                <a:spcPts val="1750"/>
              </a:lnSpc>
              <a:spcBef>
                <a:spcPts val="0"/>
              </a:spcBef>
              <a:spcAft>
                <a:spcPts val="400"/>
              </a:spcAft>
              <a:buNone/>
            </a:pPr>
            <a:r>
              <a:rPr sz="1400" b="1" i="0">
                <a:solidFill>
                  <a:srgbClr val="F4F6F2"/>
                </a:solidFill>
                <a:latin typeface="Arial"/>
              </a:rPr>
              <a:t>63 million</a:t>
            </a:r>
            <a:r>
              <a:rPr sz="1400" b="0" i="0">
                <a:solidFill>
                  <a:srgbClr val="E6EBE6"/>
                </a:solidFill>
                <a:latin typeface="Arial"/>
              </a:rPr>
              <a:t> Americans now care for a family member — nearly 1 in 4 adults.</a:t>
            </a:r>
          </a:p>
          <a:p>
            <a:pPr algn="l">
              <a:lnSpc>
                <a:spcPts val="1312"/>
              </a:lnSpc>
              <a:spcBef>
                <a:spcPts val="0"/>
              </a:spcBef>
              <a:spcAft>
                <a:spcPts val="400"/>
              </a:spcAft>
              <a:buNone/>
            </a:pPr>
            <a:r>
              <a:rPr sz="1050" b="0" i="0">
                <a:solidFill>
                  <a:srgbClr val="A2B0A3"/>
                </a:solidFill>
                <a:latin typeface="Arial"/>
              </a:rPr>
              <a:t>AARP &amp; National Alliance for Caregiving, 2025</a:t>
            </a:r>
          </a:p>
        </p:txBody>
      </p:sp>
      <p:sp>
        <p:nvSpPr>
          <p:cNvPr id="26" name="Rectangle 25"/>
          <p:cNvSpPr/>
          <p:nvPr/>
        </p:nvSpPr>
        <p:spPr>
          <a:xfrm>
            <a:off x="4114800" y="4617720"/>
            <a:ext cx="18288" cy="1280160"/>
          </a:xfrm>
          <a:prstGeom prst="rect">
            <a:avLst/>
          </a:prstGeom>
          <a:solidFill>
            <a:srgbClr val="3C4B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389120" y="4572000"/>
            <a:ext cx="6979615" cy="1463040"/>
          </a:xfrm>
          <a:prstGeom prst="rect">
            <a:avLst/>
          </a:prstGeom>
          <a:noFill/>
        </p:spPr>
        <p:txBody>
          <a:bodyPr wrap="square" lIns="0" rIns="0" tIns="0" bIns="0" anchor="t">
            <a:noAutofit/>
          </a:bodyPr>
          <a:lstStyle/>
          <a:p>
            <a:pPr algn="l">
              <a:lnSpc>
                <a:spcPts val="1687"/>
              </a:lnSpc>
              <a:spcBef>
                <a:spcPts val="0"/>
              </a:spcBef>
              <a:spcAft>
                <a:spcPts val="600"/>
              </a:spcAft>
              <a:buNone/>
            </a:pPr>
            <a:r>
              <a:rPr sz="1350" b="1" i="0">
                <a:solidFill>
                  <a:srgbClr val="F4F6F2"/>
                </a:solidFill>
                <a:latin typeface="Arial"/>
              </a:rPr>
              <a:t>Most "care tech" answers with accounts, cloud dashboards and data collection</a:t>
            </a:r>
            <a:r>
              <a:rPr sz="1350" b="0" i="0">
                <a:solidFill>
                  <a:srgbClr val="C3CEC4"/>
                </a:solidFill>
                <a:latin typeface="Arial"/>
              </a:rPr>
              <a:t> — exactly what makes many seniors and families hesitate.</a:t>
            </a:r>
          </a:p>
          <a:p>
            <a:pPr algn="l">
              <a:lnSpc>
                <a:spcPts val="1687"/>
              </a:lnSpc>
              <a:spcBef>
                <a:spcPts val="0"/>
              </a:spcBef>
              <a:spcAft>
                <a:spcPts val="600"/>
              </a:spcAft>
              <a:buNone/>
            </a:pPr>
            <a:r>
              <a:rPr sz="1350" b="0" i="0">
                <a:solidFill>
                  <a:srgbClr val="C3CEC4"/>
                </a:solidFill>
                <a:latin typeface="Arial"/>
              </a:rPr>
              <a:t>Tools designed for autistic users are rare, and almost none combine social connection, routines, real vitals and safety in one calm place that keeps data on the device.</a:t>
            </a:r>
          </a:p>
        </p:txBody>
      </p:sp>
      <p:sp>
        <p:nvSpPr>
          <p:cNvPr id="28" name="TextBox 27"/>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29" name="TextBox 28"/>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WHY I BUILT IT</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Inspiration — and the four rules I wrote into the code</a:t>
            </a:r>
          </a:p>
        </p:txBody>
      </p:sp>
      <p:sp>
        <p:nvSpPr>
          <p:cNvPr id="4" name="Rounded Rectangle 3"/>
          <p:cNvSpPr/>
          <p:nvPr/>
        </p:nvSpPr>
        <p:spPr>
          <a:xfrm>
            <a:off x="548640" y="1371600"/>
            <a:ext cx="5120640" cy="4754880"/>
          </a:xfrm>
          <a:prstGeom prst="roundRect">
            <a:avLst>
              <a:gd name="adj" fmla="val 3076"/>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48640" y="1572768"/>
            <a:ext cx="64008" cy="4352544"/>
          </a:xfrm>
          <a:prstGeom prst="roundRect">
            <a:avLst>
              <a:gd name="adj" fmla="val 50000"/>
            </a:avLst>
          </a:prstGeom>
          <a:solidFill>
            <a:srgbClr val="F0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572768"/>
            <a:ext cx="4572000" cy="274320"/>
          </a:xfrm>
          <a:prstGeom prst="rect">
            <a:avLst/>
          </a:prstGeom>
          <a:noFill/>
        </p:spPr>
        <p:txBody>
          <a:bodyPr wrap="square" lIns="0" rIns="0" tIns="0" bIns="0" anchor="t">
            <a:noAutofit/>
          </a:bodyPr>
          <a:lstStyle/>
          <a:p>
            <a:pPr algn="l">
              <a:lnSpc>
                <a:spcPts val="1260"/>
              </a:lnSpc>
              <a:spcBef>
                <a:spcPts val="0"/>
              </a:spcBef>
              <a:spcAft>
                <a:spcPts val="0"/>
              </a:spcAft>
              <a:buNone/>
            </a:pPr>
            <a:r>
              <a:rPr sz="1050" b="1" i="0">
                <a:solidFill>
                  <a:srgbClr val="F0B23A"/>
                </a:solidFill>
                <a:latin typeface="Arial"/>
              </a:rPr>
              <a:t>MY STORY</a:t>
            </a:r>
          </a:p>
        </p:txBody>
      </p:sp>
      <p:sp>
        <p:nvSpPr>
          <p:cNvPr id="7" name="TextBox 6"/>
          <p:cNvSpPr txBox="1"/>
          <p:nvPr/>
        </p:nvSpPr>
        <p:spPr>
          <a:xfrm>
            <a:off x="868680" y="1874519"/>
            <a:ext cx="4572000" cy="4114800"/>
          </a:xfrm>
          <a:prstGeom prst="rect">
            <a:avLst/>
          </a:prstGeom>
          <a:noFill/>
        </p:spPr>
        <p:txBody>
          <a:bodyPr wrap="square" lIns="0" rIns="0" tIns="0" bIns="0" anchor="t">
            <a:noAutofit/>
          </a:bodyPr>
          <a:lstStyle/>
          <a:p>
            <a:pPr algn="l">
              <a:lnSpc>
                <a:spcPts val="1687"/>
              </a:lnSpc>
              <a:spcBef>
                <a:spcPts val="0"/>
              </a:spcBef>
              <a:spcAft>
                <a:spcPts val="1000"/>
              </a:spcAft>
              <a:buNone/>
            </a:pPr>
            <a:r>
              <a:rPr sz="1350" b="0" i="1">
                <a:solidFill>
                  <a:srgbClr val="E6EBE6"/>
                </a:solidFill>
                <a:latin typeface="Arial"/>
              </a:rPr>
              <a:t>[Personal hook — e.g. "My grandmother lives alone, far from us. After her fall, every phone call started with the same anxious questions: Did you take your pills? Did you talk to anyone today?"]</a:t>
            </a:r>
          </a:p>
          <a:p>
            <a:pPr algn="l">
              <a:lnSpc>
                <a:spcPts val="1687"/>
              </a:lnSpc>
              <a:spcBef>
                <a:spcPts val="0"/>
              </a:spcBef>
              <a:spcAft>
                <a:spcPts val="600"/>
              </a:spcAft>
              <a:buNone/>
            </a:pPr>
            <a:r>
              <a:rPr sz="1350" b="0" i="0">
                <a:solidFill>
                  <a:srgbClr val="C3CEC4"/>
                </a:solidFill>
                <a:latin typeface="Arial"/>
              </a:rPr>
              <a:t>I kept seeing the same three gaps:</a:t>
            </a:r>
          </a:p>
          <a:p>
            <a:pPr algn="l" marL="219456" indent="-219456">
              <a:lnSpc>
                <a:spcPts val="1687"/>
              </a:lnSpc>
              <a:spcBef>
                <a:spcPts val="0"/>
              </a:spcBef>
              <a:spcAft>
                <a:spcPts val="500"/>
              </a:spcAft>
              <a:buClr>
                <a:srgbClr val="9FC1AA"/>
              </a:buClr>
              <a:buFont typeface="Arial"/>
              <a:buChar char="•"/>
            </a:pPr>
            <a:r>
              <a:rPr sz="1350" b="1" i="0">
                <a:solidFill>
                  <a:srgbClr val="F4F6F2"/>
                </a:solidFill>
                <a:latin typeface="Arial"/>
              </a:rPr>
              <a:t>Isolation.</a:t>
            </a:r>
            <a:r>
              <a:rPr sz="1350" b="0" i="0">
                <a:solidFill>
                  <a:srgbClr val="C3CEC4"/>
                </a:solidFill>
                <a:latin typeface="Arial"/>
              </a:rPr>
              <a:t> Video calls are the best medicine, but they are buried behind accounts and installs.</a:t>
            </a:r>
          </a:p>
          <a:p>
            <a:pPr algn="l" marL="219456" indent="-219456">
              <a:lnSpc>
                <a:spcPts val="1687"/>
              </a:lnSpc>
              <a:spcBef>
                <a:spcPts val="0"/>
              </a:spcBef>
              <a:spcAft>
                <a:spcPts val="500"/>
              </a:spcAft>
              <a:buClr>
                <a:srgbClr val="9FC1AA"/>
              </a:buClr>
              <a:buFont typeface="Arial"/>
              <a:buChar char="•"/>
            </a:pPr>
            <a:r>
              <a:rPr sz="1350" b="1" i="0">
                <a:solidFill>
                  <a:srgbClr val="F4F6F2"/>
                </a:solidFill>
                <a:latin typeface="Arial"/>
              </a:rPr>
              <a:t>Forgotten medication and vitals nobody trusts.</a:t>
            </a:r>
            <a:r>
              <a:rPr sz="1350" b="0" i="0">
                <a:solidFill>
                  <a:srgbClr val="C3CEC4"/>
                </a:solidFill>
                <a:latin typeface="Arial"/>
              </a:rPr>
              <a:t> Apps that "guess" numbers or show demo data as if it were real.</a:t>
            </a:r>
          </a:p>
          <a:p>
            <a:pPr algn="l" marL="219456" indent="-219456">
              <a:lnSpc>
                <a:spcPts val="1687"/>
              </a:lnSpc>
              <a:spcBef>
                <a:spcPts val="0"/>
              </a:spcBef>
              <a:spcAft>
                <a:spcPts val="1000"/>
              </a:spcAft>
              <a:buClr>
                <a:srgbClr val="9FC1AA"/>
              </a:buClr>
              <a:buFont typeface="Arial"/>
              <a:buChar char="•"/>
            </a:pPr>
            <a:r>
              <a:rPr sz="1350" b="1" i="0">
                <a:solidFill>
                  <a:srgbClr val="F4F6F2"/>
                </a:solidFill>
                <a:latin typeface="Arial"/>
              </a:rPr>
              <a:t>Nothing built for autistic people.</a:t>
            </a:r>
            <a:r>
              <a:rPr sz="1350" b="0" i="0">
                <a:solidFill>
                  <a:srgbClr val="C3CEC4"/>
                </a:solidFill>
                <a:latin typeface="Arial"/>
              </a:rPr>
              <a:t> Timers, scores and flashing screens — the opposite of calm.</a:t>
            </a:r>
          </a:p>
          <a:p>
            <a:pPr algn="l">
              <a:lnSpc>
                <a:spcPts val="1687"/>
              </a:lnSpc>
              <a:spcBef>
                <a:spcPts val="0"/>
              </a:spcBef>
              <a:spcAft>
                <a:spcPts val="0"/>
              </a:spcAft>
              <a:buNone/>
            </a:pPr>
            <a:r>
              <a:rPr sz="1350" b="1" i="0">
                <a:solidFill>
                  <a:srgbClr val="F4F6F2"/>
                </a:solidFill>
                <a:latin typeface="Arial"/>
              </a:rPr>
              <a:t>So I built the app I wished my family had — and wrote its ethics into the code.</a:t>
            </a:r>
          </a:p>
        </p:txBody>
      </p:sp>
      <p:sp>
        <p:nvSpPr>
          <p:cNvPr id="8" name="Rounded Rectangle 7"/>
          <p:cNvSpPr/>
          <p:nvPr/>
        </p:nvSpPr>
        <p:spPr>
          <a:xfrm>
            <a:off x="5943600" y="1371600"/>
            <a:ext cx="2735427" cy="2263140"/>
          </a:xfrm>
          <a:prstGeom prst="roundRect">
            <a:avLst>
              <a:gd name="adj" fmla="val 6464"/>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144768" y="1362456"/>
            <a:ext cx="2333091" cy="64008"/>
          </a:xfrm>
          <a:prstGeom prst="roundRect">
            <a:avLst>
              <a:gd name="adj" fmla="val 50000"/>
            </a:avLst>
          </a:prstGeom>
          <a:solidFill>
            <a:srgbClr val="9FC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72200" y="1600200"/>
            <a:ext cx="2278227" cy="228600"/>
          </a:xfrm>
          <a:prstGeom prst="rect">
            <a:avLst/>
          </a:prstGeom>
          <a:noFill/>
        </p:spPr>
        <p:txBody>
          <a:bodyPr wrap="square" lIns="0" rIns="0" tIns="0" bIns="0" anchor="t">
            <a:noAutofit/>
          </a:bodyPr>
          <a:lstStyle/>
          <a:p>
            <a:pPr algn="l">
              <a:lnSpc>
                <a:spcPts val="1140"/>
              </a:lnSpc>
              <a:spcBef>
                <a:spcPts val="0"/>
              </a:spcBef>
              <a:spcAft>
                <a:spcPts val="0"/>
              </a:spcAft>
              <a:buNone/>
            </a:pPr>
            <a:r>
              <a:rPr sz="950" b="1" i="0">
                <a:solidFill>
                  <a:srgbClr val="9FC1AA"/>
                </a:solidFill>
                <a:latin typeface="Arial"/>
              </a:rPr>
              <a:t>RULE 1</a:t>
            </a:r>
          </a:p>
        </p:txBody>
      </p:sp>
      <p:sp>
        <p:nvSpPr>
          <p:cNvPr id="11" name="TextBox 10"/>
          <p:cNvSpPr txBox="1"/>
          <p:nvPr/>
        </p:nvSpPr>
        <p:spPr>
          <a:xfrm>
            <a:off x="6172200" y="1847088"/>
            <a:ext cx="2278227" cy="731520"/>
          </a:xfrm>
          <a:prstGeom prst="rect">
            <a:avLst/>
          </a:prstGeom>
          <a:noFill/>
        </p:spPr>
        <p:txBody>
          <a:bodyPr wrap="square" lIns="0" rIns="0" tIns="0" bIns="0" anchor="t">
            <a:noAutofit/>
          </a:bodyPr>
          <a:lstStyle/>
          <a:p>
            <a:pPr algn="l">
              <a:lnSpc>
                <a:spcPts val="1839"/>
              </a:lnSpc>
              <a:spcBef>
                <a:spcPts val="0"/>
              </a:spcBef>
              <a:spcAft>
                <a:spcPts val="0"/>
              </a:spcAft>
              <a:buNone/>
            </a:pPr>
            <a:r>
              <a:rPr sz="1600" b="1" i="0">
                <a:solidFill>
                  <a:srgbClr val="F4F6F2"/>
                </a:solidFill>
                <a:latin typeface="Arial"/>
              </a:rPr>
              <a:t>Never fabricate</a:t>
            </a:r>
          </a:p>
        </p:txBody>
      </p:sp>
      <p:sp>
        <p:nvSpPr>
          <p:cNvPr id="12" name="TextBox 11"/>
          <p:cNvSpPr txBox="1"/>
          <p:nvPr/>
        </p:nvSpPr>
        <p:spPr>
          <a:xfrm>
            <a:off x="6172200" y="2231136"/>
            <a:ext cx="2278227" cy="1220724"/>
          </a:xfrm>
          <a:prstGeom prst="rect">
            <a:avLst/>
          </a:prstGeom>
          <a:noFill/>
        </p:spPr>
        <p:txBody>
          <a:bodyPr wrap="square" lIns="0" rIns="0" tIns="0" bIns="0" anchor="t">
            <a:noAutofit/>
          </a:bodyPr>
          <a:lstStyle/>
          <a:p>
            <a:pPr algn="l">
              <a:lnSpc>
                <a:spcPts val="1625"/>
              </a:lnSpc>
              <a:spcBef>
                <a:spcPts val="0"/>
              </a:spcBef>
              <a:spcAft>
                <a:spcPts val="0"/>
              </a:spcAft>
              <a:buNone/>
            </a:pPr>
            <a:r>
              <a:rPr sz="1300" b="0" i="0">
                <a:solidFill>
                  <a:srgbClr val="C3CEC4"/>
                </a:solidFill>
                <a:latin typeface="Arial"/>
              </a:rPr>
              <a:t>Every reading is tagged LIVE BLE or SIMULATED at the source. Cancel a pairing and the card stays blank — no invented numbers, ever.</a:t>
            </a:r>
          </a:p>
        </p:txBody>
      </p:sp>
      <p:sp>
        <p:nvSpPr>
          <p:cNvPr id="13" name="Rounded Rectangle 12"/>
          <p:cNvSpPr/>
          <p:nvPr/>
        </p:nvSpPr>
        <p:spPr>
          <a:xfrm>
            <a:off x="8907627" y="1371600"/>
            <a:ext cx="2735427" cy="2263140"/>
          </a:xfrm>
          <a:prstGeom prst="roundRect">
            <a:avLst>
              <a:gd name="adj" fmla="val 6464"/>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108795" y="1362456"/>
            <a:ext cx="2333091" cy="64008"/>
          </a:xfrm>
          <a:prstGeom prst="roundRect">
            <a:avLst>
              <a:gd name="adj" fmla="val 50000"/>
            </a:avLst>
          </a:prstGeom>
          <a:solidFill>
            <a:srgbClr val="5EB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36227" y="1600200"/>
            <a:ext cx="2278227" cy="228600"/>
          </a:xfrm>
          <a:prstGeom prst="rect">
            <a:avLst/>
          </a:prstGeom>
          <a:noFill/>
        </p:spPr>
        <p:txBody>
          <a:bodyPr wrap="square" lIns="0" rIns="0" tIns="0" bIns="0" anchor="t">
            <a:noAutofit/>
          </a:bodyPr>
          <a:lstStyle/>
          <a:p>
            <a:pPr algn="l">
              <a:lnSpc>
                <a:spcPts val="1140"/>
              </a:lnSpc>
              <a:spcBef>
                <a:spcPts val="0"/>
              </a:spcBef>
              <a:spcAft>
                <a:spcPts val="0"/>
              </a:spcAft>
              <a:buNone/>
            </a:pPr>
            <a:r>
              <a:rPr sz="950" b="1" i="0">
                <a:solidFill>
                  <a:srgbClr val="5EB3E6"/>
                </a:solidFill>
                <a:latin typeface="Arial"/>
              </a:rPr>
              <a:t>RULE 2</a:t>
            </a:r>
          </a:p>
        </p:txBody>
      </p:sp>
      <p:sp>
        <p:nvSpPr>
          <p:cNvPr id="16" name="TextBox 15"/>
          <p:cNvSpPr txBox="1"/>
          <p:nvPr/>
        </p:nvSpPr>
        <p:spPr>
          <a:xfrm>
            <a:off x="9136227" y="1847088"/>
            <a:ext cx="2278227" cy="731520"/>
          </a:xfrm>
          <a:prstGeom prst="rect">
            <a:avLst/>
          </a:prstGeom>
          <a:noFill/>
        </p:spPr>
        <p:txBody>
          <a:bodyPr wrap="square" lIns="0" rIns="0" tIns="0" bIns="0" anchor="t">
            <a:noAutofit/>
          </a:bodyPr>
          <a:lstStyle/>
          <a:p>
            <a:pPr algn="l">
              <a:lnSpc>
                <a:spcPts val="1839"/>
              </a:lnSpc>
              <a:spcBef>
                <a:spcPts val="0"/>
              </a:spcBef>
              <a:spcAft>
                <a:spcPts val="0"/>
              </a:spcAft>
              <a:buNone/>
            </a:pPr>
            <a:r>
              <a:rPr sz="1600" b="1" i="0">
                <a:solidFill>
                  <a:srgbClr val="F4F6F2"/>
                </a:solidFill>
                <a:latin typeface="Arial"/>
              </a:rPr>
              <a:t>Nothing is sent automatically</a:t>
            </a:r>
          </a:p>
        </p:txBody>
      </p:sp>
      <p:sp>
        <p:nvSpPr>
          <p:cNvPr id="17" name="TextBox 16"/>
          <p:cNvSpPr txBox="1"/>
          <p:nvPr/>
        </p:nvSpPr>
        <p:spPr>
          <a:xfrm>
            <a:off x="9136227" y="2442464"/>
            <a:ext cx="2278227" cy="1009396"/>
          </a:xfrm>
          <a:prstGeom prst="rect">
            <a:avLst/>
          </a:prstGeom>
          <a:noFill/>
        </p:spPr>
        <p:txBody>
          <a:bodyPr wrap="square" lIns="0" rIns="0" tIns="0" bIns="0" anchor="t">
            <a:noAutofit/>
          </a:bodyPr>
          <a:lstStyle/>
          <a:p>
            <a:pPr algn="l">
              <a:lnSpc>
                <a:spcPts val="1560"/>
              </a:lnSpc>
              <a:spcBef>
                <a:spcPts val="0"/>
              </a:spcBef>
              <a:spcAft>
                <a:spcPts val="0"/>
              </a:spcAft>
              <a:buNone/>
            </a:pPr>
            <a:r>
              <a:rPr sz="1250" b="0" i="0">
                <a:solidFill>
                  <a:srgbClr val="C3CEC4"/>
                </a:solidFill>
                <a:latin typeface="Arial"/>
              </a:rPr>
              <a:t>Visit briefs, caregiver texts and SOS messages always end with a human tap. No push backend, no silent sharing.</a:t>
            </a:r>
          </a:p>
        </p:txBody>
      </p:sp>
      <p:sp>
        <p:nvSpPr>
          <p:cNvPr id="18" name="Rounded Rectangle 17"/>
          <p:cNvSpPr/>
          <p:nvPr/>
        </p:nvSpPr>
        <p:spPr>
          <a:xfrm>
            <a:off x="5943600" y="3863339"/>
            <a:ext cx="2735427" cy="2263140"/>
          </a:xfrm>
          <a:prstGeom prst="roundRect">
            <a:avLst>
              <a:gd name="adj" fmla="val 6464"/>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144768" y="3854196"/>
            <a:ext cx="2333091" cy="64008"/>
          </a:xfrm>
          <a:prstGeom prst="roundRect">
            <a:avLst>
              <a:gd name="adj" fmla="val 50000"/>
            </a:avLst>
          </a:prstGeom>
          <a:solidFill>
            <a:srgbClr val="A08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72200" y="4091939"/>
            <a:ext cx="2278227" cy="228600"/>
          </a:xfrm>
          <a:prstGeom prst="rect">
            <a:avLst/>
          </a:prstGeom>
          <a:noFill/>
        </p:spPr>
        <p:txBody>
          <a:bodyPr wrap="square" lIns="0" rIns="0" tIns="0" bIns="0" anchor="t">
            <a:noAutofit/>
          </a:bodyPr>
          <a:lstStyle/>
          <a:p>
            <a:pPr algn="l">
              <a:lnSpc>
                <a:spcPts val="1140"/>
              </a:lnSpc>
              <a:spcBef>
                <a:spcPts val="0"/>
              </a:spcBef>
              <a:spcAft>
                <a:spcPts val="0"/>
              </a:spcAft>
              <a:buNone/>
            </a:pPr>
            <a:r>
              <a:rPr sz="950" b="1" i="0">
                <a:solidFill>
                  <a:srgbClr val="A08AE0"/>
                </a:solidFill>
                <a:latin typeface="Arial"/>
              </a:rPr>
              <a:t>RULE 3</a:t>
            </a:r>
          </a:p>
        </p:txBody>
      </p:sp>
      <p:sp>
        <p:nvSpPr>
          <p:cNvPr id="21" name="TextBox 20"/>
          <p:cNvSpPr txBox="1"/>
          <p:nvPr/>
        </p:nvSpPr>
        <p:spPr>
          <a:xfrm>
            <a:off x="6172200" y="4338827"/>
            <a:ext cx="2278227" cy="731520"/>
          </a:xfrm>
          <a:prstGeom prst="rect">
            <a:avLst/>
          </a:prstGeom>
          <a:noFill/>
        </p:spPr>
        <p:txBody>
          <a:bodyPr wrap="square" lIns="0" rIns="0" tIns="0" bIns="0" anchor="t">
            <a:noAutofit/>
          </a:bodyPr>
          <a:lstStyle/>
          <a:p>
            <a:pPr algn="l">
              <a:lnSpc>
                <a:spcPts val="1839"/>
              </a:lnSpc>
              <a:spcBef>
                <a:spcPts val="0"/>
              </a:spcBef>
              <a:spcAft>
                <a:spcPts val="0"/>
              </a:spcAft>
              <a:buNone/>
            </a:pPr>
            <a:r>
              <a:rPr sz="1600" b="1" i="0">
                <a:solidFill>
                  <a:srgbClr val="F4F6F2"/>
                </a:solidFill>
                <a:latin typeface="Arial"/>
              </a:rPr>
              <a:t>Calm by default</a:t>
            </a:r>
          </a:p>
        </p:txBody>
      </p:sp>
      <p:sp>
        <p:nvSpPr>
          <p:cNvPr id="22" name="TextBox 21"/>
          <p:cNvSpPr txBox="1"/>
          <p:nvPr/>
        </p:nvSpPr>
        <p:spPr>
          <a:xfrm>
            <a:off x="6172200" y="4722875"/>
            <a:ext cx="2278227" cy="1220724"/>
          </a:xfrm>
          <a:prstGeom prst="rect">
            <a:avLst/>
          </a:prstGeom>
          <a:noFill/>
        </p:spPr>
        <p:txBody>
          <a:bodyPr wrap="square" lIns="0" rIns="0" tIns="0" bIns="0" anchor="t">
            <a:noAutofit/>
          </a:bodyPr>
          <a:lstStyle/>
          <a:p>
            <a:pPr algn="l">
              <a:lnSpc>
                <a:spcPts val="1625"/>
              </a:lnSpc>
              <a:spcBef>
                <a:spcPts val="0"/>
              </a:spcBef>
              <a:spcAft>
                <a:spcPts val="0"/>
              </a:spcAft>
              <a:buNone/>
            </a:pPr>
            <a:r>
              <a:rPr sz="1300" b="0" i="0">
                <a:solidFill>
                  <a:srgbClr val="C3CEC4"/>
                </a:solidFill>
                <a:latin typeface="Arial"/>
              </a:rPr>
              <a:t>No timers, no scores, no auto-advance. Reduce-motion, high-contrast and A/A+/A++ text sizes are first-class settings.</a:t>
            </a:r>
          </a:p>
        </p:txBody>
      </p:sp>
      <p:sp>
        <p:nvSpPr>
          <p:cNvPr id="23" name="Rounded Rectangle 22"/>
          <p:cNvSpPr/>
          <p:nvPr/>
        </p:nvSpPr>
        <p:spPr>
          <a:xfrm>
            <a:off x="8907627" y="3863339"/>
            <a:ext cx="2735427" cy="2263140"/>
          </a:xfrm>
          <a:prstGeom prst="roundRect">
            <a:avLst>
              <a:gd name="adj" fmla="val 6464"/>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9108795" y="3854196"/>
            <a:ext cx="2333091" cy="64008"/>
          </a:xfrm>
          <a:prstGeom prst="roundRect">
            <a:avLst>
              <a:gd name="adj" fmla="val 50000"/>
            </a:avLst>
          </a:prstGeom>
          <a:solidFill>
            <a:srgbClr val="F0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36227" y="4091939"/>
            <a:ext cx="2278227" cy="228600"/>
          </a:xfrm>
          <a:prstGeom prst="rect">
            <a:avLst/>
          </a:prstGeom>
          <a:noFill/>
        </p:spPr>
        <p:txBody>
          <a:bodyPr wrap="square" lIns="0" rIns="0" tIns="0" bIns="0" anchor="t">
            <a:noAutofit/>
          </a:bodyPr>
          <a:lstStyle/>
          <a:p>
            <a:pPr algn="l">
              <a:lnSpc>
                <a:spcPts val="1140"/>
              </a:lnSpc>
              <a:spcBef>
                <a:spcPts val="0"/>
              </a:spcBef>
              <a:spcAft>
                <a:spcPts val="0"/>
              </a:spcAft>
              <a:buNone/>
            </a:pPr>
            <a:r>
              <a:rPr sz="950" b="1" i="0">
                <a:solidFill>
                  <a:srgbClr val="F0B23A"/>
                </a:solidFill>
                <a:latin typeface="Arial"/>
              </a:rPr>
              <a:t>RULE 4</a:t>
            </a:r>
          </a:p>
        </p:txBody>
      </p:sp>
      <p:sp>
        <p:nvSpPr>
          <p:cNvPr id="26" name="TextBox 25"/>
          <p:cNvSpPr txBox="1"/>
          <p:nvPr/>
        </p:nvSpPr>
        <p:spPr>
          <a:xfrm>
            <a:off x="9136227" y="4338827"/>
            <a:ext cx="2278227" cy="731520"/>
          </a:xfrm>
          <a:prstGeom prst="rect">
            <a:avLst/>
          </a:prstGeom>
          <a:noFill/>
        </p:spPr>
        <p:txBody>
          <a:bodyPr wrap="square" lIns="0" rIns="0" tIns="0" bIns="0" anchor="t">
            <a:noAutofit/>
          </a:bodyPr>
          <a:lstStyle/>
          <a:p>
            <a:pPr algn="l">
              <a:lnSpc>
                <a:spcPts val="1839"/>
              </a:lnSpc>
              <a:spcBef>
                <a:spcPts val="0"/>
              </a:spcBef>
              <a:spcAft>
                <a:spcPts val="0"/>
              </a:spcAft>
              <a:buNone/>
            </a:pPr>
            <a:r>
              <a:rPr sz="1600" b="1" i="0">
                <a:solidFill>
                  <a:srgbClr val="F4F6F2"/>
                </a:solidFill>
                <a:latin typeface="Arial"/>
              </a:rPr>
              <a:t>Private by architecture</a:t>
            </a:r>
          </a:p>
        </p:txBody>
      </p:sp>
      <p:sp>
        <p:nvSpPr>
          <p:cNvPr id="27" name="TextBox 26"/>
          <p:cNvSpPr txBox="1"/>
          <p:nvPr/>
        </p:nvSpPr>
        <p:spPr>
          <a:xfrm>
            <a:off x="9136227" y="4934203"/>
            <a:ext cx="2278227" cy="1009396"/>
          </a:xfrm>
          <a:prstGeom prst="rect">
            <a:avLst/>
          </a:prstGeom>
          <a:noFill/>
        </p:spPr>
        <p:txBody>
          <a:bodyPr wrap="square" lIns="0" rIns="0" tIns="0" bIns="0" anchor="t">
            <a:noAutofit/>
          </a:bodyPr>
          <a:lstStyle/>
          <a:p>
            <a:pPr algn="l">
              <a:lnSpc>
                <a:spcPts val="1625"/>
              </a:lnSpc>
              <a:spcBef>
                <a:spcPts val="0"/>
              </a:spcBef>
              <a:spcAft>
                <a:spcPts val="0"/>
              </a:spcAft>
              <a:buNone/>
            </a:pPr>
            <a:r>
              <a:rPr sz="1300" b="0" i="0">
                <a:solidFill>
                  <a:srgbClr val="C3CEC4"/>
                </a:solidFill>
                <a:latin typeface="Arial"/>
              </a:rPr>
              <a:t>No account, no server, AES-256-GCM at rest, and an AI guide that runs entirely on the phone.</a:t>
            </a:r>
          </a:p>
        </p:txBody>
      </p:sp>
      <p:sp>
        <p:nvSpPr>
          <p:cNvPr id="28" name="TextBox 27"/>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29" name="TextBox 28"/>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MEET CARESPHERE</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One calm app, five tabs, two platforms</a:t>
            </a:r>
          </a:p>
        </p:txBody>
      </p:sp>
      <p:sp>
        <p:nvSpPr>
          <p:cNvPr id="4" name="Rounded Rectangle 3"/>
          <p:cNvSpPr/>
          <p:nvPr/>
        </p:nvSpPr>
        <p:spPr>
          <a:xfrm>
            <a:off x="7711135" y="338328"/>
            <a:ext cx="3931920" cy="256032"/>
          </a:xfrm>
          <a:prstGeom prst="roundRect">
            <a:avLst>
              <a:gd name="adj" fmla="val 50000"/>
            </a:avLst>
          </a:prstGeom>
          <a:solidFill>
            <a:srgbClr val="28352C"/>
          </a:solidFill>
          <a:ln w="9525">
            <a:solidFill>
              <a:srgbClr val="9FC1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11135" y="338328"/>
            <a:ext cx="3931920" cy="256032"/>
          </a:xfrm>
          <a:prstGeom prst="rect">
            <a:avLst/>
          </a:prstGeom>
          <a:noFill/>
        </p:spPr>
        <p:txBody>
          <a:bodyPr wrap="square" lIns="0" rIns="0" tIns="0" bIns="0" anchor="ctr">
            <a:noAutofit/>
          </a:bodyPr>
          <a:lstStyle/>
          <a:p>
            <a:pPr algn="ctr">
              <a:lnSpc>
                <a:spcPts val="1200"/>
              </a:lnSpc>
              <a:spcBef>
                <a:spcPts val="0"/>
              </a:spcBef>
              <a:spcAft>
                <a:spcPts val="0"/>
              </a:spcAft>
              <a:buNone/>
            </a:pPr>
            <a:r>
              <a:rPr sz="1000" b="1" i="0">
                <a:solidFill>
                  <a:srgbClr val="9FC1AA"/>
                </a:solidFill>
                <a:latin typeface="Arial"/>
              </a:rPr>
              <a:t>NATIVE IOS 16+ (SWIFTUI)  +  REACT PWA</a:t>
            </a:r>
          </a:p>
        </p:txBody>
      </p:sp>
      <p:pic>
        <p:nvPicPr>
          <p:cNvPr id="6" name="Picture 5" descr="phone-overview.png"/>
          <p:cNvPicPr>
            <a:picLocks noChangeAspect="1"/>
          </p:cNvPicPr>
          <p:nvPr/>
        </p:nvPicPr>
        <p:blipFill>
          <a:blip r:embed="rId2"/>
          <a:stretch>
            <a:fillRect/>
          </a:stretch>
        </p:blipFill>
        <p:spPr>
          <a:xfrm>
            <a:off x="580121" y="1325880"/>
            <a:ext cx="1765837" cy="3977639"/>
          </a:xfrm>
          <a:prstGeom prst="rect">
            <a:avLst/>
          </a:prstGeom>
        </p:spPr>
      </p:pic>
      <p:sp>
        <p:nvSpPr>
          <p:cNvPr id="7" name="TextBox 6"/>
          <p:cNvSpPr txBox="1"/>
          <p:nvPr/>
        </p:nvSpPr>
        <p:spPr>
          <a:xfrm>
            <a:off x="548640" y="5440680"/>
            <a:ext cx="1828800" cy="274320"/>
          </a:xfrm>
          <a:prstGeom prst="rect">
            <a:avLst/>
          </a:prstGeom>
          <a:noFill/>
        </p:spPr>
        <p:txBody>
          <a:bodyPr wrap="square" lIns="0" rIns="0" tIns="0" bIns="0" anchor="t">
            <a:noAutofit/>
          </a:bodyPr>
          <a:lstStyle/>
          <a:p>
            <a:pPr algn="ctr">
              <a:lnSpc>
                <a:spcPts val="1560"/>
              </a:lnSpc>
              <a:spcBef>
                <a:spcPts val="0"/>
              </a:spcBef>
              <a:spcAft>
                <a:spcPts val="0"/>
              </a:spcAft>
              <a:buNone/>
            </a:pPr>
            <a:r>
              <a:rPr sz="1300" b="1" i="0">
                <a:solidFill>
                  <a:srgbClr val="F4F6F2"/>
                </a:solidFill>
                <a:latin typeface="Arial"/>
              </a:rPr>
              <a:t>Overview</a:t>
            </a:r>
          </a:p>
        </p:txBody>
      </p:sp>
      <p:sp>
        <p:nvSpPr>
          <p:cNvPr id="8" name="TextBox 7"/>
          <p:cNvSpPr txBox="1"/>
          <p:nvPr/>
        </p:nvSpPr>
        <p:spPr>
          <a:xfrm>
            <a:off x="548640" y="5687568"/>
            <a:ext cx="1828800" cy="457200"/>
          </a:xfrm>
          <a:prstGeom prst="rect">
            <a:avLst/>
          </a:prstGeom>
          <a:noFill/>
        </p:spPr>
        <p:txBody>
          <a:bodyPr wrap="square" lIns="0" rIns="0" tIns="0" bIns="0" anchor="t">
            <a:noAutofit/>
          </a:bodyPr>
          <a:lstStyle/>
          <a:p>
            <a:pPr algn="ctr">
              <a:lnSpc>
                <a:spcPts val="1260"/>
              </a:lnSpc>
              <a:spcBef>
                <a:spcPts val="0"/>
              </a:spcBef>
              <a:spcAft>
                <a:spcPts val="0"/>
              </a:spcAft>
              <a:buNone/>
            </a:pPr>
            <a:r>
              <a:rPr sz="1050" b="0" i="0">
                <a:solidFill>
                  <a:srgbClr val="A2B0A3"/>
                </a:solidFill>
                <a:latin typeface="Arial"/>
              </a:rPr>
              <a:t>routines, mood &amp; medication check-ins</a:t>
            </a:r>
          </a:p>
        </p:txBody>
      </p:sp>
      <p:pic>
        <p:nvPicPr>
          <p:cNvPr id="9" name="Picture 8" descr="phone-activities.png"/>
          <p:cNvPicPr>
            <a:picLocks noChangeAspect="1"/>
          </p:cNvPicPr>
          <p:nvPr/>
        </p:nvPicPr>
        <p:blipFill>
          <a:blip r:embed="rId3"/>
          <a:stretch>
            <a:fillRect/>
          </a:stretch>
        </p:blipFill>
        <p:spPr>
          <a:xfrm>
            <a:off x="2896524" y="1325880"/>
            <a:ext cx="1765837" cy="3977639"/>
          </a:xfrm>
          <a:prstGeom prst="rect">
            <a:avLst/>
          </a:prstGeom>
        </p:spPr>
      </p:pic>
      <p:sp>
        <p:nvSpPr>
          <p:cNvPr id="10" name="TextBox 9"/>
          <p:cNvSpPr txBox="1"/>
          <p:nvPr/>
        </p:nvSpPr>
        <p:spPr>
          <a:xfrm>
            <a:off x="2865043" y="5440680"/>
            <a:ext cx="1828800" cy="274320"/>
          </a:xfrm>
          <a:prstGeom prst="rect">
            <a:avLst/>
          </a:prstGeom>
          <a:noFill/>
        </p:spPr>
        <p:txBody>
          <a:bodyPr wrap="square" lIns="0" rIns="0" tIns="0" bIns="0" anchor="t">
            <a:noAutofit/>
          </a:bodyPr>
          <a:lstStyle/>
          <a:p>
            <a:pPr algn="ctr">
              <a:lnSpc>
                <a:spcPts val="1560"/>
              </a:lnSpc>
              <a:spcBef>
                <a:spcPts val="0"/>
              </a:spcBef>
              <a:spcAft>
                <a:spcPts val="0"/>
              </a:spcAft>
              <a:buNone/>
            </a:pPr>
            <a:r>
              <a:rPr sz="1300" b="1" i="0">
                <a:solidFill>
                  <a:srgbClr val="F4F6F2"/>
                </a:solidFill>
                <a:latin typeface="Arial"/>
              </a:rPr>
              <a:t>Activities</a:t>
            </a:r>
          </a:p>
        </p:txBody>
      </p:sp>
      <p:sp>
        <p:nvSpPr>
          <p:cNvPr id="11" name="TextBox 10"/>
          <p:cNvSpPr txBox="1"/>
          <p:nvPr/>
        </p:nvSpPr>
        <p:spPr>
          <a:xfrm>
            <a:off x="2865043" y="5687568"/>
            <a:ext cx="1828800" cy="457200"/>
          </a:xfrm>
          <a:prstGeom prst="rect">
            <a:avLst/>
          </a:prstGeom>
          <a:noFill/>
        </p:spPr>
        <p:txBody>
          <a:bodyPr wrap="square" lIns="0" rIns="0" tIns="0" bIns="0" anchor="t">
            <a:noAutofit/>
          </a:bodyPr>
          <a:lstStyle/>
          <a:p>
            <a:pPr algn="ctr">
              <a:lnSpc>
                <a:spcPts val="1260"/>
              </a:lnSpc>
              <a:spcBef>
                <a:spcPts val="0"/>
              </a:spcBef>
              <a:spcAft>
                <a:spcPts val="0"/>
              </a:spcAft>
              <a:buNone/>
            </a:pPr>
            <a:r>
              <a:rPr sz="1050" b="0" i="0">
                <a:solidFill>
                  <a:srgbClr val="A2B0A3"/>
                </a:solidFill>
                <a:latin typeface="Arial"/>
              </a:rPr>
              <a:t>sensory &amp; memory tools, breathing</a:t>
            </a:r>
          </a:p>
        </p:txBody>
      </p:sp>
      <p:pic>
        <p:nvPicPr>
          <p:cNvPr id="12" name="Picture 11" descr="phone-circles.png"/>
          <p:cNvPicPr>
            <a:picLocks noChangeAspect="1"/>
          </p:cNvPicPr>
          <p:nvPr/>
        </p:nvPicPr>
        <p:blipFill>
          <a:blip r:embed="rId4"/>
          <a:stretch>
            <a:fillRect/>
          </a:stretch>
        </p:blipFill>
        <p:spPr>
          <a:xfrm>
            <a:off x="5212928" y="1325880"/>
            <a:ext cx="1765837" cy="3977639"/>
          </a:xfrm>
          <a:prstGeom prst="rect">
            <a:avLst/>
          </a:prstGeom>
        </p:spPr>
      </p:pic>
      <p:sp>
        <p:nvSpPr>
          <p:cNvPr id="13" name="TextBox 12"/>
          <p:cNvSpPr txBox="1"/>
          <p:nvPr/>
        </p:nvSpPr>
        <p:spPr>
          <a:xfrm>
            <a:off x="5181447" y="5440680"/>
            <a:ext cx="1828800" cy="274320"/>
          </a:xfrm>
          <a:prstGeom prst="rect">
            <a:avLst/>
          </a:prstGeom>
          <a:noFill/>
        </p:spPr>
        <p:txBody>
          <a:bodyPr wrap="square" lIns="0" rIns="0" tIns="0" bIns="0" anchor="t">
            <a:noAutofit/>
          </a:bodyPr>
          <a:lstStyle/>
          <a:p>
            <a:pPr algn="ctr">
              <a:lnSpc>
                <a:spcPts val="1560"/>
              </a:lnSpc>
              <a:spcBef>
                <a:spcPts val="0"/>
              </a:spcBef>
              <a:spcAft>
                <a:spcPts val="0"/>
              </a:spcAft>
              <a:buNone/>
            </a:pPr>
            <a:r>
              <a:rPr sz="1300" b="1" i="0">
                <a:solidFill>
                  <a:srgbClr val="F4F6F2"/>
                </a:solidFill>
                <a:latin typeface="Arial"/>
              </a:rPr>
              <a:t>Coffee Circles</a:t>
            </a:r>
          </a:p>
        </p:txBody>
      </p:sp>
      <p:sp>
        <p:nvSpPr>
          <p:cNvPr id="14" name="TextBox 13"/>
          <p:cNvSpPr txBox="1"/>
          <p:nvPr/>
        </p:nvSpPr>
        <p:spPr>
          <a:xfrm>
            <a:off x="5181447" y="5687568"/>
            <a:ext cx="1828800" cy="457200"/>
          </a:xfrm>
          <a:prstGeom prst="rect">
            <a:avLst/>
          </a:prstGeom>
          <a:noFill/>
        </p:spPr>
        <p:txBody>
          <a:bodyPr wrap="square" lIns="0" rIns="0" tIns="0" bIns="0" anchor="t">
            <a:noAutofit/>
          </a:bodyPr>
          <a:lstStyle/>
          <a:p>
            <a:pPr algn="ctr">
              <a:lnSpc>
                <a:spcPts val="1260"/>
              </a:lnSpc>
              <a:spcBef>
                <a:spcPts val="0"/>
              </a:spcBef>
              <a:spcAft>
                <a:spcPts val="0"/>
              </a:spcAft>
              <a:buNone/>
            </a:pPr>
            <a:r>
              <a:rPr sz="1050" b="0" i="0">
                <a:solidFill>
                  <a:srgbClr val="A2B0A3"/>
                </a:solidFill>
                <a:latin typeface="Arial"/>
              </a:rPr>
              <a:t>live Jitsi video rooms</a:t>
            </a:r>
          </a:p>
        </p:txBody>
      </p:sp>
      <p:pic>
        <p:nvPicPr>
          <p:cNvPr id="15" name="Picture 14" descr="phone-care.png"/>
          <p:cNvPicPr>
            <a:picLocks noChangeAspect="1"/>
          </p:cNvPicPr>
          <p:nvPr/>
        </p:nvPicPr>
        <p:blipFill>
          <a:blip r:embed="rId5"/>
          <a:stretch>
            <a:fillRect/>
          </a:stretch>
        </p:blipFill>
        <p:spPr>
          <a:xfrm>
            <a:off x="7529332" y="1325880"/>
            <a:ext cx="1765837" cy="3977639"/>
          </a:xfrm>
          <a:prstGeom prst="rect">
            <a:avLst/>
          </a:prstGeom>
        </p:spPr>
      </p:pic>
      <p:sp>
        <p:nvSpPr>
          <p:cNvPr id="16" name="TextBox 15"/>
          <p:cNvSpPr txBox="1"/>
          <p:nvPr/>
        </p:nvSpPr>
        <p:spPr>
          <a:xfrm>
            <a:off x="7497851" y="5440680"/>
            <a:ext cx="1828800" cy="274320"/>
          </a:xfrm>
          <a:prstGeom prst="rect">
            <a:avLst/>
          </a:prstGeom>
          <a:noFill/>
        </p:spPr>
        <p:txBody>
          <a:bodyPr wrap="square" lIns="0" rIns="0" tIns="0" bIns="0" anchor="t">
            <a:noAutofit/>
          </a:bodyPr>
          <a:lstStyle/>
          <a:p>
            <a:pPr algn="ctr">
              <a:lnSpc>
                <a:spcPts val="1560"/>
              </a:lnSpc>
              <a:spcBef>
                <a:spcPts val="0"/>
              </a:spcBef>
              <a:spcAft>
                <a:spcPts val="0"/>
              </a:spcAft>
              <a:buNone/>
            </a:pPr>
            <a:r>
              <a:rPr sz="1300" b="1" i="0">
                <a:solidFill>
                  <a:srgbClr val="F4F6F2"/>
                </a:solidFill>
                <a:latin typeface="Arial"/>
              </a:rPr>
              <a:t>Care Circle</a:t>
            </a:r>
          </a:p>
        </p:txBody>
      </p:sp>
      <p:sp>
        <p:nvSpPr>
          <p:cNvPr id="17" name="TextBox 16"/>
          <p:cNvSpPr txBox="1"/>
          <p:nvPr/>
        </p:nvSpPr>
        <p:spPr>
          <a:xfrm>
            <a:off x="7497851" y="5687568"/>
            <a:ext cx="1828800" cy="457200"/>
          </a:xfrm>
          <a:prstGeom prst="rect">
            <a:avLst/>
          </a:prstGeom>
          <a:noFill/>
        </p:spPr>
        <p:txBody>
          <a:bodyPr wrap="square" lIns="0" rIns="0" tIns="0" bIns="0" anchor="t">
            <a:noAutofit/>
          </a:bodyPr>
          <a:lstStyle/>
          <a:p>
            <a:pPr algn="ctr">
              <a:lnSpc>
                <a:spcPts val="1260"/>
              </a:lnSpc>
              <a:spcBef>
                <a:spcPts val="0"/>
              </a:spcBef>
              <a:spcAft>
                <a:spcPts val="0"/>
              </a:spcAft>
              <a:buNone/>
            </a:pPr>
            <a:r>
              <a:rPr sz="1050" b="0" i="0">
                <a:solidFill>
                  <a:srgbClr val="A2B0A3"/>
                </a:solidFill>
                <a:latin typeface="Arial"/>
              </a:rPr>
              <a:t>care notes &amp; visit brief</a:t>
            </a:r>
          </a:p>
        </p:txBody>
      </p:sp>
      <p:pic>
        <p:nvPicPr>
          <p:cNvPr id="18" name="Picture 17" descr="phone-vitals.png"/>
          <p:cNvPicPr>
            <a:picLocks noChangeAspect="1"/>
          </p:cNvPicPr>
          <p:nvPr/>
        </p:nvPicPr>
        <p:blipFill>
          <a:blip r:embed="rId6"/>
          <a:stretch>
            <a:fillRect/>
          </a:stretch>
        </p:blipFill>
        <p:spPr>
          <a:xfrm>
            <a:off x="9845736" y="1325880"/>
            <a:ext cx="1765837" cy="3977639"/>
          </a:xfrm>
          <a:prstGeom prst="rect">
            <a:avLst/>
          </a:prstGeom>
        </p:spPr>
      </p:pic>
      <p:sp>
        <p:nvSpPr>
          <p:cNvPr id="19" name="TextBox 18"/>
          <p:cNvSpPr txBox="1"/>
          <p:nvPr/>
        </p:nvSpPr>
        <p:spPr>
          <a:xfrm>
            <a:off x="9814255" y="5440680"/>
            <a:ext cx="1828800" cy="274320"/>
          </a:xfrm>
          <a:prstGeom prst="rect">
            <a:avLst/>
          </a:prstGeom>
          <a:noFill/>
        </p:spPr>
        <p:txBody>
          <a:bodyPr wrap="square" lIns="0" rIns="0" tIns="0" bIns="0" anchor="t">
            <a:noAutofit/>
          </a:bodyPr>
          <a:lstStyle/>
          <a:p>
            <a:pPr algn="ctr">
              <a:lnSpc>
                <a:spcPts val="1560"/>
              </a:lnSpc>
              <a:spcBef>
                <a:spcPts val="0"/>
              </a:spcBef>
              <a:spcAft>
                <a:spcPts val="0"/>
              </a:spcAft>
              <a:buNone/>
            </a:pPr>
            <a:r>
              <a:rPr sz="1300" b="1" i="0">
                <a:solidFill>
                  <a:srgbClr val="F4F6F2"/>
                </a:solidFill>
                <a:latin typeface="Arial"/>
              </a:rPr>
              <a:t>Vitals &amp; Telehealth</a:t>
            </a:r>
          </a:p>
        </p:txBody>
      </p:sp>
      <p:sp>
        <p:nvSpPr>
          <p:cNvPr id="20" name="TextBox 19"/>
          <p:cNvSpPr txBox="1"/>
          <p:nvPr/>
        </p:nvSpPr>
        <p:spPr>
          <a:xfrm>
            <a:off x="9814255" y="5687568"/>
            <a:ext cx="1828800" cy="457200"/>
          </a:xfrm>
          <a:prstGeom prst="rect">
            <a:avLst/>
          </a:prstGeom>
          <a:noFill/>
        </p:spPr>
        <p:txBody>
          <a:bodyPr wrap="square" lIns="0" rIns="0" tIns="0" bIns="0" anchor="t">
            <a:noAutofit/>
          </a:bodyPr>
          <a:lstStyle/>
          <a:p>
            <a:pPr algn="ctr">
              <a:lnSpc>
                <a:spcPts val="1260"/>
              </a:lnSpc>
              <a:spcBef>
                <a:spcPts val="0"/>
              </a:spcBef>
              <a:spcAft>
                <a:spcPts val="0"/>
              </a:spcAft>
              <a:buNone/>
            </a:pPr>
            <a:r>
              <a:rPr sz="1050" b="0" i="0">
                <a:solidFill>
                  <a:srgbClr val="A2B0A3"/>
                </a:solidFill>
                <a:latin typeface="Arial"/>
              </a:rPr>
              <a:t>Bluetooth HR, SpO₂, CSV export</a:t>
            </a:r>
          </a:p>
        </p:txBody>
      </p:sp>
      <p:sp>
        <p:nvSpPr>
          <p:cNvPr id="21" name="TextBox 20"/>
          <p:cNvSpPr txBox="1"/>
          <p:nvPr/>
        </p:nvSpPr>
        <p:spPr>
          <a:xfrm>
            <a:off x="548640" y="6108192"/>
            <a:ext cx="11094415" cy="274320"/>
          </a:xfrm>
          <a:prstGeom prst="rect">
            <a:avLst/>
          </a:prstGeom>
          <a:noFill/>
        </p:spPr>
        <p:txBody>
          <a:bodyPr wrap="square" lIns="0" rIns="0" tIns="0" bIns="0" anchor="t">
            <a:noAutofit/>
          </a:bodyPr>
          <a:lstStyle/>
          <a:p>
            <a:pPr algn="ctr">
              <a:lnSpc>
                <a:spcPts val="1320"/>
              </a:lnSpc>
              <a:spcBef>
                <a:spcPts val="0"/>
              </a:spcBef>
              <a:spcAft>
                <a:spcPts val="0"/>
              </a:spcAft>
              <a:buNone/>
            </a:pPr>
            <a:r>
              <a:rPr sz="1100" b="0" i="0">
                <a:solidFill>
                  <a:srgbClr val="77857A"/>
                </a:solidFill>
                <a:latin typeface="Arial"/>
              </a:rPr>
              <a:t>iPhone adds a sixth tab — Health Guide — plus Face ID lock, HealthKit and system notifications.</a:t>
            </a:r>
          </a:p>
        </p:txBody>
      </p:sp>
      <p:sp>
        <p:nvSpPr>
          <p:cNvPr id="22" name="TextBox 21"/>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23" name="TextBox 22"/>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INTENDED AUDIENCE</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Built for three groups who are usually served separately</a:t>
            </a:r>
          </a:p>
        </p:txBody>
      </p:sp>
      <p:sp>
        <p:nvSpPr>
          <p:cNvPr id="4" name="Rounded Rectangle 3"/>
          <p:cNvSpPr/>
          <p:nvPr/>
        </p:nvSpPr>
        <p:spPr>
          <a:xfrm>
            <a:off x="548640" y="1371600"/>
            <a:ext cx="3515258" cy="4617720"/>
          </a:xfrm>
          <a:prstGeom prst="roundRect">
            <a:avLst>
              <a:gd name="adj" fmla="val 4161"/>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749808" y="1362456"/>
            <a:ext cx="3112922" cy="64008"/>
          </a:xfrm>
          <a:prstGeom prst="roundRect">
            <a:avLst>
              <a:gd name="adj" fmla="val 50000"/>
            </a:avLst>
          </a:prstGeom>
          <a:solidFill>
            <a:srgbClr val="9FC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600200"/>
            <a:ext cx="2966618" cy="548640"/>
          </a:xfrm>
          <a:prstGeom prst="rect">
            <a:avLst/>
          </a:prstGeom>
          <a:noFill/>
        </p:spPr>
        <p:txBody>
          <a:bodyPr wrap="square" lIns="0" rIns="0" tIns="0" bIns="0" anchor="t">
            <a:noAutofit/>
          </a:bodyPr>
          <a:lstStyle/>
          <a:p>
            <a:pPr algn="l">
              <a:lnSpc>
                <a:spcPts val="1839"/>
              </a:lnSpc>
              <a:spcBef>
                <a:spcPts val="0"/>
              </a:spcBef>
              <a:spcAft>
                <a:spcPts val="0"/>
              </a:spcAft>
              <a:buNone/>
            </a:pPr>
            <a:r>
              <a:rPr sz="1600" b="1" i="0">
                <a:solidFill>
                  <a:srgbClr val="F4F6F2"/>
                </a:solidFill>
                <a:latin typeface="Arial"/>
              </a:rPr>
              <a:t>Older adults living independently</a:t>
            </a:r>
          </a:p>
        </p:txBody>
      </p:sp>
      <p:sp>
        <p:nvSpPr>
          <p:cNvPr id="7" name="TextBox 6"/>
          <p:cNvSpPr txBox="1"/>
          <p:nvPr/>
        </p:nvSpPr>
        <p:spPr>
          <a:xfrm>
            <a:off x="822959" y="2194560"/>
            <a:ext cx="2966618" cy="2240280"/>
          </a:xfrm>
          <a:prstGeom prst="rect">
            <a:avLst/>
          </a:prstGeom>
          <a:noFill/>
        </p:spPr>
        <p:txBody>
          <a:bodyPr wrap="square" lIns="0" rIns="0" tIns="0" bIns="0" anchor="t">
            <a:noAutofit/>
          </a:bodyPr>
          <a:lstStyle/>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Large-text routines (up to 24 items) that reset at local midnight</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Daily mood check-in with a 14-day history they choose to share</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Medication reminders they configure and confirm themselves</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Coffee Circles — scheduled video rooms with real people</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Wearable heart-rate on screen, labeled honestly</a:t>
            </a:r>
          </a:p>
        </p:txBody>
      </p:sp>
      <p:pic>
        <p:nvPicPr>
          <p:cNvPr id="8" name="Picture 7" descr="strip-routine.png"/>
          <p:cNvPicPr>
            <a:picLocks noChangeAspect="1"/>
          </p:cNvPicPr>
          <p:nvPr/>
        </p:nvPicPr>
        <p:blipFill>
          <a:blip r:embed="rId2"/>
          <a:stretch>
            <a:fillRect/>
          </a:stretch>
        </p:blipFill>
        <p:spPr>
          <a:xfrm>
            <a:off x="822959" y="4453662"/>
            <a:ext cx="2966618" cy="1352777"/>
          </a:xfrm>
          <a:prstGeom prst="roundRect">
            <a:avLst>
              <a:gd name="adj" fmla="val 8111"/>
            </a:avLst>
          </a:prstGeom>
        </p:spPr>
      </p:pic>
      <p:sp>
        <p:nvSpPr>
          <p:cNvPr id="9" name="Rounded Rectangle 8"/>
          <p:cNvSpPr/>
          <p:nvPr/>
        </p:nvSpPr>
        <p:spPr>
          <a:xfrm>
            <a:off x="4338218" y="1371600"/>
            <a:ext cx="3515258" cy="4617720"/>
          </a:xfrm>
          <a:prstGeom prst="roundRect">
            <a:avLst>
              <a:gd name="adj" fmla="val 4161"/>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4539386" y="1362456"/>
            <a:ext cx="3112922" cy="64008"/>
          </a:xfrm>
          <a:prstGeom prst="roundRect">
            <a:avLst>
              <a:gd name="adj" fmla="val 50000"/>
            </a:avLst>
          </a:prstGeom>
          <a:solidFill>
            <a:srgbClr val="A08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12538" y="1600200"/>
            <a:ext cx="2966618" cy="548640"/>
          </a:xfrm>
          <a:prstGeom prst="rect">
            <a:avLst/>
          </a:prstGeom>
          <a:noFill/>
        </p:spPr>
        <p:txBody>
          <a:bodyPr wrap="square" lIns="0" rIns="0" tIns="0" bIns="0" anchor="t">
            <a:noAutofit/>
          </a:bodyPr>
          <a:lstStyle/>
          <a:p>
            <a:pPr algn="l">
              <a:lnSpc>
                <a:spcPts val="1839"/>
              </a:lnSpc>
              <a:spcBef>
                <a:spcPts val="0"/>
              </a:spcBef>
              <a:spcAft>
                <a:spcPts val="0"/>
              </a:spcAft>
              <a:buNone/>
            </a:pPr>
            <a:r>
              <a:rPr sz="1600" b="1" i="0">
                <a:solidFill>
                  <a:srgbClr val="F4F6F2"/>
                </a:solidFill>
                <a:latin typeface="Arial"/>
              </a:rPr>
              <a:t>Autistic teens and adults</a:t>
            </a:r>
          </a:p>
        </p:txBody>
      </p:sp>
      <p:sp>
        <p:nvSpPr>
          <p:cNvPr id="12" name="TextBox 11"/>
          <p:cNvSpPr txBox="1"/>
          <p:nvPr/>
        </p:nvSpPr>
        <p:spPr>
          <a:xfrm>
            <a:off x="4612538" y="2194560"/>
            <a:ext cx="2966618" cy="2240280"/>
          </a:xfrm>
          <a:prstGeom prst="rect">
            <a:avLst/>
          </a:prstGeom>
          <a:noFill/>
        </p:spPr>
        <p:txBody>
          <a:bodyPr wrap="square" lIns="0" rIns="0" tIns="0" bIns="0" anchor="t">
            <a:noAutofit/>
          </a:bodyPr>
          <a:lstStyle/>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Predictable layout: one task per screen, no surprises</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Untimed, unscored activities: Feelings Explorer, Pattern Recall, Picture Pairs, Picture Story</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Four synthesized soundscapes and 4-4-6 guided breathing</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"I'm stressed" path that calms first and never auto-alerts anyone</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Reduce-motion, high-contrast and theme choices (AASPIRE-informed)</a:t>
            </a:r>
          </a:p>
        </p:txBody>
      </p:sp>
      <p:pic>
        <p:nvPicPr>
          <p:cNvPr id="13" name="Picture 12" descr="strip-soundscapes.png"/>
          <p:cNvPicPr>
            <a:picLocks noChangeAspect="1"/>
          </p:cNvPicPr>
          <p:nvPr/>
        </p:nvPicPr>
        <p:blipFill>
          <a:blip r:embed="rId3"/>
          <a:stretch>
            <a:fillRect/>
          </a:stretch>
        </p:blipFill>
        <p:spPr>
          <a:xfrm>
            <a:off x="4612538" y="4610892"/>
            <a:ext cx="2966618" cy="1195547"/>
          </a:xfrm>
          <a:prstGeom prst="roundRect">
            <a:avLst>
              <a:gd name="adj" fmla="val 9178"/>
            </a:avLst>
          </a:prstGeom>
        </p:spPr>
      </p:pic>
      <p:sp>
        <p:nvSpPr>
          <p:cNvPr id="14" name="Rounded Rectangle 13"/>
          <p:cNvSpPr/>
          <p:nvPr/>
        </p:nvSpPr>
        <p:spPr>
          <a:xfrm>
            <a:off x="8127796" y="1371600"/>
            <a:ext cx="3515258" cy="4617720"/>
          </a:xfrm>
          <a:prstGeom prst="roundRect">
            <a:avLst>
              <a:gd name="adj" fmla="val 4161"/>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28964" y="1362456"/>
            <a:ext cx="3112922" cy="64008"/>
          </a:xfrm>
          <a:prstGeom prst="roundRect">
            <a:avLst>
              <a:gd name="adj" fmla="val 50000"/>
            </a:avLst>
          </a:prstGeom>
          <a:solidFill>
            <a:srgbClr val="F0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402116" y="1600200"/>
            <a:ext cx="2966618" cy="548640"/>
          </a:xfrm>
          <a:prstGeom prst="rect">
            <a:avLst/>
          </a:prstGeom>
          <a:noFill/>
        </p:spPr>
        <p:txBody>
          <a:bodyPr wrap="square" lIns="0" rIns="0" tIns="0" bIns="0" anchor="t">
            <a:noAutofit/>
          </a:bodyPr>
          <a:lstStyle/>
          <a:p>
            <a:pPr algn="l">
              <a:lnSpc>
                <a:spcPts val="1839"/>
              </a:lnSpc>
              <a:spcBef>
                <a:spcPts val="0"/>
              </a:spcBef>
              <a:spcAft>
                <a:spcPts val="0"/>
              </a:spcAft>
              <a:buNone/>
            </a:pPr>
            <a:r>
              <a:rPr sz="1600" b="1" i="0">
                <a:solidFill>
                  <a:srgbClr val="F4F6F2"/>
                </a:solidFill>
                <a:latin typeface="Arial"/>
              </a:rPr>
              <a:t>Family caregivers and care teams</a:t>
            </a:r>
          </a:p>
        </p:txBody>
      </p:sp>
      <p:sp>
        <p:nvSpPr>
          <p:cNvPr id="17" name="TextBox 16"/>
          <p:cNvSpPr txBox="1"/>
          <p:nvPr/>
        </p:nvSpPr>
        <p:spPr>
          <a:xfrm>
            <a:off x="8402116" y="2194560"/>
            <a:ext cx="2966618" cy="2240280"/>
          </a:xfrm>
          <a:prstGeom prst="rect">
            <a:avLst/>
          </a:prstGeom>
          <a:noFill/>
        </p:spPr>
        <p:txBody>
          <a:bodyPr wrap="square" lIns="0" rIns="0" tIns="0" bIns="0" anchor="t">
            <a:noAutofit/>
          </a:bodyPr>
          <a:lstStyle/>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Shared care notes kept on the device, exportable any time</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Visit brief with an exact preview before anything is saved</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Opt-in support check-in that offers a text, a video room or 911</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Source-labeled HR/SpO₂ history and CSV export for appointments</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Honest limits: no delivery promises, no diagnosis, no cloud</a:t>
            </a:r>
          </a:p>
        </p:txBody>
      </p:sp>
      <p:pic>
        <p:nvPicPr>
          <p:cNvPr id="18" name="Picture 17" descr="strip-summary.png"/>
          <p:cNvPicPr>
            <a:picLocks noChangeAspect="1"/>
          </p:cNvPicPr>
          <p:nvPr/>
        </p:nvPicPr>
        <p:blipFill>
          <a:blip r:embed="rId4"/>
          <a:stretch>
            <a:fillRect/>
          </a:stretch>
        </p:blipFill>
        <p:spPr>
          <a:xfrm>
            <a:off x="8527786" y="4434840"/>
            <a:ext cx="2715279" cy="1371600"/>
          </a:xfrm>
          <a:prstGeom prst="roundRect">
            <a:avLst>
              <a:gd name="adj" fmla="val 8000"/>
            </a:avLst>
          </a:prstGeom>
        </p:spPr>
      </p:pic>
      <p:sp>
        <p:nvSpPr>
          <p:cNvPr id="19" name="TextBox 18"/>
          <p:cNvSpPr txBox="1"/>
          <p:nvPr/>
        </p:nvSpPr>
        <p:spPr>
          <a:xfrm>
            <a:off x="548640" y="6108192"/>
            <a:ext cx="11094415" cy="274320"/>
          </a:xfrm>
          <a:prstGeom prst="rect">
            <a:avLst/>
          </a:prstGeom>
          <a:noFill/>
        </p:spPr>
        <p:txBody>
          <a:bodyPr wrap="square" lIns="0" rIns="0" tIns="0" bIns="0" anchor="t">
            <a:noAutofit/>
          </a:bodyPr>
          <a:lstStyle/>
          <a:p>
            <a:pPr algn="ctr">
              <a:lnSpc>
                <a:spcPts val="1200"/>
              </a:lnSpc>
              <a:spcBef>
                <a:spcPts val="0"/>
              </a:spcBef>
              <a:spcAft>
                <a:spcPts val="0"/>
              </a:spcAft>
              <a:buNone/>
            </a:pPr>
            <a:r>
              <a:rPr sz="1000" b="0" i="0">
                <a:solidFill>
                  <a:srgbClr val="77857A"/>
                </a:solidFill>
                <a:latin typeface="Arial"/>
              </a:rPr>
              <a:t>Design references: AASPIRE Web Accessibility Guidelines for Autistic Web Users (Nicolaidis et al., 2019) · Apple Human Interface Guidelines — Accessibility</a:t>
            </a:r>
          </a:p>
        </p:txBody>
      </p:sp>
      <p:sp>
        <p:nvSpPr>
          <p:cNvPr id="20" name="TextBox 19"/>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21" name="TextBox 20"/>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LIVE DEMO</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Let's see it in action</a:t>
            </a:r>
          </a:p>
        </p:txBody>
      </p:sp>
      <p:pic>
        <p:nvPicPr>
          <p:cNvPr id="4" name="Picture 3" descr="web-overview.png"/>
          <p:cNvPicPr>
            <a:picLocks noChangeAspect="1"/>
          </p:cNvPicPr>
          <p:nvPr/>
        </p:nvPicPr>
        <p:blipFill>
          <a:blip r:embed="rId2"/>
          <a:stretch>
            <a:fillRect/>
          </a:stretch>
        </p:blipFill>
        <p:spPr>
          <a:xfrm>
            <a:off x="548640" y="1325880"/>
            <a:ext cx="6675120" cy="4402915"/>
          </a:xfrm>
          <a:prstGeom prst="rect">
            <a:avLst/>
          </a:prstGeom>
        </p:spPr>
      </p:pic>
      <p:sp>
        <p:nvSpPr>
          <p:cNvPr id="5" name="Rounded Rectangle 4"/>
          <p:cNvSpPr/>
          <p:nvPr/>
        </p:nvSpPr>
        <p:spPr>
          <a:xfrm>
            <a:off x="548640" y="5897880"/>
            <a:ext cx="3360420" cy="256032"/>
          </a:xfrm>
          <a:prstGeom prst="roundRect">
            <a:avLst>
              <a:gd name="adj" fmla="val 50000"/>
            </a:avLst>
          </a:prstGeom>
          <a:solidFill>
            <a:srgbClr val="28352C"/>
          </a:solidFill>
          <a:ln w="9525">
            <a:solidFill>
              <a:srgbClr val="F0B2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5897880"/>
            <a:ext cx="3360420" cy="256032"/>
          </a:xfrm>
          <a:prstGeom prst="rect">
            <a:avLst/>
          </a:prstGeom>
          <a:noFill/>
        </p:spPr>
        <p:txBody>
          <a:bodyPr wrap="square" lIns="0" rIns="0" tIns="0" bIns="0" anchor="ctr">
            <a:noAutofit/>
          </a:bodyPr>
          <a:lstStyle/>
          <a:p>
            <a:pPr algn="ctr">
              <a:lnSpc>
                <a:spcPts val="1140"/>
              </a:lnSpc>
              <a:spcBef>
                <a:spcPts val="0"/>
              </a:spcBef>
              <a:spcAft>
                <a:spcPts val="0"/>
              </a:spcAft>
              <a:buNone/>
            </a:pPr>
            <a:r>
              <a:rPr sz="950" b="1" i="0">
                <a:solidFill>
                  <a:srgbClr val="F0B23A"/>
                </a:solidFill>
                <a:latin typeface="Arial"/>
              </a:rPr>
              <a:t>RECORDED ON THE REAL APP — NOTHING STAGED</a:t>
            </a:r>
          </a:p>
        </p:txBody>
      </p:sp>
      <p:sp>
        <p:nvSpPr>
          <p:cNvPr id="7" name="Rounded Rectangle 6"/>
          <p:cNvSpPr/>
          <p:nvPr/>
        </p:nvSpPr>
        <p:spPr>
          <a:xfrm>
            <a:off x="7498079" y="1325880"/>
            <a:ext cx="4144975" cy="4800600"/>
          </a:xfrm>
          <a:prstGeom prst="roundRect">
            <a:avLst>
              <a:gd name="adj" fmla="val 3529"/>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26679" y="1508760"/>
            <a:ext cx="3687775" cy="274320"/>
          </a:xfrm>
          <a:prstGeom prst="rect">
            <a:avLst/>
          </a:prstGeom>
          <a:noFill/>
        </p:spPr>
        <p:txBody>
          <a:bodyPr wrap="square" lIns="0" rIns="0" tIns="0" bIns="0" anchor="t">
            <a:noAutofit/>
          </a:bodyPr>
          <a:lstStyle/>
          <a:p>
            <a:pPr algn="l">
              <a:lnSpc>
                <a:spcPts val="1260"/>
              </a:lnSpc>
              <a:spcBef>
                <a:spcPts val="0"/>
              </a:spcBef>
              <a:spcAft>
                <a:spcPts val="0"/>
              </a:spcAft>
              <a:buNone/>
            </a:pPr>
            <a:r>
              <a:rPr sz="1050" b="1" i="0">
                <a:solidFill>
                  <a:srgbClr val="9FC1AA"/>
                </a:solidFill>
                <a:latin typeface="Arial"/>
              </a:rPr>
              <a:t>WHAT YOU'LL SEE IN THE VIDEO</a:t>
            </a:r>
          </a:p>
        </p:txBody>
      </p:sp>
      <p:sp>
        <p:nvSpPr>
          <p:cNvPr id="9" name="TextBox 8"/>
          <p:cNvSpPr txBox="1"/>
          <p:nvPr/>
        </p:nvSpPr>
        <p:spPr>
          <a:xfrm>
            <a:off x="7726679" y="1828800"/>
            <a:ext cx="3687775" cy="4160520"/>
          </a:xfrm>
          <a:prstGeom prst="rect">
            <a:avLst/>
          </a:prstGeom>
          <a:noFill/>
        </p:spPr>
        <p:txBody>
          <a:bodyPr wrap="square" lIns="0" rIns="0" tIns="0" bIns="0" anchor="t">
            <a:noAutofit/>
          </a:bodyPr>
          <a:lstStyle/>
          <a:p>
            <a:pPr algn="l" marL="292608" indent="-292608">
              <a:lnSpc>
                <a:spcPts val="1525"/>
              </a:lnSpc>
              <a:spcBef>
                <a:spcPts val="0"/>
              </a:spcBef>
              <a:spcAft>
                <a:spcPts val="700"/>
              </a:spcAft>
              <a:buClr>
                <a:srgbClr val="9FC1AA"/>
              </a:buClr>
              <a:buFont typeface="Arial"/>
              <a:buChar char="1"/>
            </a:pPr>
            <a:r>
              <a:rPr sz="1250" b="0" i="0">
                <a:solidFill>
                  <a:srgbClr val="C3CEC4"/>
                </a:solidFill>
                <a:latin typeface="Arial"/>
              </a:rPr>
              <a:t>Overview — mood check-in, tick a routine item</a:t>
            </a:r>
          </a:p>
          <a:p>
            <a:pPr algn="l" marL="292608" indent="-292608">
              <a:lnSpc>
                <a:spcPts val="1525"/>
              </a:lnSpc>
              <a:spcBef>
                <a:spcPts val="0"/>
              </a:spcBef>
              <a:spcAft>
                <a:spcPts val="700"/>
              </a:spcAft>
              <a:buClr>
                <a:srgbClr val="9FC1AA"/>
              </a:buClr>
              <a:buFont typeface="Arial"/>
              <a:buChar char="2"/>
            </a:pPr>
            <a:r>
              <a:rPr sz="1250" b="0" i="0">
                <a:solidFill>
                  <a:srgbClr val="C3CEC4"/>
                </a:solidFill>
                <a:latin typeface="Arial"/>
              </a:rPr>
              <a:t>Add a medication → confirm the schedule → spoken reminder toast</a:t>
            </a:r>
          </a:p>
          <a:p>
            <a:pPr algn="l" marL="292608" indent="-292608">
              <a:lnSpc>
                <a:spcPts val="1525"/>
              </a:lnSpc>
              <a:spcBef>
                <a:spcPts val="0"/>
              </a:spcBef>
              <a:spcAft>
                <a:spcPts val="700"/>
              </a:spcAft>
              <a:buClr>
                <a:srgbClr val="9FC1AA"/>
              </a:buClr>
              <a:buFont typeface="Arial"/>
              <a:buChar char="3"/>
            </a:pPr>
            <a:r>
              <a:rPr sz="1250" b="0" i="0">
                <a:solidFill>
                  <a:srgbClr val="C3CEC4"/>
                </a:solidFill>
                <a:latin typeface="Arial"/>
              </a:rPr>
              <a:t>Vitals — pair a Bluetooth monitor (or the labeled demo), live sparkline, CSV export</a:t>
            </a:r>
          </a:p>
          <a:p>
            <a:pPr algn="l" marL="292608" indent="-292608">
              <a:lnSpc>
                <a:spcPts val="1525"/>
              </a:lnSpc>
              <a:spcBef>
                <a:spcPts val="0"/>
              </a:spcBef>
              <a:spcAft>
                <a:spcPts val="700"/>
              </a:spcAft>
              <a:buClr>
                <a:srgbClr val="9FC1AA"/>
              </a:buClr>
              <a:buFont typeface="Arial"/>
              <a:buChar char="4"/>
            </a:pPr>
            <a:r>
              <a:rPr sz="1250" b="0" i="0">
                <a:solidFill>
                  <a:srgbClr val="C3CEC4"/>
                </a:solidFill>
                <a:latin typeface="Arial"/>
              </a:rPr>
              <a:t>Activities — Pattern Recall, Rain soundscape, 4-4-6 breathing</a:t>
            </a:r>
          </a:p>
          <a:p>
            <a:pPr algn="l" marL="292608" indent="-292608">
              <a:lnSpc>
                <a:spcPts val="1525"/>
              </a:lnSpc>
              <a:spcBef>
                <a:spcPts val="0"/>
              </a:spcBef>
              <a:spcAft>
                <a:spcPts val="700"/>
              </a:spcAft>
              <a:buClr>
                <a:srgbClr val="9FC1AA"/>
              </a:buClr>
              <a:buFont typeface="Arial"/>
              <a:buChar char="5"/>
            </a:pPr>
            <a:r>
              <a:rPr sz="1250" b="0" i="0">
                <a:solidFill>
                  <a:srgbClr val="C3CEC4"/>
                </a:solidFill>
                <a:latin typeface="Arial"/>
              </a:rPr>
              <a:t>Coffee Circles — join a real Jitsi room</a:t>
            </a:r>
          </a:p>
          <a:p>
            <a:pPr algn="l" marL="292608" indent="-292608">
              <a:lnSpc>
                <a:spcPts val="1525"/>
              </a:lnSpc>
              <a:spcBef>
                <a:spcPts val="0"/>
              </a:spcBef>
              <a:spcAft>
                <a:spcPts val="700"/>
              </a:spcAft>
              <a:buClr>
                <a:srgbClr val="9FC1AA"/>
              </a:buClr>
              <a:buFont typeface="Arial"/>
              <a:buChar char="6"/>
            </a:pPr>
            <a:r>
              <a:rPr sz="1250" b="0" i="0">
                <a:solidFill>
                  <a:srgbClr val="C3CEC4"/>
                </a:solidFill>
                <a:latin typeface="Arial"/>
              </a:rPr>
              <a:t>Care Circle — build a visit brief, preview it, download it</a:t>
            </a:r>
          </a:p>
          <a:p>
            <a:pPr algn="l" marL="292608" indent="-292608">
              <a:lnSpc>
                <a:spcPts val="1525"/>
              </a:lnSpc>
              <a:spcBef>
                <a:spcPts val="0"/>
              </a:spcBef>
              <a:spcAft>
                <a:spcPts val="700"/>
              </a:spcAft>
              <a:buClr>
                <a:srgbClr val="9FC1AA"/>
              </a:buClr>
              <a:buFont typeface="Arial"/>
              <a:buChar char="7"/>
            </a:pPr>
            <a:r>
              <a:rPr sz="1250" b="0" i="0">
                <a:solidFill>
                  <a:srgbClr val="C3CEC4"/>
                </a:solidFill>
                <a:latin typeface="Arial"/>
              </a:rPr>
              <a:t>Settings — A++ text, warm-light theme, encryption status</a:t>
            </a:r>
          </a:p>
          <a:p>
            <a:pPr algn="l" marL="292608" indent="-292608">
              <a:lnSpc>
                <a:spcPts val="1525"/>
              </a:lnSpc>
              <a:spcBef>
                <a:spcPts val="0"/>
              </a:spcBef>
              <a:spcAft>
                <a:spcPts val="700"/>
              </a:spcAft>
              <a:buClr>
                <a:srgbClr val="9FC1AA"/>
              </a:buClr>
              <a:buFont typeface="Arial"/>
              <a:buChar char="8"/>
            </a:pPr>
            <a:r>
              <a:rPr sz="1250" b="0" i="0">
                <a:solidFill>
                  <a:srgbClr val="C3CEC4"/>
                </a:solidFill>
                <a:latin typeface="Arial"/>
              </a:rPr>
              <a:t>iPhone — ask the offline Health Guide a question</a:t>
            </a:r>
          </a:p>
        </p:txBody>
      </p:sp>
      <p:sp>
        <p:nvSpPr>
          <p:cNvPr id="10" name="TextBox 9"/>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11" name="TextBox 10"/>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FEATURE · OVERVIEW</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311"/>
              </a:lnSpc>
              <a:spcBef>
                <a:spcPts val="0"/>
              </a:spcBef>
              <a:spcAft>
                <a:spcPts val="0"/>
              </a:spcAft>
              <a:buNone/>
            </a:pPr>
            <a:r>
              <a:rPr sz="2750" b="1" i="0">
                <a:solidFill>
                  <a:srgbClr val="F4F6F2"/>
                </a:solidFill>
                <a:latin typeface="Arial"/>
              </a:rPr>
              <a:t>Routines, mood and medication — self-reported, local, honest</a:t>
            </a:r>
          </a:p>
        </p:txBody>
      </p:sp>
      <p:pic>
        <p:nvPicPr>
          <p:cNvPr id="4" name="Picture 3" descr="crop-routine.png"/>
          <p:cNvPicPr>
            <a:picLocks noChangeAspect="1"/>
          </p:cNvPicPr>
          <p:nvPr/>
        </p:nvPicPr>
        <p:blipFill>
          <a:blip r:embed="rId2"/>
          <a:stretch>
            <a:fillRect/>
          </a:stretch>
        </p:blipFill>
        <p:spPr>
          <a:xfrm>
            <a:off x="548640" y="1325880"/>
            <a:ext cx="3429000" cy="2520315"/>
          </a:xfrm>
          <a:prstGeom prst="rect">
            <a:avLst/>
          </a:prstGeom>
        </p:spPr>
      </p:pic>
      <p:pic>
        <p:nvPicPr>
          <p:cNvPr id="5" name="Picture 4" descr="crop-meds.png"/>
          <p:cNvPicPr>
            <a:picLocks noChangeAspect="1"/>
          </p:cNvPicPr>
          <p:nvPr/>
        </p:nvPicPr>
        <p:blipFill>
          <a:blip r:embed="rId3"/>
          <a:stretch>
            <a:fillRect/>
          </a:stretch>
        </p:blipFill>
        <p:spPr>
          <a:xfrm>
            <a:off x="4160520" y="1325880"/>
            <a:ext cx="3429000" cy="2520315"/>
          </a:xfrm>
          <a:prstGeom prst="rect">
            <a:avLst/>
          </a:prstGeom>
        </p:spPr>
      </p:pic>
      <p:pic>
        <p:nvPicPr>
          <p:cNvPr id="6" name="Picture 5" descr="crop-mood.png"/>
          <p:cNvPicPr>
            <a:picLocks noChangeAspect="1"/>
          </p:cNvPicPr>
          <p:nvPr/>
        </p:nvPicPr>
        <p:blipFill>
          <a:blip r:embed="rId4"/>
          <a:stretch>
            <a:fillRect/>
          </a:stretch>
        </p:blipFill>
        <p:spPr>
          <a:xfrm>
            <a:off x="548640" y="3977639"/>
            <a:ext cx="7040880" cy="1047330"/>
          </a:xfrm>
          <a:prstGeom prst="rect">
            <a:avLst/>
          </a:prstGeom>
        </p:spPr>
      </p:pic>
      <p:pic>
        <p:nvPicPr>
          <p:cNvPr id="7" name="Picture 6" descr="crop-toast.png"/>
          <p:cNvPicPr>
            <a:picLocks noChangeAspect="1"/>
          </p:cNvPicPr>
          <p:nvPr/>
        </p:nvPicPr>
        <p:blipFill>
          <a:blip r:embed="rId5"/>
          <a:stretch>
            <a:fillRect/>
          </a:stretch>
        </p:blipFill>
        <p:spPr>
          <a:xfrm>
            <a:off x="548640" y="5138928"/>
            <a:ext cx="2377440" cy="1002982"/>
          </a:xfrm>
          <a:prstGeom prst="roundRect">
            <a:avLst>
              <a:gd name="adj" fmla="val 12763"/>
            </a:avLst>
          </a:prstGeom>
        </p:spPr>
      </p:pic>
      <p:sp>
        <p:nvSpPr>
          <p:cNvPr id="8" name="TextBox 7"/>
          <p:cNvSpPr txBox="1"/>
          <p:nvPr/>
        </p:nvSpPr>
        <p:spPr>
          <a:xfrm>
            <a:off x="3108960" y="5175504"/>
            <a:ext cx="4480560" cy="960120"/>
          </a:xfrm>
          <a:prstGeom prst="rect">
            <a:avLst/>
          </a:prstGeom>
          <a:noFill/>
        </p:spPr>
        <p:txBody>
          <a:bodyPr wrap="square" lIns="0" rIns="0" tIns="0" bIns="0" anchor="t">
            <a:noAutofit/>
          </a:bodyPr>
          <a:lstStyle/>
          <a:p>
            <a:pPr algn="l">
              <a:lnSpc>
                <a:spcPts val="1342"/>
              </a:lnSpc>
              <a:spcBef>
                <a:spcPts val="0"/>
              </a:spcBef>
              <a:spcAft>
                <a:spcPts val="400"/>
              </a:spcAft>
              <a:buNone/>
            </a:pPr>
            <a:r>
              <a:rPr sz="1100" b="1" i="0">
                <a:solidFill>
                  <a:srgbClr val="F4F6F2"/>
                </a:solidFill>
                <a:latin typeface="Arial"/>
              </a:rPr>
              <a:t>Reminder toast:</a:t>
            </a:r>
            <a:r>
              <a:rPr sz="1100" b="0" i="0">
                <a:solidFill>
                  <a:srgbClr val="A2B0A3"/>
                </a:solidFill>
                <a:latin typeface="Arial"/>
              </a:rPr>
              <a:t> "Taken" saves a self-report, "Snooze" waits 10 minutes.</a:t>
            </a:r>
          </a:p>
          <a:p>
            <a:pPr algn="l">
              <a:lnSpc>
                <a:spcPts val="1342"/>
              </a:lnSpc>
              <a:spcBef>
                <a:spcPts val="0"/>
              </a:spcBef>
              <a:spcAft>
                <a:spcPts val="400"/>
              </a:spcAft>
              <a:buNone/>
            </a:pPr>
            <a:r>
              <a:rPr sz="1100" b="0" i="0">
                <a:solidFill>
                  <a:srgbClr val="A2B0A3"/>
                </a:solidFill>
                <a:latin typeface="Arial"/>
              </a:rPr>
              <a:t>Paired with an optional browser notification and a spoken prompt.</a:t>
            </a:r>
          </a:p>
        </p:txBody>
      </p:sp>
      <p:sp>
        <p:nvSpPr>
          <p:cNvPr id="9" name="TextBox 8"/>
          <p:cNvSpPr txBox="1"/>
          <p:nvPr/>
        </p:nvSpPr>
        <p:spPr>
          <a:xfrm>
            <a:off x="7863840" y="1371600"/>
            <a:ext cx="3779215" cy="4754880"/>
          </a:xfrm>
          <a:prstGeom prst="rect">
            <a:avLst/>
          </a:prstGeom>
          <a:noFill/>
        </p:spPr>
        <p:txBody>
          <a:bodyPr wrap="square" lIns="0" rIns="0" tIns="0" bIns="0" anchor="t">
            <a:noAutofit/>
          </a:bodyPr>
          <a:lstStyle/>
          <a:p>
            <a:pPr algn="l" marL="219456" indent="-219456">
              <a:lnSpc>
                <a:spcPts val="1525"/>
              </a:lnSpc>
              <a:spcBef>
                <a:spcPts val="0"/>
              </a:spcBef>
              <a:spcAft>
                <a:spcPts val="700"/>
              </a:spcAft>
              <a:buClr>
                <a:srgbClr val="9FC1AA"/>
              </a:buClr>
              <a:buFont typeface="Arial"/>
              <a:buChar char="•"/>
            </a:pPr>
            <a:r>
              <a:rPr sz="1250" b="1" i="0">
                <a:solidFill>
                  <a:srgbClr val="F4F6F2"/>
                </a:solidFill>
                <a:latin typeface="Arial"/>
              </a:rPr>
              <a:t>Up to 24 routine items</a:t>
            </a:r>
            <a:r>
              <a:rPr sz="1250" b="0" i="0">
                <a:solidFill>
                  <a:srgbClr val="C3CEC4"/>
                </a:solidFill>
                <a:latin typeface="Arial"/>
              </a:rPr>
              <a:t> with a daily progress count; check-ins are keyed to the local calendar day and </a:t>
            </a:r>
            <a:r>
              <a:rPr sz="1250" b="1" i="0">
                <a:solidFill>
                  <a:srgbClr val="F4F6F2"/>
                </a:solidFill>
                <a:latin typeface="Arial"/>
              </a:rPr>
              <a:t>reset at local midnight</a:t>
            </a:r>
            <a:r>
              <a:rPr sz="1250" b="0" i="0">
                <a:solidFill>
                  <a:srgbClr val="C3CEC4"/>
                </a:solidFill>
                <a:latin typeface="Arial"/>
              </a:rPr>
              <a:t> — not UTC.</a:t>
            </a:r>
          </a:p>
          <a:p>
            <a:pPr algn="l" marL="219456" indent="-219456">
              <a:lnSpc>
                <a:spcPts val="1525"/>
              </a:lnSpc>
              <a:spcBef>
                <a:spcPts val="0"/>
              </a:spcBef>
              <a:spcAft>
                <a:spcPts val="700"/>
              </a:spcAft>
              <a:buClr>
                <a:srgbClr val="9FC1AA"/>
              </a:buClr>
              <a:buFont typeface="Arial"/>
              <a:buChar char="•"/>
            </a:pPr>
            <a:r>
              <a:rPr sz="1250" b="1" i="0">
                <a:solidFill>
                  <a:srgbClr val="F4F6F2"/>
                </a:solidFill>
                <a:latin typeface="Arial"/>
              </a:rPr>
              <a:t>Daily mood 1–5</a:t>
            </a:r>
            <a:r>
              <a:rPr sz="1250" b="0" i="0">
                <a:solidFill>
                  <a:srgbClr val="C3CEC4"/>
                </a:solidFill>
                <a:latin typeface="Arial"/>
              </a:rPr>
              <a:t> with a 14-day dot history. Stored only on the device; shared only inside a visit brief you build.</a:t>
            </a:r>
          </a:p>
          <a:p>
            <a:pPr algn="l" marL="219456" indent="-219456">
              <a:lnSpc>
                <a:spcPts val="1525"/>
              </a:lnSpc>
              <a:spcBef>
                <a:spcPts val="0"/>
              </a:spcBef>
              <a:spcAft>
                <a:spcPts val="700"/>
              </a:spcAft>
              <a:buClr>
                <a:srgbClr val="9FC1AA"/>
              </a:buClr>
              <a:buFont typeface="Arial"/>
              <a:buChar char="•"/>
            </a:pPr>
            <a:r>
              <a:rPr sz="1250" b="1" i="0">
                <a:solidFill>
                  <a:srgbClr val="F4F6F2"/>
                </a:solidFill>
                <a:latin typeface="Arial"/>
              </a:rPr>
              <a:t>Medication reminders start only after you confirm the schedule.</a:t>
            </a:r>
            <a:r>
              <a:rPr sz="1250" b="0" i="0">
                <a:solidFill>
                  <a:srgbClr val="C3CEC4"/>
                </a:solidFill>
                <a:latin typeface="Arial"/>
              </a:rPr>
              <a:t> CareSphere never prefills medicines or doses.</a:t>
            </a:r>
          </a:p>
          <a:p>
            <a:pPr algn="l" marL="219456" indent="-219456">
              <a:lnSpc>
                <a:spcPts val="1525"/>
              </a:lnSpc>
              <a:spcBef>
                <a:spcPts val="0"/>
              </a:spcBef>
              <a:spcAft>
                <a:spcPts val="700"/>
              </a:spcAft>
              <a:buClr>
                <a:srgbClr val="9FC1AA"/>
              </a:buClr>
              <a:buFont typeface="Arial"/>
              <a:buChar char="•"/>
            </a:pPr>
            <a:r>
              <a:rPr sz="1250" b="0" i="0">
                <a:solidFill>
                  <a:srgbClr val="C3CEC4"/>
                </a:solidFill>
                <a:latin typeface="Arial"/>
              </a:rPr>
              <a:t>The web app checks the schedule </a:t>
            </a:r>
            <a:r>
              <a:rPr sz="1250" b="1" i="0">
                <a:solidFill>
                  <a:srgbClr val="F4F6F2"/>
                </a:solidFill>
                <a:latin typeface="Arial"/>
              </a:rPr>
              <a:t>every 15 seconds</a:t>
            </a:r>
            <a:r>
              <a:rPr sz="1250" b="0" i="0">
                <a:solidFill>
                  <a:srgbClr val="C3CEC4"/>
                </a:solidFill>
                <a:latin typeface="Arial"/>
              </a:rPr>
              <a:t> and shows a toast, an optional browser notification and a spoken prompt (Web Speech). iPhone uses UserNotifications so reminders fire even when the app is closed.</a:t>
            </a:r>
          </a:p>
          <a:p>
            <a:pPr algn="l" marL="219456" indent="-219456">
              <a:lnSpc>
                <a:spcPts val="1525"/>
              </a:lnSpc>
              <a:spcBef>
                <a:spcPts val="0"/>
              </a:spcBef>
              <a:spcAft>
                <a:spcPts val="700"/>
              </a:spcAft>
              <a:buClr>
                <a:srgbClr val="9FC1AA"/>
              </a:buClr>
              <a:buFont typeface="Arial"/>
              <a:buChar char="•"/>
            </a:pPr>
            <a:r>
              <a:rPr sz="1250" b="0" i="0">
                <a:solidFill>
                  <a:srgbClr val="C3CEC4"/>
                </a:solidFill>
                <a:latin typeface="Arial"/>
              </a:rPr>
              <a:t>"Taken" is recorded as a </a:t>
            </a:r>
            <a:r>
              <a:rPr sz="1250" b="1" i="0">
                <a:solidFill>
                  <a:srgbClr val="F4F6F2"/>
                </a:solidFill>
                <a:latin typeface="Arial"/>
              </a:rPr>
              <a:t>self-report</a:t>
            </a:r>
            <a:r>
              <a:rPr sz="1250" b="0" i="0">
                <a:solidFill>
                  <a:srgbClr val="C3CEC4"/>
                </a:solidFill>
                <a:latin typeface="Arial"/>
              </a:rPr>
              <a:t> — the app never claims a dose was verified.</a:t>
            </a:r>
          </a:p>
          <a:p>
            <a:pPr algn="l" marL="219456" indent="-219456">
              <a:lnSpc>
                <a:spcPts val="1525"/>
              </a:lnSpc>
              <a:spcBef>
                <a:spcPts val="0"/>
              </a:spcBef>
              <a:spcAft>
                <a:spcPts val="700"/>
              </a:spcAft>
              <a:buClr>
                <a:srgbClr val="9FC1AA"/>
              </a:buClr>
              <a:buFont typeface="Arial"/>
              <a:buChar char="•"/>
            </a:pPr>
            <a:r>
              <a:rPr sz="1250" b="0" i="0">
                <a:solidFill>
                  <a:srgbClr val="C3CEC4"/>
                </a:solidFill>
                <a:latin typeface="Arial"/>
              </a:rPr>
              <a:t>iPhone also shows today's step count from HealthKit (read-only).</a:t>
            </a:r>
          </a:p>
        </p:txBody>
      </p:sp>
      <p:sp>
        <p:nvSpPr>
          <p:cNvPr id="10" name="TextBox 9"/>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11" name="TextBox 10"/>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FEATURE · COFFEE CIRCLES</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2879"/>
              </a:lnSpc>
              <a:spcBef>
                <a:spcPts val="0"/>
              </a:spcBef>
              <a:spcAft>
                <a:spcPts val="0"/>
              </a:spcAft>
              <a:buNone/>
            </a:pPr>
            <a:r>
              <a:rPr sz="2400" b="1" i="0">
                <a:solidFill>
                  <a:srgbClr val="F4F6F2"/>
                </a:solidFill>
                <a:latin typeface="Arial"/>
              </a:rPr>
              <a:t>Fighting isolation with real video rooms — no account, nothing to install</a:t>
            </a:r>
          </a:p>
        </p:txBody>
      </p:sp>
      <p:pic>
        <p:nvPicPr>
          <p:cNvPr id="4" name="Picture 3" descr="web-circles.png"/>
          <p:cNvPicPr>
            <a:picLocks noChangeAspect="1"/>
          </p:cNvPicPr>
          <p:nvPr/>
        </p:nvPicPr>
        <p:blipFill>
          <a:blip r:embed="rId2"/>
          <a:stretch>
            <a:fillRect/>
          </a:stretch>
        </p:blipFill>
        <p:spPr>
          <a:xfrm>
            <a:off x="548640" y="1325880"/>
            <a:ext cx="6858000" cy="4523543"/>
          </a:xfrm>
          <a:prstGeom prst="rect">
            <a:avLst/>
          </a:prstGeom>
        </p:spPr>
      </p:pic>
      <p:sp>
        <p:nvSpPr>
          <p:cNvPr id="5" name="TextBox 4"/>
          <p:cNvSpPr txBox="1"/>
          <p:nvPr/>
        </p:nvSpPr>
        <p:spPr>
          <a:xfrm>
            <a:off x="7680960" y="1371600"/>
            <a:ext cx="3962095" cy="2606040"/>
          </a:xfrm>
          <a:prstGeom prst="rect">
            <a:avLst/>
          </a:prstGeom>
          <a:noFill/>
        </p:spPr>
        <p:txBody>
          <a:bodyPr wrap="square" lIns="0" rIns="0" tIns="0" bIns="0" anchor="t">
            <a:noAutofit/>
          </a:bodyPr>
          <a:lstStyle/>
          <a:p>
            <a:pPr algn="l" marL="219456" indent="-219456">
              <a:lnSpc>
                <a:spcPts val="1403"/>
              </a:lnSpc>
              <a:spcBef>
                <a:spcPts val="0"/>
              </a:spcBef>
              <a:spcAft>
                <a:spcPts val="644"/>
              </a:spcAft>
              <a:buClr>
                <a:srgbClr val="9FC1AA"/>
              </a:buClr>
              <a:buFont typeface="Arial"/>
              <a:buChar char="•"/>
            </a:pPr>
            <a:r>
              <a:rPr sz="1150" b="1" i="0">
                <a:solidFill>
                  <a:srgbClr val="F4F6F2"/>
                </a:solidFill>
                <a:latin typeface="Arial"/>
              </a:rPr>
              <a:t>Three scheduled circles</a:t>
            </a:r>
            <a:r>
              <a:rPr sz="1150" b="0" i="0">
                <a:solidFill>
                  <a:srgbClr val="C3CEC4"/>
                </a:solidFill>
                <a:latin typeface="Arial"/>
              </a:rPr>
              <a:t> — Morning Sunshine Tea &amp; Chat, Classic Movie Trivia &amp; Memories, Gentle Stretching &amp; Breathing — plus an open ad-hoc room.</a:t>
            </a:r>
          </a:p>
          <a:p>
            <a:pPr algn="l" marL="219456" indent="-219456">
              <a:lnSpc>
                <a:spcPts val="1403"/>
              </a:lnSpc>
              <a:spcBef>
                <a:spcPts val="0"/>
              </a:spcBef>
              <a:spcAft>
                <a:spcPts val="644"/>
              </a:spcAft>
              <a:buClr>
                <a:srgbClr val="9FC1AA"/>
              </a:buClr>
              <a:buFont typeface="Arial"/>
              <a:buChar char="•"/>
            </a:pPr>
            <a:r>
              <a:rPr sz="1150" b="0" i="0">
                <a:solidFill>
                  <a:srgbClr val="C3CEC4"/>
                </a:solidFill>
                <a:latin typeface="Arial"/>
              </a:rPr>
              <a:t>Each circle is a </a:t>
            </a:r>
            <a:r>
              <a:rPr sz="1150" b="1" i="0">
                <a:solidFill>
                  <a:srgbClr val="F4F6F2"/>
                </a:solidFill>
                <a:latin typeface="Arial"/>
              </a:rPr>
              <a:t>real meet.jit.si room</a:t>
            </a:r>
            <a:r>
              <a:rPr sz="1150" b="0" i="0">
                <a:solidFill>
                  <a:srgbClr val="C3CEC4"/>
                </a:solidFill>
                <a:latin typeface="Arial"/>
              </a:rPr>
              <a:t> opened through the Jitsi External API on the web and </a:t>
            </a:r>
            <a:r>
              <a:rPr sz="1150" b="1" i="0">
                <a:solidFill>
                  <a:srgbClr val="F4F6F2"/>
                </a:solidFill>
                <a:latin typeface="Arial"/>
              </a:rPr>
              <a:t>JitsiMeetSDK 13.1</a:t>
            </a:r>
            <a:r>
              <a:rPr sz="1150" b="0" i="0">
                <a:solidFill>
                  <a:srgbClr val="C3CEC4"/>
                </a:solidFill>
                <a:latin typeface="Arial"/>
              </a:rPr>
              <a:t> on iPhone — embedded in the app or in a new tab.</a:t>
            </a:r>
          </a:p>
          <a:p>
            <a:pPr algn="l" marL="219456" indent="-219456">
              <a:lnSpc>
                <a:spcPts val="1403"/>
              </a:lnSpc>
              <a:spcBef>
                <a:spcPts val="0"/>
              </a:spcBef>
              <a:spcAft>
                <a:spcPts val="644"/>
              </a:spcAft>
              <a:buClr>
                <a:srgbClr val="9FC1AA"/>
              </a:buClr>
              <a:buFont typeface="Arial"/>
              <a:buChar char="•"/>
            </a:pPr>
            <a:r>
              <a:rPr sz="1150" b="0" i="0">
                <a:solidFill>
                  <a:srgbClr val="C3CEC4"/>
                </a:solidFill>
                <a:latin typeface="Arial"/>
              </a:rPr>
              <a:t>Share the link with family; </a:t>
            </a:r>
            <a:r>
              <a:rPr sz="1150" b="1" i="0">
                <a:solidFill>
                  <a:srgbClr val="F4F6F2"/>
                </a:solidFill>
                <a:latin typeface="Arial"/>
              </a:rPr>
              <a:t>one-tap telehealth room</a:t>
            </a:r>
            <a:r>
              <a:rPr sz="1150" b="0" i="0">
                <a:solidFill>
                  <a:srgbClr val="C3CEC4"/>
                </a:solidFill>
                <a:latin typeface="Arial"/>
              </a:rPr>
              <a:t> in the Vitals tab for clinician visits.</a:t>
            </a:r>
          </a:p>
          <a:p>
            <a:pPr algn="l" marL="219456" indent="-219456">
              <a:lnSpc>
                <a:spcPts val="1403"/>
              </a:lnSpc>
              <a:spcBef>
                <a:spcPts val="0"/>
              </a:spcBef>
              <a:spcAft>
                <a:spcPts val="644"/>
              </a:spcAft>
              <a:buClr>
                <a:srgbClr val="9FC1AA"/>
              </a:buClr>
              <a:buFont typeface="Arial"/>
              <a:buChar char="•"/>
            </a:pPr>
            <a:r>
              <a:rPr sz="1150" b="0" i="0">
                <a:solidFill>
                  <a:srgbClr val="C3CEC4"/>
                </a:solidFill>
                <a:latin typeface="Arial"/>
              </a:rPr>
              <a:t>Honest limit: CareSphere runs no server, so there is </a:t>
            </a:r>
            <a:r>
              <a:rPr sz="1150" b="1" i="0">
                <a:solidFill>
                  <a:srgbClr val="F4F6F2"/>
                </a:solidFill>
                <a:latin typeface="Arial"/>
              </a:rPr>
              <a:t>no moderator or host</a:t>
            </a:r>
            <a:r>
              <a:rPr sz="1150" b="0" i="0">
                <a:solidFill>
                  <a:srgbClr val="C3CEC4"/>
                </a:solidFill>
                <a:latin typeface="Arial"/>
              </a:rPr>
              <a:t> — you choose whom to invite.</a:t>
            </a:r>
          </a:p>
        </p:txBody>
      </p:sp>
      <p:pic>
        <p:nvPicPr>
          <p:cNvPr id="6" name="Picture 5" descr="crop-circle-card.png"/>
          <p:cNvPicPr>
            <a:picLocks noChangeAspect="1"/>
          </p:cNvPicPr>
          <p:nvPr/>
        </p:nvPicPr>
        <p:blipFill>
          <a:blip r:embed="rId3"/>
          <a:stretch>
            <a:fillRect/>
          </a:stretch>
        </p:blipFill>
        <p:spPr>
          <a:xfrm>
            <a:off x="8041909" y="4069080"/>
            <a:ext cx="3240196" cy="2057400"/>
          </a:xfrm>
          <a:prstGeom prst="rect">
            <a:avLst/>
          </a:prstGeom>
        </p:spPr>
      </p:pic>
      <p:sp>
        <p:nvSpPr>
          <p:cNvPr id="7" name="TextBox 6"/>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8" name="TextBox 7"/>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FEATURE · VITALS &amp; TELEHEALTH</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Real Bluetooth, honest labels</a:t>
            </a:r>
          </a:p>
        </p:txBody>
      </p:sp>
      <p:pic>
        <p:nvPicPr>
          <p:cNvPr id="4" name="Picture 3" descr="crop-hr.png"/>
          <p:cNvPicPr>
            <a:picLocks noChangeAspect="1"/>
          </p:cNvPicPr>
          <p:nvPr/>
        </p:nvPicPr>
        <p:blipFill>
          <a:blip r:embed="rId2"/>
          <a:stretch>
            <a:fillRect/>
          </a:stretch>
        </p:blipFill>
        <p:spPr>
          <a:xfrm>
            <a:off x="548640" y="1325880"/>
            <a:ext cx="3383280" cy="2052581"/>
          </a:xfrm>
          <a:prstGeom prst="rect">
            <a:avLst/>
          </a:prstGeom>
        </p:spPr>
      </p:pic>
      <p:pic>
        <p:nvPicPr>
          <p:cNvPr id="5" name="Picture 4" descr="crop-spo2.png"/>
          <p:cNvPicPr>
            <a:picLocks noChangeAspect="1"/>
          </p:cNvPicPr>
          <p:nvPr/>
        </p:nvPicPr>
        <p:blipFill>
          <a:blip r:embed="rId3"/>
          <a:stretch>
            <a:fillRect/>
          </a:stretch>
        </p:blipFill>
        <p:spPr>
          <a:xfrm>
            <a:off x="4114800" y="1325880"/>
            <a:ext cx="3383280" cy="2047318"/>
          </a:xfrm>
          <a:prstGeom prst="rect">
            <a:avLst/>
          </a:prstGeom>
        </p:spPr>
      </p:pic>
      <p:pic>
        <p:nvPicPr>
          <p:cNvPr id="6" name="Picture 5" descr="crop-range.png"/>
          <p:cNvPicPr>
            <a:picLocks noChangeAspect="1"/>
          </p:cNvPicPr>
          <p:nvPr/>
        </p:nvPicPr>
        <p:blipFill>
          <a:blip r:embed="rId4"/>
          <a:stretch>
            <a:fillRect/>
          </a:stretch>
        </p:blipFill>
        <p:spPr>
          <a:xfrm>
            <a:off x="548640" y="3520440"/>
            <a:ext cx="6949440" cy="600630"/>
          </a:xfrm>
          <a:prstGeom prst="rect">
            <a:avLst/>
          </a:prstGeom>
        </p:spPr>
      </p:pic>
      <p:pic>
        <p:nvPicPr>
          <p:cNvPr id="7" name="Picture 6" descr="crop-vitals-how.png"/>
          <p:cNvPicPr>
            <a:picLocks noChangeAspect="1"/>
          </p:cNvPicPr>
          <p:nvPr/>
        </p:nvPicPr>
        <p:blipFill>
          <a:blip r:embed="rId5"/>
          <a:stretch>
            <a:fillRect/>
          </a:stretch>
        </p:blipFill>
        <p:spPr>
          <a:xfrm>
            <a:off x="548640" y="4224528"/>
            <a:ext cx="6949440" cy="833932"/>
          </a:xfrm>
          <a:prstGeom prst="rect">
            <a:avLst/>
          </a:prstGeom>
        </p:spPr>
      </p:pic>
      <p:sp>
        <p:nvSpPr>
          <p:cNvPr id="8" name="Rounded Rectangle 7"/>
          <p:cNvSpPr/>
          <p:nvPr/>
        </p:nvSpPr>
        <p:spPr>
          <a:xfrm>
            <a:off x="548640" y="5212080"/>
            <a:ext cx="6949440" cy="914400"/>
          </a:xfrm>
          <a:prstGeom prst="roundRect">
            <a:avLst>
              <a:gd name="adj" fmla="val 16000"/>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5266944"/>
            <a:ext cx="6492240" cy="201168"/>
          </a:xfrm>
          <a:prstGeom prst="rect">
            <a:avLst/>
          </a:prstGeom>
          <a:noFill/>
        </p:spPr>
        <p:txBody>
          <a:bodyPr wrap="square" lIns="0" rIns="0" tIns="0" bIns="0" anchor="t">
            <a:noAutofit/>
          </a:bodyPr>
          <a:lstStyle/>
          <a:p>
            <a:pPr algn="l">
              <a:lnSpc>
                <a:spcPts val="1080"/>
              </a:lnSpc>
              <a:spcBef>
                <a:spcPts val="0"/>
              </a:spcBef>
              <a:spcAft>
                <a:spcPts val="0"/>
              </a:spcAft>
              <a:buNone/>
            </a:pPr>
            <a:r>
              <a:rPr sz="900" b="0" i="0">
                <a:solidFill>
                  <a:srgbClr val="77857A"/>
                </a:solidFill>
                <a:latin typeface="Arial"/>
              </a:rPr>
              <a:t>src/lib/bluetooth.js — Bluetooth SIG Heart Rate Measurement (0x2A37)</a:t>
            </a:r>
          </a:p>
        </p:txBody>
      </p:sp>
      <p:sp>
        <p:nvSpPr>
          <p:cNvPr id="10" name="TextBox 9"/>
          <p:cNvSpPr txBox="1"/>
          <p:nvPr/>
        </p:nvSpPr>
        <p:spPr>
          <a:xfrm>
            <a:off x="777240" y="5486400"/>
            <a:ext cx="6492240" cy="594360"/>
          </a:xfrm>
          <a:prstGeom prst="rect">
            <a:avLst/>
          </a:prstGeom>
          <a:noFill/>
        </p:spPr>
        <p:txBody>
          <a:bodyPr wrap="square" lIns="0" rIns="0" tIns="0" bIns="0" anchor="t">
            <a:noAutofit/>
          </a:bodyPr>
          <a:lstStyle/>
          <a:p>
            <a:pPr algn="l">
              <a:lnSpc>
                <a:spcPts val="1300"/>
              </a:lnSpc>
              <a:spcBef>
                <a:spcPts val="0"/>
              </a:spcBef>
              <a:spcAft>
                <a:spcPts val="0"/>
              </a:spcAft>
              <a:buNone/>
            </a:pPr>
            <a:r>
              <a:rPr sz="1000" b="0" i="0">
                <a:solidFill>
                  <a:srgbClr val="9FC1AA"/>
                </a:solidFill>
                <a:latin typeface="Courier New"/>
              </a:rPr>
              <a:t>const flags = dv.getUint8(0)              // bit 0 → 16-bit BPM</a:t>
            </a:r>
          </a:p>
          <a:p>
            <a:pPr algn="l">
              <a:lnSpc>
                <a:spcPts val="1300"/>
              </a:lnSpc>
              <a:spcBef>
                <a:spcPts val="0"/>
              </a:spcBef>
              <a:spcAft>
                <a:spcPts val="0"/>
              </a:spcAft>
              <a:buNone/>
            </a:pPr>
            <a:r>
              <a:rPr sz="1000" b="0" i="0">
                <a:solidFill>
                  <a:srgbClr val="9FC1AA"/>
                </a:solidFill>
                <a:latin typeface="Courier New"/>
              </a:rPr>
              <a:t>const bpm = flags &amp; 0x1 ? dv.getUint16(1, true) : dv.getUint8(1)</a:t>
            </a:r>
          </a:p>
        </p:txBody>
      </p:sp>
      <p:sp>
        <p:nvSpPr>
          <p:cNvPr id="11" name="TextBox 10"/>
          <p:cNvSpPr txBox="1"/>
          <p:nvPr/>
        </p:nvSpPr>
        <p:spPr>
          <a:xfrm>
            <a:off x="7863840" y="1371600"/>
            <a:ext cx="3779215" cy="4754880"/>
          </a:xfrm>
          <a:prstGeom prst="rect">
            <a:avLst/>
          </a:prstGeom>
          <a:noFill/>
        </p:spPr>
        <p:txBody>
          <a:bodyPr wrap="square" lIns="0" rIns="0" tIns="0" bIns="0" anchor="t">
            <a:noAutofit/>
          </a:bodyPr>
          <a:lstStyle/>
          <a:p>
            <a:pPr algn="l" marL="219456" indent="-219456">
              <a:lnSpc>
                <a:spcPts val="1464"/>
              </a:lnSpc>
              <a:spcBef>
                <a:spcPts val="0"/>
              </a:spcBef>
              <a:spcAft>
                <a:spcPts val="600"/>
              </a:spcAft>
              <a:buClr>
                <a:srgbClr val="9FC1AA"/>
              </a:buClr>
              <a:buFont typeface="Arial"/>
              <a:buChar char="•"/>
            </a:pPr>
            <a:r>
              <a:rPr sz="1200" b="1" i="0">
                <a:solidFill>
                  <a:srgbClr val="F4F6F2"/>
                </a:solidFill>
                <a:latin typeface="Arial"/>
              </a:rPr>
              <a:t>Web Bluetooth</a:t>
            </a:r>
            <a:r>
              <a:rPr sz="1200" b="0" i="0">
                <a:solidFill>
                  <a:srgbClr val="C3CEC4"/>
                </a:solidFill>
                <a:latin typeface="Arial"/>
              </a:rPr>
              <a:t> subscribes to the standard </a:t>
            </a:r>
            <a:r>
              <a:rPr sz="1200" b="1" i="0">
                <a:solidFill>
                  <a:srgbClr val="F4F6F2"/>
                </a:solidFill>
                <a:latin typeface="Arial"/>
              </a:rPr>
              <a:t>Heart Rate service 0x180D / characteristic 0x2A37</a:t>
            </a:r>
            <a:r>
              <a:rPr sz="1200" b="0" i="0">
                <a:solidFill>
                  <a:srgbClr val="C3CEC4"/>
                </a:solidFill>
                <a:latin typeface="Arial"/>
              </a:rPr>
              <a:t> and parses the flags byte for 8- or 16-bit BPM.</a:t>
            </a:r>
          </a:p>
          <a:p>
            <a:pPr algn="l" marL="219456" indent="-219456">
              <a:lnSpc>
                <a:spcPts val="1464"/>
              </a:lnSpc>
              <a:spcBef>
                <a:spcPts val="0"/>
              </a:spcBef>
              <a:spcAft>
                <a:spcPts val="600"/>
              </a:spcAft>
              <a:buClr>
                <a:srgbClr val="9FC1AA"/>
              </a:buClr>
              <a:buFont typeface="Arial"/>
              <a:buChar char="•"/>
            </a:pPr>
            <a:r>
              <a:rPr sz="1200" b="0" i="0">
                <a:solidFill>
                  <a:srgbClr val="C3CEC4"/>
                </a:solidFill>
                <a:latin typeface="Arial"/>
              </a:rPr>
              <a:t>Live sparkline, SpO₂ and blood-pressure cards. </a:t>
            </a:r>
            <a:r>
              <a:rPr sz="1200" b="1" i="0">
                <a:solidFill>
                  <a:srgbClr val="F4F6F2"/>
                </a:solidFill>
                <a:latin typeface="Arial"/>
              </a:rPr>
              <a:t>Every value carries a LIVE BLE or SIMULATED chip</a:t>
            </a:r>
            <a:r>
              <a:rPr sz="1200" b="0" i="0">
                <a:solidFill>
                  <a:srgbClr val="C3CEC4"/>
                </a:solidFill>
                <a:latin typeface="Arial"/>
              </a:rPr>
              <a:t> — and the same label travels into the CSV export.</a:t>
            </a:r>
          </a:p>
          <a:p>
            <a:pPr algn="l" marL="219456" indent="-219456">
              <a:lnSpc>
                <a:spcPts val="1464"/>
              </a:lnSpc>
              <a:spcBef>
                <a:spcPts val="0"/>
              </a:spcBef>
              <a:spcAft>
                <a:spcPts val="600"/>
              </a:spcAft>
              <a:buClr>
                <a:srgbClr val="9FC1AA"/>
              </a:buClr>
              <a:buFont typeface="Arial"/>
              <a:buChar char="•"/>
            </a:pPr>
            <a:r>
              <a:rPr sz="1200" b="1" i="0">
                <a:solidFill>
                  <a:srgbClr val="F4F6F2"/>
                </a:solidFill>
                <a:latin typeface="Arial"/>
              </a:rPr>
              <a:t>Cancel the pairing dialog and the card stays blank.</a:t>
            </a:r>
            <a:r>
              <a:rPr sz="1200" b="0" i="0">
                <a:solidFill>
                  <a:srgbClr val="C3CEC4"/>
                </a:solidFill>
                <a:latin typeface="Arial"/>
              </a:rPr>
              <a:t> Simulated data appears only after you tap "Start labeled demo".</a:t>
            </a:r>
          </a:p>
          <a:p>
            <a:pPr algn="l" marL="219456" indent="-219456">
              <a:lnSpc>
                <a:spcPts val="1464"/>
              </a:lnSpc>
              <a:spcBef>
                <a:spcPts val="0"/>
              </a:spcBef>
              <a:spcAft>
                <a:spcPts val="600"/>
              </a:spcAft>
              <a:buClr>
                <a:srgbClr val="9FC1AA"/>
              </a:buClr>
              <a:buFont typeface="Arial"/>
              <a:buChar char="•"/>
            </a:pPr>
            <a:r>
              <a:rPr sz="1200" b="0" i="0">
                <a:solidFill>
                  <a:srgbClr val="C3CEC4"/>
                </a:solidFill>
                <a:latin typeface="Arial"/>
              </a:rPr>
              <a:t>A </a:t>
            </a:r>
            <a:r>
              <a:rPr sz="1200" b="1" i="0">
                <a:solidFill>
                  <a:srgbClr val="F4F6F2"/>
                </a:solidFill>
                <a:latin typeface="Arial"/>
              </a:rPr>
              <a:t>generation counter</a:t>
            </a:r>
            <a:r>
              <a:rPr sz="1200" b="0" i="0">
                <a:solidFill>
                  <a:srgbClr val="C3CEC4"/>
                </a:solidFill>
                <a:latin typeface="Arial"/>
              </a:rPr>
              <a:t> discards late notifications from an old connection, so a stale sensor can never paint a new card.</a:t>
            </a:r>
          </a:p>
          <a:p>
            <a:pPr algn="l" marL="219456" indent="-219456">
              <a:lnSpc>
                <a:spcPts val="1464"/>
              </a:lnSpc>
              <a:spcBef>
                <a:spcPts val="0"/>
              </a:spcBef>
              <a:spcAft>
                <a:spcPts val="600"/>
              </a:spcAft>
              <a:buClr>
                <a:srgbClr val="9FC1AA"/>
              </a:buClr>
              <a:buFont typeface="Arial"/>
              <a:buChar char="•"/>
            </a:pPr>
            <a:r>
              <a:rPr sz="1200" b="1" i="0">
                <a:solidFill>
                  <a:srgbClr val="F4F6F2"/>
                </a:solidFill>
                <a:latin typeface="Arial"/>
              </a:rPr>
              <a:t>iPhone:</a:t>
            </a:r>
            <a:r>
              <a:rPr sz="1200" b="0" i="0">
                <a:solidFill>
                  <a:srgbClr val="C3CEC4"/>
                </a:solidFill>
                <a:latin typeface="Arial"/>
              </a:rPr>
              <a:t> CoreBluetooth (including Garmin broadcast HR) plus read-only HealthKit heart rate, SpO₂, blood pressure and workouts, with a Swift Charts trend.</a:t>
            </a:r>
          </a:p>
          <a:p>
            <a:pPr algn="l" marL="219456" indent="-219456">
              <a:lnSpc>
                <a:spcPts val="1464"/>
              </a:lnSpc>
              <a:spcBef>
                <a:spcPts val="0"/>
              </a:spcBef>
              <a:spcAft>
                <a:spcPts val="600"/>
              </a:spcAft>
              <a:buClr>
                <a:srgbClr val="9FC1AA"/>
              </a:buClr>
              <a:buFont typeface="Arial"/>
              <a:buChar char="•"/>
            </a:pPr>
            <a:r>
              <a:rPr sz="1200" b="0" i="0">
                <a:solidFill>
                  <a:srgbClr val="C3CEC4"/>
                </a:solidFill>
                <a:latin typeface="Arial"/>
              </a:rPr>
              <a:t>Range check (50–110 bpm) runs on live data only and is informational — not triage.</a:t>
            </a:r>
          </a:p>
        </p:txBody>
      </p:sp>
      <p:sp>
        <p:nvSpPr>
          <p:cNvPr id="12" name="TextBox 11"/>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13" name="TextBox 12"/>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FEATURE · ACTIVITIES (THERAPY &amp; SENSORY)</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167"/>
              </a:lnSpc>
              <a:spcBef>
                <a:spcPts val="0"/>
              </a:spcBef>
              <a:spcAft>
                <a:spcPts val="0"/>
              </a:spcAft>
              <a:buNone/>
            </a:pPr>
            <a:r>
              <a:rPr sz="2650" b="1" i="0">
                <a:solidFill>
                  <a:srgbClr val="F4F6F2"/>
                </a:solidFill>
                <a:latin typeface="Arial"/>
              </a:rPr>
              <a:t>Sensory and memory tools designed for autistic and older users</a:t>
            </a:r>
          </a:p>
        </p:txBody>
      </p:sp>
      <p:pic>
        <p:nvPicPr>
          <p:cNvPr id="4" name="Picture 3" descr="crop-feelings.png"/>
          <p:cNvPicPr>
            <a:picLocks noChangeAspect="1"/>
          </p:cNvPicPr>
          <p:nvPr/>
        </p:nvPicPr>
        <p:blipFill>
          <a:blip r:embed="rId2"/>
          <a:stretch>
            <a:fillRect/>
          </a:stretch>
        </p:blipFill>
        <p:spPr>
          <a:xfrm>
            <a:off x="548640" y="1325880"/>
            <a:ext cx="2225523" cy="2103120"/>
          </a:xfrm>
          <a:prstGeom prst="rect">
            <a:avLst/>
          </a:prstGeom>
        </p:spPr>
      </p:pic>
      <p:pic>
        <p:nvPicPr>
          <p:cNvPr id="5" name="Picture 4" descr="crop-pattern.png"/>
          <p:cNvPicPr>
            <a:picLocks noChangeAspect="1"/>
          </p:cNvPicPr>
          <p:nvPr/>
        </p:nvPicPr>
        <p:blipFill>
          <a:blip r:embed="rId3"/>
          <a:stretch>
            <a:fillRect/>
          </a:stretch>
        </p:blipFill>
        <p:spPr>
          <a:xfrm>
            <a:off x="2957043" y="1325880"/>
            <a:ext cx="2225523" cy="2103120"/>
          </a:xfrm>
          <a:prstGeom prst="rect">
            <a:avLst/>
          </a:prstGeom>
        </p:spPr>
      </p:pic>
      <p:pic>
        <p:nvPicPr>
          <p:cNvPr id="6" name="Picture 5" descr="crop-soundscapes.png"/>
          <p:cNvPicPr>
            <a:picLocks noChangeAspect="1"/>
          </p:cNvPicPr>
          <p:nvPr/>
        </p:nvPicPr>
        <p:blipFill>
          <a:blip r:embed="rId4"/>
          <a:stretch>
            <a:fillRect/>
          </a:stretch>
        </p:blipFill>
        <p:spPr>
          <a:xfrm>
            <a:off x="5365447" y="1325880"/>
            <a:ext cx="3026071" cy="2103120"/>
          </a:xfrm>
          <a:prstGeom prst="rect">
            <a:avLst/>
          </a:prstGeom>
        </p:spPr>
      </p:pic>
      <p:pic>
        <p:nvPicPr>
          <p:cNvPr id="7" name="Picture 6" descr="crop-breathing.png"/>
          <p:cNvPicPr>
            <a:picLocks noChangeAspect="1"/>
          </p:cNvPicPr>
          <p:nvPr/>
        </p:nvPicPr>
        <p:blipFill>
          <a:blip r:embed="rId5"/>
          <a:stretch>
            <a:fillRect/>
          </a:stretch>
        </p:blipFill>
        <p:spPr>
          <a:xfrm>
            <a:off x="8574399" y="1325880"/>
            <a:ext cx="3026071" cy="2103120"/>
          </a:xfrm>
          <a:prstGeom prst="rect">
            <a:avLst/>
          </a:prstGeom>
        </p:spPr>
      </p:pic>
      <p:sp>
        <p:nvSpPr>
          <p:cNvPr id="8" name="TextBox 7"/>
          <p:cNvSpPr txBox="1"/>
          <p:nvPr/>
        </p:nvSpPr>
        <p:spPr>
          <a:xfrm>
            <a:off x="548640" y="3639312"/>
            <a:ext cx="6675120" cy="2514600"/>
          </a:xfrm>
          <a:prstGeom prst="rect">
            <a:avLst/>
          </a:prstGeom>
          <a:noFill/>
        </p:spPr>
        <p:txBody>
          <a:bodyPr wrap="square" lIns="0" rIns="0" tIns="0" bIns="0" anchor="t">
            <a:noAutofit/>
          </a:bodyPr>
          <a:lstStyle/>
          <a:p>
            <a:pPr algn="l" marL="219456" indent="-219456">
              <a:lnSpc>
                <a:spcPts val="1405"/>
              </a:lnSpc>
              <a:spcBef>
                <a:spcPts val="0"/>
              </a:spcBef>
              <a:spcAft>
                <a:spcPts val="480"/>
              </a:spcAft>
              <a:buClr>
                <a:srgbClr val="9FC1AA"/>
              </a:buClr>
              <a:buFont typeface="Arial"/>
              <a:buChar char="•"/>
            </a:pPr>
            <a:r>
              <a:rPr sz="1150" b="1" i="0">
                <a:solidFill>
                  <a:srgbClr val="F4F6F2"/>
                </a:solidFill>
                <a:latin typeface="Arial"/>
              </a:rPr>
              <a:t>Feelings Explorer, Pattern Recall, Picture Pairs, Picture Story</a:t>
            </a:r>
            <a:r>
              <a:rPr sz="1150" b="0" i="0">
                <a:solidFill>
                  <a:srgbClr val="C3CEC4"/>
                </a:solidFill>
                <a:latin typeface="Arial"/>
              </a:rPr>
              <a:t> — untimed, unscored, no auto-advance, gentle confirmations only.</a:t>
            </a:r>
          </a:p>
          <a:p>
            <a:pPr algn="l" marL="219456" indent="-219456">
              <a:lnSpc>
                <a:spcPts val="1405"/>
              </a:lnSpc>
              <a:spcBef>
                <a:spcPts val="0"/>
              </a:spcBef>
              <a:spcAft>
                <a:spcPts val="480"/>
              </a:spcAft>
              <a:buClr>
                <a:srgbClr val="9FC1AA"/>
              </a:buClr>
              <a:buFont typeface="Arial"/>
              <a:buChar char="•"/>
            </a:pPr>
            <a:r>
              <a:rPr sz="1150" b="1" i="0">
                <a:solidFill>
                  <a:srgbClr val="F4F6F2"/>
                </a:solidFill>
                <a:latin typeface="Arial"/>
              </a:rPr>
              <a:t>Four soundscapes — rain, waves, forest, hearth — synthesized live with the Web Audio API:</a:t>
            </a:r>
            <a:r>
              <a:rPr sz="1150" b="0" i="0">
                <a:solidFill>
                  <a:srgbClr val="C3CEC4"/>
                </a:solidFill>
                <a:latin typeface="Arial"/>
              </a:rPr>
              <a:t> filtered noise beds, slow LFO swells and randomly scheduled birdsong or crackle. Zero audio files; works offline.</a:t>
            </a:r>
          </a:p>
          <a:p>
            <a:pPr algn="l" marL="219456" indent="-219456">
              <a:lnSpc>
                <a:spcPts val="1405"/>
              </a:lnSpc>
              <a:spcBef>
                <a:spcPts val="0"/>
              </a:spcBef>
              <a:spcAft>
                <a:spcPts val="480"/>
              </a:spcAft>
              <a:buClr>
                <a:srgbClr val="9FC1AA"/>
              </a:buClr>
              <a:buFont typeface="Arial"/>
              <a:buChar char="•"/>
            </a:pPr>
            <a:r>
              <a:rPr sz="1150" b="1" i="0">
                <a:solidFill>
                  <a:srgbClr val="F4F6F2"/>
                </a:solidFill>
                <a:latin typeface="Arial"/>
              </a:rPr>
              <a:t>Guided 4-4-6 breathing</a:t>
            </a:r>
            <a:r>
              <a:rPr sz="1150" b="0" i="0">
                <a:solidFill>
                  <a:srgbClr val="C3CEC4"/>
                </a:solidFill>
                <a:latin typeface="Arial"/>
              </a:rPr>
              <a:t> with a soft expanding ring; "reduce visual movement" slows every highlight and animation.</a:t>
            </a:r>
          </a:p>
          <a:p>
            <a:pPr algn="l" marL="219456" indent="-219456">
              <a:lnSpc>
                <a:spcPts val="1405"/>
              </a:lnSpc>
              <a:spcBef>
                <a:spcPts val="0"/>
              </a:spcBef>
              <a:spcAft>
                <a:spcPts val="480"/>
              </a:spcAft>
              <a:buClr>
                <a:srgbClr val="9FC1AA"/>
              </a:buClr>
              <a:buFont typeface="Arial"/>
              <a:buChar char="•"/>
            </a:pPr>
            <a:r>
              <a:rPr sz="1150" b="0" i="0">
                <a:solidFill>
                  <a:srgbClr val="C3CEC4"/>
                </a:solidFill>
                <a:latin typeface="Arial"/>
              </a:rPr>
              <a:t>Grounded in </a:t>
            </a:r>
            <a:r>
              <a:rPr sz="1150" b="1" i="0">
                <a:solidFill>
                  <a:srgbClr val="F4F6F2"/>
                </a:solidFill>
                <a:latin typeface="Arial"/>
              </a:rPr>
              <a:t>AASPIRE</a:t>
            </a:r>
            <a:r>
              <a:rPr sz="1150" b="0" i="0">
                <a:solidFill>
                  <a:srgbClr val="C3CEC4"/>
                </a:solidFill>
                <a:latin typeface="Arial"/>
              </a:rPr>
              <a:t> guidance: consistent navigation, plain language, multiple palette and contrast choices.</a:t>
            </a:r>
          </a:p>
          <a:p>
            <a:pPr algn="l" marL="219456" indent="-219456">
              <a:lnSpc>
                <a:spcPts val="1405"/>
              </a:lnSpc>
              <a:spcBef>
                <a:spcPts val="0"/>
              </a:spcBef>
              <a:spcAft>
                <a:spcPts val="480"/>
              </a:spcAft>
              <a:buClr>
                <a:srgbClr val="9FC1AA"/>
              </a:buClr>
              <a:buFont typeface="Arial"/>
              <a:buChar char="•"/>
            </a:pPr>
            <a:r>
              <a:rPr sz="1150" b="0" i="0">
                <a:solidFill>
                  <a:srgbClr val="C3CEC4"/>
                </a:solidFill>
                <a:latin typeface="Arial"/>
              </a:rPr>
              <a:t>Non-clinical by design — presented as calming and engagement tools, never as therapy outcomes or cognitive measures. On iPhone the same scenes are rendered live by an AVAudioEngine source node.</a:t>
            </a:r>
          </a:p>
        </p:txBody>
      </p:sp>
      <p:pic>
        <p:nvPicPr>
          <p:cNvPr id="9" name="Picture 8" descr="crop-pairs.png"/>
          <p:cNvPicPr>
            <a:picLocks noChangeAspect="1"/>
          </p:cNvPicPr>
          <p:nvPr/>
        </p:nvPicPr>
        <p:blipFill>
          <a:blip r:embed="rId6"/>
          <a:stretch>
            <a:fillRect/>
          </a:stretch>
        </p:blipFill>
        <p:spPr>
          <a:xfrm>
            <a:off x="7635240" y="3639312"/>
            <a:ext cx="1977341" cy="1874519"/>
          </a:xfrm>
          <a:prstGeom prst="rect">
            <a:avLst/>
          </a:prstGeom>
        </p:spPr>
      </p:pic>
      <p:sp>
        <p:nvSpPr>
          <p:cNvPr id="10" name="TextBox 9"/>
          <p:cNvSpPr txBox="1"/>
          <p:nvPr/>
        </p:nvSpPr>
        <p:spPr>
          <a:xfrm>
            <a:off x="7635240" y="5577840"/>
            <a:ext cx="1977341" cy="274320"/>
          </a:xfrm>
          <a:prstGeom prst="rect">
            <a:avLst/>
          </a:prstGeom>
          <a:noFill/>
        </p:spPr>
        <p:txBody>
          <a:bodyPr wrap="square" lIns="0" rIns="0" tIns="0" bIns="0" anchor="t">
            <a:noAutofit/>
          </a:bodyPr>
          <a:lstStyle/>
          <a:p>
            <a:pPr algn="ctr">
              <a:lnSpc>
                <a:spcPts val="1320"/>
              </a:lnSpc>
              <a:spcBef>
                <a:spcPts val="0"/>
              </a:spcBef>
              <a:spcAft>
                <a:spcPts val="0"/>
              </a:spcAft>
              <a:buNone/>
            </a:pPr>
            <a:r>
              <a:rPr sz="1100" b="0" i="0">
                <a:solidFill>
                  <a:srgbClr val="A2B0A3"/>
                </a:solidFill>
                <a:latin typeface="Arial"/>
              </a:rPr>
              <a:t>Picture Pairs</a:t>
            </a:r>
          </a:p>
        </p:txBody>
      </p:sp>
      <p:pic>
        <p:nvPicPr>
          <p:cNvPr id="11" name="Picture 10" descr="crop-story.png"/>
          <p:cNvPicPr>
            <a:picLocks noChangeAspect="1"/>
          </p:cNvPicPr>
          <p:nvPr/>
        </p:nvPicPr>
        <p:blipFill>
          <a:blip r:embed="rId7"/>
          <a:stretch>
            <a:fillRect/>
          </a:stretch>
        </p:blipFill>
        <p:spPr>
          <a:xfrm>
            <a:off x="9841181" y="3639312"/>
            <a:ext cx="1977341" cy="1874519"/>
          </a:xfrm>
          <a:prstGeom prst="rect">
            <a:avLst/>
          </a:prstGeom>
        </p:spPr>
      </p:pic>
      <p:sp>
        <p:nvSpPr>
          <p:cNvPr id="12" name="TextBox 11"/>
          <p:cNvSpPr txBox="1"/>
          <p:nvPr/>
        </p:nvSpPr>
        <p:spPr>
          <a:xfrm>
            <a:off x="9841181" y="5577840"/>
            <a:ext cx="1977341" cy="274320"/>
          </a:xfrm>
          <a:prstGeom prst="rect">
            <a:avLst/>
          </a:prstGeom>
          <a:noFill/>
        </p:spPr>
        <p:txBody>
          <a:bodyPr wrap="square" lIns="0" rIns="0" tIns="0" bIns="0" anchor="t">
            <a:noAutofit/>
          </a:bodyPr>
          <a:lstStyle/>
          <a:p>
            <a:pPr algn="ctr">
              <a:lnSpc>
                <a:spcPts val="1320"/>
              </a:lnSpc>
              <a:spcBef>
                <a:spcPts val="0"/>
              </a:spcBef>
              <a:spcAft>
                <a:spcPts val="0"/>
              </a:spcAft>
              <a:buNone/>
            </a:pPr>
            <a:r>
              <a:rPr sz="1100" b="0" i="0">
                <a:solidFill>
                  <a:srgbClr val="A2B0A3"/>
                </a:solidFill>
                <a:latin typeface="Arial"/>
              </a:rPr>
              <a:t>Picture Story</a:t>
            </a:r>
          </a:p>
        </p:txBody>
      </p:sp>
      <p:sp>
        <p:nvSpPr>
          <p:cNvPr id="13" name="TextBox 12"/>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14" name="TextBox 13"/>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FEATURE · CARE CIRCLE &amp; VISIT PREP</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A visit brief the user controls — field by field</a:t>
            </a:r>
          </a:p>
        </p:txBody>
      </p:sp>
      <p:pic>
        <p:nvPicPr>
          <p:cNvPr id="4" name="Picture 3" descr="crop-visitbrief.png"/>
          <p:cNvPicPr>
            <a:picLocks noChangeAspect="1"/>
          </p:cNvPicPr>
          <p:nvPr/>
        </p:nvPicPr>
        <p:blipFill>
          <a:blip r:embed="rId2"/>
          <a:stretch>
            <a:fillRect/>
          </a:stretch>
        </p:blipFill>
        <p:spPr>
          <a:xfrm>
            <a:off x="583719" y="1325880"/>
            <a:ext cx="4501841" cy="4800600"/>
          </a:xfrm>
          <a:prstGeom prst="roundRect">
            <a:avLst>
              <a:gd name="adj" fmla="val 2843"/>
            </a:avLst>
          </a:prstGeom>
        </p:spPr>
      </p:pic>
      <p:pic>
        <p:nvPicPr>
          <p:cNvPr id="5" name="Picture 4" descr="crop-notes.png"/>
          <p:cNvPicPr>
            <a:picLocks noChangeAspect="1"/>
          </p:cNvPicPr>
          <p:nvPr/>
        </p:nvPicPr>
        <p:blipFill>
          <a:blip r:embed="rId3"/>
          <a:stretch>
            <a:fillRect/>
          </a:stretch>
        </p:blipFill>
        <p:spPr>
          <a:xfrm>
            <a:off x="5303520" y="1325880"/>
            <a:ext cx="2651760" cy="1468110"/>
          </a:xfrm>
          <a:prstGeom prst="roundRect">
            <a:avLst>
              <a:gd name="adj" fmla="val 7474"/>
            </a:avLst>
          </a:prstGeom>
        </p:spPr>
      </p:pic>
      <p:pic>
        <p:nvPicPr>
          <p:cNvPr id="6" name="Picture 5" descr="crop-summary.png"/>
          <p:cNvPicPr>
            <a:picLocks noChangeAspect="1"/>
          </p:cNvPicPr>
          <p:nvPr/>
        </p:nvPicPr>
        <p:blipFill>
          <a:blip r:embed="rId4"/>
          <a:stretch>
            <a:fillRect/>
          </a:stretch>
        </p:blipFill>
        <p:spPr>
          <a:xfrm>
            <a:off x="5303520" y="2976870"/>
            <a:ext cx="2651760" cy="2160945"/>
          </a:xfrm>
          <a:prstGeom prst="roundRect">
            <a:avLst>
              <a:gd name="adj" fmla="val 5077"/>
            </a:avLst>
          </a:prstGeom>
        </p:spPr>
      </p:pic>
      <p:sp>
        <p:nvSpPr>
          <p:cNvPr id="7" name="TextBox 6"/>
          <p:cNvSpPr txBox="1"/>
          <p:nvPr/>
        </p:nvSpPr>
        <p:spPr>
          <a:xfrm>
            <a:off x="5303520" y="5247544"/>
            <a:ext cx="2651760" cy="822960"/>
          </a:xfrm>
          <a:prstGeom prst="rect">
            <a:avLst/>
          </a:prstGeom>
          <a:noFill/>
        </p:spPr>
        <p:txBody>
          <a:bodyPr wrap="square" lIns="0" rIns="0" tIns="0" bIns="0" anchor="t">
            <a:noAutofit/>
          </a:bodyPr>
          <a:lstStyle/>
          <a:p>
            <a:pPr algn="l">
              <a:lnSpc>
                <a:spcPts val="1220"/>
              </a:lnSpc>
              <a:spcBef>
                <a:spcPts val="0"/>
              </a:spcBef>
              <a:spcAft>
                <a:spcPts val="0"/>
              </a:spcAft>
              <a:buNone/>
            </a:pPr>
            <a:r>
              <a:rPr sz="1000" b="0" i="0">
                <a:solidFill>
                  <a:srgbClr val="A2B0A3"/>
                </a:solidFill>
                <a:latin typeface="Arial"/>
              </a:rPr>
              <a:t>Care notes and the local check-in summary are computed from this device's entries only — nothing is synced.</a:t>
            </a:r>
          </a:p>
        </p:txBody>
      </p:sp>
      <p:sp>
        <p:nvSpPr>
          <p:cNvPr id="8" name="TextBox 7"/>
          <p:cNvSpPr txBox="1"/>
          <p:nvPr/>
        </p:nvSpPr>
        <p:spPr>
          <a:xfrm>
            <a:off x="8138160" y="1371600"/>
            <a:ext cx="3504895" cy="4754880"/>
          </a:xfrm>
          <a:prstGeom prst="rect">
            <a:avLst/>
          </a:prstGeom>
          <a:noFill/>
        </p:spPr>
        <p:txBody>
          <a:bodyPr wrap="square" lIns="0" rIns="0" tIns="0" bIns="0" anchor="t">
            <a:noAutofit/>
          </a:bodyPr>
          <a:lstStyle/>
          <a:p>
            <a:pPr algn="l" marL="219456" indent="-219456">
              <a:lnSpc>
                <a:spcPts val="1525"/>
              </a:lnSpc>
              <a:spcBef>
                <a:spcPts val="0"/>
              </a:spcBef>
              <a:spcAft>
                <a:spcPts val="700"/>
              </a:spcAft>
              <a:buClr>
                <a:srgbClr val="9FC1AA"/>
              </a:buClr>
              <a:buFont typeface="Arial"/>
              <a:buChar char="•"/>
            </a:pPr>
            <a:r>
              <a:rPr sz="1250" b="1" i="0">
                <a:solidFill>
                  <a:srgbClr val="F4F6F2"/>
                </a:solidFill>
                <a:latin typeface="Arial"/>
              </a:rPr>
              <a:t>Care notes</a:t>
            </a:r>
            <a:r>
              <a:rPr sz="1250" b="0" i="0">
                <a:solidFill>
                  <a:srgbClr val="C3CEC4"/>
                </a:solidFill>
                <a:latin typeface="Arial"/>
              </a:rPr>
              <a:t> for family and helpers stay on the device — encrypted, exportable, erasable.</a:t>
            </a:r>
          </a:p>
          <a:p>
            <a:pPr algn="l" marL="219456" indent="-219456">
              <a:lnSpc>
                <a:spcPts val="1525"/>
              </a:lnSpc>
              <a:spcBef>
                <a:spcPts val="0"/>
              </a:spcBef>
              <a:spcAft>
                <a:spcPts val="700"/>
              </a:spcAft>
              <a:buClr>
                <a:srgbClr val="9FC1AA"/>
              </a:buClr>
              <a:buFont typeface="Arial"/>
              <a:buChar char="•"/>
            </a:pPr>
            <a:r>
              <a:rPr sz="1250" b="1" i="0">
                <a:solidFill>
                  <a:srgbClr val="F4F6F2"/>
                </a:solidFill>
                <a:latin typeface="Arial"/>
              </a:rPr>
              <a:t>Visit brief:</a:t>
            </a:r>
            <a:r>
              <a:rPr sz="1250" b="0" i="0">
                <a:solidFill>
                  <a:srgbClr val="C3CEC4"/>
                </a:solidFill>
                <a:latin typeface="Arial"/>
              </a:rPr>
              <a:t> tick exactly which fields to include (routines, mood, medication self-reports, notes, vitals) and </a:t>
            </a:r>
            <a:r>
              <a:rPr sz="1250" b="1" i="0">
                <a:solidFill>
                  <a:srgbClr val="F4F6F2"/>
                </a:solidFill>
                <a:latin typeface="Arial"/>
              </a:rPr>
              <a:t>see the exact text before you save it.</a:t>
            </a:r>
          </a:p>
          <a:p>
            <a:pPr algn="l" marL="219456" indent="-219456">
              <a:lnSpc>
                <a:spcPts val="1525"/>
              </a:lnSpc>
              <a:spcBef>
                <a:spcPts val="0"/>
              </a:spcBef>
              <a:spcAft>
                <a:spcPts val="700"/>
              </a:spcAft>
              <a:buClr>
                <a:srgbClr val="9FC1AA"/>
              </a:buClr>
              <a:buFont typeface="Arial"/>
              <a:buChar char="•"/>
            </a:pPr>
            <a:r>
              <a:rPr sz="1250" b="1" i="0">
                <a:solidFill>
                  <a:srgbClr val="F4F6F2"/>
                </a:solidFill>
                <a:latin typeface="Arial"/>
              </a:rPr>
              <a:t>Simulated data is excluded unless you opt in</a:t>
            </a:r>
            <a:r>
              <a:rPr sz="1250" b="0" i="0">
                <a:solidFill>
                  <a:srgbClr val="C3CEC4"/>
                </a:solidFill>
                <a:latin typeface="Arial"/>
              </a:rPr>
              <a:t> — and then it is clearly labeled as simulated.</a:t>
            </a:r>
          </a:p>
          <a:p>
            <a:pPr algn="l" marL="219456" indent="-219456">
              <a:lnSpc>
                <a:spcPts val="1525"/>
              </a:lnSpc>
              <a:spcBef>
                <a:spcPts val="0"/>
              </a:spcBef>
              <a:spcAft>
                <a:spcPts val="700"/>
              </a:spcAft>
              <a:buClr>
                <a:srgbClr val="9FC1AA"/>
              </a:buClr>
              <a:buFont typeface="Arial"/>
              <a:buChar char="•"/>
            </a:pPr>
            <a:r>
              <a:rPr sz="1250" b="0" i="0">
                <a:solidFill>
                  <a:srgbClr val="C3CEC4"/>
                </a:solidFill>
                <a:latin typeface="Arial"/>
              </a:rPr>
              <a:t>Saved as a </a:t>
            </a:r>
            <a:r>
              <a:rPr sz="1250" b="1" i="0">
                <a:solidFill>
                  <a:srgbClr val="F4F6F2"/>
                </a:solidFill>
                <a:latin typeface="Arial"/>
              </a:rPr>
              <a:t>.txt download</a:t>
            </a:r>
            <a:r>
              <a:rPr sz="1250" b="0" i="0">
                <a:solidFill>
                  <a:srgbClr val="C3CEC4"/>
                </a:solidFill>
                <a:latin typeface="Arial"/>
              </a:rPr>
              <a:t> on the web; on iPhone it goes through the </a:t>
            </a:r>
            <a:r>
              <a:rPr sz="1250" b="1" i="0">
                <a:solidFill>
                  <a:srgbClr val="F4F6F2"/>
                </a:solidFill>
                <a:latin typeface="Arial"/>
              </a:rPr>
              <a:t>system share sheet</a:t>
            </a:r>
            <a:r>
              <a:rPr sz="1250" b="0" i="0">
                <a:solidFill>
                  <a:srgbClr val="C3CEC4"/>
                </a:solidFill>
                <a:latin typeface="Arial"/>
              </a:rPr>
              <a:t> with 7/30/90-day filters.</a:t>
            </a:r>
          </a:p>
          <a:p>
            <a:pPr algn="l" marL="219456" indent="-219456">
              <a:lnSpc>
                <a:spcPts val="1525"/>
              </a:lnSpc>
              <a:spcBef>
                <a:spcPts val="0"/>
              </a:spcBef>
              <a:spcAft>
                <a:spcPts val="700"/>
              </a:spcAft>
              <a:buClr>
                <a:srgbClr val="9FC1AA"/>
              </a:buClr>
              <a:buFont typeface="Arial"/>
              <a:buChar char="•"/>
            </a:pPr>
            <a:r>
              <a:rPr sz="1250" b="1" i="0">
                <a:solidFill>
                  <a:srgbClr val="F4F6F2"/>
                </a:solidFill>
                <a:latin typeface="Arial"/>
              </a:rPr>
              <a:t>Nothing is emailed or uploaded.</a:t>
            </a:r>
            <a:r>
              <a:rPr sz="1250" b="0" i="0">
                <a:solidFill>
                  <a:srgbClr val="C3CEC4"/>
                </a:solidFill>
                <a:latin typeface="Arial"/>
              </a:rPr>
              <a:t> You hand the brief to the clinician yourself.</a:t>
            </a:r>
          </a:p>
          <a:p>
            <a:pPr algn="l" marL="219456" indent="-219456">
              <a:lnSpc>
                <a:spcPts val="1525"/>
              </a:lnSpc>
              <a:spcBef>
                <a:spcPts val="0"/>
              </a:spcBef>
              <a:spcAft>
                <a:spcPts val="700"/>
              </a:spcAft>
              <a:buClr>
                <a:srgbClr val="9FC1AA"/>
              </a:buClr>
              <a:buFont typeface="Arial"/>
              <a:buChar char="•"/>
            </a:pPr>
            <a:r>
              <a:rPr sz="1250" b="0" i="0">
                <a:solidFill>
                  <a:srgbClr val="C3CEC4"/>
                </a:solidFill>
                <a:latin typeface="Arial"/>
              </a:rPr>
              <a:t>Not a medical record: the brief says so in its own header.</a:t>
            </a:r>
          </a:p>
        </p:txBody>
      </p:sp>
      <p:sp>
        <p:nvSpPr>
          <p:cNvPr id="9" name="TextBox 8"/>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10" name="TextBox 9"/>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FEATURE · SAFETY</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455"/>
              </a:lnSpc>
              <a:spcBef>
                <a:spcPts val="0"/>
              </a:spcBef>
              <a:spcAft>
                <a:spcPts val="0"/>
              </a:spcAft>
              <a:buNone/>
            </a:pPr>
            <a:r>
              <a:rPr sz="2900" b="1" i="0">
                <a:solidFill>
                  <a:srgbClr val="F4F6F2"/>
                </a:solidFill>
                <a:latin typeface="Arial"/>
              </a:rPr>
              <a:t>SOS and a support check-in that calms first and never panics</a:t>
            </a:r>
          </a:p>
        </p:txBody>
      </p:sp>
      <p:pic>
        <p:nvPicPr>
          <p:cNvPr id="4" name="Picture 3" descr="crop-sos.png"/>
          <p:cNvPicPr>
            <a:picLocks noChangeAspect="1"/>
          </p:cNvPicPr>
          <p:nvPr/>
        </p:nvPicPr>
        <p:blipFill>
          <a:blip r:embed="rId2"/>
          <a:stretch>
            <a:fillRect/>
          </a:stretch>
        </p:blipFill>
        <p:spPr>
          <a:xfrm>
            <a:off x="548639" y="1325880"/>
            <a:ext cx="3566160" cy="3629841"/>
          </a:xfrm>
          <a:prstGeom prst="roundRect">
            <a:avLst>
              <a:gd name="adj" fmla="val 3589"/>
            </a:avLst>
          </a:prstGeom>
        </p:spPr>
      </p:pic>
      <p:sp>
        <p:nvSpPr>
          <p:cNvPr id="5" name="TextBox 4"/>
          <p:cNvSpPr txBox="1"/>
          <p:nvPr/>
        </p:nvSpPr>
        <p:spPr>
          <a:xfrm>
            <a:off x="548640" y="5074920"/>
            <a:ext cx="3566160" cy="1097280"/>
          </a:xfrm>
          <a:prstGeom prst="rect">
            <a:avLst/>
          </a:prstGeom>
          <a:noFill/>
        </p:spPr>
        <p:txBody>
          <a:bodyPr wrap="square" lIns="0" rIns="0" tIns="0" bIns="0" anchor="t">
            <a:noAutofit/>
          </a:bodyPr>
          <a:lstStyle/>
          <a:p>
            <a:pPr algn="l">
              <a:lnSpc>
                <a:spcPts val="1342"/>
              </a:lnSpc>
              <a:spcBef>
                <a:spcPts val="0"/>
              </a:spcBef>
              <a:spcAft>
                <a:spcPts val="400"/>
              </a:spcAft>
              <a:buNone/>
            </a:pPr>
            <a:r>
              <a:rPr sz="1100" b="1" i="0">
                <a:solidFill>
                  <a:srgbClr val="F4F6F2"/>
                </a:solidFill>
                <a:latin typeface="Arial"/>
              </a:rPr>
              <a:t>SOS:</a:t>
            </a:r>
            <a:r>
              <a:rPr sz="1100" b="0" i="0">
                <a:solidFill>
                  <a:srgbClr val="C3CEC4"/>
                </a:solidFill>
                <a:latin typeface="Arial"/>
              </a:rPr>
              <a:t> one-tap tel:911 link, optional GPS coordinates, and a share-sheet message to contacts you pick.</a:t>
            </a:r>
          </a:p>
          <a:p>
            <a:pPr algn="l">
              <a:lnSpc>
                <a:spcPts val="1342"/>
              </a:lnSpc>
              <a:spcBef>
                <a:spcPts val="0"/>
              </a:spcBef>
              <a:spcAft>
                <a:spcPts val="400"/>
              </a:spcAft>
              <a:buNone/>
            </a:pPr>
            <a:r>
              <a:rPr sz="1100" b="0" i="0">
                <a:solidFill>
                  <a:srgbClr val="C3CEC4"/>
                </a:solidFill>
                <a:latin typeface="Arial"/>
              </a:rPr>
              <a:t>CareSphere never claims a message was delivered — there is no push backend.</a:t>
            </a:r>
          </a:p>
        </p:txBody>
      </p:sp>
      <p:sp>
        <p:nvSpPr>
          <p:cNvPr id="6" name="TextBox 5"/>
          <p:cNvSpPr txBox="1"/>
          <p:nvPr/>
        </p:nvSpPr>
        <p:spPr>
          <a:xfrm>
            <a:off x="4389120" y="1371600"/>
            <a:ext cx="7253935" cy="274320"/>
          </a:xfrm>
          <a:prstGeom prst="rect">
            <a:avLst/>
          </a:prstGeom>
          <a:noFill/>
        </p:spPr>
        <p:txBody>
          <a:bodyPr wrap="square" lIns="0" rIns="0" tIns="0" bIns="0" anchor="t">
            <a:noAutofit/>
          </a:bodyPr>
          <a:lstStyle/>
          <a:p>
            <a:pPr algn="l">
              <a:lnSpc>
                <a:spcPts val="1260"/>
              </a:lnSpc>
              <a:spcBef>
                <a:spcPts val="0"/>
              </a:spcBef>
              <a:spcAft>
                <a:spcPts val="0"/>
              </a:spcAft>
              <a:buNone/>
            </a:pPr>
            <a:r>
              <a:rPr sz="1050" b="1" i="0">
                <a:solidFill>
                  <a:srgbClr val="9FC1AA"/>
                </a:solidFill>
                <a:latin typeface="Arial"/>
              </a:rPr>
              <a:t>SUPPORT CHECK-IN (iPHONE, OPT-IN) — DETERMINISTIC RULES, NO AI DECIDES</a:t>
            </a:r>
          </a:p>
        </p:txBody>
      </p:sp>
      <p:sp>
        <p:nvSpPr>
          <p:cNvPr id="7" name="Rounded Rectangle 6"/>
          <p:cNvSpPr/>
          <p:nvPr/>
        </p:nvSpPr>
        <p:spPr>
          <a:xfrm>
            <a:off x="4389120" y="1737360"/>
            <a:ext cx="2235098" cy="1325880"/>
          </a:xfrm>
          <a:prstGeom prst="roundRect">
            <a:avLst>
              <a:gd name="adj" fmla="val 8275"/>
            </a:avLst>
          </a:prstGeom>
          <a:solidFill>
            <a:srgbClr val="202B24"/>
          </a:solidFill>
          <a:ln w="12700">
            <a:solidFill>
              <a:srgbClr val="F0B2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98848" y="1828800"/>
            <a:ext cx="2015642"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F0B23A"/>
                </a:solidFill>
                <a:latin typeface="Arial"/>
              </a:rPr>
              <a:t>1 · Trigger</a:t>
            </a:r>
          </a:p>
        </p:txBody>
      </p:sp>
      <p:sp>
        <p:nvSpPr>
          <p:cNvPr id="9" name="TextBox 8"/>
          <p:cNvSpPr txBox="1"/>
          <p:nvPr/>
        </p:nvSpPr>
        <p:spPr>
          <a:xfrm>
            <a:off x="4498848" y="2103120"/>
            <a:ext cx="2015642" cy="86868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Live BLE heart rate above 110 bpm for 90 s (15 s gap resets) — or "I'm stressed" — or a flagged Health Guide question.</a:t>
            </a:r>
          </a:p>
        </p:txBody>
      </p:sp>
      <p:sp>
        <p:nvSpPr>
          <p:cNvPr id="10" name="Rounded Rectangle 9"/>
          <p:cNvSpPr/>
          <p:nvPr/>
        </p:nvSpPr>
        <p:spPr>
          <a:xfrm>
            <a:off x="6898538" y="1737360"/>
            <a:ext cx="2235098" cy="1325880"/>
          </a:xfrm>
          <a:prstGeom prst="roundRect">
            <a:avLst>
              <a:gd name="adj" fmla="val 8275"/>
            </a:avLst>
          </a:prstGeom>
          <a:solidFill>
            <a:srgbClr val="202B24"/>
          </a:solidFill>
          <a:ln w="12700">
            <a:solidFill>
              <a:srgbClr val="9FC1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08266" y="1828800"/>
            <a:ext cx="2015642"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9FC1AA"/>
                </a:solidFill>
                <a:latin typeface="Arial"/>
              </a:rPr>
              <a:t>2 · Are you moving?</a:t>
            </a:r>
          </a:p>
        </p:txBody>
      </p:sp>
      <p:sp>
        <p:nvSpPr>
          <p:cNvPr id="12" name="TextBox 11"/>
          <p:cNvSpPr txBox="1"/>
          <p:nvPr/>
        </p:nvSpPr>
        <p:spPr>
          <a:xfrm>
            <a:off x="7008266" y="2103120"/>
            <a:ext cx="2015642" cy="86868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Exercise or stairs? Then it's expected — the flow ends with a friendly note.</a:t>
            </a:r>
          </a:p>
        </p:txBody>
      </p:sp>
      <p:sp>
        <p:nvSpPr>
          <p:cNvPr id="13" name="Rounded Rectangle 12"/>
          <p:cNvSpPr/>
          <p:nvPr/>
        </p:nvSpPr>
        <p:spPr>
          <a:xfrm>
            <a:off x="9407956" y="1737360"/>
            <a:ext cx="2235098" cy="1325880"/>
          </a:xfrm>
          <a:prstGeom prst="roundRect">
            <a:avLst>
              <a:gd name="adj" fmla="val 8275"/>
            </a:avLst>
          </a:prstGeom>
          <a:solidFill>
            <a:srgbClr val="202B24"/>
          </a:solidFill>
          <a:ln w="12700">
            <a:solidFill>
              <a:srgbClr val="9FC1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17684" y="1828800"/>
            <a:ext cx="2015642"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9FC1AA"/>
                </a:solidFill>
                <a:latin typeface="Arial"/>
              </a:rPr>
              <a:t>3 · How do you feel?</a:t>
            </a:r>
          </a:p>
        </p:txBody>
      </p:sp>
      <p:sp>
        <p:nvSpPr>
          <p:cNvPr id="15" name="TextBox 14"/>
          <p:cNvSpPr txBox="1"/>
          <p:nvPr/>
        </p:nvSpPr>
        <p:spPr>
          <a:xfrm>
            <a:off x="9517684" y="2103120"/>
            <a:ext cx="2015642" cy="86868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Plain-language options, big buttons, no timer.</a:t>
            </a:r>
          </a:p>
        </p:txBody>
      </p:sp>
      <p:sp>
        <p:nvSpPr>
          <p:cNvPr id="16" name="Rounded Rectangle 15"/>
          <p:cNvSpPr/>
          <p:nvPr/>
        </p:nvSpPr>
        <p:spPr>
          <a:xfrm>
            <a:off x="4389120" y="3337559"/>
            <a:ext cx="2235098" cy="1325880"/>
          </a:xfrm>
          <a:prstGeom prst="roundRect">
            <a:avLst>
              <a:gd name="adj" fmla="val 8275"/>
            </a:avLst>
          </a:prstGeom>
          <a:solidFill>
            <a:srgbClr val="202B24"/>
          </a:solidFill>
          <a:ln w="12700">
            <a:solidFill>
              <a:srgbClr val="A08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98848" y="3428999"/>
            <a:ext cx="2015642"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A08AE0"/>
                </a:solidFill>
                <a:latin typeface="Arial"/>
              </a:rPr>
              <a:t>4 · Breathe together</a:t>
            </a:r>
          </a:p>
        </p:txBody>
      </p:sp>
      <p:sp>
        <p:nvSpPr>
          <p:cNvPr id="18" name="TextBox 17"/>
          <p:cNvSpPr txBox="1"/>
          <p:nvPr/>
        </p:nvSpPr>
        <p:spPr>
          <a:xfrm>
            <a:off x="4498848" y="3703320"/>
            <a:ext cx="2015642" cy="86868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Three cycles of 4-4-6 paced breathing with a calm ring.</a:t>
            </a:r>
          </a:p>
        </p:txBody>
      </p:sp>
      <p:sp>
        <p:nvSpPr>
          <p:cNvPr id="19" name="Rounded Rectangle 18"/>
          <p:cNvSpPr/>
          <p:nvPr/>
        </p:nvSpPr>
        <p:spPr>
          <a:xfrm>
            <a:off x="6898538" y="3337559"/>
            <a:ext cx="2235098" cy="1325880"/>
          </a:xfrm>
          <a:prstGeom prst="roundRect">
            <a:avLst>
              <a:gd name="adj" fmla="val 8275"/>
            </a:avLst>
          </a:prstGeom>
          <a:solidFill>
            <a:srgbClr val="202B24"/>
          </a:solidFill>
          <a:ln w="12700">
            <a:solidFill>
              <a:srgbClr val="A08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08266" y="3428999"/>
            <a:ext cx="2015642"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A08AE0"/>
                </a:solidFill>
                <a:latin typeface="Arial"/>
              </a:rPr>
              <a:t>5 · Check again</a:t>
            </a:r>
          </a:p>
        </p:txBody>
      </p:sp>
      <p:sp>
        <p:nvSpPr>
          <p:cNvPr id="21" name="TextBox 20"/>
          <p:cNvSpPr txBox="1"/>
          <p:nvPr/>
        </p:nvSpPr>
        <p:spPr>
          <a:xfrm>
            <a:off x="7008266" y="3703320"/>
            <a:ext cx="2015642" cy="86868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Better? Done. Still struggling? Offer help — never assume.</a:t>
            </a:r>
          </a:p>
        </p:txBody>
      </p:sp>
      <p:sp>
        <p:nvSpPr>
          <p:cNvPr id="22" name="Rounded Rectangle 21"/>
          <p:cNvSpPr/>
          <p:nvPr/>
        </p:nvSpPr>
        <p:spPr>
          <a:xfrm>
            <a:off x="9407956" y="3337559"/>
            <a:ext cx="2235098" cy="1325880"/>
          </a:xfrm>
          <a:prstGeom prst="roundRect">
            <a:avLst>
              <a:gd name="adj" fmla="val 8275"/>
            </a:avLst>
          </a:prstGeom>
          <a:solidFill>
            <a:srgbClr val="202B24"/>
          </a:solidFill>
          <a:ln w="12700">
            <a:solidFill>
              <a:srgbClr val="E26D6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517684" y="3428999"/>
            <a:ext cx="2015642"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E26D6D"/>
                </a:solidFill>
                <a:latin typeface="Arial"/>
              </a:rPr>
              <a:t>6 · You choose</a:t>
            </a:r>
          </a:p>
        </p:txBody>
      </p:sp>
      <p:sp>
        <p:nvSpPr>
          <p:cNvPr id="24" name="TextBox 23"/>
          <p:cNvSpPr txBox="1"/>
          <p:nvPr/>
        </p:nvSpPr>
        <p:spPr>
          <a:xfrm>
            <a:off x="9517684" y="3703320"/>
            <a:ext cx="2015642" cy="86868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Text a caregiver (opens Messages — </a:t>
            </a:r>
            <a:r>
              <a:rPr sz="1050" b="1" i="0">
                <a:solidFill>
                  <a:srgbClr val="F4F6F2"/>
                </a:solidFill>
                <a:latin typeface="Arial"/>
              </a:rPr>
              <a:t>you tap Send</a:t>
            </a:r>
            <a:r>
              <a:rPr sz="1050" b="0" i="0">
                <a:solidFill>
                  <a:srgbClr val="C3CEC4"/>
                </a:solidFill>
                <a:latin typeface="Arial"/>
              </a:rPr>
              <a:t>), open a private video room, or call 911.</a:t>
            </a:r>
          </a:p>
        </p:txBody>
      </p:sp>
      <p:cxnSp>
        <p:nvCxnSpPr>
          <p:cNvPr id="25" name="Connector 24"/>
          <p:cNvCxnSpPr/>
          <p:nvPr/>
        </p:nvCxnSpPr>
        <p:spPr>
          <a:xfrm>
            <a:off x="6642506" y="2400300"/>
            <a:ext cx="237744" cy="0"/>
          </a:xfrm>
          <a:prstGeom prst="line">
            <a:avLst/>
          </a:prstGeom>
          <a:ln w="19050">
            <a:solidFill>
              <a:srgbClr val="3C4B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642506" y="4000499"/>
            <a:ext cx="237744" cy="0"/>
          </a:xfrm>
          <a:prstGeom prst="line">
            <a:avLst/>
          </a:prstGeom>
          <a:ln w="19050">
            <a:solidFill>
              <a:srgbClr val="3C4B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151924" y="2400300"/>
            <a:ext cx="237744" cy="0"/>
          </a:xfrm>
          <a:prstGeom prst="line">
            <a:avLst/>
          </a:prstGeom>
          <a:ln w="19050">
            <a:solidFill>
              <a:srgbClr val="3C4B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151924" y="4000499"/>
            <a:ext cx="237744" cy="0"/>
          </a:xfrm>
          <a:prstGeom prst="line">
            <a:avLst/>
          </a:prstGeom>
          <a:ln w="19050">
            <a:solidFill>
              <a:srgbClr val="3C4B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525506" y="3081527"/>
            <a:ext cx="0" cy="118872"/>
          </a:xfrm>
          <a:prstGeom prst="line">
            <a:avLst/>
          </a:prstGeom>
          <a:ln w="19050">
            <a:solidFill>
              <a:srgbClr val="3C4B4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5506669" y="3200399"/>
            <a:ext cx="5018837" cy="0"/>
          </a:xfrm>
          <a:prstGeom prst="line">
            <a:avLst/>
          </a:prstGeom>
          <a:ln w="19050">
            <a:solidFill>
              <a:srgbClr val="3C4B4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506669" y="3200399"/>
            <a:ext cx="0" cy="118872"/>
          </a:xfrm>
          <a:prstGeom prst="line">
            <a:avLst/>
          </a:prstGeom>
          <a:ln w="19050">
            <a:solidFill>
              <a:srgbClr val="3C4B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389120" y="4937759"/>
            <a:ext cx="7253935" cy="1188720"/>
          </a:xfrm>
          <a:prstGeom prst="roundRect">
            <a:avLst>
              <a:gd name="adj" fmla="val 12307"/>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617720" y="5047488"/>
            <a:ext cx="6796735" cy="1005840"/>
          </a:xfrm>
          <a:prstGeom prst="rect">
            <a:avLst/>
          </a:prstGeom>
          <a:noFill/>
        </p:spPr>
        <p:txBody>
          <a:bodyPr wrap="square" lIns="0" rIns="0" tIns="0" bIns="0" anchor="ctr">
            <a:noAutofit/>
          </a:bodyPr>
          <a:lstStyle/>
          <a:p>
            <a:pPr algn="l">
              <a:lnSpc>
                <a:spcPts val="1500"/>
              </a:lnSpc>
              <a:spcBef>
                <a:spcPts val="0"/>
              </a:spcBef>
              <a:spcAft>
                <a:spcPts val="0"/>
              </a:spcAft>
              <a:buNone/>
            </a:pPr>
            <a:r>
              <a:rPr sz="1200" b="1" i="0">
                <a:solidFill>
                  <a:srgbClr val="F4F6F2"/>
                </a:solidFill>
                <a:latin typeface="Arial"/>
              </a:rPr>
              <a:t>Why rules instead of AI?</a:t>
            </a:r>
            <a:r>
              <a:rPr sz="1200" b="0" i="0">
                <a:solidFill>
                  <a:srgbClr val="C3CEC4"/>
                </a:solidFill>
                <a:latin typeface="Arial"/>
              </a:rPr>
              <a:t> Safety decisions must be explainable and testable. The thresholds, the 30-minute cooldown and the opt-in switch live in plain Swift (CareSupportCoordinator), and the heart-rate trigger only uses live sensor data — never simulated values.</a:t>
            </a:r>
          </a:p>
        </p:txBody>
      </p:sp>
      <p:sp>
        <p:nvSpPr>
          <p:cNvPr id="34" name="TextBox 33"/>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35" name="TextBox 34"/>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FEATURE · HEALTH GUIDE (IPHONE)</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An AI health guide that never phones home</a:t>
            </a:r>
          </a:p>
        </p:txBody>
      </p:sp>
      <p:sp>
        <p:nvSpPr>
          <p:cNvPr id="4" name="Rounded Rectangle 3"/>
          <p:cNvSpPr/>
          <p:nvPr/>
        </p:nvSpPr>
        <p:spPr>
          <a:xfrm>
            <a:off x="548640" y="1371600"/>
            <a:ext cx="1999427" cy="1600200"/>
          </a:xfrm>
          <a:prstGeom prst="roundRect">
            <a:avLst>
              <a:gd name="adj" fmla="val 6857"/>
            </a:avLst>
          </a:prstGeom>
          <a:solidFill>
            <a:srgbClr val="202B24"/>
          </a:solidFill>
          <a:ln w="12700">
            <a:solidFill>
              <a:srgbClr val="9FC1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58368" y="1463040"/>
            <a:ext cx="1779971"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9FC1AA"/>
                </a:solidFill>
                <a:latin typeface="Arial"/>
              </a:rPr>
              <a:t>Your question</a:t>
            </a:r>
          </a:p>
        </p:txBody>
      </p:sp>
      <p:sp>
        <p:nvSpPr>
          <p:cNvPr id="6" name="TextBox 5"/>
          <p:cNvSpPr txBox="1"/>
          <p:nvPr/>
        </p:nvSpPr>
        <p:spPr>
          <a:xfrm>
            <a:off x="658368" y="1737360"/>
            <a:ext cx="1779971" cy="114300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Typed or dictated. Stays on the phone.</a:t>
            </a:r>
          </a:p>
        </p:txBody>
      </p:sp>
      <p:cxnSp>
        <p:nvCxnSpPr>
          <p:cNvPr id="7" name="Connector 6"/>
          <p:cNvCxnSpPr/>
          <p:nvPr/>
        </p:nvCxnSpPr>
        <p:spPr>
          <a:xfrm>
            <a:off x="2575499" y="2171700"/>
            <a:ext cx="219456" cy="0"/>
          </a:xfrm>
          <a:prstGeom prst="line">
            <a:avLst/>
          </a:prstGeom>
          <a:ln w="19050">
            <a:solidFill>
              <a:srgbClr val="3C4B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22387" y="1371600"/>
            <a:ext cx="1999427" cy="1600200"/>
          </a:xfrm>
          <a:prstGeom prst="roundRect">
            <a:avLst>
              <a:gd name="adj" fmla="val 6857"/>
            </a:avLst>
          </a:prstGeom>
          <a:solidFill>
            <a:srgbClr val="202B24"/>
          </a:solidFill>
          <a:ln w="12700">
            <a:solidFill>
              <a:srgbClr val="E26D6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32115" y="1463040"/>
            <a:ext cx="1779971"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E26D6D"/>
                </a:solidFill>
                <a:latin typeface="Arial"/>
              </a:rPr>
              <a:t>Safety gate</a:t>
            </a:r>
          </a:p>
        </p:txBody>
      </p:sp>
      <p:sp>
        <p:nvSpPr>
          <p:cNvPr id="10" name="TextBox 9"/>
          <p:cNvSpPr txBox="1"/>
          <p:nvPr/>
        </p:nvSpPr>
        <p:spPr>
          <a:xfrm>
            <a:off x="2932115" y="1737360"/>
            <a:ext cx="1779971" cy="114300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Deterministic phrase check for self-harm or poisoning → crisis resources first, no search, no inference.</a:t>
            </a:r>
          </a:p>
        </p:txBody>
      </p:sp>
      <p:cxnSp>
        <p:nvCxnSpPr>
          <p:cNvPr id="11" name="Connector 10"/>
          <p:cNvCxnSpPr/>
          <p:nvPr/>
        </p:nvCxnSpPr>
        <p:spPr>
          <a:xfrm>
            <a:off x="4849246" y="2171700"/>
            <a:ext cx="219456" cy="0"/>
          </a:xfrm>
          <a:prstGeom prst="line">
            <a:avLst/>
          </a:prstGeom>
          <a:ln w="19050">
            <a:solidFill>
              <a:srgbClr val="3C4B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96134" y="1371600"/>
            <a:ext cx="1999427" cy="1600200"/>
          </a:xfrm>
          <a:prstGeom prst="roundRect">
            <a:avLst>
              <a:gd name="adj" fmla="val 6857"/>
            </a:avLst>
          </a:prstGeom>
          <a:solidFill>
            <a:srgbClr val="202B24"/>
          </a:solidFill>
          <a:ln w="12700">
            <a:solidFill>
              <a:srgbClr val="5EB3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205862" y="1463040"/>
            <a:ext cx="1779971"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5EB3E6"/>
                </a:solidFill>
                <a:latin typeface="Arial"/>
              </a:rPr>
              <a:t>Local sources</a:t>
            </a:r>
          </a:p>
        </p:txBody>
      </p:sp>
      <p:sp>
        <p:nvSpPr>
          <p:cNvPr id="14" name="TextBox 13"/>
          <p:cNvSpPr txBox="1"/>
          <p:nvPr/>
        </p:nvSpPr>
        <p:spPr>
          <a:xfrm>
            <a:off x="5205862" y="1737360"/>
            <a:ext cx="1779971" cy="114300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MedlinePlus Health Topics XML (NLM) downloaded on request · optional Wikipedia ZIM via a Kiwix server on your private Wi-Fi.</a:t>
            </a:r>
          </a:p>
        </p:txBody>
      </p:sp>
      <p:cxnSp>
        <p:nvCxnSpPr>
          <p:cNvPr id="15" name="Connector 14"/>
          <p:cNvCxnSpPr/>
          <p:nvPr/>
        </p:nvCxnSpPr>
        <p:spPr>
          <a:xfrm>
            <a:off x="7122993" y="2171700"/>
            <a:ext cx="219456" cy="0"/>
          </a:xfrm>
          <a:prstGeom prst="line">
            <a:avLst/>
          </a:prstGeom>
          <a:ln w="19050">
            <a:solidFill>
              <a:srgbClr val="3C4B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69881" y="1371600"/>
            <a:ext cx="1999427" cy="1600200"/>
          </a:xfrm>
          <a:prstGeom prst="roundRect">
            <a:avLst>
              <a:gd name="adj" fmla="val 6857"/>
            </a:avLst>
          </a:prstGeom>
          <a:solidFill>
            <a:srgbClr val="202B24"/>
          </a:solidFill>
          <a:ln w="12700">
            <a:solidFill>
              <a:srgbClr val="A08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79609" y="1463040"/>
            <a:ext cx="1779971"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A08AE0"/>
                </a:solidFill>
                <a:latin typeface="Arial"/>
              </a:rPr>
              <a:t>On-device model</a:t>
            </a:r>
          </a:p>
        </p:txBody>
      </p:sp>
      <p:sp>
        <p:nvSpPr>
          <p:cNvPr id="18" name="TextBox 17"/>
          <p:cNvSpPr txBox="1"/>
          <p:nvPr/>
        </p:nvSpPr>
        <p:spPr>
          <a:xfrm>
            <a:off x="7479609" y="1737360"/>
            <a:ext cx="1779971" cy="114300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Qwen2.5-1.5B-Instruct, Q4_K_M GGUF (~1.1 GB) run by llama.cpp through LlamaSwift — optional download.</a:t>
            </a:r>
          </a:p>
        </p:txBody>
      </p:sp>
      <p:cxnSp>
        <p:nvCxnSpPr>
          <p:cNvPr id="19" name="Connector 18"/>
          <p:cNvCxnSpPr/>
          <p:nvPr/>
        </p:nvCxnSpPr>
        <p:spPr>
          <a:xfrm>
            <a:off x="9396740" y="2171700"/>
            <a:ext cx="219456" cy="0"/>
          </a:xfrm>
          <a:prstGeom prst="line">
            <a:avLst/>
          </a:prstGeom>
          <a:ln w="19050">
            <a:solidFill>
              <a:srgbClr val="3C4B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643628" y="1371600"/>
            <a:ext cx="1999427" cy="1600200"/>
          </a:xfrm>
          <a:prstGeom prst="roundRect">
            <a:avLst>
              <a:gd name="adj" fmla="val 6857"/>
            </a:avLst>
          </a:prstGeom>
          <a:solidFill>
            <a:srgbClr val="202B24"/>
          </a:solidFill>
          <a:ln w="12700">
            <a:solidFill>
              <a:srgbClr val="F0B2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53356" y="1463040"/>
            <a:ext cx="1779971" cy="274320"/>
          </a:xfrm>
          <a:prstGeom prst="rect">
            <a:avLst/>
          </a:prstGeom>
          <a:noFill/>
        </p:spPr>
        <p:txBody>
          <a:bodyPr wrap="square" lIns="0" rIns="0" tIns="0" bIns="0" anchor="t">
            <a:noAutofit/>
          </a:bodyPr>
          <a:lstStyle/>
          <a:p>
            <a:pPr algn="l">
              <a:lnSpc>
                <a:spcPts val="1380"/>
              </a:lnSpc>
              <a:spcBef>
                <a:spcPts val="0"/>
              </a:spcBef>
              <a:spcAft>
                <a:spcPts val="0"/>
              </a:spcAft>
              <a:buNone/>
            </a:pPr>
            <a:r>
              <a:rPr sz="1150" b="1" i="0">
                <a:solidFill>
                  <a:srgbClr val="F0B23A"/>
                </a:solidFill>
                <a:latin typeface="Arial"/>
              </a:rPr>
              <a:t>Answer + sources</a:t>
            </a:r>
          </a:p>
        </p:txBody>
      </p:sp>
      <p:sp>
        <p:nvSpPr>
          <p:cNvPr id="22" name="TextBox 21"/>
          <p:cNvSpPr txBox="1"/>
          <p:nvPr/>
        </p:nvSpPr>
        <p:spPr>
          <a:xfrm>
            <a:off x="9753356" y="1737360"/>
            <a:ext cx="1779971" cy="114300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C3CEC4"/>
                </a:solidFill>
                <a:latin typeface="Arial"/>
              </a:rPr>
              <a:t>Plain-language answer with source links. Labeled educational — not diagnosis. Read aloud by Kokoro TTS if enabled.</a:t>
            </a:r>
          </a:p>
        </p:txBody>
      </p:sp>
      <p:sp>
        <p:nvSpPr>
          <p:cNvPr id="23" name="Rounded Rectangle 22"/>
          <p:cNvSpPr/>
          <p:nvPr/>
        </p:nvSpPr>
        <p:spPr>
          <a:xfrm>
            <a:off x="548640" y="3200400"/>
            <a:ext cx="3657600" cy="2926080"/>
          </a:xfrm>
          <a:prstGeom prst="roundRect">
            <a:avLst>
              <a:gd name="adj" fmla="val 5000"/>
            </a:avLst>
          </a:prstGeom>
          <a:solidFill>
            <a:srgbClr val="202B24"/>
          </a:solidFill>
          <a:ln w="19050">
            <a:solidFill>
              <a:srgbClr val="5B8E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2959" y="3200400"/>
            <a:ext cx="3108960" cy="2926080"/>
          </a:xfrm>
          <a:prstGeom prst="rect">
            <a:avLst/>
          </a:prstGeom>
          <a:noFill/>
        </p:spPr>
        <p:txBody>
          <a:bodyPr wrap="square" lIns="0" rIns="0" tIns="0" bIns="0" anchor="ctr">
            <a:noAutofit/>
          </a:bodyPr>
          <a:lstStyle/>
          <a:p>
            <a:pPr algn="ctr">
              <a:lnSpc>
                <a:spcPts val="1560"/>
              </a:lnSpc>
              <a:spcBef>
                <a:spcPts val="0"/>
              </a:spcBef>
              <a:spcAft>
                <a:spcPts val="0"/>
              </a:spcAft>
              <a:buNone/>
            </a:pPr>
            <a:r>
              <a:rPr sz="1300" b="0" i="1">
                <a:solidFill>
                  <a:srgbClr val="9FC1AA"/>
                </a:solidFill>
                <a:latin typeface="Arial"/>
              </a:rPr>
              <a:t>[Drop your iPhone screenshot of the Health Guide tab here — Simulator or device]</a:t>
            </a:r>
          </a:p>
        </p:txBody>
      </p:sp>
      <p:sp>
        <p:nvSpPr>
          <p:cNvPr id="25" name="TextBox 24"/>
          <p:cNvSpPr txBox="1"/>
          <p:nvPr/>
        </p:nvSpPr>
        <p:spPr>
          <a:xfrm>
            <a:off x="4480559" y="3200400"/>
            <a:ext cx="7162495" cy="2011680"/>
          </a:xfrm>
          <a:prstGeom prst="rect">
            <a:avLst/>
          </a:prstGeom>
          <a:noFill/>
        </p:spPr>
        <p:txBody>
          <a:bodyPr wrap="square" lIns="0" rIns="0" tIns="0" bIns="0" anchor="t">
            <a:noAutofit/>
          </a:bodyPr>
          <a:lstStyle/>
          <a:p>
            <a:pPr algn="l" marL="219456" indent="-219456">
              <a:lnSpc>
                <a:spcPts val="1464"/>
              </a:lnSpc>
              <a:spcBef>
                <a:spcPts val="0"/>
              </a:spcBef>
              <a:spcAft>
                <a:spcPts val="600"/>
              </a:spcAft>
              <a:buClr>
                <a:srgbClr val="9FC1AA"/>
              </a:buClr>
              <a:buFont typeface="Arial"/>
              <a:buChar char="•"/>
            </a:pPr>
            <a:r>
              <a:rPr sz="1200" b="1" i="0">
                <a:solidFill>
                  <a:srgbClr val="F4F6F2"/>
                </a:solidFill>
                <a:latin typeface="Arial"/>
              </a:rPr>
              <a:t>Zero cloud calls.</a:t>
            </a:r>
            <a:r>
              <a:rPr sz="1200" b="0" i="0">
                <a:solidFill>
                  <a:srgbClr val="C3CEC4"/>
                </a:solidFill>
                <a:latin typeface="Arial"/>
              </a:rPr>
              <a:t> There is no API key anywhere in the project; inference is isolated in one Swift actor and the model is freed after each answer to give memory back to the phone.</a:t>
            </a:r>
          </a:p>
          <a:p>
            <a:pPr algn="l" marL="219456" indent="-219456">
              <a:lnSpc>
                <a:spcPts val="1464"/>
              </a:lnSpc>
              <a:spcBef>
                <a:spcPts val="0"/>
              </a:spcBef>
              <a:spcAft>
                <a:spcPts val="600"/>
              </a:spcAft>
              <a:buClr>
                <a:srgbClr val="9FC1AA"/>
              </a:buClr>
              <a:buFont typeface="Arial"/>
              <a:buChar char="•"/>
            </a:pPr>
            <a:r>
              <a:rPr sz="1200" b="1" i="0">
                <a:solidFill>
                  <a:srgbClr val="F4F6F2"/>
                </a:solidFill>
                <a:latin typeface="Arial"/>
              </a:rPr>
              <a:t>Everything is optional and checked.</a:t>
            </a:r>
            <a:r>
              <a:rPr sz="1200" b="0" i="0">
                <a:solidFill>
                  <a:srgbClr val="C3CEC4"/>
                </a:solidFill>
                <a:latin typeface="Arial"/>
              </a:rPr>
              <a:t> The app works without the model, the MedlinePlus library or Kokoro; downloads show their size, GGUF headers are validated and the voice pack is CRC-checked before use.</a:t>
            </a:r>
          </a:p>
          <a:p>
            <a:pPr algn="l" marL="219456" indent="-219456">
              <a:lnSpc>
                <a:spcPts val="1464"/>
              </a:lnSpc>
              <a:spcBef>
                <a:spcPts val="0"/>
              </a:spcBef>
              <a:spcAft>
                <a:spcPts val="600"/>
              </a:spcAft>
              <a:buClr>
                <a:srgbClr val="9FC1AA"/>
              </a:buClr>
              <a:buFont typeface="Arial"/>
              <a:buChar char="•"/>
            </a:pPr>
            <a:r>
              <a:rPr sz="1200" b="1" i="0">
                <a:solidFill>
                  <a:srgbClr val="F4F6F2"/>
                </a:solidFill>
                <a:latin typeface="Arial"/>
              </a:rPr>
              <a:t>Reference-first.</a:t>
            </a:r>
            <a:r>
              <a:rPr sz="1200" b="0" i="0">
                <a:solidFill>
                  <a:srgbClr val="C3CEC4"/>
                </a:solidFill>
                <a:latin typeface="Arial"/>
              </a:rPr>
              <a:t> Matching MedlinePlus topics appear even when no model is installed, so the guide is useful on day one.</a:t>
            </a:r>
          </a:p>
        </p:txBody>
      </p:sp>
      <p:sp>
        <p:nvSpPr>
          <p:cNvPr id="26" name="Rounded Rectangle 25"/>
          <p:cNvSpPr/>
          <p:nvPr/>
        </p:nvSpPr>
        <p:spPr>
          <a:xfrm>
            <a:off x="4480559" y="5120640"/>
            <a:ext cx="7162495" cy="1005840"/>
          </a:xfrm>
          <a:prstGeom prst="roundRect">
            <a:avLst>
              <a:gd name="adj" fmla="val 14545"/>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09159" y="5175504"/>
            <a:ext cx="6705295" cy="201168"/>
          </a:xfrm>
          <a:prstGeom prst="rect">
            <a:avLst/>
          </a:prstGeom>
          <a:noFill/>
        </p:spPr>
        <p:txBody>
          <a:bodyPr wrap="square" lIns="0" rIns="0" tIns="0" bIns="0" anchor="t">
            <a:noAutofit/>
          </a:bodyPr>
          <a:lstStyle/>
          <a:p>
            <a:pPr algn="l">
              <a:lnSpc>
                <a:spcPts val="1080"/>
              </a:lnSpc>
              <a:spcBef>
                <a:spcPts val="0"/>
              </a:spcBef>
              <a:spcAft>
                <a:spcPts val="0"/>
              </a:spcAft>
              <a:buNone/>
            </a:pPr>
            <a:r>
              <a:rPr sz="900" b="0" i="0">
                <a:solidFill>
                  <a:srgbClr val="77857A"/>
                </a:solidFill>
                <a:latin typeface="Arial"/>
              </a:rPr>
              <a:t>ios/CareSphere/Services/LocalAssistantService.swift</a:t>
            </a:r>
          </a:p>
        </p:txBody>
      </p:sp>
      <p:sp>
        <p:nvSpPr>
          <p:cNvPr id="28" name="TextBox 27"/>
          <p:cNvSpPr txBox="1"/>
          <p:nvPr/>
        </p:nvSpPr>
        <p:spPr>
          <a:xfrm>
            <a:off x="4709159" y="5394960"/>
            <a:ext cx="6705295" cy="685800"/>
          </a:xfrm>
          <a:prstGeom prst="rect">
            <a:avLst/>
          </a:prstGeom>
          <a:noFill/>
        </p:spPr>
        <p:txBody>
          <a:bodyPr wrap="square" lIns="0" rIns="0" tIns="0" bIns="0" anchor="t">
            <a:noAutofit/>
          </a:bodyPr>
          <a:lstStyle/>
          <a:p>
            <a:pPr algn="l">
              <a:lnSpc>
                <a:spcPts val="1300"/>
              </a:lnSpc>
              <a:spcBef>
                <a:spcPts val="0"/>
              </a:spcBef>
              <a:spcAft>
                <a:spcPts val="0"/>
              </a:spcAft>
              <a:buNone/>
            </a:pPr>
            <a:r>
              <a:rPr sz="1000" b="0" i="0">
                <a:solidFill>
                  <a:srgbClr val="9FC1AA"/>
                </a:solidFill>
                <a:latin typeface="Courier New"/>
              </a:rPr>
              <a:t>contextParameters.n_ctx = 2048   // bounded prompt + answer window</a:t>
            </a:r>
          </a:p>
          <a:p>
            <a:pPr algn="l">
              <a:lnSpc>
                <a:spcPts val="1300"/>
              </a:lnSpc>
              <a:spcBef>
                <a:spcPts val="0"/>
              </a:spcBef>
              <a:spcAft>
                <a:spcPts val="0"/>
              </a:spcAft>
              <a:buNone/>
            </a:pPr>
            <a:r>
              <a:rPr sz="1000" b="0" i="0">
                <a:solidFill>
                  <a:srgbClr val="9FC1AA"/>
                </a:solidFill>
                <a:latin typeface="Courier New"/>
              </a:rPr>
              <a:t>prompt = "&lt;|im_start|&gt;system…&lt;|im_start|&gt;user…&lt;|im_start|&gt;assistant\n"  // ChatML</a:t>
            </a:r>
          </a:p>
        </p:txBody>
      </p:sp>
      <p:sp>
        <p:nvSpPr>
          <p:cNvPr id="29" name="TextBox 28"/>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30" name="TextBox 29"/>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PRIVACY &amp; ACCESSIBILITY</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Private by architecture, accessible by default</a:t>
            </a:r>
          </a:p>
        </p:txBody>
      </p:sp>
      <p:pic>
        <p:nvPicPr>
          <p:cNvPr id="4" name="Picture 3" descr="crop-settings-privacy.png"/>
          <p:cNvPicPr>
            <a:picLocks noChangeAspect="1"/>
          </p:cNvPicPr>
          <p:nvPr/>
        </p:nvPicPr>
        <p:blipFill>
          <a:blip r:embed="rId2"/>
          <a:stretch>
            <a:fillRect/>
          </a:stretch>
        </p:blipFill>
        <p:spPr>
          <a:xfrm>
            <a:off x="548640" y="1325880"/>
            <a:ext cx="3279395" cy="4800600"/>
          </a:xfrm>
          <a:prstGeom prst="roundRect">
            <a:avLst>
              <a:gd name="adj" fmla="val 3903"/>
            </a:avLst>
          </a:prstGeom>
        </p:spPr>
      </p:pic>
      <p:sp>
        <p:nvSpPr>
          <p:cNvPr id="5" name="Rounded Rectangle 4"/>
          <p:cNvSpPr/>
          <p:nvPr/>
        </p:nvSpPr>
        <p:spPr>
          <a:xfrm>
            <a:off x="4069080" y="1325880"/>
            <a:ext cx="3649827" cy="4800600"/>
          </a:xfrm>
          <a:prstGeom prst="roundRect">
            <a:avLst>
              <a:gd name="adj" fmla="val 4008"/>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4270248" y="1316736"/>
            <a:ext cx="3247491" cy="64008"/>
          </a:xfrm>
          <a:prstGeom prst="roundRect">
            <a:avLst>
              <a:gd name="adj" fmla="val 50000"/>
            </a:avLst>
          </a:prstGeom>
          <a:solidFill>
            <a:srgbClr val="9FC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297680" y="1554480"/>
            <a:ext cx="3192627" cy="320040"/>
          </a:xfrm>
          <a:prstGeom prst="rect">
            <a:avLst/>
          </a:prstGeom>
          <a:noFill/>
        </p:spPr>
        <p:txBody>
          <a:bodyPr wrap="square" lIns="0" rIns="0" tIns="0" bIns="0" anchor="t">
            <a:noAutofit/>
          </a:bodyPr>
          <a:lstStyle/>
          <a:p>
            <a:pPr algn="l">
              <a:lnSpc>
                <a:spcPts val="2039"/>
              </a:lnSpc>
              <a:spcBef>
                <a:spcPts val="0"/>
              </a:spcBef>
              <a:spcAft>
                <a:spcPts val="0"/>
              </a:spcAft>
              <a:buNone/>
            </a:pPr>
            <a:r>
              <a:rPr sz="1700" b="1" i="0">
                <a:solidFill>
                  <a:srgbClr val="F4F6F2"/>
                </a:solidFill>
                <a:latin typeface="Arial"/>
              </a:rPr>
              <a:t>Privacy</a:t>
            </a:r>
          </a:p>
        </p:txBody>
      </p:sp>
      <p:sp>
        <p:nvSpPr>
          <p:cNvPr id="8" name="TextBox 7"/>
          <p:cNvSpPr txBox="1"/>
          <p:nvPr/>
        </p:nvSpPr>
        <p:spPr>
          <a:xfrm>
            <a:off x="4297680" y="1965960"/>
            <a:ext cx="3192627" cy="4023360"/>
          </a:xfrm>
          <a:prstGeom prst="rect">
            <a:avLst/>
          </a:prstGeom>
          <a:noFill/>
        </p:spPr>
        <p:txBody>
          <a:bodyPr wrap="square" lIns="0" rIns="0" tIns="0" bIns="0" anchor="t">
            <a:noAutofit/>
          </a:bodyPr>
          <a:lstStyle/>
          <a:p>
            <a:pPr algn="l" marL="219456" indent="-219456">
              <a:lnSpc>
                <a:spcPts val="1464"/>
              </a:lnSpc>
              <a:spcBef>
                <a:spcPts val="0"/>
              </a:spcBef>
              <a:spcAft>
                <a:spcPts val="700"/>
              </a:spcAft>
              <a:buClr>
                <a:srgbClr val="9FC1AA"/>
              </a:buClr>
              <a:buFont typeface="Arial"/>
              <a:buChar char="•"/>
            </a:pPr>
            <a:r>
              <a:rPr sz="1200" b="1" i="0">
                <a:solidFill>
                  <a:srgbClr val="F4F6F2"/>
                </a:solidFill>
                <a:latin typeface="Arial"/>
              </a:rPr>
              <a:t>No account. No sync server. No analytics SDK.</a:t>
            </a:r>
            <a:r>
              <a:rPr sz="1200" b="0" i="0">
                <a:solidFill>
                  <a:srgbClr val="C3CEC4"/>
                </a:solidFill>
                <a:latin typeface="Arial"/>
              </a:rPr>
              <a:t> Nothing to breach.</a:t>
            </a:r>
          </a:p>
          <a:p>
            <a:pPr algn="l" marL="219456" indent="-219456">
              <a:lnSpc>
                <a:spcPts val="1464"/>
              </a:lnSpc>
              <a:spcBef>
                <a:spcPts val="0"/>
              </a:spcBef>
              <a:spcAft>
                <a:spcPts val="700"/>
              </a:spcAft>
              <a:buClr>
                <a:srgbClr val="9FC1AA"/>
              </a:buClr>
              <a:buFont typeface="Arial"/>
              <a:buChar char="•"/>
            </a:pPr>
            <a:r>
              <a:rPr sz="1200" b="1" i="0">
                <a:solidFill>
                  <a:srgbClr val="F4F6F2"/>
                </a:solidFill>
                <a:latin typeface="Arial"/>
              </a:rPr>
              <a:t>AES-256-GCM encryption at rest.</a:t>
            </a:r>
            <a:r>
              <a:rPr sz="1200" b="0" i="0">
                <a:solidFill>
                  <a:srgbClr val="C3CEC4"/>
                </a:solidFill>
                <a:latin typeface="Arial"/>
              </a:rPr>
              <a:t> Web: a non-extractable Web Crypto key stored in IndexedDB. iPhone: a CryptoKit key in the Keychain (this-device-only), Complete File Protection, excluded from backups.</a:t>
            </a:r>
          </a:p>
          <a:p>
            <a:pPr algn="l" marL="219456" indent="-219456">
              <a:lnSpc>
                <a:spcPts val="1464"/>
              </a:lnSpc>
              <a:spcBef>
                <a:spcPts val="0"/>
              </a:spcBef>
              <a:spcAft>
                <a:spcPts val="700"/>
              </a:spcAft>
              <a:buClr>
                <a:srgbClr val="9FC1AA"/>
              </a:buClr>
              <a:buFont typeface="Arial"/>
              <a:buChar char="•"/>
            </a:pPr>
            <a:r>
              <a:rPr sz="1200" b="0" i="0">
                <a:solidFill>
                  <a:srgbClr val="C3CEC4"/>
                </a:solidFill>
                <a:latin typeface="Arial"/>
              </a:rPr>
              <a:t>Legacy plaintext data is </a:t>
            </a:r>
            <a:r>
              <a:rPr sz="1200" b="1" i="0">
                <a:solidFill>
                  <a:srgbClr val="F4F6F2"/>
                </a:solidFill>
                <a:latin typeface="Arial"/>
              </a:rPr>
              <a:t>migrated into the encrypted store automatically</a:t>
            </a:r>
            <a:r>
              <a:rPr sz="1200" b="0" i="0">
                <a:solidFill>
                  <a:srgbClr val="C3CEC4"/>
                </a:solidFill>
                <a:latin typeface="Arial"/>
              </a:rPr>
              <a:t>, then removed.</a:t>
            </a:r>
          </a:p>
          <a:p>
            <a:pPr algn="l" marL="219456" indent="-219456">
              <a:lnSpc>
                <a:spcPts val="1464"/>
              </a:lnSpc>
              <a:spcBef>
                <a:spcPts val="0"/>
              </a:spcBef>
              <a:spcAft>
                <a:spcPts val="700"/>
              </a:spcAft>
              <a:buClr>
                <a:srgbClr val="9FC1AA"/>
              </a:buClr>
              <a:buFont typeface="Arial"/>
              <a:buChar char="•"/>
            </a:pPr>
            <a:r>
              <a:rPr sz="1200" b="1" i="0">
                <a:solidFill>
                  <a:srgbClr val="F4F6F2"/>
                </a:solidFill>
                <a:latin typeface="Arial"/>
              </a:rPr>
              <a:t>Face ID / Touch ID lock</a:t>
            </a:r>
            <a:r>
              <a:rPr sz="1200" b="0" i="0">
                <a:solidFill>
                  <a:srgbClr val="C3CEC4"/>
                </a:solidFill>
                <a:latin typeface="Arial"/>
              </a:rPr>
              <a:t> with an opaque privacy screen in the app switcher.</a:t>
            </a:r>
          </a:p>
          <a:p>
            <a:pPr algn="l" marL="219456" indent="-219456">
              <a:lnSpc>
                <a:spcPts val="1464"/>
              </a:lnSpc>
              <a:spcBef>
                <a:spcPts val="0"/>
              </a:spcBef>
              <a:spcAft>
                <a:spcPts val="700"/>
              </a:spcAft>
              <a:buClr>
                <a:srgbClr val="9FC1AA"/>
              </a:buClr>
              <a:buFont typeface="Arial"/>
              <a:buChar char="•"/>
            </a:pPr>
            <a:r>
              <a:rPr sz="1200" b="1" i="0">
                <a:solidFill>
                  <a:srgbClr val="F4F6F2"/>
                </a:solidFill>
                <a:latin typeface="Arial"/>
              </a:rPr>
              <a:t>Export everything as JSON or erase it</a:t>
            </a:r>
            <a:r>
              <a:rPr sz="1200" b="0" i="0">
                <a:solidFill>
                  <a:srgbClr val="C3CEC4"/>
                </a:solidFill>
                <a:latin typeface="Arial"/>
              </a:rPr>
              <a:t> — one tap each, in Settings.</a:t>
            </a:r>
          </a:p>
        </p:txBody>
      </p:sp>
      <p:sp>
        <p:nvSpPr>
          <p:cNvPr id="9" name="Rounded Rectangle 8"/>
          <p:cNvSpPr/>
          <p:nvPr/>
        </p:nvSpPr>
        <p:spPr>
          <a:xfrm>
            <a:off x="7993227" y="1325880"/>
            <a:ext cx="3649827" cy="4800600"/>
          </a:xfrm>
          <a:prstGeom prst="roundRect">
            <a:avLst>
              <a:gd name="adj" fmla="val 4008"/>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8194395" y="1316736"/>
            <a:ext cx="3247491" cy="64008"/>
          </a:xfrm>
          <a:prstGeom prst="roundRect">
            <a:avLst>
              <a:gd name="adj" fmla="val 50000"/>
            </a:avLst>
          </a:prstGeom>
          <a:solidFill>
            <a:srgbClr val="A08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1827" y="1554480"/>
            <a:ext cx="3192627" cy="320040"/>
          </a:xfrm>
          <a:prstGeom prst="rect">
            <a:avLst/>
          </a:prstGeom>
          <a:noFill/>
        </p:spPr>
        <p:txBody>
          <a:bodyPr wrap="square" lIns="0" rIns="0" tIns="0" bIns="0" anchor="t">
            <a:noAutofit/>
          </a:bodyPr>
          <a:lstStyle/>
          <a:p>
            <a:pPr algn="l">
              <a:lnSpc>
                <a:spcPts val="2039"/>
              </a:lnSpc>
              <a:spcBef>
                <a:spcPts val="0"/>
              </a:spcBef>
              <a:spcAft>
                <a:spcPts val="0"/>
              </a:spcAft>
              <a:buNone/>
            </a:pPr>
            <a:r>
              <a:rPr sz="1700" b="1" i="0">
                <a:solidFill>
                  <a:srgbClr val="F4F6F2"/>
                </a:solidFill>
                <a:latin typeface="Arial"/>
              </a:rPr>
              <a:t>Accessibility</a:t>
            </a:r>
          </a:p>
        </p:txBody>
      </p:sp>
      <p:sp>
        <p:nvSpPr>
          <p:cNvPr id="12" name="TextBox 11"/>
          <p:cNvSpPr txBox="1"/>
          <p:nvPr/>
        </p:nvSpPr>
        <p:spPr>
          <a:xfrm>
            <a:off x="8221827" y="1965960"/>
            <a:ext cx="3192627" cy="2103120"/>
          </a:xfrm>
          <a:prstGeom prst="rect">
            <a:avLst/>
          </a:prstGeom>
          <a:noFill/>
        </p:spPr>
        <p:txBody>
          <a:bodyPr wrap="square" lIns="0" rIns="0" tIns="0" bIns="0" anchor="t">
            <a:noAutofit/>
          </a:bodyPr>
          <a:lstStyle/>
          <a:p>
            <a:pPr algn="l" marL="219456" indent="-219456">
              <a:lnSpc>
                <a:spcPts val="1405"/>
              </a:lnSpc>
              <a:spcBef>
                <a:spcPts val="0"/>
              </a:spcBef>
              <a:spcAft>
                <a:spcPts val="576"/>
              </a:spcAft>
              <a:buClr>
                <a:srgbClr val="9FC1AA"/>
              </a:buClr>
              <a:buFont typeface="Arial"/>
              <a:buChar char="•"/>
            </a:pPr>
            <a:r>
              <a:rPr sz="1150" b="1" i="0">
                <a:solidFill>
                  <a:srgbClr val="F4F6F2"/>
                </a:solidFill>
                <a:latin typeface="Arial"/>
              </a:rPr>
              <a:t>Text size A / A+ / A++</a:t>
            </a:r>
            <a:r>
              <a:rPr sz="1150" b="0" i="0">
                <a:solidFill>
                  <a:srgbClr val="C3CEC4"/>
                </a:solidFill>
                <a:latin typeface="Arial"/>
              </a:rPr>
              <a:t> on the web; Dynamic Type on iPhone.</a:t>
            </a:r>
          </a:p>
          <a:p>
            <a:pPr algn="l" marL="219456" indent="-219456">
              <a:lnSpc>
                <a:spcPts val="1405"/>
              </a:lnSpc>
              <a:spcBef>
                <a:spcPts val="0"/>
              </a:spcBef>
              <a:spcAft>
                <a:spcPts val="576"/>
              </a:spcAft>
              <a:buClr>
                <a:srgbClr val="9FC1AA"/>
              </a:buClr>
              <a:buFont typeface="Arial"/>
              <a:buChar char="•"/>
            </a:pPr>
            <a:r>
              <a:rPr sz="1150" b="1" i="0">
                <a:solidFill>
                  <a:srgbClr val="F4F6F2"/>
                </a:solidFill>
                <a:latin typeface="Arial"/>
              </a:rPr>
              <a:t>Themes:</a:t>
            </a:r>
            <a:r>
              <a:rPr sz="1150" b="0" i="0">
                <a:solidFill>
                  <a:srgbClr val="C3CEC4"/>
                </a:solidFill>
                <a:latin typeface="Arial"/>
              </a:rPr>
              <a:t> calm charcoal, warm light, or follow the device — plus a high-contrast mode.</a:t>
            </a:r>
          </a:p>
          <a:p>
            <a:pPr algn="l" marL="219456" indent="-219456">
              <a:lnSpc>
                <a:spcPts val="1405"/>
              </a:lnSpc>
              <a:spcBef>
                <a:spcPts val="0"/>
              </a:spcBef>
              <a:spcAft>
                <a:spcPts val="576"/>
              </a:spcAft>
              <a:buClr>
                <a:srgbClr val="9FC1AA"/>
              </a:buClr>
              <a:buFont typeface="Arial"/>
              <a:buChar char="•"/>
            </a:pPr>
            <a:r>
              <a:rPr sz="1150" b="1" i="0">
                <a:solidFill>
                  <a:srgbClr val="F4F6F2"/>
                </a:solidFill>
                <a:latin typeface="Arial"/>
              </a:rPr>
              <a:t>Reduce visual movement</a:t>
            </a:r>
            <a:r>
              <a:rPr sz="1150" b="0" i="0">
                <a:solidFill>
                  <a:srgbClr val="C3CEC4"/>
                </a:solidFill>
                <a:latin typeface="Arial"/>
              </a:rPr>
              <a:t>, spoken reminders, big tap targets.</a:t>
            </a:r>
          </a:p>
          <a:p>
            <a:pPr algn="l" marL="219456" indent="-219456">
              <a:lnSpc>
                <a:spcPts val="1405"/>
              </a:lnSpc>
              <a:spcBef>
                <a:spcPts val="0"/>
              </a:spcBef>
              <a:spcAft>
                <a:spcPts val="576"/>
              </a:spcAft>
              <a:buClr>
                <a:srgbClr val="9FC1AA"/>
              </a:buClr>
              <a:buFont typeface="Arial"/>
              <a:buChar char="•"/>
            </a:pPr>
            <a:r>
              <a:rPr sz="1150" b="0" i="0">
                <a:solidFill>
                  <a:srgbClr val="C3CEC4"/>
                </a:solidFill>
                <a:latin typeface="Arial"/>
              </a:rPr>
              <a:t>ARIA roles, focus management and Escape-to-close on the web; VoiceOver labels on iPhone.</a:t>
            </a:r>
          </a:p>
        </p:txBody>
      </p:sp>
      <p:pic>
        <p:nvPicPr>
          <p:cNvPr id="13" name="Picture 12" descr="web-light.png"/>
          <p:cNvPicPr>
            <a:picLocks noChangeAspect="1"/>
          </p:cNvPicPr>
          <p:nvPr/>
        </p:nvPicPr>
        <p:blipFill>
          <a:blip r:embed="rId3"/>
          <a:stretch>
            <a:fillRect/>
          </a:stretch>
        </p:blipFill>
        <p:spPr>
          <a:xfrm>
            <a:off x="8397191" y="4114800"/>
            <a:ext cx="2841899" cy="1874519"/>
          </a:xfrm>
          <a:prstGeom prst="rect">
            <a:avLst/>
          </a:prstGeom>
        </p:spPr>
      </p:pic>
      <p:sp>
        <p:nvSpPr>
          <p:cNvPr id="14" name="TextBox 13"/>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15" name="TextBox 14"/>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HOW IT'S BUILT</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Two native-feeling clients, zero servers</a:t>
            </a:r>
          </a:p>
        </p:txBody>
      </p:sp>
      <p:sp>
        <p:nvSpPr>
          <p:cNvPr id="4" name="Rounded Rectangle 3"/>
          <p:cNvSpPr/>
          <p:nvPr/>
        </p:nvSpPr>
        <p:spPr>
          <a:xfrm>
            <a:off x="548640" y="1371600"/>
            <a:ext cx="3515258" cy="3154680"/>
          </a:xfrm>
          <a:prstGeom prst="roundRect">
            <a:avLst>
              <a:gd name="adj" fmla="val 4637"/>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749808" y="1362456"/>
            <a:ext cx="3112922" cy="64008"/>
          </a:xfrm>
          <a:prstGeom prst="roundRect">
            <a:avLst>
              <a:gd name="adj" fmla="val 50000"/>
            </a:avLst>
          </a:prstGeom>
          <a:solidFill>
            <a:srgbClr val="9FC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600200"/>
            <a:ext cx="2966618" cy="320040"/>
          </a:xfrm>
          <a:prstGeom prst="rect">
            <a:avLst/>
          </a:prstGeom>
          <a:noFill/>
        </p:spPr>
        <p:txBody>
          <a:bodyPr wrap="square" lIns="0" rIns="0" tIns="0" bIns="0" anchor="t">
            <a:noAutofit/>
          </a:bodyPr>
          <a:lstStyle/>
          <a:p>
            <a:pPr algn="l">
              <a:lnSpc>
                <a:spcPts val="1920"/>
              </a:lnSpc>
              <a:spcBef>
                <a:spcPts val="0"/>
              </a:spcBef>
              <a:spcAft>
                <a:spcPts val="0"/>
              </a:spcAft>
              <a:buNone/>
            </a:pPr>
            <a:r>
              <a:rPr sz="1600" b="1" i="0">
                <a:solidFill>
                  <a:srgbClr val="F4F6F2"/>
                </a:solidFill>
                <a:latin typeface="Arial"/>
              </a:rPr>
              <a:t>Web app (PWA)</a:t>
            </a:r>
          </a:p>
        </p:txBody>
      </p:sp>
      <p:sp>
        <p:nvSpPr>
          <p:cNvPr id="7" name="TextBox 6"/>
          <p:cNvSpPr txBox="1"/>
          <p:nvPr/>
        </p:nvSpPr>
        <p:spPr>
          <a:xfrm>
            <a:off x="822959" y="2011680"/>
            <a:ext cx="2966618" cy="2468880"/>
          </a:xfrm>
          <a:prstGeom prst="rect">
            <a:avLst/>
          </a:prstGeom>
          <a:noFill/>
        </p:spPr>
        <p:txBody>
          <a:bodyPr wrap="square" lIns="0" rIns="0" tIns="0" bIns="0" anchor="t">
            <a:noAutofit/>
          </a:bodyPr>
          <a:lstStyle/>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React 18 · Vite 8 · Tailwind CSS 3</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Web Bluetooth (GATT Heart Rate)</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Web Audio soundscapes</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Web Crypto AES-256-GCM + IndexedDB</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Notifications · Speech Synthesis · Geolocation</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Jitsi External API (WebRTC)</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Service worker — installable, offline</a:t>
            </a:r>
          </a:p>
        </p:txBody>
      </p:sp>
      <p:sp>
        <p:nvSpPr>
          <p:cNvPr id="8" name="Rounded Rectangle 7"/>
          <p:cNvSpPr/>
          <p:nvPr/>
        </p:nvSpPr>
        <p:spPr>
          <a:xfrm>
            <a:off x="4338218" y="1371600"/>
            <a:ext cx="3515258" cy="3154680"/>
          </a:xfrm>
          <a:prstGeom prst="roundRect">
            <a:avLst>
              <a:gd name="adj" fmla="val 4637"/>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4539386" y="1362456"/>
            <a:ext cx="3112922" cy="64008"/>
          </a:xfrm>
          <a:prstGeom prst="roundRect">
            <a:avLst>
              <a:gd name="adj" fmla="val 50000"/>
            </a:avLst>
          </a:prstGeom>
          <a:solidFill>
            <a:srgbClr val="A08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2538" y="1600200"/>
            <a:ext cx="2966618" cy="320040"/>
          </a:xfrm>
          <a:prstGeom prst="rect">
            <a:avLst/>
          </a:prstGeom>
          <a:noFill/>
        </p:spPr>
        <p:txBody>
          <a:bodyPr wrap="square" lIns="0" rIns="0" tIns="0" bIns="0" anchor="t">
            <a:noAutofit/>
          </a:bodyPr>
          <a:lstStyle/>
          <a:p>
            <a:pPr algn="l">
              <a:lnSpc>
                <a:spcPts val="1920"/>
              </a:lnSpc>
              <a:spcBef>
                <a:spcPts val="0"/>
              </a:spcBef>
              <a:spcAft>
                <a:spcPts val="0"/>
              </a:spcAft>
              <a:buNone/>
            </a:pPr>
            <a:r>
              <a:rPr sz="1600" b="1" i="0">
                <a:solidFill>
                  <a:srgbClr val="F4F6F2"/>
                </a:solidFill>
                <a:latin typeface="Arial"/>
              </a:rPr>
              <a:t>iPhone app (Swift)</a:t>
            </a:r>
          </a:p>
        </p:txBody>
      </p:sp>
      <p:sp>
        <p:nvSpPr>
          <p:cNvPr id="11" name="TextBox 10"/>
          <p:cNvSpPr txBox="1"/>
          <p:nvPr/>
        </p:nvSpPr>
        <p:spPr>
          <a:xfrm>
            <a:off x="4612538" y="2011680"/>
            <a:ext cx="2966618" cy="2468880"/>
          </a:xfrm>
          <a:prstGeom prst="rect">
            <a:avLst/>
          </a:prstGeom>
          <a:noFill/>
        </p:spPr>
        <p:txBody>
          <a:bodyPr wrap="square" lIns="0" rIns="0" tIns="0" bIns="0" anchor="t">
            <a:noAutofit/>
          </a:bodyPr>
          <a:lstStyle/>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SwiftUI · iOS 16+ · XcodeGen</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HealthKit · CoreBluetooth · Swift Charts</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CryptoKit · Keychain · LocalAuthentication</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UserNotifications · AVFoundation · MapKit</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JitsiMeetSDK 13.1 · ZIPFoundation</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llama.cpp (LlamaSwift) — Qwen2.5 1.5B</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Sherpa-ONNX — Kokoro TTS</a:t>
            </a:r>
          </a:p>
        </p:txBody>
      </p:sp>
      <p:sp>
        <p:nvSpPr>
          <p:cNvPr id="12" name="Rounded Rectangle 11"/>
          <p:cNvSpPr/>
          <p:nvPr/>
        </p:nvSpPr>
        <p:spPr>
          <a:xfrm>
            <a:off x="8127796" y="1371600"/>
            <a:ext cx="3515258" cy="3154680"/>
          </a:xfrm>
          <a:prstGeom prst="roundRect">
            <a:avLst>
              <a:gd name="adj" fmla="val 4637"/>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328964" y="1362456"/>
            <a:ext cx="3112922" cy="64008"/>
          </a:xfrm>
          <a:prstGeom prst="roundRect">
            <a:avLst>
              <a:gd name="adj" fmla="val 50000"/>
            </a:avLst>
          </a:prstGeom>
          <a:solidFill>
            <a:srgbClr val="F0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02116" y="1600200"/>
            <a:ext cx="2966618" cy="320040"/>
          </a:xfrm>
          <a:prstGeom prst="rect">
            <a:avLst/>
          </a:prstGeom>
          <a:noFill/>
        </p:spPr>
        <p:txBody>
          <a:bodyPr wrap="square" lIns="0" rIns="0" tIns="0" bIns="0" anchor="t">
            <a:noAutofit/>
          </a:bodyPr>
          <a:lstStyle/>
          <a:p>
            <a:pPr algn="l">
              <a:lnSpc>
                <a:spcPts val="1920"/>
              </a:lnSpc>
              <a:spcBef>
                <a:spcPts val="0"/>
              </a:spcBef>
              <a:spcAft>
                <a:spcPts val="0"/>
              </a:spcAft>
              <a:buNone/>
            </a:pPr>
            <a:r>
              <a:rPr sz="1600" b="1" i="0">
                <a:solidFill>
                  <a:srgbClr val="F4F6F2"/>
                </a:solidFill>
                <a:latin typeface="Arial"/>
              </a:rPr>
              <a:t>Engineering practice</a:t>
            </a:r>
          </a:p>
        </p:txBody>
      </p:sp>
      <p:sp>
        <p:nvSpPr>
          <p:cNvPr id="15" name="TextBox 14"/>
          <p:cNvSpPr txBox="1"/>
          <p:nvPr/>
        </p:nvSpPr>
        <p:spPr>
          <a:xfrm>
            <a:off x="8402116" y="2011680"/>
            <a:ext cx="2966618" cy="2468880"/>
          </a:xfrm>
          <a:prstGeom prst="rect">
            <a:avLst/>
          </a:prstGeom>
          <a:noFill/>
        </p:spPr>
        <p:txBody>
          <a:bodyPr wrap="square" lIns="0" rIns="0" tIns="0" bIns="0" anchor="t">
            <a:noAutofit/>
          </a:bodyPr>
          <a:lstStyle/>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17 automated tests (node:test): storage, CSV escaping, encryption, visit brief</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GitHub Actions CI for web and iOS builds</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Release gate: manual dispatch + version-matching tag</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Docs: encryption, safety flow, accessibility, roadmap</a:t>
            </a:r>
          </a:p>
          <a:p>
            <a:pPr algn="l" marL="219456" indent="-219456">
              <a:lnSpc>
                <a:spcPts val="1403"/>
              </a:lnSpc>
              <a:spcBef>
                <a:spcPts val="0"/>
              </a:spcBef>
              <a:spcAft>
                <a:spcPts val="400"/>
              </a:spcAft>
              <a:buClr>
                <a:srgbClr val="9FC1AA"/>
              </a:buClr>
              <a:buFont typeface="Arial"/>
              <a:buChar char="•"/>
            </a:pPr>
            <a:r>
              <a:rPr sz="1150" b="0" i="0">
                <a:solidFill>
                  <a:srgbClr val="C3CEC4"/>
                </a:solidFill>
                <a:latin typeface="Arial"/>
              </a:rPr>
              <a:t>Honest-labeling rules enforced in code, not copy</a:t>
            </a:r>
          </a:p>
        </p:txBody>
      </p:sp>
      <p:sp>
        <p:nvSpPr>
          <p:cNvPr id="16" name="Rounded Rectangle 15"/>
          <p:cNvSpPr/>
          <p:nvPr/>
        </p:nvSpPr>
        <p:spPr>
          <a:xfrm>
            <a:off x="548640" y="4754880"/>
            <a:ext cx="1696669" cy="1371600"/>
          </a:xfrm>
          <a:prstGeom prst="roundRect">
            <a:avLst>
              <a:gd name="adj" fmla="val 10666"/>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4864608"/>
            <a:ext cx="1696669" cy="594360"/>
          </a:xfrm>
          <a:prstGeom prst="rect">
            <a:avLst/>
          </a:prstGeom>
          <a:noFill/>
        </p:spPr>
        <p:txBody>
          <a:bodyPr wrap="square" lIns="0" rIns="0" tIns="0" bIns="0" anchor="ctr">
            <a:noAutofit/>
          </a:bodyPr>
          <a:lstStyle/>
          <a:p>
            <a:pPr algn="ctr">
              <a:lnSpc>
                <a:spcPts val="3120"/>
              </a:lnSpc>
              <a:spcBef>
                <a:spcPts val="0"/>
              </a:spcBef>
              <a:spcAft>
                <a:spcPts val="0"/>
              </a:spcAft>
              <a:buNone/>
            </a:pPr>
            <a:r>
              <a:rPr sz="2600" b="1" i="0">
                <a:solidFill>
                  <a:srgbClr val="9FC1AA"/>
                </a:solidFill>
                <a:latin typeface="Arial"/>
              </a:rPr>
              <a:t>11,400+</a:t>
            </a:r>
          </a:p>
        </p:txBody>
      </p:sp>
      <p:sp>
        <p:nvSpPr>
          <p:cNvPr id="18" name="TextBox 17"/>
          <p:cNvSpPr txBox="1"/>
          <p:nvPr/>
        </p:nvSpPr>
        <p:spPr>
          <a:xfrm>
            <a:off x="640080" y="5486400"/>
            <a:ext cx="1513789" cy="548640"/>
          </a:xfrm>
          <a:prstGeom prst="rect">
            <a:avLst/>
          </a:prstGeom>
          <a:noFill/>
        </p:spPr>
        <p:txBody>
          <a:bodyPr wrap="square" lIns="0" rIns="0" tIns="0" bIns="0" anchor="t">
            <a:noAutofit/>
          </a:bodyPr>
          <a:lstStyle/>
          <a:p>
            <a:pPr algn="ctr">
              <a:lnSpc>
                <a:spcPts val="1207"/>
              </a:lnSpc>
              <a:spcBef>
                <a:spcPts val="0"/>
              </a:spcBef>
              <a:spcAft>
                <a:spcPts val="0"/>
              </a:spcAft>
              <a:buNone/>
            </a:pPr>
            <a:r>
              <a:rPr sz="1050" b="0" i="0">
                <a:solidFill>
                  <a:srgbClr val="A2B0A3"/>
                </a:solidFill>
                <a:latin typeface="Arial"/>
              </a:rPr>
              <a:t>lines of source</a:t>
            </a:r>
          </a:p>
        </p:txBody>
      </p:sp>
      <p:sp>
        <p:nvSpPr>
          <p:cNvPr id="19" name="Rounded Rectangle 18"/>
          <p:cNvSpPr/>
          <p:nvPr/>
        </p:nvSpPr>
        <p:spPr>
          <a:xfrm>
            <a:off x="2428189" y="4754880"/>
            <a:ext cx="1696669" cy="1371600"/>
          </a:xfrm>
          <a:prstGeom prst="roundRect">
            <a:avLst>
              <a:gd name="adj" fmla="val 10666"/>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428189" y="4864608"/>
            <a:ext cx="1696669" cy="594360"/>
          </a:xfrm>
          <a:prstGeom prst="rect">
            <a:avLst/>
          </a:prstGeom>
          <a:noFill/>
        </p:spPr>
        <p:txBody>
          <a:bodyPr wrap="square" lIns="0" rIns="0" tIns="0" bIns="0" anchor="ctr">
            <a:noAutofit/>
          </a:bodyPr>
          <a:lstStyle/>
          <a:p>
            <a:pPr algn="ctr">
              <a:lnSpc>
                <a:spcPts val="3120"/>
              </a:lnSpc>
              <a:spcBef>
                <a:spcPts val="0"/>
              </a:spcBef>
              <a:spcAft>
                <a:spcPts val="0"/>
              </a:spcAft>
              <a:buNone/>
            </a:pPr>
            <a:r>
              <a:rPr sz="2600" b="1" i="0">
                <a:solidFill>
                  <a:srgbClr val="9FC1AA"/>
                </a:solidFill>
                <a:latin typeface="Arial"/>
              </a:rPr>
              <a:t>7,741</a:t>
            </a:r>
          </a:p>
        </p:txBody>
      </p:sp>
      <p:sp>
        <p:nvSpPr>
          <p:cNvPr id="21" name="TextBox 20"/>
          <p:cNvSpPr txBox="1"/>
          <p:nvPr/>
        </p:nvSpPr>
        <p:spPr>
          <a:xfrm>
            <a:off x="2519629" y="5486400"/>
            <a:ext cx="1513789" cy="548640"/>
          </a:xfrm>
          <a:prstGeom prst="rect">
            <a:avLst/>
          </a:prstGeom>
          <a:noFill/>
        </p:spPr>
        <p:txBody>
          <a:bodyPr wrap="square" lIns="0" rIns="0" tIns="0" bIns="0" anchor="t">
            <a:noAutofit/>
          </a:bodyPr>
          <a:lstStyle/>
          <a:p>
            <a:pPr algn="ctr">
              <a:lnSpc>
                <a:spcPts val="1207"/>
              </a:lnSpc>
              <a:spcBef>
                <a:spcPts val="0"/>
              </a:spcBef>
              <a:spcAft>
                <a:spcPts val="0"/>
              </a:spcAft>
              <a:buNone/>
            </a:pPr>
            <a:r>
              <a:rPr sz="1050" b="0" i="0">
                <a:solidFill>
                  <a:srgbClr val="A2B0A3"/>
                </a:solidFill>
                <a:latin typeface="Arial"/>
              </a:rPr>
              <a:t>Swift · 32 files</a:t>
            </a:r>
          </a:p>
        </p:txBody>
      </p:sp>
      <p:sp>
        <p:nvSpPr>
          <p:cNvPr id="22" name="Rounded Rectangle 21"/>
          <p:cNvSpPr/>
          <p:nvPr/>
        </p:nvSpPr>
        <p:spPr>
          <a:xfrm>
            <a:off x="4307738" y="4754880"/>
            <a:ext cx="1696669" cy="1371600"/>
          </a:xfrm>
          <a:prstGeom prst="roundRect">
            <a:avLst>
              <a:gd name="adj" fmla="val 10666"/>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07738" y="4864608"/>
            <a:ext cx="1696669" cy="594360"/>
          </a:xfrm>
          <a:prstGeom prst="rect">
            <a:avLst/>
          </a:prstGeom>
          <a:noFill/>
        </p:spPr>
        <p:txBody>
          <a:bodyPr wrap="square" lIns="0" rIns="0" tIns="0" bIns="0" anchor="ctr">
            <a:noAutofit/>
          </a:bodyPr>
          <a:lstStyle/>
          <a:p>
            <a:pPr algn="ctr">
              <a:lnSpc>
                <a:spcPts val="3120"/>
              </a:lnSpc>
              <a:spcBef>
                <a:spcPts val="0"/>
              </a:spcBef>
              <a:spcAft>
                <a:spcPts val="0"/>
              </a:spcAft>
              <a:buNone/>
            </a:pPr>
            <a:r>
              <a:rPr sz="2600" b="1" i="0">
                <a:solidFill>
                  <a:srgbClr val="9FC1AA"/>
                </a:solidFill>
                <a:latin typeface="Arial"/>
              </a:rPr>
              <a:t>3,420</a:t>
            </a:r>
          </a:p>
        </p:txBody>
      </p:sp>
      <p:sp>
        <p:nvSpPr>
          <p:cNvPr id="24" name="TextBox 23"/>
          <p:cNvSpPr txBox="1"/>
          <p:nvPr/>
        </p:nvSpPr>
        <p:spPr>
          <a:xfrm>
            <a:off x="4399178" y="5486400"/>
            <a:ext cx="1513789" cy="548640"/>
          </a:xfrm>
          <a:prstGeom prst="rect">
            <a:avLst/>
          </a:prstGeom>
          <a:noFill/>
        </p:spPr>
        <p:txBody>
          <a:bodyPr wrap="square" lIns="0" rIns="0" tIns="0" bIns="0" anchor="t">
            <a:noAutofit/>
          </a:bodyPr>
          <a:lstStyle/>
          <a:p>
            <a:pPr algn="ctr">
              <a:lnSpc>
                <a:spcPts val="1207"/>
              </a:lnSpc>
              <a:spcBef>
                <a:spcPts val="0"/>
              </a:spcBef>
              <a:spcAft>
                <a:spcPts val="0"/>
              </a:spcAft>
              <a:buNone/>
            </a:pPr>
            <a:r>
              <a:rPr sz="1050" b="0" i="0">
                <a:solidFill>
                  <a:srgbClr val="A2B0A3"/>
                </a:solidFill>
                <a:latin typeface="Arial"/>
              </a:rPr>
              <a:t>JS / JSX / CSS</a:t>
            </a:r>
          </a:p>
        </p:txBody>
      </p:sp>
      <p:sp>
        <p:nvSpPr>
          <p:cNvPr id="25" name="Rounded Rectangle 24"/>
          <p:cNvSpPr/>
          <p:nvPr/>
        </p:nvSpPr>
        <p:spPr>
          <a:xfrm>
            <a:off x="6187287" y="4754880"/>
            <a:ext cx="1696669" cy="1371600"/>
          </a:xfrm>
          <a:prstGeom prst="roundRect">
            <a:avLst>
              <a:gd name="adj" fmla="val 10666"/>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187287" y="4864608"/>
            <a:ext cx="1696669" cy="594360"/>
          </a:xfrm>
          <a:prstGeom prst="rect">
            <a:avLst/>
          </a:prstGeom>
          <a:noFill/>
        </p:spPr>
        <p:txBody>
          <a:bodyPr wrap="square" lIns="0" rIns="0" tIns="0" bIns="0" anchor="ctr">
            <a:noAutofit/>
          </a:bodyPr>
          <a:lstStyle/>
          <a:p>
            <a:pPr algn="ctr">
              <a:lnSpc>
                <a:spcPts val="3120"/>
              </a:lnSpc>
              <a:spcBef>
                <a:spcPts val="0"/>
              </a:spcBef>
              <a:spcAft>
                <a:spcPts val="0"/>
              </a:spcAft>
              <a:buNone/>
            </a:pPr>
            <a:r>
              <a:rPr sz="2600" b="1" i="0">
                <a:solidFill>
                  <a:srgbClr val="9FC1AA"/>
                </a:solidFill>
                <a:latin typeface="Arial"/>
              </a:rPr>
              <a:t>17 / 17</a:t>
            </a:r>
          </a:p>
        </p:txBody>
      </p:sp>
      <p:sp>
        <p:nvSpPr>
          <p:cNvPr id="27" name="TextBox 26"/>
          <p:cNvSpPr txBox="1"/>
          <p:nvPr/>
        </p:nvSpPr>
        <p:spPr>
          <a:xfrm>
            <a:off x="6278727" y="5486400"/>
            <a:ext cx="1513789" cy="548640"/>
          </a:xfrm>
          <a:prstGeom prst="rect">
            <a:avLst/>
          </a:prstGeom>
          <a:noFill/>
        </p:spPr>
        <p:txBody>
          <a:bodyPr wrap="square" lIns="0" rIns="0" tIns="0" bIns="0" anchor="t">
            <a:noAutofit/>
          </a:bodyPr>
          <a:lstStyle/>
          <a:p>
            <a:pPr algn="ctr">
              <a:lnSpc>
                <a:spcPts val="1207"/>
              </a:lnSpc>
              <a:spcBef>
                <a:spcPts val="0"/>
              </a:spcBef>
              <a:spcAft>
                <a:spcPts val="0"/>
              </a:spcAft>
              <a:buNone/>
            </a:pPr>
            <a:r>
              <a:rPr sz="1050" b="0" i="0">
                <a:solidFill>
                  <a:srgbClr val="A2B0A3"/>
                </a:solidFill>
                <a:latin typeface="Arial"/>
              </a:rPr>
              <a:t>tests passing</a:t>
            </a:r>
          </a:p>
        </p:txBody>
      </p:sp>
      <p:sp>
        <p:nvSpPr>
          <p:cNvPr id="28" name="Rounded Rectangle 27"/>
          <p:cNvSpPr/>
          <p:nvPr/>
        </p:nvSpPr>
        <p:spPr>
          <a:xfrm>
            <a:off x="8066836" y="4754880"/>
            <a:ext cx="1696669" cy="1371600"/>
          </a:xfrm>
          <a:prstGeom prst="roundRect">
            <a:avLst>
              <a:gd name="adj" fmla="val 10666"/>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066836" y="4864608"/>
            <a:ext cx="1696669" cy="594360"/>
          </a:xfrm>
          <a:prstGeom prst="rect">
            <a:avLst/>
          </a:prstGeom>
          <a:noFill/>
        </p:spPr>
        <p:txBody>
          <a:bodyPr wrap="square" lIns="0" rIns="0" tIns="0" bIns="0" anchor="ctr">
            <a:noAutofit/>
          </a:bodyPr>
          <a:lstStyle/>
          <a:p>
            <a:pPr algn="ctr">
              <a:lnSpc>
                <a:spcPts val="3120"/>
              </a:lnSpc>
              <a:spcBef>
                <a:spcPts val="0"/>
              </a:spcBef>
              <a:spcAft>
                <a:spcPts val="0"/>
              </a:spcAft>
              <a:buNone/>
            </a:pPr>
            <a:r>
              <a:rPr sz="2600" b="1" i="0">
                <a:solidFill>
                  <a:srgbClr val="9FC1AA"/>
                </a:solidFill>
                <a:latin typeface="Arial"/>
              </a:rPr>
              <a:t>2</a:t>
            </a:r>
          </a:p>
        </p:txBody>
      </p:sp>
      <p:sp>
        <p:nvSpPr>
          <p:cNvPr id="30" name="TextBox 29"/>
          <p:cNvSpPr txBox="1"/>
          <p:nvPr/>
        </p:nvSpPr>
        <p:spPr>
          <a:xfrm>
            <a:off x="8158276" y="5486400"/>
            <a:ext cx="1513789" cy="548640"/>
          </a:xfrm>
          <a:prstGeom prst="rect">
            <a:avLst/>
          </a:prstGeom>
          <a:noFill/>
        </p:spPr>
        <p:txBody>
          <a:bodyPr wrap="square" lIns="0" rIns="0" tIns="0" bIns="0" anchor="t">
            <a:noAutofit/>
          </a:bodyPr>
          <a:lstStyle/>
          <a:p>
            <a:pPr algn="ctr">
              <a:lnSpc>
                <a:spcPts val="1207"/>
              </a:lnSpc>
              <a:spcBef>
                <a:spcPts val="0"/>
              </a:spcBef>
              <a:spcAft>
                <a:spcPts val="0"/>
              </a:spcAft>
              <a:buNone/>
            </a:pPr>
            <a:r>
              <a:rPr sz="1050" b="0" i="0">
                <a:solidFill>
                  <a:srgbClr val="A2B0A3"/>
                </a:solidFill>
                <a:latin typeface="Arial"/>
              </a:rPr>
              <a:t>CI workflows</a:t>
            </a:r>
          </a:p>
        </p:txBody>
      </p:sp>
      <p:sp>
        <p:nvSpPr>
          <p:cNvPr id="31" name="Rounded Rectangle 30"/>
          <p:cNvSpPr/>
          <p:nvPr/>
        </p:nvSpPr>
        <p:spPr>
          <a:xfrm>
            <a:off x="9946386" y="4754880"/>
            <a:ext cx="1696669" cy="1371600"/>
          </a:xfrm>
          <a:prstGeom prst="roundRect">
            <a:avLst>
              <a:gd name="adj" fmla="val 10666"/>
            </a:avLst>
          </a:prstGeom>
          <a:solidFill>
            <a:srgbClr val="28352C"/>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946386" y="4864608"/>
            <a:ext cx="1696669" cy="594360"/>
          </a:xfrm>
          <a:prstGeom prst="rect">
            <a:avLst/>
          </a:prstGeom>
          <a:noFill/>
        </p:spPr>
        <p:txBody>
          <a:bodyPr wrap="square" lIns="0" rIns="0" tIns="0" bIns="0" anchor="ctr">
            <a:noAutofit/>
          </a:bodyPr>
          <a:lstStyle/>
          <a:p>
            <a:pPr algn="ctr">
              <a:lnSpc>
                <a:spcPts val="3120"/>
              </a:lnSpc>
              <a:spcBef>
                <a:spcPts val="0"/>
              </a:spcBef>
              <a:spcAft>
                <a:spcPts val="0"/>
              </a:spcAft>
              <a:buNone/>
            </a:pPr>
            <a:r>
              <a:rPr sz="2600" b="1" i="0">
                <a:solidFill>
                  <a:srgbClr val="F0B23A"/>
                </a:solidFill>
                <a:latin typeface="Arial"/>
              </a:rPr>
              <a:t>0</a:t>
            </a:r>
          </a:p>
        </p:txBody>
      </p:sp>
      <p:sp>
        <p:nvSpPr>
          <p:cNvPr id="33" name="TextBox 32"/>
          <p:cNvSpPr txBox="1"/>
          <p:nvPr/>
        </p:nvSpPr>
        <p:spPr>
          <a:xfrm>
            <a:off x="10037826" y="5486400"/>
            <a:ext cx="1513789" cy="548640"/>
          </a:xfrm>
          <a:prstGeom prst="rect">
            <a:avLst/>
          </a:prstGeom>
          <a:noFill/>
        </p:spPr>
        <p:txBody>
          <a:bodyPr wrap="square" lIns="0" rIns="0" tIns="0" bIns="0" anchor="t">
            <a:noAutofit/>
          </a:bodyPr>
          <a:lstStyle/>
          <a:p>
            <a:pPr algn="ctr">
              <a:lnSpc>
                <a:spcPts val="1207"/>
              </a:lnSpc>
              <a:spcBef>
                <a:spcPts val="0"/>
              </a:spcBef>
              <a:spcAft>
                <a:spcPts val="0"/>
              </a:spcAft>
              <a:buNone/>
            </a:pPr>
            <a:r>
              <a:rPr sz="1050" b="0" i="0">
                <a:solidFill>
                  <a:srgbClr val="A2B0A3"/>
                </a:solidFill>
                <a:latin typeface="Arial"/>
              </a:rPr>
              <a:t>servers · accounts · trackers</a:t>
            </a:r>
          </a:p>
        </p:txBody>
      </p:sp>
      <p:sp>
        <p:nvSpPr>
          <p:cNvPr id="34" name="TextBox 33"/>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35" name="TextBox 34"/>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TECHNICAL CHALLENGES</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311"/>
              </a:lnSpc>
              <a:spcBef>
                <a:spcPts val="0"/>
              </a:spcBef>
              <a:spcAft>
                <a:spcPts val="0"/>
              </a:spcAft>
              <a:buNone/>
            </a:pPr>
            <a:r>
              <a:rPr sz="2750" b="1" i="0">
                <a:solidFill>
                  <a:srgbClr val="F4F6F2"/>
                </a:solidFill>
                <a:latin typeface="Arial"/>
              </a:rPr>
              <a:t>Four problems that took the longest — and how I solved them</a:t>
            </a:r>
          </a:p>
        </p:txBody>
      </p:sp>
      <p:sp>
        <p:nvSpPr>
          <p:cNvPr id="4" name="Rounded Rectangle 3"/>
          <p:cNvSpPr/>
          <p:nvPr/>
        </p:nvSpPr>
        <p:spPr>
          <a:xfrm>
            <a:off x="548640" y="1371600"/>
            <a:ext cx="5410047" cy="2286000"/>
          </a:xfrm>
          <a:prstGeom prst="roundRect">
            <a:avLst>
              <a:gd name="adj" fmla="val 6400"/>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749808" y="1362456"/>
            <a:ext cx="5007711" cy="64008"/>
          </a:xfrm>
          <a:prstGeom prst="roundRect">
            <a:avLst>
              <a:gd name="adj" fmla="val 50000"/>
            </a:avLst>
          </a:prstGeom>
          <a:solidFill>
            <a:srgbClr val="9FC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00200"/>
            <a:ext cx="4952847" cy="228600"/>
          </a:xfrm>
          <a:prstGeom prst="rect">
            <a:avLst/>
          </a:prstGeom>
          <a:noFill/>
        </p:spPr>
        <p:txBody>
          <a:bodyPr wrap="square" lIns="0" rIns="0" tIns="0" bIns="0" anchor="t">
            <a:noAutofit/>
          </a:bodyPr>
          <a:lstStyle/>
          <a:p>
            <a:pPr algn="l">
              <a:lnSpc>
                <a:spcPts val="1140"/>
              </a:lnSpc>
              <a:spcBef>
                <a:spcPts val="0"/>
              </a:spcBef>
              <a:spcAft>
                <a:spcPts val="0"/>
              </a:spcAft>
              <a:buNone/>
            </a:pPr>
            <a:r>
              <a:rPr sz="950" b="1" i="0">
                <a:solidFill>
                  <a:srgbClr val="9FC1AA"/>
                </a:solidFill>
                <a:latin typeface="Arial"/>
              </a:rPr>
              <a:t>CHALLENGE 1</a:t>
            </a:r>
          </a:p>
        </p:txBody>
      </p:sp>
      <p:sp>
        <p:nvSpPr>
          <p:cNvPr id="7" name="TextBox 6"/>
          <p:cNvSpPr txBox="1"/>
          <p:nvPr/>
        </p:nvSpPr>
        <p:spPr>
          <a:xfrm>
            <a:off x="777240" y="1847088"/>
            <a:ext cx="4952847" cy="731520"/>
          </a:xfrm>
          <a:prstGeom prst="rect">
            <a:avLst/>
          </a:prstGeom>
          <a:noFill/>
        </p:spPr>
        <p:txBody>
          <a:bodyPr wrap="square" lIns="0" rIns="0" tIns="0" bIns="0" anchor="t">
            <a:noAutofit/>
          </a:bodyPr>
          <a:lstStyle/>
          <a:p>
            <a:pPr algn="l">
              <a:lnSpc>
                <a:spcPts val="1725"/>
              </a:lnSpc>
              <a:spcBef>
                <a:spcPts val="0"/>
              </a:spcBef>
              <a:spcAft>
                <a:spcPts val="0"/>
              </a:spcAft>
              <a:buNone/>
            </a:pPr>
            <a:r>
              <a:rPr sz="1500" b="1" i="0">
                <a:solidFill>
                  <a:srgbClr val="F4F6F2"/>
                </a:solidFill>
                <a:latin typeface="Arial"/>
              </a:rPr>
              <a:t>Making Bluetooth honest</a:t>
            </a:r>
          </a:p>
        </p:txBody>
      </p:sp>
      <p:sp>
        <p:nvSpPr>
          <p:cNvPr id="8" name="TextBox 7"/>
          <p:cNvSpPr txBox="1"/>
          <p:nvPr/>
        </p:nvSpPr>
        <p:spPr>
          <a:xfrm>
            <a:off x="777240" y="2231136"/>
            <a:ext cx="4952847" cy="1243584"/>
          </a:xfrm>
          <a:prstGeom prst="rect">
            <a:avLst/>
          </a:prstGeom>
          <a:noFill/>
        </p:spPr>
        <p:txBody>
          <a:bodyPr wrap="square" lIns="0" rIns="0" tIns="0" bIns="0" anchor="t">
            <a:noAutofit/>
          </a:bodyPr>
          <a:lstStyle/>
          <a:p>
            <a:pPr algn="l">
              <a:lnSpc>
                <a:spcPts val="1439"/>
              </a:lnSpc>
              <a:spcBef>
                <a:spcPts val="0"/>
              </a:spcBef>
              <a:spcAft>
                <a:spcPts val="0"/>
              </a:spcAft>
              <a:buNone/>
            </a:pPr>
            <a:r>
              <a:rPr sz="1150" b="0" i="0">
                <a:solidFill>
                  <a:srgbClr val="C3CEC4"/>
                </a:solidFill>
                <a:latin typeface="Arial"/>
              </a:rPr>
              <a:t>Web Bluetooth delivers GATT notifications asynchronously, so a cancelled pairing or a late callback from an old sensor could leave misleading numbers on screen. I parse the Heart Rate flags byte (8- vs 16-bit BPM), tag each sample LIVE BLE or SIMULATED at the source, and keep a connection </a:t>
            </a:r>
            <a:r>
              <a:rPr sz="1150" b="1" i="0">
                <a:solidFill>
                  <a:srgbClr val="F4F6F2"/>
                </a:solidFill>
                <a:latin typeface="Arial"/>
              </a:rPr>
              <a:t>generation counter</a:t>
            </a:r>
            <a:r>
              <a:rPr sz="1150" b="0" i="0">
                <a:solidFill>
                  <a:srgbClr val="C3CEC4"/>
                </a:solidFill>
                <a:latin typeface="Arial"/>
              </a:rPr>
              <a:t> so stale notifications are dropped. Cancelling the chooser never starts a demo stream.</a:t>
            </a:r>
          </a:p>
        </p:txBody>
      </p:sp>
      <p:sp>
        <p:nvSpPr>
          <p:cNvPr id="9" name="Rounded Rectangle 8"/>
          <p:cNvSpPr/>
          <p:nvPr/>
        </p:nvSpPr>
        <p:spPr>
          <a:xfrm>
            <a:off x="6233007" y="1371600"/>
            <a:ext cx="5410047" cy="2286000"/>
          </a:xfrm>
          <a:prstGeom prst="roundRect">
            <a:avLst>
              <a:gd name="adj" fmla="val 6400"/>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34175" y="1362456"/>
            <a:ext cx="5007711" cy="64008"/>
          </a:xfrm>
          <a:prstGeom prst="roundRect">
            <a:avLst>
              <a:gd name="adj" fmla="val 50000"/>
            </a:avLst>
          </a:prstGeom>
          <a:solidFill>
            <a:srgbClr val="5EB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61607" y="1600200"/>
            <a:ext cx="4952847" cy="228600"/>
          </a:xfrm>
          <a:prstGeom prst="rect">
            <a:avLst/>
          </a:prstGeom>
          <a:noFill/>
        </p:spPr>
        <p:txBody>
          <a:bodyPr wrap="square" lIns="0" rIns="0" tIns="0" bIns="0" anchor="t">
            <a:noAutofit/>
          </a:bodyPr>
          <a:lstStyle/>
          <a:p>
            <a:pPr algn="l">
              <a:lnSpc>
                <a:spcPts val="1140"/>
              </a:lnSpc>
              <a:spcBef>
                <a:spcPts val="0"/>
              </a:spcBef>
              <a:spcAft>
                <a:spcPts val="0"/>
              </a:spcAft>
              <a:buNone/>
            </a:pPr>
            <a:r>
              <a:rPr sz="950" b="1" i="0">
                <a:solidFill>
                  <a:srgbClr val="5EB3E6"/>
                </a:solidFill>
                <a:latin typeface="Arial"/>
              </a:rPr>
              <a:t>CHALLENGE 2</a:t>
            </a:r>
          </a:p>
        </p:txBody>
      </p:sp>
      <p:sp>
        <p:nvSpPr>
          <p:cNvPr id="12" name="TextBox 11"/>
          <p:cNvSpPr txBox="1"/>
          <p:nvPr/>
        </p:nvSpPr>
        <p:spPr>
          <a:xfrm>
            <a:off x="6461607" y="1847088"/>
            <a:ext cx="4952847" cy="731520"/>
          </a:xfrm>
          <a:prstGeom prst="rect">
            <a:avLst/>
          </a:prstGeom>
          <a:noFill/>
        </p:spPr>
        <p:txBody>
          <a:bodyPr wrap="square" lIns="0" rIns="0" tIns="0" bIns="0" anchor="t">
            <a:noAutofit/>
          </a:bodyPr>
          <a:lstStyle/>
          <a:p>
            <a:pPr algn="l">
              <a:lnSpc>
                <a:spcPts val="1725"/>
              </a:lnSpc>
              <a:spcBef>
                <a:spcPts val="0"/>
              </a:spcBef>
              <a:spcAft>
                <a:spcPts val="0"/>
              </a:spcAft>
              <a:buNone/>
            </a:pPr>
            <a:r>
              <a:rPr sz="1500" b="1" i="0">
                <a:solidFill>
                  <a:srgbClr val="F4F6F2"/>
                </a:solidFill>
                <a:latin typeface="Arial"/>
              </a:rPr>
              <a:t>Encrypting data inside a browser</a:t>
            </a:r>
          </a:p>
        </p:txBody>
      </p:sp>
      <p:sp>
        <p:nvSpPr>
          <p:cNvPr id="13" name="TextBox 12"/>
          <p:cNvSpPr txBox="1"/>
          <p:nvPr/>
        </p:nvSpPr>
        <p:spPr>
          <a:xfrm>
            <a:off x="6461607" y="2231136"/>
            <a:ext cx="4952847" cy="1243584"/>
          </a:xfrm>
          <a:prstGeom prst="rect">
            <a:avLst/>
          </a:prstGeom>
          <a:noFill/>
        </p:spPr>
        <p:txBody>
          <a:bodyPr wrap="square" lIns="0" rIns="0" tIns="0" bIns="0" anchor="t">
            <a:noAutofit/>
          </a:bodyPr>
          <a:lstStyle/>
          <a:p>
            <a:pPr algn="l">
              <a:lnSpc>
                <a:spcPts val="1500"/>
              </a:lnSpc>
              <a:spcBef>
                <a:spcPts val="0"/>
              </a:spcBef>
              <a:spcAft>
                <a:spcPts val="0"/>
              </a:spcAft>
              <a:buNone/>
            </a:pPr>
            <a:r>
              <a:rPr sz="1200" b="0" i="0">
                <a:solidFill>
                  <a:srgbClr val="C3CEC4"/>
                </a:solidFill>
                <a:latin typeface="Arial"/>
              </a:rPr>
              <a:t>localStorage is plaintext. I rebuilt storage on </a:t>
            </a:r>
            <a:r>
              <a:rPr sz="1200" b="1" i="0">
                <a:solidFill>
                  <a:srgbClr val="F4F6F2"/>
                </a:solidFill>
                <a:latin typeface="Arial"/>
              </a:rPr>
              <a:t>AES-256-GCM via Web Crypto with a non-extractable key</a:t>
            </a:r>
            <a:r>
              <a:rPr sz="1200" b="0" i="0">
                <a:solidFill>
                  <a:srgbClr val="C3CEC4"/>
                </a:solidFill>
                <a:latin typeface="Arial"/>
              </a:rPr>
              <a:t> kept in IndexedDB and authenticated data bound to the store name, then wrote a migration that decrypts legacy JSON, re-encrypts it and deletes the plaintext. node:test covers round-trips, tampered ciphertext and weak-key rejection.</a:t>
            </a:r>
          </a:p>
        </p:txBody>
      </p:sp>
      <p:sp>
        <p:nvSpPr>
          <p:cNvPr id="14" name="Rounded Rectangle 13"/>
          <p:cNvSpPr/>
          <p:nvPr/>
        </p:nvSpPr>
        <p:spPr>
          <a:xfrm>
            <a:off x="548640" y="3840480"/>
            <a:ext cx="5410047" cy="2286000"/>
          </a:xfrm>
          <a:prstGeom prst="roundRect">
            <a:avLst>
              <a:gd name="adj" fmla="val 6400"/>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749808" y="3831336"/>
            <a:ext cx="5007711" cy="64008"/>
          </a:xfrm>
          <a:prstGeom prst="roundRect">
            <a:avLst>
              <a:gd name="adj" fmla="val 50000"/>
            </a:avLst>
          </a:prstGeom>
          <a:solidFill>
            <a:srgbClr val="A08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 y="4069080"/>
            <a:ext cx="4952847" cy="228600"/>
          </a:xfrm>
          <a:prstGeom prst="rect">
            <a:avLst/>
          </a:prstGeom>
          <a:noFill/>
        </p:spPr>
        <p:txBody>
          <a:bodyPr wrap="square" lIns="0" rIns="0" tIns="0" bIns="0" anchor="t">
            <a:noAutofit/>
          </a:bodyPr>
          <a:lstStyle/>
          <a:p>
            <a:pPr algn="l">
              <a:lnSpc>
                <a:spcPts val="1140"/>
              </a:lnSpc>
              <a:spcBef>
                <a:spcPts val="0"/>
              </a:spcBef>
              <a:spcAft>
                <a:spcPts val="0"/>
              </a:spcAft>
              <a:buNone/>
            </a:pPr>
            <a:r>
              <a:rPr sz="950" b="1" i="0">
                <a:solidFill>
                  <a:srgbClr val="A08AE0"/>
                </a:solidFill>
                <a:latin typeface="Arial"/>
              </a:rPr>
              <a:t>CHALLENGE 3</a:t>
            </a:r>
          </a:p>
        </p:txBody>
      </p:sp>
      <p:sp>
        <p:nvSpPr>
          <p:cNvPr id="17" name="TextBox 16"/>
          <p:cNvSpPr txBox="1"/>
          <p:nvPr/>
        </p:nvSpPr>
        <p:spPr>
          <a:xfrm>
            <a:off x="777240" y="4315968"/>
            <a:ext cx="4952847" cy="731520"/>
          </a:xfrm>
          <a:prstGeom prst="rect">
            <a:avLst/>
          </a:prstGeom>
          <a:noFill/>
        </p:spPr>
        <p:txBody>
          <a:bodyPr wrap="square" lIns="0" rIns="0" tIns="0" bIns="0" anchor="t">
            <a:noAutofit/>
          </a:bodyPr>
          <a:lstStyle/>
          <a:p>
            <a:pPr algn="l">
              <a:lnSpc>
                <a:spcPts val="1725"/>
              </a:lnSpc>
              <a:spcBef>
                <a:spcPts val="0"/>
              </a:spcBef>
              <a:spcAft>
                <a:spcPts val="0"/>
              </a:spcAft>
              <a:buNone/>
            </a:pPr>
            <a:r>
              <a:rPr sz="1500" b="1" i="0">
                <a:solidFill>
                  <a:srgbClr val="F4F6F2"/>
                </a:solidFill>
                <a:latin typeface="Arial"/>
              </a:rPr>
              <a:t>Running a language model on an iPhone</a:t>
            </a:r>
          </a:p>
        </p:txBody>
      </p:sp>
      <p:sp>
        <p:nvSpPr>
          <p:cNvPr id="18" name="TextBox 17"/>
          <p:cNvSpPr txBox="1"/>
          <p:nvPr/>
        </p:nvSpPr>
        <p:spPr>
          <a:xfrm>
            <a:off x="777240" y="4700016"/>
            <a:ext cx="4952847" cy="1243583"/>
          </a:xfrm>
          <a:prstGeom prst="rect">
            <a:avLst/>
          </a:prstGeom>
          <a:noFill/>
        </p:spPr>
        <p:txBody>
          <a:bodyPr wrap="square" lIns="0" rIns="0" tIns="0" bIns="0" anchor="t">
            <a:noAutofit/>
          </a:bodyPr>
          <a:lstStyle/>
          <a:p>
            <a:pPr algn="l">
              <a:lnSpc>
                <a:spcPts val="1500"/>
              </a:lnSpc>
              <a:spcBef>
                <a:spcPts val="0"/>
              </a:spcBef>
              <a:spcAft>
                <a:spcPts val="0"/>
              </a:spcAft>
              <a:buNone/>
            </a:pPr>
            <a:r>
              <a:rPr sz="1200" b="0" i="0">
                <a:solidFill>
                  <a:srgbClr val="C3CEC4"/>
                </a:solidFill>
                <a:latin typeface="Arial"/>
              </a:rPr>
              <a:t>No cloud allowed. I integrated </a:t>
            </a:r>
            <a:r>
              <a:rPr sz="1200" b="1" i="0">
                <a:solidFill>
                  <a:srgbClr val="F4F6F2"/>
                </a:solidFill>
                <a:latin typeface="Arial"/>
              </a:rPr>
              <a:t>llama.cpp through LlamaSwift</a:t>
            </a:r>
            <a:r>
              <a:rPr sz="1200" b="0" i="0">
                <a:solidFill>
                  <a:srgbClr val="C3CEC4"/>
                </a:solidFill>
                <a:latin typeface="Arial"/>
              </a:rPr>
              <a:t>, picked Qwen2.5-1.5B Q4_K_M for memory headroom, built the exact ChatML prompt (a missing assistant-prefix newline produced empty answers), grew the token buffer safely, unload the Kokoro voice before loading the model, isolated inference in one actor and </a:t>
            </a:r>
            <a:r>
              <a:rPr sz="1200" b="1" i="0">
                <a:solidFill>
                  <a:srgbClr val="F4F6F2"/>
                </a:solidFill>
                <a:latin typeface="Arial"/>
              </a:rPr>
              <a:t>release the model after every answer</a:t>
            </a:r>
            <a:r>
              <a:rPr sz="1200" b="0" i="0">
                <a:solidFill>
                  <a:srgbClr val="C3CEC4"/>
                </a:solidFill>
                <a:latin typeface="Arial"/>
              </a:rPr>
              <a:t>.</a:t>
            </a:r>
          </a:p>
        </p:txBody>
      </p:sp>
      <p:sp>
        <p:nvSpPr>
          <p:cNvPr id="19" name="Rounded Rectangle 18"/>
          <p:cNvSpPr/>
          <p:nvPr/>
        </p:nvSpPr>
        <p:spPr>
          <a:xfrm>
            <a:off x="6233007" y="3840480"/>
            <a:ext cx="5410047" cy="2286000"/>
          </a:xfrm>
          <a:prstGeom prst="roundRect">
            <a:avLst>
              <a:gd name="adj" fmla="val 6400"/>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434175" y="3831336"/>
            <a:ext cx="5007711" cy="64008"/>
          </a:xfrm>
          <a:prstGeom prst="roundRect">
            <a:avLst>
              <a:gd name="adj" fmla="val 50000"/>
            </a:avLst>
          </a:prstGeom>
          <a:solidFill>
            <a:srgbClr val="F0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61607" y="4069080"/>
            <a:ext cx="4952847" cy="228600"/>
          </a:xfrm>
          <a:prstGeom prst="rect">
            <a:avLst/>
          </a:prstGeom>
          <a:noFill/>
        </p:spPr>
        <p:txBody>
          <a:bodyPr wrap="square" lIns="0" rIns="0" tIns="0" bIns="0" anchor="t">
            <a:noAutofit/>
          </a:bodyPr>
          <a:lstStyle/>
          <a:p>
            <a:pPr algn="l">
              <a:lnSpc>
                <a:spcPts val="1140"/>
              </a:lnSpc>
              <a:spcBef>
                <a:spcPts val="0"/>
              </a:spcBef>
              <a:spcAft>
                <a:spcPts val="0"/>
              </a:spcAft>
              <a:buNone/>
            </a:pPr>
            <a:r>
              <a:rPr sz="950" b="1" i="0">
                <a:solidFill>
                  <a:srgbClr val="F0B23A"/>
                </a:solidFill>
                <a:latin typeface="Arial"/>
              </a:rPr>
              <a:t>CHALLENGE 4</a:t>
            </a:r>
          </a:p>
        </p:txBody>
      </p:sp>
      <p:sp>
        <p:nvSpPr>
          <p:cNvPr id="22" name="TextBox 21"/>
          <p:cNvSpPr txBox="1"/>
          <p:nvPr/>
        </p:nvSpPr>
        <p:spPr>
          <a:xfrm>
            <a:off x="6461607" y="4315968"/>
            <a:ext cx="4952847" cy="731520"/>
          </a:xfrm>
          <a:prstGeom prst="rect">
            <a:avLst/>
          </a:prstGeom>
          <a:noFill/>
        </p:spPr>
        <p:txBody>
          <a:bodyPr wrap="square" lIns="0" rIns="0" tIns="0" bIns="0" anchor="t">
            <a:noAutofit/>
          </a:bodyPr>
          <a:lstStyle/>
          <a:p>
            <a:pPr algn="l">
              <a:lnSpc>
                <a:spcPts val="1725"/>
              </a:lnSpc>
              <a:spcBef>
                <a:spcPts val="0"/>
              </a:spcBef>
              <a:spcAft>
                <a:spcPts val="0"/>
              </a:spcAft>
              <a:buNone/>
            </a:pPr>
            <a:r>
              <a:rPr sz="1500" b="1" i="0">
                <a:solidFill>
                  <a:srgbClr val="F4F6F2"/>
                </a:solidFill>
                <a:latin typeface="Arial"/>
              </a:rPr>
              <a:t>Soundscapes without audio files</a:t>
            </a:r>
          </a:p>
        </p:txBody>
      </p:sp>
      <p:sp>
        <p:nvSpPr>
          <p:cNvPr id="23" name="TextBox 22"/>
          <p:cNvSpPr txBox="1"/>
          <p:nvPr/>
        </p:nvSpPr>
        <p:spPr>
          <a:xfrm>
            <a:off x="6461607" y="4700016"/>
            <a:ext cx="4952847" cy="1243583"/>
          </a:xfrm>
          <a:prstGeom prst="rect">
            <a:avLst/>
          </a:prstGeom>
          <a:noFill/>
        </p:spPr>
        <p:txBody>
          <a:bodyPr wrap="square" lIns="0" rIns="0" tIns="0" bIns="0" anchor="t">
            <a:noAutofit/>
          </a:bodyPr>
          <a:lstStyle/>
          <a:p>
            <a:pPr algn="l">
              <a:lnSpc>
                <a:spcPts val="1500"/>
              </a:lnSpc>
              <a:spcBef>
                <a:spcPts val="0"/>
              </a:spcBef>
              <a:spcAft>
                <a:spcPts val="0"/>
              </a:spcAft>
              <a:buNone/>
            </a:pPr>
            <a:r>
              <a:rPr sz="1200" b="0" i="0">
                <a:solidFill>
                  <a:srgbClr val="C3CEC4"/>
                </a:solidFill>
                <a:latin typeface="Arial"/>
              </a:rPr>
              <a:t>Bundled MP3s bloat a PWA and break offline use. Each scene is </a:t>
            </a:r>
            <a:r>
              <a:rPr sz="1200" b="1" i="0">
                <a:solidFill>
                  <a:srgbClr val="F4F6F2"/>
                </a:solidFill>
                <a:latin typeface="Arial"/>
              </a:rPr>
              <a:t>synthesized in Web Audio</a:t>
            </a:r>
            <a:r>
              <a:rPr sz="1200" b="0" i="0">
                <a:solidFill>
                  <a:srgbClr val="C3CEC4"/>
                </a:solidFill>
                <a:latin typeface="Arial"/>
              </a:rPr>
              <a:t>: noise buffers through high/low-pass filters, LFO-modulated gain for swells, and randomly scheduled oscillator chirps or band-passed bursts for birdsong and fire crackle — a few kilobytes of code that can play forever.</a:t>
            </a:r>
          </a:p>
        </p:txBody>
      </p:sp>
      <p:sp>
        <p:nvSpPr>
          <p:cNvPr id="24" name="TextBox 23"/>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25" name="TextBox 24"/>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WHAT MAKES IT DIFFERENT</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023"/>
              </a:lnSpc>
              <a:spcBef>
                <a:spcPts val="0"/>
              </a:spcBef>
              <a:spcAft>
                <a:spcPts val="0"/>
              </a:spcAft>
              <a:buNone/>
            </a:pPr>
            <a:r>
              <a:rPr sz="2500" b="1" i="0">
                <a:solidFill>
                  <a:srgbClr val="F4F6F2"/>
                </a:solidFill>
                <a:latin typeface="Arial"/>
              </a:rPr>
              <a:t>Complements the tools families already use — and refuses to pretend</a:t>
            </a:r>
          </a:p>
        </p:txBody>
      </p:sp>
      <p:sp>
        <p:nvSpPr>
          <p:cNvPr id="4" name="TextBox 3"/>
          <p:cNvSpPr txBox="1"/>
          <p:nvPr/>
        </p:nvSpPr>
        <p:spPr>
          <a:xfrm>
            <a:off x="2286000" y="1325880"/>
            <a:ext cx="4389120" cy="274320"/>
          </a:xfrm>
          <a:prstGeom prst="rect">
            <a:avLst/>
          </a:prstGeom>
          <a:noFill/>
        </p:spPr>
        <p:txBody>
          <a:bodyPr wrap="square" lIns="0" rIns="0" tIns="0" bIns="0" anchor="t">
            <a:noAutofit/>
          </a:bodyPr>
          <a:lstStyle/>
          <a:p>
            <a:pPr algn="l">
              <a:lnSpc>
                <a:spcPts val="1200"/>
              </a:lnSpc>
              <a:spcBef>
                <a:spcPts val="0"/>
              </a:spcBef>
              <a:spcAft>
                <a:spcPts val="0"/>
              </a:spcAft>
              <a:buNone/>
            </a:pPr>
            <a:r>
              <a:rPr sz="1000" b="1" i="0">
                <a:solidFill>
                  <a:srgbClr val="A2B0A3"/>
                </a:solidFill>
                <a:latin typeface="Arial"/>
              </a:rPr>
              <a:t>WHAT IT DOES</a:t>
            </a:r>
          </a:p>
        </p:txBody>
      </p:sp>
      <p:sp>
        <p:nvSpPr>
          <p:cNvPr id="5" name="TextBox 4"/>
          <p:cNvSpPr txBox="1"/>
          <p:nvPr/>
        </p:nvSpPr>
        <p:spPr>
          <a:xfrm>
            <a:off x="6949440" y="1325880"/>
            <a:ext cx="4693615" cy="274320"/>
          </a:xfrm>
          <a:prstGeom prst="rect">
            <a:avLst/>
          </a:prstGeom>
          <a:noFill/>
        </p:spPr>
        <p:txBody>
          <a:bodyPr wrap="square" lIns="0" rIns="0" tIns="0" bIns="0" anchor="t">
            <a:noAutofit/>
          </a:bodyPr>
          <a:lstStyle/>
          <a:p>
            <a:pPr algn="l">
              <a:lnSpc>
                <a:spcPts val="1200"/>
              </a:lnSpc>
              <a:spcBef>
                <a:spcPts val="0"/>
              </a:spcBef>
              <a:spcAft>
                <a:spcPts val="0"/>
              </a:spcAft>
              <a:buNone/>
            </a:pPr>
            <a:r>
              <a:rPr sz="1000" b="1" i="0">
                <a:solidFill>
                  <a:srgbClr val="9FC1AA"/>
                </a:solidFill>
                <a:latin typeface="Arial"/>
              </a:rPr>
              <a:t>HOW CARESPHERE DIFFERS</a:t>
            </a:r>
          </a:p>
        </p:txBody>
      </p:sp>
      <p:sp>
        <p:nvSpPr>
          <p:cNvPr id="6" name="Rounded Rectangle 5"/>
          <p:cNvSpPr/>
          <p:nvPr/>
        </p:nvSpPr>
        <p:spPr>
          <a:xfrm>
            <a:off x="548640" y="1627632"/>
            <a:ext cx="11094415" cy="694944"/>
          </a:xfrm>
          <a:prstGeom prst="roundRect">
            <a:avLst>
              <a:gd name="adj" fmla="val 21052"/>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27632"/>
            <a:ext cx="1463040" cy="694944"/>
          </a:xfrm>
          <a:prstGeom prst="rect">
            <a:avLst/>
          </a:prstGeom>
          <a:noFill/>
        </p:spPr>
        <p:txBody>
          <a:bodyPr wrap="square" lIns="0" rIns="0" tIns="0" bIns="0" anchor="ctr">
            <a:noAutofit/>
          </a:bodyPr>
          <a:lstStyle/>
          <a:p>
            <a:pPr algn="l">
              <a:lnSpc>
                <a:spcPts val="1620"/>
              </a:lnSpc>
              <a:spcBef>
                <a:spcPts val="0"/>
              </a:spcBef>
              <a:spcAft>
                <a:spcPts val="0"/>
              </a:spcAft>
              <a:buNone/>
            </a:pPr>
            <a:r>
              <a:rPr sz="1350" b="1" i="0">
                <a:solidFill>
                  <a:srgbClr val="F4F6F2"/>
                </a:solidFill>
                <a:latin typeface="Arial"/>
              </a:rPr>
              <a:t>Medisafe</a:t>
            </a:r>
          </a:p>
        </p:txBody>
      </p:sp>
      <p:sp>
        <p:nvSpPr>
          <p:cNvPr id="8" name="TextBox 7"/>
          <p:cNvSpPr txBox="1"/>
          <p:nvPr/>
        </p:nvSpPr>
        <p:spPr>
          <a:xfrm>
            <a:off x="2286000" y="1627632"/>
            <a:ext cx="4389120" cy="694944"/>
          </a:xfrm>
          <a:prstGeom prst="rect">
            <a:avLst/>
          </a:prstGeom>
          <a:noFill/>
        </p:spPr>
        <p:txBody>
          <a:bodyPr wrap="square" lIns="0" rIns="0" tIns="0" bIns="0" anchor="ctr">
            <a:noAutofit/>
          </a:bodyPr>
          <a:lstStyle/>
          <a:p>
            <a:pPr algn="l">
              <a:lnSpc>
                <a:spcPts val="1380"/>
              </a:lnSpc>
              <a:spcBef>
                <a:spcPts val="0"/>
              </a:spcBef>
              <a:spcAft>
                <a:spcPts val="0"/>
              </a:spcAft>
              <a:buNone/>
            </a:pPr>
            <a:r>
              <a:rPr sz="1150" b="0" i="0">
                <a:solidFill>
                  <a:srgbClr val="C3CEC4"/>
                </a:solidFill>
                <a:latin typeface="Arial"/>
              </a:rPr>
              <a:t>Medication schedules, caregiver alerts and interaction checks — cloud account required.</a:t>
            </a:r>
          </a:p>
        </p:txBody>
      </p:sp>
      <p:sp>
        <p:nvSpPr>
          <p:cNvPr id="9" name="TextBox 8"/>
          <p:cNvSpPr txBox="1"/>
          <p:nvPr/>
        </p:nvSpPr>
        <p:spPr>
          <a:xfrm>
            <a:off x="6949440" y="1627632"/>
            <a:ext cx="4465015" cy="694944"/>
          </a:xfrm>
          <a:prstGeom prst="rect">
            <a:avLst/>
          </a:prstGeom>
          <a:noFill/>
        </p:spPr>
        <p:txBody>
          <a:bodyPr wrap="square" lIns="0" rIns="0" tIns="0" bIns="0" anchor="ctr">
            <a:noAutofit/>
          </a:bodyPr>
          <a:lstStyle/>
          <a:p>
            <a:pPr algn="l">
              <a:lnSpc>
                <a:spcPts val="1380"/>
              </a:lnSpc>
              <a:spcBef>
                <a:spcPts val="0"/>
              </a:spcBef>
              <a:spcAft>
                <a:spcPts val="0"/>
              </a:spcAft>
              <a:buNone/>
            </a:pPr>
            <a:r>
              <a:rPr sz="1150" b="0" i="0">
                <a:solidFill>
                  <a:srgbClr val="E6EBE6"/>
                </a:solidFill>
                <a:latin typeface="Arial"/>
              </a:rPr>
              <a:t>Reminders stay local; no interaction checker, because that needs a licensed drug database and a clinical review.</a:t>
            </a:r>
          </a:p>
        </p:txBody>
      </p:sp>
      <p:sp>
        <p:nvSpPr>
          <p:cNvPr id="10" name="Rounded Rectangle 9"/>
          <p:cNvSpPr/>
          <p:nvPr/>
        </p:nvSpPr>
        <p:spPr>
          <a:xfrm>
            <a:off x="548640" y="2414016"/>
            <a:ext cx="11094415" cy="694944"/>
          </a:xfrm>
          <a:prstGeom prst="roundRect">
            <a:avLst>
              <a:gd name="adj" fmla="val 21052"/>
            </a:avLst>
          </a:prstGeom>
          <a:solidFill>
            <a:srgbClr val="28352C"/>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2414016"/>
            <a:ext cx="1463040" cy="694944"/>
          </a:xfrm>
          <a:prstGeom prst="rect">
            <a:avLst/>
          </a:prstGeom>
          <a:noFill/>
        </p:spPr>
        <p:txBody>
          <a:bodyPr wrap="square" lIns="0" rIns="0" tIns="0" bIns="0" anchor="ctr">
            <a:noAutofit/>
          </a:bodyPr>
          <a:lstStyle/>
          <a:p>
            <a:pPr algn="l">
              <a:lnSpc>
                <a:spcPts val="1620"/>
              </a:lnSpc>
              <a:spcBef>
                <a:spcPts val="0"/>
              </a:spcBef>
              <a:spcAft>
                <a:spcPts val="0"/>
              </a:spcAft>
              <a:buNone/>
            </a:pPr>
            <a:r>
              <a:rPr sz="1350" b="1" i="0">
                <a:solidFill>
                  <a:srgbClr val="F4F6F2"/>
                </a:solidFill>
                <a:latin typeface="Arial"/>
              </a:rPr>
              <a:t>Apple Health</a:t>
            </a:r>
          </a:p>
        </p:txBody>
      </p:sp>
      <p:sp>
        <p:nvSpPr>
          <p:cNvPr id="12" name="TextBox 11"/>
          <p:cNvSpPr txBox="1"/>
          <p:nvPr/>
        </p:nvSpPr>
        <p:spPr>
          <a:xfrm>
            <a:off x="2286000" y="2414016"/>
            <a:ext cx="4389120" cy="694944"/>
          </a:xfrm>
          <a:prstGeom prst="rect">
            <a:avLst/>
          </a:prstGeom>
          <a:noFill/>
        </p:spPr>
        <p:txBody>
          <a:bodyPr wrap="square" lIns="0" rIns="0" tIns="0" bIns="0" anchor="ctr">
            <a:noAutofit/>
          </a:bodyPr>
          <a:lstStyle/>
          <a:p>
            <a:pPr algn="l">
              <a:lnSpc>
                <a:spcPts val="1380"/>
              </a:lnSpc>
              <a:spcBef>
                <a:spcPts val="0"/>
              </a:spcBef>
              <a:spcAft>
                <a:spcPts val="0"/>
              </a:spcAft>
              <a:buNone/>
            </a:pPr>
            <a:r>
              <a:rPr sz="1150" b="0" i="0">
                <a:solidFill>
                  <a:srgbClr val="C3CEC4"/>
                </a:solidFill>
                <a:latin typeface="Arial"/>
              </a:rPr>
              <a:t>Secure on-device record with user-controlled sharing.</a:t>
            </a:r>
          </a:p>
        </p:txBody>
      </p:sp>
      <p:sp>
        <p:nvSpPr>
          <p:cNvPr id="13" name="TextBox 12"/>
          <p:cNvSpPr txBox="1"/>
          <p:nvPr/>
        </p:nvSpPr>
        <p:spPr>
          <a:xfrm>
            <a:off x="6949440" y="2414016"/>
            <a:ext cx="4465015" cy="694944"/>
          </a:xfrm>
          <a:prstGeom prst="rect">
            <a:avLst/>
          </a:prstGeom>
          <a:noFill/>
        </p:spPr>
        <p:txBody>
          <a:bodyPr wrap="square" lIns="0" rIns="0" tIns="0" bIns="0" anchor="ctr">
            <a:noAutofit/>
          </a:bodyPr>
          <a:lstStyle/>
          <a:p>
            <a:pPr algn="l">
              <a:lnSpc>
                <a:spcPts val="1380"/>
              </a:lnSpc>
              <a:spcBef>
                <a:spcPts val="0"/>
              </a:spcBef>
              <a:spcAft>
                <a:spcPts val="0"/>
              </a:spcAft>
              <a:buNone/>
            </a:pPr>
            <a:r>
              <a:rPr sz="1150" b="0" i="0">
                <a:solidFill>
                  <a:srgbClr val="E6EBE6"/>
                </a:solidFill>
                <a:latin typeface="Arial"/>
              </a:rPr>
              <a:t>CareSphere reads HealthKit with permission and labels sources — it never claims to be the clinical record.</a:t>
            </a:r>
          </a:p>
        </p:txBody>
      </p:sp>
      <p:sp>
        <p:nvSpPr>
          <p:cNvPr id="14" name="Rounded Rectangle 13"/>
          <p:cNvSpPr/>
          <p:nvPr/>
        </p:nvSpPr>
        <p:spPr>
          <a:xfrm>
            <a:off x="548640" y="3200400"/>
            <a:ext cx="11094415" cy="694944"/>
          </a:xfrm>
          <a:prstGeom prst="roundRect">
            <a:avLst>
              <a:gd name="adj" fmla="val 21052"/>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3200400"/>
            <a:ext cx="1463040" cy="694944"/>
          </a:xfrm>
          <a:prstGeom prst="rect">
            <a:avLst/>
          </a:prstGeom>
          <a:noFill/>
        </p:spPr>
        <p:txBody>
          <a:bodyPr wrap="square" lIns="0" rIns="0" tIns="0" bIns="0" anchor="ctr">
            <a:noAutofit/>
          </a:bodyPr>
          <a:lstStyle/>
          <a:p>
            <a:pPr algn="l">
              <a:lnSpc>
                <a:spcPts val="1620"/>
              </a:lnSpc>
              <a:spcBef>
                <a:spcPts val="0"/>
              </a:spcBef>
              <a:spcAft>
                <a:spcPts val="0"/>
              </a:spcAft>
              <a:buNone/>
            </a:pPr>
            <a:r>
              <a:rPr sz="1350" b="1" i="0">
                <a:solidFill>
                  <a:srgbClr val="F4F6F2"/>
                </a:solidFill>
                <a:latin typeface="Arial"/>
              </a:rPr>
              <a:t>MyChart</a:t>
            </a:r>
          </a:p>
        </p:txBody>
      </p:sp>
      <p:sp>
        <p:nvSpPr>
          <p:cNvPr id="16" name="TextBox 15"/>
          <p:cNvSpPr txBox="1"/>
          <p:nvPr/>
        </p:nvSpPr>
        <p:spPr>
          <a:xfrm>
            <a:off x="2286000" y="3200400"/>
            <a:ext cx="4389120" cy="694944"/>
          </a:xfrm>
          <a:prstGeom prst="rect">
            <a:avLst/>
          </a:prstGeom>
          <a:noFill/>
        </p:spPr>
        <p:txBody>
          <a:bodyPr wrap="square" lIns="0" rIns="0" tIns="0" bIns="0" anchor="ctr">
            <a:noAutofit/>
          </a:bodyPr>
          <a:lstStyle/>
          <a:p>
            <a:pPr algn="l">
              <a:lnSpc>
                <a:spcPts val="1380"/>
              </a:lnSpc>
              <a:spcBef>
                <a:spcPts val="0"/>
              </a:spcBef>
              <a:spcAft>
                <a:spcPts val="0"/>
              </a:spcAft>
              <a:buNone/>
            </a:pPr>
            <a:r>
              <a:rPr sz="1150" b="0" i="0">
                <a:solidFill>
                  <a:srgbClr val="C3CEC4"/>
                </a:solidFill>
                <a:latin typeface="Arial"/>
              </a:rPr>
              <a:t>Official records and visit summaries from a health system.</a:t>
            </a:r>
          </a:p>
        </p:txBody>
      </p:sp>
      <p:sp>
        <p:nvSpPr>
          <p:cNvPr id="17" name="TextBox 16"/>
          <p:cNvSpPr txBox="1"/>
          <p:nvPr/>
        </p:nvSpPr>
        <p:spPr>
          <a:xfrm>
            <a:off x="6949440" y="3200400"/>
            <a:ext cx="4465015" cy="694944"/>
          </a:xfrm>
          <a:prstGeom prst="rect">
            <a:avLst/>
          </a:prstGeom>
          <a:noFill/>
        </p:spPr>
        <p:txBody>
          <a:bodyPr wrap="square" lIns="0" rIns="0" tIns="0" bIns="0" anchor="ctr">
            <a:noAutofit/>
          </a:bodyPr>
          <a:lstStyle/>
          <a:p>
            <a:pPr algn="l">
              <a:lnSpc>
                <a:spcPts val="1380"/>
              </a:lnSpc>
              <a:spcBef>
                <a:spcPts val="0"/>
              </a:spcBef>
              <a:spcAft>
                <a:spcPts val="0"/>
              </a:spcAft>
              <a:buNone/>
            </a:pPr>
            <a:r>
              <a:rPr sz="1150" b="0" i="0">
                <a:solidFill>
                  <a:srgbClr val="E6EBE6"/>
                </a:solidFill>
                <a:latin typeface="Arial"/>
              </a:rPr>
              <a:t>The visit brief is user-authored prep material and says so in its header.</a:t>
            </a:r>
          </a:p>
        </p:txBody>
      </p:sp>
      <p:sp>
        <p:nvSpPr>
          <p:cNvPr id="18" name="Rounded Rectangle 17"/>
          <p:cNvSpPr/>
          <p:nvPr/>
        </p:nvSpPr>
        <p:spPr>
          <a:xfrm>
            <a:off x="548640" y="3986784"/>
            <a:ext cx="11094415" cy="694944"/>
          </a:xfrm>
          <a:prstGeom prst="roundRect">
            <a:avLst>
              <a:gd name="adj" fmla="val 21052"/>
            </a:avLst>
          </a:prstGeom>
          <a:solidFill>
            <a:srgbClr val="28352C"/>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3986784"/>
            <a:ext cx="1463040" cy="694944"/>
          </a:xfrm>
          <a:prstGeom prst="rect">
            <a:avLst/>
          </a:prstGeom>
          <a:noFill/>
        </p:spPr>
        <p:txBody>
          <a:bodyPr wrap="square" lIns="0" rIns="0" tIns="0" bIns="0" anchor="ctr">
            <a:noAutofit/>
          </a:bodyPr>
          <a:lstStyle/>
          <a:p>
            <a:pPr algn="l">
              <a:lnSpc>
                <a:spcPts val="1620"/>
              </a:lnSpc>
              <a:spcBef>
                <a:spcPts val="0"/>
              </a:spcBef>
              <a:spcAft>
                <a:spcPts val="0"/>
              </a:spcAft>
              <a:buNone/>
            </a:pPr>
            <a:r>
              <a:rPr sz="1350" b="1" i="0">
                <a:solidFill>
                  <a:srgbClr val="F4F6F2"/>
                </a:solidFill>
                <a:latin typeface="Arial"/>
              </a:rPr>
              <a:t>CaringBridge</a:t>
            </a:r>
          </a:p>
        </p:txBody>
      </p:sp>
      <p:sp>
        <p:nvSpPr>
          <p:cNvPr id="20" name="TextBox 19"/>
          <p:cNvSpPr txBox="1"/>
          <p:nvPr/>
        </p:nvSpPr>
        <p:spPr>
          <a:xfrm>
            <a:off x="2286000" y="3986784"/>
            <a:ext cx="4389120" cy="694944"/>
          </a:xfrm>
          <a:prstGeom prst="rect">
            <a:avLst/>
          </a:prstGeom>
          <a:noFill/>
        </p:spPr>
        <p:txBody>
          <a:bodyPr wrap="square" lIns="0" rIns="0" tIns="0" bIns="0" anchor="ctr">
            <a:noAutofit/>
          </a:bodyPr>
          <a:lstStyle/>
          <a:p>
            <a:pPr algn="l">
              <a:lnSpc>
                <a:spcPts val="1380"/>
              </a:lnSpc>
              <a:spcBef>
                <a:spcPts val="0"/>
              </a:spcBef>
              <a:spcAft>
                <a:spcPts val="0"/>
              </a:spcAft>
              <a:buNone/>
            </a:pPr>
            <a:r>
              <a:rPr sz="1150" b="0" i="0">
                <a:solidFill>
                  <a:srgbClr val="C3CEC4"/>
                </a:solidFill>
                <a:latin typeface="Arial"/>
              </a:rPr>
              <a:t>Private family update pages with accounts and hosting.</a:t>
            </a:r>
          </a:p>
        </p:txBody>
      </p:sp>
      <p:sp>
        <p:nvSpPr>
          <p:cNvPr id="21" name="TextBox 20"/>
          <p:cNvSpPr txBox="1"/>
          <p:nvPr/>
        </p:nvSpPr>
        <p:spPr>
          <a:xfrm>
            <a:off x="6949440" y="3986784"/>
            <a:ext cx="4465015" cy="694944"/>
          </a:xfrm>
          <a:prstGeom prst="rect">
            <a:avLst/>
          </a:prstGeom>
          <a:noFill/>
        </p:spPr>
        <p:txBody>
          <a:bodyPr wrap="square" lIns="0" rIns="0" tIns="0" bIns="0" anchor="ctr">
            <a:noAutofit/>
          </a:bodyPr>
          <a:lstStyle/>
          <a:p>
            <a:pPr algn="l">
              <a:lnSpc>
                <a:spcPts val="1380"/>
              </a:lnSpc>
              <a:spcBef>
                <a:spcPts val="0"/>
              </a:spcBef>
              <a:spcAft>
                <a:spcPts val="0"/>
              </a:spcAft>
              <a:buNone/>
            </a:pPr>
            <a:r>
              <a:rPr sz="1150" b="0" i="0">
                <a:solidFill>
                  <a:srgbClr val="E6EBE6"/>
                </a:solidFill>
                <a:latin typeface="Arial"/>
              </a:rPr>
              <a:t>Care Circle has no account or host; family video happens in real Jitsi rooms you invite people to.</a:t>
            </a:r>
          </a:p>
        </p:txBody>
      </p:sp>
      <p:sp>
        <p:nvSpPr>
          <p:cNvPr id="22" name="Rounded Rectangle 21"/>
          <p:cNvSpPr/>
          <p:nvPr/>
        </p:nvSpPr>
        <p:spPr>
          <a:xfrm>
            <a:off x="548640" y="4937760"/>
            <a:ext cx="11094415" cy="1188720"/>
          </a:xfrm>
          <a:prstGeom prst="roundRect">
            <a:avLst>
              <a:gd name="adj" fmla="val 12307"/>
            </a:avLst>
          </a:prstGeom>
          <a:solidFill>
            <a:srgbClr val="28352C"/>
          </a:solidFill>
          <a:ln w="12700">
            <a:solidFill>
              <a:srgbClr val="5B8E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icon.png"/>
          <p:cNvPicPr>
            <a:picLocks noChangeAspect="1"/>
          </p:cNvPicPr>
          <p:nvPr/>
        </p:nvPicPr>
        <p:blipFill>
          <a:blip r:embed="rId2"/>
          <a:stretch>
            <a:fillRect/>
          </a:stretch>
        </p:blipFill>
        <p:spPr>
          <a:xfrm>
            <a:off x="822959" y="5166360"/>
            <a:ext cx="731520" cy="731520"/>
          </a:xfrm>
          <a:prstGeom prst="roundRect">
            <a:avLst>
              <a:gd name="adj" fmla="val 22499"/>
            </a:avLst>
          </a:prstGeom>
        </p:spPr>
      </p:pic>
      <p:sp>
        <p:nvSpPr>
          <p:cNvPr id="24" name="TextBox 23"/>
          <p:cNvSpPr txBox="1"/>
          <p:nvPr/>
        </p:nvSpPr>
        <p:spPr>
          <a:xfrm>
            <a:off x="1783080" y="5029200"/>
            <a:ext cx="9585655" cy="1005840"/>
          </a:xfrm>
          <a:prstGeom prst="rect">
            <a:avLst/>
          </a:prstGeom>
          <a:noFill/>
        </p:spPr>
        <p:txBody>
          <a:bodyPr wrap="square" lIns="0" rIns="0" tIns="0" bIns="0" anchor="ctr">
            <a:noAutofit/>
          </a:bodyPr>
          <a:lstStyle/>
          <a:p>
            <a:pPr algn="l">
              <a:lnSpc>
                <a:spcPts val="1562"/>
              </a:lnSpc>
              <a:spcBef>
                <a:spcPts val="0"/>
              </a:spcBef>
              <a:spcAft>
                <a:spcPts val="500"/>
              </a:spcAft>
              <a:buNone/>
            </a:pPr>
            <a:r>
              <a:rPr sz="1250" b="1" i="0">
                <a:solidFill>
                  <a:srgbClr val="F4F6F2"/>
                </a:solidFill>
                <a:latin typeface="Arial"/>
              </a:rPr>
              <a:t>The combination is the product:</a:t>
            </a:r>
            <a:r>
              <a:rPr sz="1250" b="0" i="0">
                <a:solidFill>
                  <a:srgbClr val="E6EBE6"/>
                </a:solidFill>
                <a:latin typeface="Arial"/>
              </a:rPr>
              <a:t> social connection + routines + honest wearable vitals + autism-friendly sensory tools + offline AI guidance + safety — in one calm app with </a:t>
            </a:r>
            <a:r>
              <a:rPr sz="1250" b="1" i="0">
                <a:solidFill>
                  <a:srgbClr val="F4F6F2"/>
                </a:solidFill>
                <a:latin typeface="Arial"/>
              </a:rPr>
              <a:t>no account, no server and no fabricated data.</a:t>
            </a:r>
          </a:p>
          <a:p>
            <a:pPr algn="l">
              <a:lnSpc>
                <a:spcPts val="1562"/>
              </a:lnSpc>
              <a:spcBef>
                <a:spcPts val="0"/>
              </a:spcBef>
              <a:spcAft>
                <a:spcPts val="500"/>
              </a:spcAft>
              <a:buNone/>
            </a:pPr>
            <a:r>
              <a:rPr sz="1250" b="0" i="0">
                <a:solidFill>
                  <a:srgbClr val="A2B0A3"/>
                </a:solidFill>
                <a:latin typeface="Arial"/>
              </a:rPr>
              <a:t>What it is not: a medical device, a diagnosis tool, an emergency service or a replacement for a clinician — and it says so on every relevant screen.</a:t>
            </a:r>
          </a:p>
        </p:txBody>
      </p:sp>
      <p:sp>
        <p:nvSpPr>
          <p:cNvPr id="25" name="TextBox 24"/>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26" name="TextBox 25"/>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sp>
        <p:nvSpPr>
          <p:cNvPr id="2" name="TextBox 1"/>
          <p:cNvSpPr txBox="1"/>
          <p:nvPr/>
        </p:nvSpPr>
        <p:spPr>
          <a:xfrm>
            <a:off x="548640" y="329184"/>
            <a:ext cx="11094415" cy="274320"/>
          </a:xfrm>
          <a:prstGeom prst="rect">
            <a:avLst/>
          </a:prstGeom>
          <a:noFill/>
        </p:spPr>
        <p:txBody>
          <a:bodyPr wrap="square" lIns="0" rIns="0" tIns="0" bIns="0" anchor="t">
            <a:noAutofit/>
          </a:bodyPr>
          <a:lstStyle/>
          <a:p>
            <a:pPr algn="l">
              <a:lnSpc>
                <a:spcPts val="1320"/>
              </a:lnSpc>
              <a:spcBef>
                <a:spcPts val="0"/>
              </a:spcBef>
              <a:spcAft>
                <a:spcPts val="0"/>
              </a:spcAft>
              <a:buNone/>
            </a:pPr>
            <a:r>
              <a:rPr sz="1100" b="1" i="0">
                <a:solidFill>
                  <a:srgbClr val="9FC1AA"/>
                </a:solidFill>
                <a:latin typeface="Arial"/>
              </a:rPr>
              <a:t>REFLECTION</a:t>
            </a:r>
          </a:p>
        </p:txBody>
      </p:sp>
      <p:sp>
        <p:nvSpPr>
          <p:cNvPr id="3" name="TextBox 2"/>
          <p:cNvSpPr txBox="1"/>
          <p:nvPr/>
        </p:nvSpPr>
        <p:spPr>
          <a:xfrm>
            <a:off x="548640" y="548640"/>
            <a:ext cx="11094415" cy="685800"/>
          </a:xfrm>
          <a:prstGeom prst="rect">
            <a:avLst/>
          </a:prstGeom>
          <a:noFill/>
        </p:spPr>
        <p:txBody>
          <a:bodyPr wrap="square" lIns="0" rIns="0" tIns="0" bIns="0" anchor="t">
            <a:noAutofit/>
          </a:bodyPr>
          <a:lstStyle/>
          <a:p>
            <a:pPr algn="l">
              <a:lnSpc>
                <a:spcPts val="3600"/>
              </a:lnSpc>
              <a:spcBef>
                <a:spcPts val="0"/>
              </a:spcBef>
              <a:spcAft>
                <a:spcPts val="0"/>
              </a:spcAft>
              <a:buNone/>
            </a:pPr>
            <a:r>
              <a:rPr sz="3000" b="1" i="0">
                <a:solidFill>
                  <a:srgbClr val="F4F6F2"/>
                </a:solidFill>
                <a:latin typeface="Arial"/>
              </a:rPr>
              <a:t>What I learned — and what Version 2.0 will add</a:t>
            </a:r>
          </a:p>
        </p:txBody>
      </p:sp>
      <p:sp>
        <p:nvSpPr>
          <p:cNvPr id="4" name="Rounded Rectangle 3"/>
          <p:cNvSpPr/>
          <p:nvPr/>
        </p:nvSpPr>
        <p:spPr>
          <a:xfrm>
            <a:off x="548640" y="1371600"/>
            <a:ext cx="5410047" cy="4754880"/>
          </a:xfrm>
          <a:prstGeom prst="roundRect">
            <a:avLst>
              <a:gd name="adj" fmla="val 3076"/>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749808" y="1362456"/>
            <a:ext cx="5007711" cy="64008"/>
          </a:xfrm>
          <a:prstGeom prst="roundRect">
            <a:avLst>
              <a:gd name="adj" fmla="val 50000"/>
            </a:avLst>
          </a:prstGeom>
          <a:solidFill>
            <a:srgbClr val="9FC1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600200"/>
            <a:ext cx="4861407" cy="365760"/>
          </a:xfrm>
          <a:prstGeom prst="rect">
            <a:avLst/>
          </a:prstGeom>
          <a:noFill/>
        </p:spPr>
        <p:txBody>
          <a:bodyPr wrap="square" lIns="0" rIns="0" tIns="0" bIns="0" anchor="t">
            <a:noAutofit/>
          </a:bodyPr>
          <a:lstStyle/>
          <a:p>
            <a:pPr algn="l">
              <a:lnSpc>
                <a:spcPts val="2039"/>
              </a:lnSpc>
              <a:spcBef>
                <a:spcPts val="0"/>
              </a:spcBef>
              <a:spcAft>
                <a:spcPts val="0"/>
              </a:spcAft>
              <a:buNone/>
            </a:pPr>
            <a:r>
              <a:rPr sz="1700" b="1" i="0">
                <a:solidFill>
                  <a:srgbClr val="F4F6F2"/>
                </a:solidFill>
                <a:latin typeface="Arial"/>
              </a:rPr>
              <a:t>What I learned</a:t>
            </a:r>
          </a:p>
        </p:txBody>
      </p:sp>
      <p:sp>
        <p:nvSpPr>
          <p:cNvPr id="7" name="TextBox 6"/>
          <p:cNvSpPr txBox="1"/>
          <p:nvPr/>
        </p:nvSpPr>
        <p:spPr>
          <a:xfrm>
            <a:off x="822959" y="2057400"/>
            <a:ext cx="4861407" cy="3931920"/>
          </a:xfrm>
          <a:prstGeom prst="rect">
            <a:avLst/>
          </a:prstGeom>
          <a:noFill/>
        </p:spPr>
        <p:txBody>
          <a:bodyPr wrap="square" lIns="0" rIns="0" tIns="0" bIns="0" anchor="t">
            <a:noAutofit/>
          </a:bodyPr>
          <a:lstStyle/>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Honest engineering beats impressive demos.</a:t>
            </a:r>
            <a:r>
              <a:rPr sz="1300" b="0" i="0">
                <a:solidFill>
                  <a:srgbClr val="C3CEC4"/>
                </a:solidFill>
                <a:latin typeface="Arial"/>
              </a:rPr>
              <a:t> Labeling simulated data and refusing to invent readings shaped the whole architecture.</a:t>
            </a:r>
          </a:p>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Accessibility is a design input, not a checkbox</a:t>
            </a:r>
            <a:r>
              <a:rPr sz="1300" b="0" i="0">
                <a:solidFill>
                  <a:srgbClr val="C3CEC4"/>
                </a:solidFill>
                <a:latin typeface="Arial"/>
              </a:rPr>
              <a:t> — reading the AASPIRE guidelines changed layouts, motion and colour choices early.</a:t>
            </a:r>
          </a:p>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Privacy constraints breed creativity.</a:t>
            </a:r>
            <a:r>
              <a:rPr sz="1300" b="0" i="0">
                <a:solidFill>
                  <a:srgbClr val="C3CEC4"/>
                </a:solidFill>
                <a:latin typeface="Arial"/>
              </a:rPr>
              <a:t> "No cloud" forced me to learn Web Crypto, CryptoKit, llama.cpp and procedural audio.</a:t>
            </a:r>
          </a:p>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Two platforms, one promise.</a:t>
            </a:r>
            <a:r>
              <a:rPr sz="1300" b="0" i="0">
                <a:solidFill>
                  <a:srgbClr val="C3CEC4"/>
                </a:solidFill>
                <a:latin typeface="Arial"/>
              </a:rPr>
              <a:t> Keeping React and SwiftUI behaviour identical (local-midnight resets, labels, exports) taught me to write the rules down first and test them.</a:t>
            </a:r>
          </a:p>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Safety logic should be boring.</a:t>
            </a:r>
            <a:r>
              <a:rPr sz="1300" b="0" i="0">
                <a:solidFill>
                  <a:srgbClr val="C3CEC4"/>
                </a:solidFill>
                <a:latin typeface="Arial"/>
              </a:rPr>
              <a:t> Deterministic, documented flows are easier to review than clever ones.</a:t>
            </a:r>
          </a:p>
        </p:txBody>
      </p:sp>
      <p:sp>
        <p:nvSpPr>
          <p:cNvPr id="8" name="Rounded Rectangle 7"/>
          <p:cNvSpPr/>
          <p:nvPr/>
        </p:nvSpPr>
        <p:spPr>
          <a:xfrm>
            <a:off x="6233007" y="1371600"/>
            <a:ext cx="5410047" cy="4754880"/>
          </a:xfrm>
          <a:prstGeom prst="roundRect">
            <a:avLst>
              <a:gd name="adj" fmla="val 3076"/>
            </a:avLst>
          </a:prstGeom>
          <a:solidFill>
            <a:srgbClr val="202B24"/>
          </a:solidFill>
          <a:ln w="12700">
            <a:solidFill>
              <a:srgbClr val="2E3B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434175" y="1362456"/>
            <a:ext cx="5007711" cy="64008"/>
          </a:xfrm>
          <a:prstGeom prst="roundRect">
            <a:avLst>
              <a:gd name="adj" fmla="val 50000"/>
            </a:avLst>
          </a:prstGeom>
          <a:solidFill>
            <a:srgbClr val="F0B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07327" y="1600200"/>
            <a:ext cx="4861407" cy="365760"/>
          </a:xfrm>
          <a:prstGeom prst="rect">
            <a:avLst/>
          </a:prstGeom>
          <a:noFill/>
        </p:spPr>
        <p:txBody>
          <a:bodyPr wrap="square" lIns="0" rIns="0" tIns="0" bIns="0" anchor="t">
            <a:noAutofit/>
          </a:bodyPr>
          <a:lstStyle/>
          <a:p>
            <a:pPr algn="l">
              <a:lnSpc>
                <a:spcPts val="2039"/>
              </a:lnSpc>
              <a:spcBef>
                <a:spcPts val="0"/>
              </a:spcBef>
              <a:spcAft>
                <a:spcPts val="0"/>
              </a:spcAft>
              <a:buNone/>
            </a:pPr>
            <a:r>
              <a:rPr sz="1700" b="1" i="0">
                <a:solidFill>
                  <a:srgbClr val="F4F6F2"/>
                </a:solidFill>
                <a:latin typeface="Arial"/>
              </a:rPr>
              <a:t>Version 2.0</a:t>
            </a:r>
          </a:p>
        </p:txBody>
      </p:sp>
      <p:sp>
        <p:nvSpPr>
          <p:cNvPr id="11" name="TextBox 10"/>
          <p:cNvSpPr txBox="1"/>
          <p:nvPr/>
        </p:nvSpPr>
        <p:spPr>
          <a:xfrm>
            <a:off x="6507327" y="2057400"/>
            <a:ext cx="4861407" cy="3931920"/>
          </a:xfrm>
          <a:prstGeom prst="rect">
            <a:avLst/>
          </a:prstGeom>
          <a:noFill/>
        </p:spPr>
        <p:txBody>
          <a:bodyPr wrap="square" lIns="0" rIns="0" tIns="0" bIns="0" anchor="t">
            <a:noAutofit/>
          </a:bodyPr>
          <a:lstStyle/>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Co-design sessions</a:t>
            </a:r>
            <a:r>
              <a:rPr sz="1300" b="0" i="0">
                <a:solidFill>
                  <a:srgbClr val="C3CEC4"/>
                </a:solidFill>
                <a:latin typeface="Arial"/>
              </a:rPr>
              <a:t> with autistic people, people living with dementia, caregivers and accessibility specialists — then iterate.</a:t>
            </a:r>
          </a:p>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Real HealthKit and Bluetooth observations inside the visit brief</a:t>
            </a:r>
            <a:r>
              <a:rPr sz="1300" b="0" i="0">
                <a:solidFill>
                  <a:srgbClr val="C3CEC4"/>
                </a:solidFill>
                <a:latin typeface="Arial"/>
              </a:rPr>
              <a:t>, with 7/30/90-day filters on both platforms.</a:t>
            </a:r>
          </a:p>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Non-diagnostic trends</a:t>
            </a:r>
            <a:r>
              <a:rPr sz="1300" b="0" i="0">
                <a:solidFill>
                  <a:srgbClr val="C3CEC4"/>
                </a:solidFill>
                <a:latin typeface="Arial"/>
              </a:rPr>
              <a:t> (sleep, activity, heart-rate ranges) computed only from real, source-labeled data.</a:t>
            </a:r>
          </a:p>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Encrypted backup and restore</a:t>
            </a:r>
            <a:r>
              <a:rPr sz="1300" b="0" i="0">
                <a:solidFill>
                  <a:srgbClr val="C3CEC4"/>
                </a:solidFill>
                <a:latin typeface="Arial"/>
              </a:rPr>
              <a:t> across devices without a server — a passphrase-protected export file.</a:t>
            </a:r>
          </a:p>
          <a:p>
            <a:pPr algn="l" marL="219456" indent="-219456">
              <a:lnSpc>
                <a:spcPts val="1586"/>
              </a:lnSpc>
              <a:spcBef>
                <a:spcPts val="0"/>
              </a:spcBef>
              <a:spcAft>
                <a:spcPts val="800"/>
              </a:spcAft>
              <a:buClr>
                <a:srgbClr val="9FC1AA"/>
              </a:buClr>
              <a:buFont typeface="Arial"/>
              <a:buChar char="•"/>
            </a:pPr>
            <a:r>
              <a:rPr sz="1300" b="1" i="0">
                <a:solidFill>
                  <a:srgbClr val="F4F6F2"/>
                </a:solidFill>
                <a:latin typeface="Arial"/>
              </a:rPr>
              <a:t>On-device VoiceOver and Dynamic Type testing</a:t>
            </a:r>
            <a:r>
              <a:rPr sz="1300" b="0" i="0">
                <a:solidFill>
                  <a:srgbClr val="C3CEC4"/>
                </a:solidFill>
                <a:latin typeface="Arial"/>
              </a:rPr>
              <a:t>, Spanish localization, and a TestFlight beta.</a:t>
            </a:r>
          </a:p>
          <a:p>
            <a:pPr algn="l" marL="219456" indent="-219456">
              <a:lnSpc>
                <a:spcPts val="1586"/>
              </a:lnSpc>
              <a:spcBef>
                <a:spcPts val="0"/>
              </a:spcBef>
              <a:spcAft>
                <a:spcPts val="800"/>
              </a:spcAft>
              <a:buClr>
                <a:srgbClr val="9FC1AA"/>
              </a:buClr>
              <a:buFont typeface="Arial"/>
              <a:buChar char="•"/>
            </a:pPr>
            <a:r>
              <a:rPr sz="1300" b="0" i="0">
                <a:solidFill>
                  <a:srgbClr val="C3CEC4"/>
                </a:solidFill>
                <a:latin typeface="Arial"/>
              </a:rPr>
              <a:t>Deliberately </a:t>
            </a:r>
            <a:r>
              <a:rPr sz="1300" b="1" i="0">
                <a:solidFill>
                  <a:srgbClr val="F4F6F2"/>
                </a:solidFill>
                <a:latin typeface="Arial"/>
              </a:rPr>
              <a:t>not</a:t>
            </a:r>
            <a:r>
              <a:rPr sz="1300" b="0" i="0">
                <a:solidFill>
                  <a:srgbClr val="C3CEC4"/>
                </a:solidFill>
                <a:latin typeface="Arial"/>
              </a:rPr>
              <a:t> on the list: cloud sync, a clinician portal or a drug-interaction checker — not without clinical review and a licensed knowledge base.</a:t>
            </a:r>
          </a:p>
        </p:txBody>
      </p:sp>
      <p:sp>
        <p:nvSpPr>
          <p:cNvPr id="12" name="TextBox 11"/>
          <p:cNvSpPr txBox="1"/>
          <p:nvPr/>
        </p:nvSpPr>
        <p:spPr>
          <a:xfrm>
            <a:off x="548640" y="6473952"/>
            <a:ext cx="7315200" cy="228600"/>
          </a:xfrm>
          <a:prstGeom prst="rect">
            <a:avLst/>
          </a:prstGeom>
          <a:noFill/>
        </p:spPr>
        <p:txBody>
          <a:bodyPr wrap="square" lIns="0" rIns="0" tIns="0" bIns="0" anchor="ctr">
            <a:noAutofit/>
          </a:bodyPr>
          <a:lstStyle/>
          <a:p>
            <a:pPr algn="l">
              <a:lnSpc>
                <a:spcPts val="1140"/>
              </a:lnSpc>
              <a:spcBef>
                <a:spcPts val="0"/>
              </a:spcBef>
              <a:spcAft>
                <a:spcPts val="0"/>
              </a:spcAft>
              <a:buNone/>
            </a:pPr>
            <a:r>
              <a:rPr sz="950" b="0" i="0">
                <a:solidFill>
                  <a:srgbClr val="77857A"/>
                </a:solidFill>
                <a:latin typeface="Arial"/>
              </a:rPr>
              <a:t>CareSphere AI  ·  Congressional App Challenge 2026</a:t>
            </a:r>
          </a:p>
        </p:txBody>
      </p:sp>
      <p:sp>
        <p:nvSpPr>
          <p:cNvPr id="13" name="TextBox 12"/>
          <p:cNvSpPr txBox="1"/>
          <p:nvPr/>
        </p:nvSpPr>
        <p:spPr>
          <a:xfrm>
            <a:off x="10271455" y="6473952"/>
            <a:ext cx="1371600" cy="228600"/>
          </a:xfrm>
          <a:prstGeom prst="rect">
            <a:avLst/>
          </a:prstGeom>
          <a:noFill/>
        </p:spPr>
        <p:txBody>
          <a:bodyPr wrap="square" lIns="0" rIns="0" tIns="0" bIns="0" anchor="ctr">
            <a:noAutofit/>
          </a:bodyPr>
          <a:lstStyle/>
          <a:p>
            <a:pPr algn="r">
              <a:lnSpc>
                <a:spcPts val="1140"/>
              </a:lnSpc>
              <a:spcBef>
                <a:spcPts val="0"/>
              </a:spcBef>
              <a:spcAft>
                <a:spcPts val="0"/>
              </a:spcAft>
              <a:buNone/>
            </a:pPr>
            <a:r>
              <a:rPr sz="950" b="0" i="0">
                <a:solidFill>
                  <a:srgbClr val="77857A"/>
                </a:solidFill>
                <a:latin typeface="Arial"/>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31B16"/>
        </a:solidFill>
        <a:effectLst/>
      </p:bgPr>
    </p:bg>
    <p:spTree>
      <p:nvGrpSpPr>
        <p:cNvPr id="1" name=""/>
        <p:cNvGrpSpPr/>
        <p:nvPr/>
      </p:nvGrpSpPr>
      <p:grpSpPr/>
      <p:pic>
        <p:nvPicPr>
          <p:cNvPr id="2" name="Picture 1" descr="glow.png"/>
          <p:cNvPicPr>
            <a:picLocks noChangeAspect="1"/>
          </p:cNvPicPr>
          <p:nvPr/>
        </p:nvPicPr>
        <p:blipFill>
          <a:blip r:embed="rId2"/>
          <a:stretch>
            <a:fillRect/>
          </a:stretch>
        </p:blipFill>
        <p:spPr>
          <a:xfrm>
            <a:off x="-2286000" y="-2286000"/>
            <a:ext cx="8229600" cy="8229600"/>
          </a:xfrm>
          <a:prstGeom prst="rect">
            <a:avLst/>
          </a:prstGeom>
        </p:spPr>
      </p:pic>
      <p:pic>
        <p:nvPicPr>
          <p:cNvPr id="3" name="Picture 2" descr="icon.png"/>
          <p:cNvPicPr>
            <a:picLocks noChangeAspect="1"/>
          </p:cNvPicPr>
          <p:nvPr/>
        </p:nvPicPr>
        <p:blipFill>
          <a:blip r:embed="rId3"/>
          <a:stretch>
            <a:fillRect/>
          </a:stretch>
        </p:blipFill>
        <p:spPr>
          <a:xfrm>
            <a:off x="548640" y="822960"/>
            <a:ext cx="1097280" cy="1097280"/>
          </a:xfrm>
          <a:prstGeom prst="roundRect">
            <a:avLst>
              <a:gd name="adj" fmla="val 22500"/>
            </a:avLst>
          </a:prstGeom>
        </p:spPr>
      </p:pic>
      <p:sp>
        <p:nvSpPr>
          <p:cNvPr id="4" name="TextBox 3"/>
          <p:cNvSpPr txBox="1"/>
          <p:nvPr/>
        </p:nvSpPr>
        <p:spPr>
          <a:xfrm>
            <a:off x="548640" y="2148840"/>
            <a:ext cx="6949440" cy="822960"/>
          </a:xfrm>
          <a:prstGeom prst="rect">
            <a:avLst/>
          </a:prstGeom>
          <a:noFill/>
        </p:spPr>
        <p:txBody>
          <a:bodyPr wrap="square" lIns="0" rIns="0" tIns="0" bIns="0" anchor="t">
            <a:noAutofit/>
          </a:bodyPr>
          <a:lstStyle/>
          <a:p>
            <a:pPr algn="l">
              <a:lnSpc>
                <a:spcPts val="5040"/>
              </a:lnSpc>
              <a:spcBef>
                <a:spcPts val="0"/>
              </a:spcBef>
              <a:spcAft>
                <a:spcPts val="0"/>
              </a:spcAft>
              <a:buNone/>
            </a:pPr>
            <a:r>
              <a:rPr sz="4200" b="1" i="0">
                <a:solidFill>
                  <a:srgbClr val="F4F6F2"/>
                </a:solidFill>
                <a:latin typeface="Arial"/>
              </a:rPr>
              <a:t>Care that stays yours.</a:t>
            </a:r>
          </a:p>
        </p:txBody>
      </p:sp>
      <p:sp>
        <p:nvSpPr>
          <p:cNvPr id="5" name="TextBox 4"/>
          <p:cNvSpPr txBox="1"/>
          <p:nvPr/>
        </p:nvSpPr>
        <p:spPr>
          <a:xfrm>
            <a:off x="548640" y="3017520"/>
            <a:ext cx="6766560" cy="1097280"/>
          </a:xfrm>
          <a:prstGeom prst="rect">
            <a:avLst/>
          </a:prstGeom>
          <a:noFill/>
        </p:spPr>
        <p:txBody>
          <a:bodyPr wrap="square" lIns="0" rIns="0" tIns="0" bIns="0" anchor="t">
            <a:noAutofit/>
          </a:bodyPr>
          <a:lstStyle/>
          <a:p>
            <a:pPr algn="l">
              <a:lnSpc>
                <a:spcPts val="2080"/>
              </a:lnSpc>
              <a:spcBef>
                <a:spcPts val="0"/>
              </a:spcBef>
              <a:spcAft>
                <a:spcPts val="0"/>
              </a:spcAft>
              <a:buNone/>
            </a:pPr>
            <a:r>
              <a:rPr sz="1600" b="0" i="0">
                <a:solidFill>
                  <a:srgbClr val="C3CEC4"/>
                </a:solidFill>
                <a:latin typeface="Arial"/>
              </a:rPr>
              <a:t>CareSphere AI keeps older adults connected, autistic users calm and caregivers informed — without an account, a server or a single fabricated number.</a:t>
            </a:r>
          </a:p>
        </p:txBody>
      </p:sp>
      <p:sp>
        <p:nvSpPr>
          <p:cNvPr id="6" name="TextBox 5"/>
          <p:cNvSpPr txBox="1"/>
          <p:nvPr/>
        </p:nvSpPr>
        <p:spPr>
          <a:xfrm>
            <a:off x="548640" y="4343400"/>
            <a:ext cx="6766560" cy="320040"/>
          </a:xfrm>
          <a:prstGeom prst="rect">
            <a:avLst/>
          </a:prstGeom>
          <a:noFill/>
        </p:spPr>
        <p:txBody>
          <a:bodyPr wrap="square" lIns="0" rIns="0" tIns="0" bIns="0" anchor="t">
            <a:noAutofit/>
          </a:bodyPr>
          <a:lstStyle/>
          <a:p>
            <a:pPr algn="l">
              <a:lnSpc>
                <a:spcPts val="1680"/>
              </a:lnSpc>
              <a:spcBef>
                <a:spcPts val="0"/>
              </a:spcBef>
              <a:spcAft>
                <a:spcPts val="0"/>
              </a:spcAft>
              <a:buNone/>
            </a:pPr>
            <a:r>
              <a:rPr sz="1400" b="1" i="0">
                <a:solidFill>
                  <a:srgbClr val="F4F6F2"/>
                </a:solidFill>
                <a:latin typeface="Arial"/>
              </a:rPr>
              <a:t>[Student Name]  ·  [School]  ·  [email@example.com]</a:t>
            </a:r>
          </a:p>
        </p:txBody>
      </p:sp>
      <p:sp>
        <p:nvSpPr>
          <p:cNvPr id="7" name="TextBox 6"/>
          <p:cNvSpPr txBox="1"/>
          <p:nvPr/>
        </p:nvSpPr>
        <p:spPr>
          <a:xfrm>
            <a:off x="548640" y="4709160"/>
            <a:ext cx="6766560" cy="320040"/>
          </a:xfrm>
          <a:prstGeom prst="rect">
            <a:avLst/>
          </a:prstGeom>
          <a:noFill/>
        </p:spPr>
        <p:txBody>
          <a:bodyPr wrap="square" lIns="0" rIns="0" tIns="0" bIns="0" anchor="t">
            <a:noAutofit/>
          </a:bodyPr>
          <a:lstStyle/>
          <a:p>
            <a:pPr algn="l">
              <a:lnSpc>
                <a:spcPts val="1500"/>
              </a:lnSpc>
              <a:spcBef>
                <a:spcPts val="0"/>
              </a:spcBef>
              <a:spcAft>
                <a:spcPts val="0"/>
              </a:spcAft>
              <a:buNone/>
            </a:pPr>
            <a:r>
              <a:rPr sz="1250" b="0" i="0">
                <a:solidFill>
                  <a:srgbClr val="A2B0A3"/>
                </a:solidFill>
                <a:latin typeface="Arial"/>
              </a:rPr>
              <a:t>Thank you — and thank you to the judges and the Congressional App Challenge.</a:t>
            </a:r>
          </a:p>
        </p:txBody>
      </p:sp>
      <p:sp>
        <p:nvSpPr>
          <p:cNvPr id="8" name="Rounded Rectangle 7"/>
          <p:cNvSpPr/>
          <p:nvPr/>
        </p:nvSpPr>
        <p:spPr>
          <a:xfrm>
            <a:off x="548640" y="5257800"/>
            <a:ext cx="1569720" cy="256032"/>
          </a:xfrm>
          <a:prstGeom prst="roundRect">
            <a:avLst>
              <a:gd name="adj" fmla="val 50000"/>
            </a:avLst>
          </a:prstGeom>
          <a:solidFill>
            <a:srgbClr val="28352C"/>
          </a:solidFill>
          <a:ln w="9525">
            <a:solidFill>
              <a:srgbClr val="9FC1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5257800"/>
            <a:ext cx="1569720" cy="256032"/>
          </a:xfrm>
          <a:prstGeom prst="rect">
            <a:avLst/>
          </a:prstGeom>
          <a:noFill/>
        </p:spPr>
        <p:txBody>
          <a:bodyPr wrap="square" lIns="0" rIns="0" tIns="0" bIns="0" anchor="ctr">
            <a:noAutofit/>
          </a:bodyPr>
          <a:lstStyle/>
          <a:p>
            <a:pPr algn="ctr">
              <a:lnSpc>
                <a:spcPts val="1200"/>
              </a:lnSpc>
              <a:spcBef>
                <a:spcPts val="0"/>
              </a:spcBef>
              <a:spcAft>
                <a:spcPts val="0"/>
              </a:spcAft>
              <a:buNone/>
            </a:pPr>
            <a:r>
              <a:rPr sz="1000" b="1" i="0">
                <a:solidFill>
                  <a:srgbClr val="9FC1AA"/>
                </a:solidFill>
                <a:latin typeface="Arial"/>
              </a:rPr>
              <a:t>SOURCE ON GITHUB</a:t>
            </a:r>
          </a:p>
        </p:txBody>
      </p:sp>
      <p:sp>
        <p:nvSpPr>
          <p:cNvPr id="10" name="Rounded Rectangle 9"/>
          <p:cNvSpPr/>
          <p:nvPr/>
        </p:nvSpPr>
        <p:spPr>
          <a:xfrm>
            <a:off x="2255520" y="5257800"/>
            <a:ext cx="2172970" cy="256032"/>
          </a:xfrm>
          <a:prstGeom prst="roundRect">
            <a:avLst>
              <a:gd name="adj" fmla="val 50000"/>
            </a:avLst>
          </a:prstGeom>
          <a:solidFill>
            <a:srgbClr val="28352C"/>
          </a:solidFill>
          <a:ln w="9525">
            <a:solidFill>
              <a:srgbClr val="A08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255520" y="5257800"/>
            <a:ext cx="2172970" cy="256032"/>
          </a:xfrm>
          <a:prstGeom prst="rect">
            <a:avLst/>
          </a:prstGeom>
          <a:noFill/>
        </p:spPr>
        <p:txBody>
          <a:bodyPr wrap="square" lIns="0" rIns="0" tIns="0" bIns="0" anchor="ctr">
            <a:noAutofit/>
          </a:bodyPr>
          <a:lstStyle/>
          <a:p>
            <a:pPr algn="ctr">
              <a:lnSpc>
                <a:spcPts val="1200"/>
              </a:lnSpc>
              <a:spcBef>
                <a:spcPts val="0"/>
              </a:spcBef>
              <a:spcAft>
                <a:spcPts val="0"/>
              </a:spcAft>
              <a:buNone/>
            </a:pPr>
            <a:r>
              <a:rPr sz="1000" b="1" i="0">
                <a:solidFill>
                  <a:srgbClr val="A08AE0"/>
                </a:solidFill>
                <a:latin typeface="Arial"/>
              </a:rPr>
              <a:t>BUILT WITH SWIFTUI + REACT</a:t>
            </a:r>
          </a:p>
        </p:txBody>
      </p:sp>
      <p:sp>
        <p:nvSpPr>
          <p:cNvPr id="12" name="Rounded Rectangle 11"/>
          <p:cNvSpPr/>
          <p:nvPr/>
        </p:nvSpPr>
        <p:spPr>
          <a:xfrm>
            <a:off x="4565650" y="5257800"/>
            <a:ext cx="2058669" cy="256032"/>
          </a:xfrm>
          <a:prstGeom prst="roundRect">
            <a:avLst>
              <a:gd name="adj" fmla="val 50000"/>
            </a:avLst>
          </a:prstGeom>
          <a:solidFill>
            <a:srgbClr val="28352C"/>
          </a:solidFill>
          <a:ln w="9525">
            <a:solidFill>
              <a:srgbClr val="F0B2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65650" y="5257800"/>
            <a:ext cx="2058669" cy="256032"/>
          </a:xfrm>
          <a:prstGeom prst="rect">
            <a:avLst/>
          </a:prstGeom>
          <a:noFill/>
        </p:spPr>
        <p:txBody>
          <a:bodyPr wrap="square" lIns="0" rIns="0" tIns="0" bIns="0" anchor="ctr">
            <a:noAutofit/>
          </a:bodyPr>
          <a:lstStyle/>
          <a:p>
            <a:pPr algn="ctr">
              <a:lnSpc>
                <a:spcPts val="1200"/>
              </a:lnSpc>
              <a:spcBef>
                <a:spcPts val="0"/>
              </a:spcBef>
              <a:spcAft>
                <a:spcPts val="0"/>
              </a:spcAft>
              <a:buNone/>
            </a:pPr>
            <a:r>
              <a:rPr sz="1000" b="1" i="0">
                <a:solidFill>
                  <a:srgbClr val="F0B23A"/>
                </a:solidFill>
                <a:latin typeface="Arial"/>
              </a:rPr>
              <a:t>MADE IN [CITY], CALIFORNIA</a:t>
            </a:r>
          </a:p>
        </p:txBody>
      </p:sp>
      <p:sp>
        <p:nvSpPr>
          <p:cNvPr id="14" name="Rounded Rectangle 13"/>
          <p:cNvSpPr/>
          <p:nvPr/>
        </p:nvSpPr>
        <p:spPr>
          <a:xfrm>
            <a:off x="8351215" y="1280160"/>
            <a:ext cx="3291840" cy="4297680"/>
          </a:xfrm>
          <a:prstGeom prst="roundRect">
            <a:avLst>
              <a:gd name="adj" fmla="val 4444"/>
            </a:avLst>
          </a:prstGeom>
          <a:solidFill>
            <a:srgbClr val="202B24"/>
          </a:solidFill>
          <a:ln w="12700">
            <a:solidFill>
              <a:srgbClr val="3C4B4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qr.png"/>
          <p:cNvPicPr>
            <a:picLocks noChangeAspect="1"/>
          </p:cNvPicPr>
          <p:nvPr/>
        </p:nvPicPr>
        <p:blipFill>
          <a:blip r:embed="rId4"/>
          <a:stretch>
            <a:fillRect/>
          </a:stretch>
        </p:blipFill>
        <p:spPr>
          <a:xfrm>
            <a:off x="8762695" y="1508760"/>
            <a:ext cx="2468880" cy="2468880"/>
          </a:xfrm>
          <a:prstGeom prst="roundRect">
            <a:avLst>
              <a:gd name="adj" fmla="val 4444"/>
            </a:avLst>
          </a:prstGeom>
        </p:spPr>
      </p:pic>
      <p:sp>
        <p:nvSpPr>
          <p:cNvPr id="16" name="TextBox 15"/>
          <p:cNvSpPr txBox="1"/>
          <p:nvPr/>
        </p:nvSpPr>
        <p:spPr>
          <a:xfrm>
            <a:off x="8351215" y="4069080"/>
            <a:ext cx="3291840" cy="274320"/>
          </a:xfrm>
          <a:prstGeom prst="rect">
            <a:avLst/>
          </a:prstGeom>
          <a:noFill/>
        </p:spPr>
        <p:txBody>
          <a:bodyPr wrap="square" lIns="0" rIns="0" tIns="0" bIns="0" anchor="t">
            <a:noAutofit/>
          </a:bodyPr>
          <a:lstStyle/>
          <a:p>
            <a:pPr algn="ctr">
              <a:lnSpc>
                <a:spcPts val="1439"/>
              </a:lnSpc>
              <a:spcBef>
                <a:spcPts val="0"/>
              </a:spcBef>
              <a:spcAft>
                <a:spcPts val="0"/>
              </a:spcAft>
              <a:buNone/>
            </a:pPr>
            <a:r>
              <a:rPr sz="1200" b="1" i="0">
                <a:solidFill>
                  <a:srgbClr val="F4F6F2"/>
                </a:solidFill>
                <a:latin typeface="Arial"/>
              </a:rPr>
              <a:t>Source code &amp; docs</a:t>
            </a:r>
          </a:p>
        </p:txBody>
      </p:sp>
      <p:sp>
        <p:nvSpPr>
          <p:cNvPr id="17" name="TextBox 16"/>
          <p:cNvSpPr txBox="1"/>
          <p:nvPr/>
        </p:nvSpPr>
        <p:spPr>
          <a:xfrm>
            <a:off x="8351215" y="4343400"/>
            <a:ext cx="3291840" cy="274320"/>
          </a:xfrm>
          <a:prstGeom prst="rect">
            <a:avLst/>
          </a:prstGeom>
          <a:noFill/>
        </p:spPr>
        <p:txBody>
          <a:bodyPr wrap="square" lIns="0" rIns="0" tIns="0" bIns="0" anchor="t">
            <a:noAutofit/>
          </a:bodyPr>
          <a:lstStyle/>
          <a:p>
            <a:pPr algn="ctr">
              <a:lnSpc>
                <a:spcPts val="1380"/>
              </a:lnSpc>
              <a:spcBef>
                <a:spcPts val="0"/>
              </a:spcBef>
              <a:spcAft>
                <a:spcPts val="0"/>
              </a:spcAft>
              <a:buNone/>
            </a:pPr>
            <a:r>
              <a:rPr sz="1150" b="0" i="0">
                <a:solidFill>
                  <a:srgbClr val="9FC1AA"/>
                </a:solidFill>
                <a:latin typeface="Arial"/>
              </a:rPr>
              <a:t>github.com/engineer2025-sudo/Care</a:t>
            </a:r>
          </a:p>
        </p:txBody>
      </p:sp>
      <p:sp>
        <p:nvSpPr>
          <p:cNvPr id="18" name="TextBox 17"/>
          <p:cNvSpPr txBox="1"/>
          <p:nvPr/>
        </p:nvSpPr>
        <p:spPr>
          <a:xfrm>
            <a:off x="8534095" y="4709160"/>
            <a:ext cx="2926080" cy="731520"/>
          </a:xfrm>
          <a:prstGeom prst="rect">
            <a:avLst/>
          </a:prstGeom>
          <a:noFill/>
        </p:spPr>
        <p:txBody>
          <a:bodyPr wrap="square" lIns="0" rIns="0" tIns="0" bIns="0" anchor="t">
            <a:noAutofit/>
          </a:bodyPr>
          <a:lstStyle/>
          <a:p>
            <a:pPr algn="ctr">
              <a:lnSpc>
                <a:spcPts val="1365"/>
              </a:lnSpc>
              <a:spcBef>
                <a:spcPts val="0"/>
              </a:spcBef>
              <a:spcAft>
                <a:spcPts val="0"/>
              </a:spcAft>
              <a:buNone/>
            </a:pPr>
            <a:r>
              <a:rPr sz="1050" b="0" i="0">
                <a:solidFill>
                  <a:srgbClr val="A2B0A3"/>
                </a:solidFill>
                <a:latin typeface="Arial"/>
              </a:rPr>
              <a:t>Demo video: [YouTube link]</a:t>
            </a:r>
          </a:p>
          <a:p>
            <a:pPr algn="ctr">
              <a:lnSpc>
                <a:spcPts val="1365"/>
              </a:lnSpc>
              <a:spcBef>
                <a:spcPts val="0"/>
              </a:spcBef>
              <a:spcAft>
                <a:spcPts val="0"/>
              </a:spcAft>
              <a:buNone/>
            </a:pPr>
            <a:r>
              <a:rPr sz="1050" b="0" i="0">
                <a:solidFill>
                  <a:srgbClr val="A2B0A3"/>
                </a:solidFill>
                <a:latin typeface="Arial"/>
              </a:rPr>
              <a:t>Install guide: DOWNLOAD.md in the repo</a:t>
            </a:r>
          </a:p>
        </p:txBody>
      </p:sp>
      <p:sp>
        <p:nvSpPr>
          <p:cNvPr id="19" name="TextBox 18"/>
          <p:cNvSpPr txBox="1"/>
          <p:nvPr/>
        </p:nvSpPr>
        <p:spPr>
          <a:xfrm>
            <a:off x="548640" y="6446520"/>
            <a:ext cx="6309360" cy="274320"/>
          </a:xfrm>
          <a:prstGeom prst="rect">
            <a:avLst/>
          </a:prstGeom>
          <a:noFill/>
        </p:spPr>
        <p:txBody>
          <a:bodyPr wrap="square" lIns="0" rIns="0" tIns="0" bIns="0" anchor="t">
            <a:noAutofit/>
          </a:bodyPr>
          <a:lstStyle/>
          <a:p>
            <a:pPr algn="l">
              <a:lnSpc>
                <a:spcPts val="1260"/>
              </a:lnSpc>
              <a:spcBef>
                <a:spcPts val="0"/>
              </a:spcBef>
              <a:spcAft>
                <a:spcPts val="0"/>
              </a:spcAft>
              <a:buNone/>
            </a:pPr>
            <a:r>
              <a:rPr sz="1050" b="0" i="0">
                <a:solidFill>
                  <a:srgbClr val="77857A"/>
                </a:solidFill>
                <a:latin typeface="Arial"/>
              </a:rPr>
              <a:t>Congressional App Challenge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