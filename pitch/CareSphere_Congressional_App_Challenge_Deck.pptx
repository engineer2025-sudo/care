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Default Extension="fntdata" ContentType="application/x-fontdata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embeddedFontLst>
    <p:embeddedFont>
      <p:font typeface="Plus Jakarta Sans" panose="00000000000000000000" pitchFamily="34" charset="0"/>
      <p:regular r:id="rId21"/>
      <p:bold r:id="rId22"/>
    </p:embeddedFont>
    <p:embeddedFont>
      <p:font typeface="Plus Jakarta Sans Medium" panose="00000000000000000000" pitchFamily="34" charset="0"/>
      <p:regular r:id="rId23"/>
    </p:embeddedFont>
    <p:embeddedFont>
      <p:font typeface="Plus Jakarta Sans ExtraBold" panose="00000000000000000000" pitchFamily="34" charset="0"/>
      <p:regular r:id="rId24"/>
    </p:embeddedFont>
    <p:embeddedFont>
      <p:font typeface="JetBrains Mono" panose="02000009000000000000" pitchFamily="49" charset="0"/>
      <p:regular r:id="rId25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font" Target="fonts/font1.fntdata"/><Relationship Id="rId22" Type="http://schemas.openxmlformats.org/officeDocument/2006/relationships/font" Target="fonts/font2.fntdata"/><Relationship Id="rId23" Type="http://schemas.openxmlformats.org/officeDocument/2006/relationships/font" Target="fonts/font3.fntdata"/><Relationship Id="rId24" Type="http://schemas.openxmlformats.org/officeDocument/2006/relationships/font" Target="fonts/font4.fntdata"/><Relationship Id="rId25" Type="http://schemas.openxmlformats.org/officeDocument/2006/relationships/font" Target="fonts/font5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[0:00–0:14] Hi, I'm Arnav Kochar, a [GRADE] at [SCHOOL] in [CITY], California. This is CareSphere AI — a private care companion for older adults, autistic people and their families, on iPhone and on the web.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[0:14–0:26] (Your story in one sentence — name a specific person, a specific moment. E.g.: My grandmother lives alone, and every call started the same way: did you take your pills? did you talk to anyone today?) So I built the app I wished she had: calm, honest, and private by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[0:26–0:39] One in four older adults is socially isolated — a twenty-nine percent higher risk of early death. One in thirty-one children is autistic. Half of long-term medications aren't taken as prescribed. And sixty-three million family caregivers hold it all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[0:39–0:47] Today a family juggles four apps — four accounts, four clouds — and none of them was designed for autistic users.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[0:47–0:57] CareSphere is one calm app with five tabs — Overview, Activities, Coffee Circles, Care Circle and Vitals — with no server behind any of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[0:57–1:42] Let me show you. (Switch to the screen recording — six shots, see VIDEO_SCRIPT.md: mood check-in and routine; medication reminder and Taken; Bluetooth pairing or the labeled demo plus Export CSV; Pattern Recall and the Rain soundscape; join a Coffee Circle; build and download a visit brief.)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[1:42–1:53] What makes it different isn't a feature — it's four rules in the code: never fabricate a reading, never send anything automatically, calm by default, private by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[1:53–2:01] It's built for three people at once: older adults, autistic teens and adults, and the caregivers who support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[2:01–2:12] Everything stays on the device: AES-256 encryption, Bluetooth and HealthKit read locally, and a 1.5-billion-parameter model that answers health questions offline. Zero accounts, zero servers, zero trackers.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[2:12–2:23] It's React and JavaScript on the web, Swift and SwiftUI on iPhone — Web Bluetooth, HealthKit, CryptoKit and llama.cpp. Eleven thousand lines, seventeen tests, three public releases.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[2:23–2:35] The hardest problem was keeping Bluetooth honest: notifications arrive late and out of order, so I label every sample live or simulated at the source and drop stale sessions with a generation counter.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[2:35–2:47] Version 2.0 starts with co-design sessions with autistic people, people living with dementia and caregivers, then a TestFlight beta and sensor history in the visit brief — still with no server. (Deliberately not planned: cloud sync, a clinician portal or a drug-interaction checker — not without clinical review.)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[2:47–2:53] CareSphere AI — care that stays yours. The code and install guide are on GitHub.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4.png"/><Relationship Id="rId8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B1733"/>
            </a:gs>
            <a:gs pos="100000">
              <a:srgbClr val="0F2659"/>
            </a:gs>
          </a:gsLst>
          <a:lin scaled="0" ang="5400000"/>
        </a:gra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-2651760"/>
            <a:ext cx="8686800" cy="86868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1037844"/>
            <a:ext cx="256032" cy="32004"/>
          </a:xfrm>
          <a:prstGeom prst="roundRect">
            <a:avLst>
              <a:gd name="adj" fmla="val 50000"/>
            </a:avLst>
          </a:prstGeom>
          <a:solidFill>
            <a:srgbClr val="06E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97280" y="92354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spc="160">
                <a:solidFill>
                  <a:srgbClr val="06E288"/>
                </a:solidFill>
                <a:latin typeface="Plus Jakarta Sans"/>
              </a:rPr>
              <a:t>CONGRESSIONAL APP CHALLENGE 2026  ·  CA-10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694944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0" b="0">
                <a:solidFill>
                  <a:srgbClr val="FFFFFF"/>
                </a:solidFill>
                <a:latin typeface="Plus Jakarta Sans ExtraBold"/>
              </a:rPr>
              <a:t>CareSphere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80360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700" b="0">
                <a:solidFill>
                  <a:srgbClr val="06E288"/>
                </a:solidFill>
                <a:latin typeface="Plus Jakarta Sans Medium"/>
              </a:rPr>
              <a:t>Connected care for independent living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11880"/>
            <a:ext cx="612648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D7E0F2"/>
                </a:solidFill>
                <a:latin typeface="Plus Jakarta Sans"/>
              </a:rPr>
              <a:t>A private care companion for older adults, autistic people and the families who care for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257800"/>
            <a:ext cx="676656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FFFFFF"/>
                </a:solidFill>
                <a:latin typeface="Plus Jakarta Sans"/>
              </a:rPr>
              <a:t>Arnav Kochar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669280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93A4C7"/>
                </a:solidFill>
                <a:latin typeface="Plus Jakarta Sans"/>
              </a:rPr>
              <a:t>[School]  ·  [City], California  ·  kochar4646@gmail.com</a:t>
            </a:r>
          </a:p>
        </p:txBody>
      </p:sp>
      <p:pic>
        <p:nvPicPr>
          <p:cNvPr id="10" name="Picture 9" descr="phone-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79" y="868680"/>
            <a:ext cx="3397636" cy="66751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B1733"/>
            </a:gs>
            <a:gs pos="100000">
              <a:srgbClr val="0F2659"/>
            </a:gs>
          </a:gsLst>
          <a:lin scaled="0" ang="54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644652"/>
            <a:ext cx="256032" cy="32004"/>
          </a:xfrm>
          <a:prstGeom prst="roundRect">
            <a:avLst>
              <a:gd name="adj" fmla="val 50000"/>
            </a:avLst>
          </a:prstGeom>
          <a:solidFill>
            <a:srgbClr val="06E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97280" y="5303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spc="160">
                <a:solidFill>
                  <a:srgbClr val="06E288"/>
                </a:solidFill>
                <a:latin typeface="Plus Jakarta Sans"/>
              </a:rPr>
              <a:t>WHY I BUILT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17320"/>
            <a:ext cx="6400800" cy="2926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7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900" b="1">
                <a:solidFill>
                  <a:srgbClr val="FFFFFF"/>
                </a:solidFill>
                <a:latin typeface="Plus Jakarta Sans"/>
              </a:rPr>
              <a:t>“[Your story in one or two sentences — e.g. My grandmother lives alone, and every call started the same way: did you take your pills? did you talk to anyone today?]”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61772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06E288"/>
                </a:solidFill>
                <a:latin typeface="Plus Jakarta Sans Medium"/>
              </a:rPr>
              <a:t>— Arnav Kochar, [grade], [School]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120640"/>
            <a:ext cx="640080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93A4C7"/>
                </a:solidFill>
                <a:latin typeface="Plus Jakarta Sans"/>
              </a:rPr>
              <a:t>So I built the app I wished she had: calm, honest, and private by design.</a:t>
            </a:r>
          </a:p>
        </p:txBody>
      </p:sp>
      <p:pic>
        <p:nvPicPr>
          <p:cNvPr id="7" name="Picture 6" descr="phone-to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685800"/>
            <a:ext cx="3211464" cy="6309360"/>
          </a:xfrm>
          <a:prstGeom prst="rect">
            <a:avLst/>
          </a:prstGeom>
        </p:spPr>
      </p:pic>
      <p:pic>
        <p:nvPicPr>
          <p:cNvPr id="8" name="Picture 7" descr="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382512"/>
            <a:ext cx="237744" cy="237744"/>
          </a:xfrm>
          <a:prstGeom prst="roundRect">
            <a:avLst>
              <a:gd name="adj" fmla="val 26923"/>
            </a:avLst>
          </a:prstGeom>
        </p:spPr>
      </p:pic>
      <p:sp>
        <p:nvSpPr>
          <p:cNvPr id="9" name="TextBox 8"/>
          <p:cNvSpPr txBox="1"/>
          <p:nvPr/>
        </p:nvSpPr>
        <p:spPr>
          <a:xfrm>
            <a:off x="1060704" y="640080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spc="60">
                <a:solidFill>
                  <a:srgbClr val="5F7299"/>
                </a:solidFill>
                <a:latin typeface="Plus Jakarta Sans"/>
              </a:rPr>
              <a:t>CareSphere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8575" y="640080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spc="60">
                <a:solidFill>
                  <a:srgbClr val="5F7299"/>
                </a:solidFill>
                <a:latin typeface="Plus Jakarta Sans Medium"/>
              </a:rPr>
              <a:t>02  /  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B1733"/>
            </a:gs>
            <a:gs pos="100000">
              <a:srgbClr val="0F2659"/>
            </a:gs>
          </a:gsLst>
          <a:lin scaled="0" ang="54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644652"/>
            <a:ext cx="256032" cy="32004"/>
          </a:xfrm>
          <a:prstGeom prst="roundRect">
            <a:avLst>
              <a:gd name="adj" fmla="val 50000"/>
            </a:avLst>
          </a:prstGeom>
          <a:solidFill>
            <a:srgbClr val="06E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97280" y="5303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spc="160">
                <a:solidFill>
                  <a:srgbClr val="06E288"/>
                </a:solidFill>
                <a:latin typeface="Plus Jakarta Sans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24128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>
                <a:solidFill>
                  <a:srgbClr val="FFFFFF"/>
                </a:solidFill>
                <a:latin typeface="Plus Jakarta Sans"/>
              </a:rPr>
              <a:t>Growing older — or growing up autistic — too often means facing care alone.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97480"/>
            <a:ext cx="3271418" cy="13436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6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200" b="0">
                <a:solidFill>
                  <a:srgbClr val="FFFFFF"/>
                </a:solidFill>
                <a:latin typeface="Plus Jakarta Sans ExtraBold"/>
              </a:rPr>
              <a:t>1 in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99560"/>
            <a:ext cx="3271418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06E288"/>
                </a:solidFill>
                <a:latin typeface="Plus Jakarta Sans Medium"/>
              </a:rPr>
              <a:t>older adults are socially isolated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74920"/>
            <a:ext cx="327141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5F7299"/>
                </a:solidFill>
                <a:latin typeface="Plus Jakarta Sans Medium"/>
              </a:rPr>
              <a:t>NASEM, 2020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60138" y="2697480"/>
            <a:ext cx="3271418" cy="13436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6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200" b="0">
                <a:solidFill>
                  <a:srgbClr val="FFFFFF"/>
                </a:solidFill>
                <a:latin typeface="Plus Jakarta Sans ExtraBold"/>
              </a:rPr>
              <a:t>1 in 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60138" y="4099560"/>
            <a:ext cx="3271418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06E288"/>
                </a:solidFill>
                <a:latin typeface="Plus Jakarta Sans Medium"/>
              </a:rPr>
              <a:t>children are autistic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60138" y="5074920"/>
            <a:ext cx="327141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5F7299"/>
                </a:solidFill>
                <a:latin typeface="Plus Jakarta Sans Medium"/>
              </a:rPr>
              <a:t>CDC, 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8756" y="2697480"/>
            <a:ext cx="3271418" cy="13436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6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200" b="0">
                <a:solidFill>
                  <a:srgbClr val="FFFFFF"/>
                </a:solidFill>
                <a:latin typeface="Plus Jakarta Sans ExtraBold"/>
              </a:rPr>
              <a:t>50%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8756" y="4099560"/>
            <a:ext cx="3271418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06E288"/>
                </a:solidFill>
                <a:latin typeface="Plus Jakarta Sans Medium"/>
              </a:rPr>
              <a:t>of long-term medicines aren’t taken as prescribed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8756" y="5074920"/>
            <a:ext cx="327141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5F7299"/>
                </a:solidFill>
                <a:latin typeface="Plus Jakarta Sans Medium"/>
              </a:rPr>
              <a:t>WHO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715000"/>
            <a:ext cx="1072865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D7E0F2"/>
                </a:solidFill>
                <a:latin typeface="Plus Jakarta Sans"/>
              </a:rPr>
              <a:t>Behind them: 63 million family caregivers.   </a:t>
            </a:r>
            <a:r>
              <a:rPr sz="1700" b="0">
                <a:solidFill>
                  <a:srgbClr val="93A4C7"/>
                </a:solidFill>
                <a:latin typeface="Plus Jakarta Sans"/>
              </a:rPr>
              <a:t>AARP &amp; NAC, 2025</a:t>
            </a:r>
          </a:p>
        </p:txBody>
      </p:sp>
      <p:pic>
        <p:nvPicPr>
          <p:cNvPr id="15" name="Picture 14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6382512"/>
            <a:ext cx="237744" cy="237744"/>
          </a:xfrm>
          <a:prstGeom prst="roundRect">
            <a:avLst>
              <a:gd name="adj" fmla="val 26923"/>
            </a:avLst>
          </a:prstGeom>
        </p:spPr>
      </p:pic>
      <p:sp>
        <p:nvSpPr>
          <p:cNvPr id="16" name="TextBox 15"/>
          <p:cNvSpPr txBox="1"/>
          <p:nvPr/>
        </p:nvSpPr>
        <p:spPr>
          <a:xfrm>
            <a:off x="1060704" y="640080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spc="60">
                <a:solidFill>
                  <a:srgbClr val="5F7299"/>
                </a:solidFill>
                <a:latin typeface="Plus Jakarta Sans"/>
              </a:rPr>
              <a:t>CareSphere 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88575" y="640080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spc="60">
                <a:solidFill>
                  <a:srgbClr val="5F7299"/>
                </a:solidFill>
                <a:latin typeface="Plus Jakarta Sans Medium"/>
              </a:rPr>
              <a:t>03  /  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B1733"/>
            </a:gs>
            <a:gs pos="100000">
              <a:srgbClr val="0F2659"/>
            </a:gs>
          </a:gsLst>
          <a:lin scaled="0" ang="54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644652"/>
            <a:ext cx="256032" cy="32004"/>
          </a:xfrm>
          <a:prstGeom prst="roundRect">
            <a:avLst>
              <a:gd name="adj" fmla="val 50000"/>
            </a:avLst>
          </a:prstGeom>
          <a:solidFill>
            <a:srgbClr val="06E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97280" y="5303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spc="160">
                <a:solidFill>
                  <a:srgbClr val="06E288"/>
                </a:solidFill>
                <a:latin typeface="Plus Jakarta Sans"/>
              </a:rPr>
              <a:t>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>
                <a:solidFill>
                  <a:srgbClr val="FFFFFF"/>
                </a:solidFill>
                <a:latin typeface="Plus Jakarta Sans"/>
              </a:rPr>
              <a:t>Four apps. Four accounts. Four clouds.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468880"/>
            <a:ext cx="1783080" cy="2011680"/>
          </a:xfrm>
          <a:prstGeom prst="roundRect">
            <a:avLst>
              <a:gd name="adj" fmla="val 10256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05840" y="2761488"/>
            <a:ext cx="132588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>
                <a:solidFill>
                  <a:srgbClr val="FFFFFF"/>
                </a:solidFill>
                <a:latin typeface="Plus Jakarta Sans"/>
              </a:rPr>
              <a:t>Medication</a:t>
            </a:r>
          </a:p>
          <a:p>
            <a:pPr algn="l">
              <a:lnSpc>
                <a:spcPts val="2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>
                <a:solidFill>
                  <a:srgbClr val="FFFFFF"/>
                </a:solidFill>
                <a:latin typeface="Plus Jakarta Sans"/>
              </a:rPr>
              <a:t>app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886200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93A4C7"/>
                </a:solidFill>
                <a:latin typeface="Plus Jakarta Sans Medium"/>
              </a:rPr>
              <a:t>account · cloud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15768" y="2468880"/>
            <a:ext cx="1783080" cy="2011680"/>
          </a:xfrm>
          <a:prstGeom prst="roundRect">
            <a:avLst>
              <a:gd name="adj" fmla="val 10256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990087" y="2761488"/>
            <a:ext cx="132588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>
                <a:solidFill>
                  <a:srgbClr val="FFFFFF"/>
                </a:solidFill>
                <a:latin typeface="Plus Jakarta Sans"/>
              </a:rPr>
              <a:t>Video</a:t>
            </a:r>
          </a:p>
          <a:p>
            <a:pPr algn="l">
              <a:lnSpc>
                <a:spcPts val="2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>
                <a:solidFill>
                  <a:srgbClr val="FFFFFF"/>
                </a:solidFill>
                <a:latin typeface="Plus Jakarta Sans"/>
              </a:rPr>
              <a:t>calls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90087" y="3886200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93A4C7"/>
                </a:solidFill>
                <a:latin typeface="Plus Jakarta Sans Medium"/>
              </a:rPr>
              <a:t>account · cloud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0016" y="2468880"/>
            <a:ext cx="1783080" cy="2011680"/>
          </a:xfrm>
          <a:prstGeom prst="roundRect">
            <a:avLst>
              <a:gd name="adj" fmla="val 10256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974336" y="2761488"/>
            <a:ext cx="132588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>
                <a:solidFill>
                  <a:srgbClr val="FFFFFF"/>
                </a:solidFill>
                <a:latin typeface="Plus Jakarta Sans"/>
              </a:rPr>
              <a:t>Health</a:t>
            </a:r>
          </a:p>
          <a:p>
            <a:pPr algn="l">
              <a:lnSpc>
                <a:spcPts val="2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>
                <a:solidFill>
                  <a:srgbClr val="FFFFFF"/>
                </a:solidFill>
                <a:latin typeface="Plus Jakarta Sans"/>
              </a:rPr>
              <a:t>record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74336" y="3886200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93A4C7"/>
                </a:solidFill>
                <a:latin typeface="Plus Jakarta Sans Medium"/>
              </a:rPr>
              <a:t>account · cloud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84264" y="2468880"/>
            <a:ext cx="1783080" cy="2011680"/>
          </a:xfrm>
          <a:prstGeom prst="roundRect">
            <a:avLst>
              <a:gd name="adj" fmla="val 10256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958583" y="2761488"/>
            <a:ext cx="132588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>
                <a:solidFill>
                  <a:srgbClr val="FFFFFF"/>
                </a:solidFill>
                <a:latin typeface="Plus Jakarta Sans"/>
              </a:rPr>
              <a:t>Family</a:t>
            </a:r>
          </a:p>
          <a:p>
            <a:pPr algn="l">
              <a:lnSpc>
                <a:spcPts val="2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>
                <a:solidFill>
                  <a:srgbClr val="FFFFFF"/>
                </a:solidFill>
                <a:latin typeface="Plus Jakarta Sans"/>
              </a:rPr>
              <a:t>updates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8583" y="3886200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93A4C7"/>
                </a:solidFill>
                <a:latin typeface="Plus Jakarta Sans Medium"/>
              </a:rPr>
              <a:t>account · cloud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604504" y="3474720"/>
            <a:ext cx="566928" cy="0"/>
          </a:xfrm>
          <a:prstGeom prst="line">
            <a:avLst/>
          </a:prstGeom>
          <a:ln w="31750">
            <a:solidFill>
              <a:srgbClr val="06E2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381744" y="2240280"/>
            <a:ext cx="2078431" cy="2468880"/>
          </a:xfrm>
          <a:prstGeom prst="roundRect">
            <a:avLst>
              <a:gd name="adj" fmla="val 8798"/>
            </a:avLst>
          </a:prstGeom>
          <a:solidFill>
            <a:srgbClr val="06E288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74352" y="2450592"/>
            <a:ext cx="1621231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>
                <a:solidFill>
                  <a:srgbClr val="0A1324"/>
                </a:solidFill>
                <a:latin typeface="Plus Jakarta Sans ExtraBold"/>
              </a:rPr>
              <a:t>CareSphere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74352" y="3035808"/>
            <a:ext cx="1621231" cy="1554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>
                <a:solidFill>
                  <a:srgbClr val="0A1324"/>
                </a:solidFill>
                <a:latin typeface="Plus Jakarta Sans Medium"/>
              </a:rPr>
              <a:t>1 app</a:t>
            </a:r>
          </a:p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>
                <a:solidFill>
                  <a:srgbClr val="0A1324"/>
                </a:solidFill>
                <a:latin typeface="Plus Jakarta Sans Medium"/>
              </a:rPr>
              <a:t>0 accounts</a:t>
            </a:r>
          </a:p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>
                <a:solidFill>
                  <a:srgbClr val="0A1324"/>
                </a:solidFill>
                <a:latin typeface="Plus Jakarta Sans Medium"/>
              </a:rPr>
              <a:t>0 clouds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349240"/>
            <a:ext cx="1072865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93A4C7"/>
                </a:solidFill>
                <a:latin typeface="Plus Jakarta Sans"/>
              </a:rPr>
              <a:t>Medisafe · FaceTime · MyChart · CaringBridge — none designed for autistic users.</a:t>
            </a:r>
          </a:p>
        </p:txBody>
      </p:sp>
      <p:pic>
        <p:nvPicPr>
          <p:cNvPr id="22" name="Picture 21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6382512"/>
            <a:ext cx="237744" cy="237744"/>
          </a:xfrm>
          <a:prstGeom prst="roundRect">
            <a:avLst>
              <a:gd name="adj" fmla="val 26923"/>
            </a:avLst>
          </a:prstGeom>
        </p:spPr>
      </p:pic>
      <p:sp>
        <p:nvSpPr>
          <p:cNvPr id="23" name="TextBox 22"/>
          <p:cNvSpPr txBox="1"/>
          <p:nvPr/>
        </p:nvSpPr>
        <p:spPr>
          <a:xfrm>
            <a:off x="1060704" y="640080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spc="60">
                <a:solidFill>
                  <a:srgbClr val="5F7299"/>
                </a:solidFill>
                <a:latin typeface="Plus Jakarta Sans"/>
              </a:rPr>
              <a:t>CareSphere 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88575" y="640080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spc="60">
                <a:solidFill>
                  <a:srgbClr val="5F7299"/>
                </a:solidFill>
                <a:latin typeface="Plus Jakarta Sans Medium"/>
              </a:rPr>
              <a:t>04  /  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B1733"/>
            </a:gs>
            <a:gs pos="100000">
              <a:srgbClr val="0F2659"/>
            </a:gs>
          </a:gsLst>
          <a:lin scaled="0" ang="54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644652"/>
            <a:ext cx="256032" cy="32004"/>
          </a:xfrm>
          <a:prstGeom prst="roundRect">
            <a:avLst>
              <a:gd name="adj" fmla="val 50000"/>
            </a:avLst>
          </a:prstGeom>
          <a:solidFill>
            <a:srgbClr val="06E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97280" y="5303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spc="160">
                <a:solidFill>
                  <a:srgbClr val="06E288"/>
                </a:solidFill>
                <a:latin typeface="Plus Jakarta Sans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>
                <a:solidFill>
                  <a:srgbClr val="FFFFFF"/>
                </a:solidFill>
                <a:latin typeface="Plus Jakarta Sans"/>
              </a:rPr>
              <a:t>One calm app. Five tabs. Zero servers.</a:t>
            </a:r>
          </a:p>
        </p:txBody>
      </p:sp>
      <p:pic>
        <p:nvPicPr>
          <p:cNvPr id="5" name="Picture 4" descr="phone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050" y="1737360"/>
            <a:ext cx="2286000" cy="44911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62050" y="6053328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1">
                <a:solidFill>
                  <a:srgbClr val="FFFFFF"/>
                </a:solidFill>
                <a:latin typeface="Plus Jakarta Sans"/>
              </a:rPr>
              <a:t>Overview</a:t>
            </a:r>
          </a:p>
        </p:txBody>
      </p:sp>
      <p:pic>
        <p:nvPicPr>
          <p:cNvPr id="7" name="Picture 6" descr="phone-activit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7449" y="1737360"/>
            <a:ext cx="2286000" cy="449115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07449" y="6053328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1">
                <a:solidFill>
                  <a:srgbClr val="FFFFFF"/>
                </a:solidFill>
                <a:latin typeface="Plus Jakarta Sans"/>
              </a:rPr>
              <a:t>Activities</a:t>
            </a:r>
          </a:p>
        </p:txBody>
      </p:sp>
      <p:pic>
        <p:nvPicPr>
          <p:cNvPr id="9" name="Picture 8" descr="phone-circl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2847" y="1737360"/>
            <a:ext cx="2286000" cy="449115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52847" y="6053328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1">
                <a:solidFill>
                  <a:srgbClr val="FFFFFF"/>
                </a:solidFill>
                <a:latin typeface="Plus Jakarta Sans"/>
              </a:rPr>
              <a:t>Coffee Circles</a:t>
            </a:r>
          </a:p>
        </p:txBody>
      </p:sp>
      <p:pic>
        <p:nvPicPr>
          <p:cNvPr id="11" name="Picture 10" descr="phone-ca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98246" y="1737360"/>
            <a:ext cx="2286000" cy="449115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198246" y="6053328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1">
                <a:solidFill>
                  <a:srgbClr val="FFFFFF"/>
                </a:solidFill>
                <a:latin typeface="Plus Jakarta Sans"/>
              </a:rPr>
              <a:t>Care Circle</a:t>
            </a:r>
          </a:p>
        </p:txBody>
      </p:sp>
      <p:pic>
        <p:nvPicPr>
          <p:cNvPr id="13" name="Picture 12" descr="phone-vital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43644" y="1737360"/>
            <a:ext cx="2286000" cy="449115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443644" y="6053328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1">
                <a:solidFill>
                  <a:srgbClr val="FFFFFF"/>
                </a:solidFill>
                <a:latin typeface="Plus Jakarta Sans"/>
              </a:rPr>
              <a:t>Vitals</a:t>
            </a:r>
          </a:p>
        </p:txBody>
      </p:sp>
      <p:pic>
        <p:nvPicPr>
          <p:cNvPr id="15" name="Picture 14" descr="ic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" y="6382512"/>
            <a:ext cx="237744" cy="237744"/>
          </a:xfrm>
          <a:prstGeom prst="roundRect">
            <a:avLst>
              <a:gd name="adj" fmla="val 26923"/>
            </a:avLst>
          </a:prstGeom>
        </p:spPr>
      </p:pic>
      <p:sp>
        <p:nvSpPr>
          <p:cNvPr id="16" name="TextBox 15"/>
          <p:cNvSpPr txBox="1"/>
          <p:nvPr/>
        </p:nvSpPr>
        <p:spPr>
          <a:xfrm>
            <a:off x="1060704" y="640080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spc="60">
                <a:solidFill>
                  <a:srgbClr val="5F7299"/>
                </a:solidFill>
                <a:latin typeface="Plus Jakarta Sans"/>
              </a:rPr>
              <a:t>CareSphere 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88575" y="640080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spc="60">
                <a:solidFill>
                  <a:srgbClr val="5F7299"/>
                </a:solidFill>
                <a:latin typeface="Plus Jakarta Sans Medium"/>
              </a:rPr>
              <a:t>05  /  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B1733"/>
            </a:gs>
            <a:gs pos="100000">
              <a:srgbClr val="0F2659"/>
            </a:gs>
          </a:gsLst>
          <a:lin scaled="0" ang="54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644652"/>
            <a:ext cx="256032" cy="32004"/>
          </a:xfrm>
          <a:prstGeom prst="roundRect">
            <a:avLst>
              <a:gd name="adj" fmla="val 50000"/>
            </a:avLst>
          </a:prstGeom>
          <a:solidFill>
            <a:srgbClr val="06E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97280" y="5303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spc="160">
                <a:solidFill>
                  <a:srgbClr val="06E288"/>
                </a:solidFill>
                <a:latin typeface="Plus Jakarta Sans"/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>
                <a:solidFill>
                  <a:srgbClr val="FFFFFF"/>
                </a:solidFill>
                <a:latin typeface="Plus Jakarta Sans"/>
              </a:rPr>
              <a:t>Let’s see it.</a:t>
            </a:r>
          </a:p>
        </p:txBody>
      </p:sp>
      <p:pic>
        <p:nvPicPr>
          <p:cNvPr id="5" name="Picture 4" descr="web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371600"/>
            <a:ext cx="7772400" cy="5536391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49640" y="2039112"/>
            <a:ext cx="36576" cy="868680"/>
          </a:xfrm>
          <a:prstGeom prst="roundRect">
            <a:avLst>
              <a:gd name="adj" fmla="val 50000"/>
            </a:avLst>
          </a:prstGeom>
          <a:solidFill>
            <a:srgbClr val="06E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823960" y="1965960"/>
            <a:ext cx="2636215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>
                <a:solidFill>
                  <a:srgbClr val="FFFFFF"/>
                </a:solidFill>
                <a:latin typeface="Plus Jakarta Sans"/>
              </a:rPr>
              <a:t>Real video rooms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23960" y="2423160"/>
            <a:ext cx="2636215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93A4C7"/>
                </a:solidFill>
                <a:latin typeface="Plus Jakarta Sans"/>
              </a:rPr>
              <a:t>no account needed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49640" y="3364991"/>
            <a:ext cx="36576" cy="868680"/>
          </a:xfrm>
          <a:prstGeom prst="roundRect">
            <a:avLst>
              <a:gd name="adj" fmla="val 50000"/>
            </a:avLst>
          </a:prstGeom>
          <a:solidFill>
            <a:srgbClr val="06E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823960" y="3291839"/>
            <a:ext cx="2636215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>
                <a:solidFill>
                  <a:srgbClr val="FFFFFF"/>
                </a:solidFill>
                <a:latin typeface="Plus Jakarta Sans"/>
              </a:rPr>
              <a:t>Honest vitals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3960" y="3749039"/>
            <a:ext cx="2636215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93A4C7"/>
                </a:solidFill>
                <a:latin typeface="Plus Jakarta Sans"/>
              </a:rPr>
              <a:t>every card says LIVE or SIMULATED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49640" y="4690872"/>
            <a:ext cx="36576" cy="868680"/>
          </a:xfrm>
          <a:prstGeom prst="roundRect">
            <a:avLst>
              <a:gd name="adj" fmla="val 50000"/>
            </a:avLst>
          </a:prstGeom>
          <a:solidFill>
            <a:srgbClr val="06E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823960" y="4617720"/>
            <a:ext cx="2636215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>
                <a:solidFill>
                  <a:srgbClr val="FFFFFF"/>
                </a:solidFill>
                <a:latin typeface="Plus Jakarta Sans"/>
              </a:rPr>
              <a:t>A brief you control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23960" y="5074920"/>
            <a:ext cx="2636215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93A4C7"/>
                </a:solidFill>
                <a:latin typeface="Plus Jakarta Sans"/>
              </a:rPr>
              <a:t>pick · preview · download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23960" y="5852160"/>
            <a:ext cx="2547874" cy="329184"/>
          </a:xfrm>
          <a:prstGeom prst="roundRect">
            <a:avLst>
              <a:gd name="adj" fmla="val 50000"/>
            </a:avLst>
          </a:prstGeom>
          <a:solidFill>
            <a:srgbClr val="06E288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823960" y="5852160"/>
            <a:ext cx="2547874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spc="100">
                <a:solidFill>
                  <a:srgbClr val="06E288"/>
                </a:solidFill>
                <a:latin typeface="Plus Jakarta Sans"/>
              </a:rPr>
              <a:t>REAL APP · NOTHING STAGED</a:t>
            </a:r>
          </a:p>
        </p:txBody>
      </p:sp>
      <p:pic>
        <p:nvPicPr>
          <p:cNvPr id="17" name="Picture 16" descr="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382512"/>
            <a:ext cx="237744" cy="237744"/>
          </a:xfrm>
          <a:prstGeom prst="roundRect">
            <a:avLst>
              <a:gd name="adj" fmla="val 26923"/>
            </a:avLst>
          </a:prstGeom>
        </p:spPr>
      </p:pic>
      <p:sp>
        <p:nvSpPr>
          <p:cNvPr id="18" name="TextBox 17"/>
          <p:cNvSpPr txBox="1"/>
          <p:nvPr/>
        </p:nvSpPr>
        <p:spPr>
          <a:xfrm>
            <a:off x="1060704" y="640080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spc="60">
                <a:solidFill>
                  <a:srgbClr val="5F7299"/>
                </a:solidFill>
                <a:latin typeface="Plus Jakarta Sans"/>
              </a:rPr>
              <a:t>CareSphere 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88575" y="640080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spc="60">
                <a:solidFill>
                  <a:srgbClr val="5F7299"/>
                </a:solidFill>
                <a:latin typeface="Plus Jakarta Sans Medium"/>
              </a:rPr>
              <a:t>06  /  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50">
        <p:push dir="l"/>
      </p:transition>
    </mc:Choice>
    <mc:Fallback>
      <p:transition spd="med">
        <p:push dir="l"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B1733"/>
            </a:gs>
            <a:gs pos="100000">
              <a:srgbClr val="0F2659"/>
            </a:gs>
          </a:gsLst>
          <a:lin scaled="0" ang="54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644652"/>
            <a:ext cx="256032" cy="32004"/>
          </a:xfrm>
          <a:prstGeom prst="roundRect">
            <a:avLst>
              <a:gd name="adj" fmla="val 50000"/>
            </a:avLst>
          </a:prstGeom>
          <a:solidFill>
            <a:srgbClr val="06E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97280" y="5303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spc="160">
                <a:solidFill>
                  <a:srgbClr val="06E288"/>
                </a:solidFill>
                <a:latin typeface="Plus Jakarta Sans"/>
              </a:rPr>
              <a:t>WHAT MAKES IT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>
                <a:solidFill>
                  <a:srgbClr val="FFFFFF"/>
                </a:solidFill>
                <a:latin typeface="Plus Jakarta Sans"/>
              </a:rPr>
              <a:t>Four rules, written into the code.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03120"/>
            <a:ext cx="5181447" cy="1783080"/>
          </a:xfrm>
          <a:prstGeom prst="roundRect">
            <a:avLst>
              <a:gd name="adj" fmla="val 10256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43000" y="2450591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spc="100">
                <a:solidFill>
                  <a:srgbClr val="06E288"/>
                </a:solidFill>
                <a:latin typeface="Plus Jakarta San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2404872"/>
            <a:ext cx="3718407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FFFFFF"/>
                </a:solidFill>
                <a:latin typeface="Plus Jakarta Sans"/>
              </a:rPr>
              <a:t>Never fabricate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2999232"/>
            <a:ext cx="3718407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>
                <a:solidFill>
                  <a:srgbClr val="93A4C7"/>
                </a:solidFill>
                <a:latin typeface="Plus Jakarta Sans"/>
              </a:rPr>
              <a:t>every reading says LIVE or SIMULATED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2103120"/>
            <a:ext cx="5181447" cy="1783080"/>
          </a:xfrm>
          <a:prstGeom prst="roundRect">
            <a:avLst>
              <a:gd name="adj" fmla="val 10256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690207" y="2450591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spc="100">
                <a:solidFill>
                  <a:srgbClr val="06E288"/>
                </a:solidFill>
                <a:latin typeface="Plus Jakarta San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21727" y="2404872"/>
            <a:ext cx="3718407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2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FFFFFF"/>
                </a:solidFill>
                <a:latin typeface="Plus Jakarta Sans"/>
              </a:rPr>
              <a:t>Nothing sent automatically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21727" y="2999232"/>
            <a:ext cx="3718407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93A4C7"/>
                </a:solidFill>
                <a:latin typeface="Plus Jakarta Sans"/>
              </a:rPr>
              <a:t>a person always taps Send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06240"/>
            <a:ext cx="5181447" cy="1783080"/>
          </a:xfrm>
          <a:prstGeom prst="roundRect">
            <a:avLst>
              <a:gd name="adj" fmla="val 10256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143000" y="4553712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spc="100">
                <a:solidFill>
                  <a:srgbClr val="06E288"/>
                </a:solidFill>
                <a:latin typeface="Plus Jakarta Sans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4507992"/>
            <a:ext cx="3718407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FFFFFF"/>
                </a:solidFill>
                <a:latin typeface="Plus Jakarta Sans"/>
              </a:rPr>
              <a:t>Calm by default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5102352"/>
            <a:ext cx="3718407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>
                <a:solidFill>
                  <a:srgbClr val="93A4C7"/>
                </a:solidFill>
                <a:latin typeface="Plus Jakarta Sans"/>
              </a:rPr>
              <a:t>no timers, scores or auto-advance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78727" y="4206240"/>
            <a:ext cx="5181447" cy="1783080"/>
          </a:xfrm>
          <a:prstGeom prst="roundRect">
            <a:avLst>
              <a:gd name="adj" fmla="val 10256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690207" y="4553712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spc="100">
                <a:solidFill>
                  <a:srgbClr val="06E288"/>
                </a:solidFill>
                <a:latin typeface="Plus Jakarta San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1727" y="4507992"/>
            <a:ext cx="3718407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FFFFFF"/>
                </a:solidFill>
                <a:latin typeface="Plus Jakarta Sans"/>
              </a:rPr>
              <a:t>Private by architecture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21727" y="5102352"/>
            <a:ext cx="3718407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93A4C7"/>
                </a:solidFill>
                <a:latin typeface="Plus Jakarta Sans"/>
              </a:rPr>
              <a:t>no account, no server, encrypted</a:t>
            </a:r>
          </a:p>
        </p:txBody>
      </p:sp>
      <p:pic>
        <p:nvPicPr>
          <p:cNvPr id="21" name="Picture 20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6382512"/>
            <a:ext cx="237744" cy="237744"/>
          </a:xfrm>
          <a:prstGeom prst="roundRect">
            <a:avLst>
              <a:gd name="adj" fmla="val 26923"/>
            </a:avLst>
          </a:prstGeom>
        </p:spPr>
      </p:pic>
      <p:sp>
        <p:nvSpPr>
          <p:cNvPr id="22" name="TextBox 21"/>
          <p:cNvSpPr txBox="1"/>
          <p:nvPr/>
        </p:nvSpPr>
        <p:spPr>
          <a:xfrm>
            <a:off x="1060704" y="640080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spc="60">
                <a:solidFill>
                  <a:srgbClr val="5F7299"/>
                </a:solidFill>
                <a:latin typeface="Plus Jakarta Sans"/>
              </a:rPr>
              <a:t>CareSphere AI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88575" y="640080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spc="60">
                <a:solidFill>
                  <a:srgbClr val="5F7299"/>
                </a:solidFill>
                <a:latin typeface="Plus Jakarta Sans Medium"/>
              </a:rPr>
              <a:t>07  /  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B1733"/>
            </a:gs>
            <a:gs pos="100000">
              <a:srgbClr val="0F2659"/>
            </a:gs>
          </a:gsLst>
          <a:lin scaled="0" ang="54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644652"/>
            <a:ext cx="256032" cy="32004"/>
          </a:xfrm>
          <a:prstGeom prst="roundRect">
            <a:avLst>
              <a:gd name="adj" fmla="val 50000"/>
            </a:avLst>
          </a:prstGeom>
          <a:solidFill>
            <a:srgbClr val="06E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97280" y="5303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spc="160">
                <a:solidFill>
                  <a:srgbClr val="06E288"/>
                </a:solidFill>
                <a:latin typeface="Plus Jakarta Sans"/>
              </a:rPr>
              <a:t>WHO IT’S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>
                <a:solidFill>
                  <a:srgbClr val="FFFFFF"/>
                </a:solidFill>
                <a:latin typeface="Plus Jakarta Sans"/>
              </a:rPr>
              <a:t>Built for three people at once.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03120"/>
            <a:ext cx="3332378" cy="3977639"/>
          </a:xfrm>
          <a:prstGeom prst="roundRect">
            <a:avLst>
              <a:gd name="adj" fmla="val 5487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97280" y="2423160"/>
            <a:ext cx="260085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FFFFFF"/>
                </a:solidFill>
                <a:latin typeface="Plus Jakarta Sans"/>
              </a:rPr>
              <a:t>Older adults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926080"/>
            <a:ext cx="2600858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93A4C7"/>
                </a:solidFill>
                <a:latin typeface="Plus Jakarta Sans"/>
              </a:rPr>
              <a:t>routines, reminders, real company</a:t>
            </a:r>
          </a:p>
        </p:txBody>
      </p:sp>
      <p:pic>
        <p:nvPicPr>
          <p:cNvPr id="8" name="Picture 7" descr="crop-rout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894809"/>
            <a:ext cx="2600858" cy="1911630"/>
          </a:xfrm>
          <a:prstGeom prst="roundRect">
            <a:avLst>
              <a:gd name="adj" fmla="val 5442"/>
            </a:avLst>
          </a:prstGeom>
        </p:spPr>
      </p:pic>
      <p:sp>
        <p:nvSpPr>
          <p:cNvPr id="9" name="Rounded Rectangle 8"/>
          <p:cNvSpPr/>
          <p:nvPr/>
        </p:nvSpPr>
        <p:spPr>
          <a:xfrm>
            <a:off x="4429658" y="2103120"/>
            <a:ext cx="3332378" cy="3977639"/>
          </a:xfrm>
          <a:prstGeom prst="roundRect">
            <a:avLst>
              <a:gd name="adj" fmla="val 5487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795418" y="2423160"/>
            <a:ext cx="260085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1">
                <a:solidFill>
                  <a:srgbClr val="FFFFFF"/>
                </a:solidFill>
                <a:latin typeface="Plus Jakarta Sans"/>
              </a:rPr>
              <a:t>Autistic teens &amp; adults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95418" y="2926080"/>
            <a:ext cx="2600858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93A4C7"/>
                </a:solidFill>
                <a:latin typeface="Plus Jakarta Sans"/>
              </a:rPr>
              <a:t>predictable, untimed, sensory-calm</a:t>
            </a:r>
          </a:p>
        </p:txBody>
      </p:sp>
      <p:pic>
        <p:nvPicPr>
          <p:cNvPr id="12" name="Picture 11" descr="crop-soundscap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5418" y="3998843"/>
            <a:ext cx="2600858" cy="1807596"/>
          </a:xfrm>
          <a:prstGeom prst="roundRect">
            <a:avLst>
              <a:gd name="adj" fmla="val 5755"/>
            </a:avLst>
          </a:prstGeom>
        </p:spPr>
      </p:pic>
      <p:sp>
        <p:nvSpPr>
          <p:cNvPr id="13" name="Rounded Rectangle 12"/>
          <p:cNvSpPr/>
          <p:nvPr/>
        </p:nvSpPr>
        <p:spPr>
          <a:xfrm>
            <a:off x="8127796" y="2103120"/>
            <a:ext cx="3332378" cy="3977639"/>
          </a:xfrm>
          <a:prstGeom prst="roundRect">
            <a:avLst>
              <a:gd name="adj" fmla="val 5487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93556" y="2423160"/>
            <a:ext cx="260085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FFFFFF"/>
                </a:solidFill>
                <a:latin typeface="Plus Jakarta Sans"/>
              </a:rPr>
              <a:t>Family caregivers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93556" y="2926080"/>
            <a:ext cx="2600858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93A4C7"/>
                </a:solidFill>
                <a:latin typeface="Plus Jakarta Sans"/>
              </a:rPr>
              <a:t>notes and a brief they can trust</a:t>
            </a:r>
          </a:p>
        </p:txBody>
      </p:sp>
      <p:pic>
        <p:nvPicPr>
          <p:cNvPr id="16" name="Picture 15" descr="crop-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585" y="3703320"/>
            <a:ext cx="2580800" cy="2103120"/>
          </a:xfrm>
          <a:prstGeom prst="roundRect">
            <a:avLst>
              <a:gd name="adj" fmla="val 4908"/>
            </a:avLst>
          </a:prstGeom>
        </p:spPr>
      </p:pic>
      <p:pic>
        <p:nvPicPr>
          <p:cNvPr id="17" name="Picture 16" descr="ic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6382512"/>
            <a:ext cx="237744" cy="237744"/>
          </a:xfrm>
          <a:prstGeom prst="roundRect">
            <a:avLst>
              <a:gd name="adj" fmla="val 26923"/>
            </a:avLst>
          </a:prstGeom>
        </p:spPr>
      </p:pic>
      <p:sp>
        <p:nvSpPr>
          <p:cNvPr id="18" name="TextBox 17"/>
          <p:cNvSpPr txBox="1"/>
          <p:nvPr/>
        </p:nvSpPr>
        <p:spPr>
          <a:xfrm>
            <a:off x="1060704" y="640080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spc="60">
                <a:solidFill>
                  <a:srgbClr val="5F7299"/>
                </a:solidFill>
                <a:latin typeface="Plus Jakarta Sans"/>
              </a:rPr>
              <a:t>CareSphere 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88575" y="640080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spc="60">
                <a:solidFill>
                  <a:srgbClr val="5F7299"/>
                </a:solidFill>
                <a:latin typeface="Plus Jakarta Sans Medium"/>
              </a:rPr>
              <a:t>08  /  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B1733"/>
            </a:gs>
            <a:gs pos="100000">
              <a:srgbClr val="0F2659"/>
            </a:gs>
          </a:gsLst>
          <a:lin scaled="0" ang="54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644652"/>
            <a:ext cx="256032" cy="32004"/>
          </a:xfrm>
          <a:prstGeom prst="roundRect">
            <a:avLst>
              <a:gd name="adj" fmla="val 50000"/>
            </a:avLst>
          </a:prstGeom>
          <a:solidFill>
            <a:srgbClr val="06E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97280" y="5303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spc="160">
                <a:solidFill>
                  <a:srgbClr val="06E288"/>
                </a:solidFill>
                <a:latin typeface="Plus Jakarta Sans"/>
              </a:rPr>
              <a:t>PRIVACY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>
                <a:solidFill>
                  <a:srgbClr val="FFFFFF"/>
                </a:solidFill>
                <a:latin typeface="Plus Jakarta Sans"/>
              </a:rPr>
              <a:t>Everything stays on the device.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31720"/>
            <a:ext cx="2057400" cy="1402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600" b="0">
                <a:solidFill>
                  <a:srgbClr val="FFFFFF"/>
                </a:solidFill>
                <a:latin typeface="Plus Jakarta Sans ExtraBold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94759"/>
            <a:ext cx="205740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06E288"/>
                </a:solidFill>
                <a:latin typeface="Plus Jakarta Sans Medium"/>
              </a:rPr>
              <a:t>accounts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331720"/>
            <a:ext cx="2057400" cy="1402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600" b="0">
                <a:solidFill>
                  <a:srgbClr val="FFFFFF"/>
                </a:solidFill>
                <a:latin typeface="Plus Jakarta Sans ExtraBold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3794759"/>
            <a:ext cx="205740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06E288"/>
                </a:solidFill>
                <a:latin typeface="Plus Jakarta Sans Medium"/>
              </a:rPr>
              <a:t>servers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2331720"/>
            <a:ext cx="2057400" cy="1402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600" b="0">
                <a:solidFill>
                  <a:srgbClr val="FFFFFF"/>
                </a:solidFill>
                <a:latin typeface="Plus Jakarta Sans ExtraBold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3794759"/>
            <a:ext cx="205740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06E288"/>
                </a:solidFill>
                <a:latin typeface="Plus Jakarta Sans Medium"/>
              </a:rPr>
              <a:t>trackers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2514600"/>
            <a:ext cx="27432" cy="27432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818119" y="2468880"/>
            <a:ext cx="3642055" cy="2926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70"/>
              </a:lnSpc>
              <a:spcBef>
                <a:spcPts val="0"/>
              </a:spcBef>
              <a:spcAft>
                <a:spcPts val="1300"/>
              </a:spcAft>
              <a:buNone/>
            </a:pPr>
            <a:r>
              <a:rPr sz="1900" b="0">
                <a:solidFill>
                  <a:srgbClr val="D7E0F2"/>
                </a:solidFill>
                <a:latin typeface="Plus Jakarta Sans"/>
              </a:rPr>
              <a:t>AES-256 encrypted on the device</a:t>
            </a:r>
          </a:p>
          <a:p>
            <a:pPr algn="l">
              <a:lnSpc>
                <a:spcPts val="2470"/>
              </a:lnSpc>
              <a:spcBef>
                <a:spcPts val="0"/>
              </a:spcBef>
              <a:spcAft>
                <a:spcPts val="1300"/>
              </a:spcAft>
              <a:buNone/>
            </a:pPr>
            <a:r>
              <a:rPr sz="1900" b="0">
                <a:solidFill>
                  <a:srgbClr val="D7E0F2"/>
                </a:solidFill>
                <a:latin typeface="Plus Jakarta Sans"/>
              </a:rPr>
              <a:t>AI health guide runs on the phone</a:t>
            </a:r>
          </a:p>
          <a:p>
            <a:pPr algn="l">
              <a:lnSpc>
                <a:spcPts val="2470"/>
              </a:lnSpc>
              <a:spcBef>
                <a:spcPts val="0"/>
              </a:spcBef>
              <a:spcAft>
                <a:spcPts val="1300"/>
              </a:spcAft>
              <a:buNone/>
            </a:pPr>
            <a:r>
              <a:rPr sz="1900" b="0">
                <a:solidFill>
                  <a:srgbClr val="D7E0F2"/>
                </a:solidFill>
                <a:latin typeface="Plus Jakarta Sans"/>
              </a:rPr>
              <a:t>Bluetooth &amp; HealthKit read locally</a:t>
            </a:r>
          </a:p>
          <a:p>
            <a:pPr algn="l">
              <a:lnSpc>
                <a:spcPts val="2470"/>
              </a:lnSpc>
              <a:spcBef>
                <a:spcPts val="0"/>
              </a:spcBef>
              <a:spcAft>
                <a:spcPts val="1300"/>
              </a:spcAft>
              <a:buNone/>
            </a:pPr>
            <a:r>
              <a:rPr sz="1900" b="0">
                <a:solidFill>
                  <a:srgbClr val="D7E0F2"/>
                </a:solidFill>
                <a:latin typeface="Plus Jakarta Sans"/>
              </a:rPr>
              <a:t>Face ID lock · export · erase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760720"/>
            <a:ext cx="1072865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93A4C7"/>
                </a:solidFill>
                <a:latin typeface="Plus Jakarta Sans"/>
              </a:rPr>
              <a:t>Only live video calls — and a message you tap to send — ever leave the phone.</a:t>
            </a:r>
          </a:p>
        </p:txBody>
      </p:sp>
      <p:pic>
        <p:nvPicPr>
          <p:cNvPr id="14" name="Picture 13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6382512"/>
            <a:ext cx="237744" cy="237744"/>
          </a:xfrm>
          <a:prstGeom prst="roundRect">
            <a:avLst>
              <a:gd name="adj" fmla="val 26923"/>
            </a:avLst>
          </a:prstGeom>
        </p:spPr>
      </p:pic>
      <p:sp>
        <p:nvSpPr>
          <p:cNvPr id="15" name="TextBox 14"/>
          <p:cNvSpPr txBox="1"/>
          <p:nvPr/>
        </p:nvSpPr>
        <p:spPr>
          <a:xfrm>
            <a:off x="1060704" y="640080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spc="60">
                <a:solidFill>
                  <a:srgbClr val="5F7299"/>
                </a:solidFill>
                <a:latin typeface="Plus Jakarta Sans"/>
              </a:rPr>
              <a:t>CareSphere 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88575" y="640080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spc="60">
                <a:solidFill>
                  <a:srgbClr val="5F7299"/>
                </a:solidFill>
                <a:latin typeface="Plus Jakarta Sans Medium"/>
              </a:rPr>
              <a:t>09  /  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B1733"/>
            </a:gs>
            <a:gs pos="100000">
              <a:srgbClr val="0F2659"/>
            </a:gs>
          </a:gsLst>
          <a:lin scaled="0" ang="54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644652"/>
            <a:ext cx="256032" cy="32004"/>
          </a:xfrm>
          <a:prstGeom prst="roundRect">
            <a:avLst>
              <a:gd name="adj" fmla="val 50000"/>
            </a:avLst>
          </a:prstGeom>
          <a:solidFill>
            <a:srgbClr val="06E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97280" y="5303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spc="160">
                <a:solidFill>
                  <a:srgbClr val="06E288"/>
                </a:solidFill>
                <a:latin typeface="Plus Jakarta Sans"/>
              </a:rPr>
              <a:t>HOW IT’S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>
                <a:solidFill>
                  <a:srgbClr val="FFFFFF"/>
                </a:solidFill>
                <a:latin typeface="Plus Jakarta Sans"/>
              </a:rPr>
              <a:t>Two clients. One promise. No server.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03120"/>
            <a:ext cx="5181447" cy="2240280"/>
          </a:xfrm>
          <a:prstGeom prst="roundRect">
            <a:avLst>
              <a:gd name="adj" fmla="val 8163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43000" y="2377440"/>
            <a:ext cx="4358487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>
                <a:solidFill>
                  <a:srgbClr val="FFFFFF"/>
                </a:solidFill>
                <a:latin typeface="Plus Jakarta Sans"/>
              </a:rPr>
              <a:t>Web app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84167" y="2432304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06E288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084167" y="2432304"/>
            <a:ext cx="141732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spc="100">
                <a:solidFill>
                  <a:srgbClr val="06E288"/>
                </a:solidFill>
                <a:latin typeface="Plus Jakarta Sans"/>
              </a:rPr>
              <a:t>JAVASCRIPT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971800"/>
            <a:ext cx="4358487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37744" indent="-237744">
              <a:lnSpc>
                <a:spcPts val="2250"/>
              </a:lnSpc>
              <a:spcBef>
                <a:spcPts val="0"/>
              </a:spcBef>
              <a:spcAft>
                <a:spcPts val="500"/>
              </a:spcAft>
              <a:buClr>
                <a:srgbClr val="06E288"/>
              </a:buClr>
              <a:buFont typeface="Plus Jakarta Sans"/>
              <a:buChar char="•"/>
            </a:pPr>
            <a:r>
              <a:rPr sz="1800" b="0">
                <a:solidFill>
                  <a:srgbClr val="D7E0F2"/>
                </a:solidFill>
                <a:latin typeface="Plus Jakarta Sans"/>
              </a:rPr>
              <a:t>React · Vite · Tailwind</a:t>
            </a:r>
          </a:p>
          <a:p>
            <a:pPr algn="l" marL="237744" indent="-237744">
              <a:lnSpc>
                <a:spcPts val="2250"/>
              </a:lnSpc>
              <a:spcBef>
                <a:spcPts val="0"/>
              </a:spcBef>
              <a:spcAft>
                <a:spcPts val="500"/>
              </a:spcAft>
              <a:buClr>
                <a:srgbClr val="06E288"/>
              </a:buClr>
              <a:buFont typeface="Plus Jakarta Sans"/>
              <a:buChar char="•"/>
            </a:pPr>
            <a:r>
              <a:rPr sz="1800" b="0">
                <a:solidFill>
                  <a:srgbClr val="D7E0F2"/>
                </a:solidFill>
                <a:latin typeface="Plus Jakarta Sans"/>
              </a:rPr>
              <a:t>Web Bluetooth · Web Audio</a:t>
            </a:r>
          </a:p>
          <a:p>
            <a:pPr algn="l" marL="237744" indent="-237744">
              <a:lnSpc>
                <a:spcPts val="2250"/>
              </a:lnSpc>
              <a:spcBef>
                <a:spcPts val="0"/>
              </a:spcBef>
              <a:spcAft>
                <a:spcPts val="500"/>
              </a:spcAft>
              <a:buClr>
                <a:srgbClr val="06E288"/>
              </a:buClr>
              <a:buFont typeface="Plus Jakarta Sans"/>
              <a:buChar char="•"/>
            </a:pPr>
            <a:r>
              <a:rPr sz="1800" b="0">
                <a:solidFill>
                  <a:srgbClr val="D7E0F2"/>
                </a:solidFill>
                <a:latin typeface="Plus Jakarta Sans"/>
              </a:rPr>
              <a:t>Web Crypto · installable PWA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03120"/>
            <a:ext cx="5181447" cy="2240280"/>
          </a:xfrm>
          <a:prstGeom prst="roundRect">
            <a:avLst>
              <a:gd name="adj" fmla="val 8163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690207" y="2377440"/>
            <a:ext cx="4358487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>
                <a:solidFill>
                  <a:srgbClr val="FFFFFF"/>
                </a:solidFill>
                <a:latin typeface="Plus Jakarta Sans"/>
              </a:rPr>
              <a:t>iPhone app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31375" y="2432304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06E288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631375" y="2432304"/>
            <a:ext cx="141732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spc="100">
                <a:solidFill>
                  <a:srgbClr val="06E288"/>
                </a:solidFill>
                <a:latin typeface="Plus Jakarta Sans"/>
              </a:rPr>
              <a:t>SWIFT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90207" y="2971800"/>
            <a:ext cx="4358487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37744" indent="-237744">
              <a:lnSpc>
                <a:spcPts val="2250"/>
              </a:lnSpc>
              <a:spcBef>
                <a:spcPts val="0"/>
              </a:spcBef>
              <a:spcAft>
                <a:spcPts val="500"/>
              </a:spcAft>
              <a:buClr>
                <a:srgbClr val="06E288"/>
              </a:buClr>
              <a:buFont typeface="Plus Jakarta Sans"/>
              <a:buChar char="•"/>
            </a:pPr>
            <a:r>
              <a:rPr sz="1800" b="0">
                <a:solidFill>
                  <a:srgbClr val="D7E0F2"/>
                </a:solidFill>
                <a:latin typeface="Plus Jakarta Sans"/>
              </a:rPr>
              <a:t>SwiftUI · HealthKit · CoreBluetooth</a:t>
            </a:r>
          </a:p>
          <a:p>
            <a:pPr algn="l" marL="237744" indent="-237744">
              <a:lnSpc>
                <a:spcPts val="2250"/>
              </a:lnSpc>
              <a:spcBef>
                <a:spcPts val="0"/>
              </a:spcBef>
              <a:spcAft>
                <a:spcPts val="500"/>
              </a:spcAft>
              <a:buClr>
                <a:srgbClr val="06E288"/>
              </a:buClr>
              <a:buFont typeface="Plus Jakarta Sans"/>
              <a:buChar char="•"/>
            </a:pPr>
            <a:r>
              <a:rPr sz="1800" b="0">
                <a:solidFill>
                  <a:srgbClr val="D7E0F2"/>
                </a:solidFill>
                <a:latin typeface="Plus Jakarta Sans"/>
              </a:rPr>
              <a:t>CryptoKit · Face ID</a:t>
            </a:r>
          </a:p>
          <a:p>
            <a:pPr algn="l" marL="237744" indent="-237744">
              <a:lnSpc>
                <a:spcPts val="2250"/>
              </a:lnSpc>
              <a:spcBef>
                <a:spcPts val="0"/>
              </a:spcBef>
              <a:spcAft>
                <a:spcPts val="500"/>
              </a:spcAft>
              <a:buClr>
                <a:srgbClr val="06E288"/>
              </a:buClr>
              <a:buFont typeface="Plus Jakarta Sans"/>
              <a:buChar char="•"/>
            </a:pPr>
            <a:r>
              <a:rPr sz="1800" b="0">
                <a:solidFill>
                  <a:srgbClr val="D7E0F2"/>
                </a:solidFill>
                <a:latin typeface="Plus Jakarta Sans"/>
              </a:rPr>
              <a:t>llama.cpp · Sherpa-ONNX · Jitsi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709160"/>
            <a:ext cx="2407843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5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400" b="0">
                <a:solidFill>
                  <a:srgbClr val="FFFFFF"/>
                </a:solidFill>
                <a:latin typeface="Plus Jakarta Sans ExtraBold"/>
              </a:rPr>
              <a:t>11,400+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532120"/>
            <a:ext cx="2407843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6E288"/>
                </a:solidFill>
                <a:latin typeface="Plus Jakarta Sans Medium"/>
              </a:rPr>
              <a:t>lines of code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5123" y="4709160"/>
            <a:ext cx="2407843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5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400" b="0">
                <a:solidFill>
                  <a:srgbClr val="FFFFFF"/>
                </a:solidFill>
                <a:latin typeface="Plus Jakarta Sans ExtraBold"/>
              </a:rPr>
              <a:t>17 / 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5123" y="5532120"/>
            <a:ext cx="2407843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6E288"/>
                </a:solidFill>
                <a:latin typeface="Plus Jakarta Sans Medium"/>
              </a:rPr>
              <a:t>tests passing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4709160"/>
            <a:ext cx="2407843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5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400" b="0">
                <a:solidFill>
                  <a:srgbClr val="FFFFFF"/>
                </a:solidFill>
                <a:latin typeface="Plus Jakarta Sans ExtraBol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727" y="5532120"/>
            <a:ext cx="2407843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6E288"/>
                </a:solidFill>
                <a:latin typeface="Plus Jakarta Sans Medium"/>
              </a:rPr>
              <a:t>CI pipelines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331" y="4709160"/>
            <a:ext cx="2407843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5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400" b="0">
                <a:solidFill>
                  <a:srgbClr val="FFFFFF"/>
                </a:solidFill>
                <a:latin typeface="Plus Jakarta Sans ExtraBol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331" y="5532120"/>
            <a:ext cx="2407843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6E288"/>
                </a:solidFill>
                <a:latin typeface="Plus Jakarta Sans Medium"/>
              </a:rPr>
              <a:t>public releases</a:t>
            </a:r>
          </a:p>
        </p:txBody>
      </p:sp>
      <p:pic>
        <p:nvPicPr>
          <p:cNvPr id="23" name="Picture 22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6382512"/>
            <a:ext cx="237744" cy="237744"/>
          </a:xfrm>
          <a:prstGeom prst="roundRect">
            <a:avLst>
              <a:gd name="adj" fmla="val 26923"/>
            </a:avLst>
          </a:prstGeom>
        </p:spPr>
      </p:pic>
      <p:sp>
        <p:nvSpPr>
          <p:cNvPr id="24" name="TextBox 23"/>
          <p:cNvSpPr txBox="1"/>
          <p:nvPr/>
        </p:nvSpPr>
        <p:spPr>
          <a:xfrm>
            <a:off x="1060704" y="640080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spc="60">
                <a:solidFill>
                  <a:srgbClr val="5F7299"/>
                </a:solidFill>
                <a:latin typeface="Plus Jakarta Sans"/>
              </a:rPr>
              <a:t>CareSphere AI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88575" y="640080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spc="60">
                <a:solidFill>
                  <a:srgbClr val="5F7299"/>
                </a:solidFill>
                <a:latin typeface="Plus Jakarta Sans Medium"/>
              </a:rPr>
              <a:t>10  /  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B1733"/>
            </a:gs>
            <a:gs pos="100000">
              <a:srgbClr val="0F2659"/>
            </a:gs>
          </a:gsLst>
          <a:lin scaled="0" ang="54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644652"/>
            <a:ext cx="256032" cy="32004"/>
          </a:xfrm>
          <a:prstGeom prst="roundRect">
            <a:avLst>
              <a:gd name="adj" fmla="val 50000"/>
            </a:avLst>
          </a:prstGeom>
          <a:solidFill>
            <a:srgbClr val="06E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97280" y="5303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spc="160">
                <a:solidFill>
                  <a:srgbClr val="06E288"/>
                </a:solidFill>
                <a:latin typeface="Plus Jakarta Sans"/>
              </a:rPr>
              <a:t>HARDEST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>
                <a:solidFill>
                  <a:srgbClr val="FFFFFF"/>
                </a:solidFill>
                <a:latin typeface="Plus Jakarta Sans"/>
              </a:rPr>
              <a:t>Making Bluetooth honest.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6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0">
                <a:solidFill>
                  <a:srgbClr val="D7E0F2"/>
                </a:solidFill>
                <a:latin typeface="Plus Jakarta Sans"/>
              </a:rPr>
              <a:t>Heart-rate notifications arrive late and out of order — a stale sensor could repaint a new card with a wrong number.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64408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spc="100">
                <a:solidFill>
                  <a:srgbClr val="06E288"/>
                </a:solidFill>
                <a:latin typeface="Plus Jakarta San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3227832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>
                <a:solidFill>
                  <a:srgbClr val="FFFFFF"/>
                </a:solidFill>
                <a:latin typeface="Plus Jakarta Sans"/>
              </a:rPr>
              <a:t>Parse the standard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363016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0">
                <a:solidFill>
                  <a:srgbClr val="93A4C7"/>
                </a:solidFill>
                <a:latin typeface="Plus Jakarta Sans"/>
              </a:rPr>
              <a:t>service 0x180D · flags byte → 8/16-bit BPM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78807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spc="100">
                <a:solidFill>
                  <a:srgbClr val="06E288"/>
                </a:solidFill>
                <a:latin typeface="Plus Jakarta San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4142232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>
                <a:solidFill>
                  <a:srgbClr val="FFFFFF"/>
                </a:solidFill>
                <a:latin typeface="Plus Jakarta Sans"/>
              </a:rPr>
              <a:t>Label at the source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454456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0">
                <a:solidFill>
                  <a:srgbClr val="93A4C7"/>
                </a:solidFill>
                <a:latin typeface="Plus Jakarta Sans"/>
              </a:rPr>
              <a:t>each sample is born LIVE or SIMULATED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093207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spc="100">
                <a:solidFill>
                  <a:srgbClr val="06E288"/>
                </a:solidFill>
                <a:latin typeface="Plus Jakarta Sans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5056632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>
                <a:solidFill>
                  <a:srgbClr val="FFFFFF"/>
                </a:solidFill>
                <a:latin typeface="Plus Jakarta Sans"/>
              </a:rPr>
              <a:t>Drop stale sessions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545896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0">
                <a:solidFill>
                  <a:srgbClr val="93A4C7"/>
                </a:solidFill>
                <a:latin typeface="Plus Jakarta Sans"/>
              </a:rPr>
              <a:t>a generation counter ignores old pairings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0" y="2011680"/>
            <a:ext cx="4785055" cy="3931920"/>
          </a:xfrm>
          <a:prstGeom prst="roundRect">
            <a:avLst>
              <a:gd name="adj" fmla="val 4651"/>
            </a:avLst>
          </a:prstGeom>
          <a:solidFill>
            <a:srgbClr val="0A1324">
              <a:alpha val="75000"/>
            </a:srgbClr>
          </a:solidFill>
          <a:ln w="9525">
            <a:solidFill>
              <a:srgbClr val="FFFFFF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040880" y="2240280"/>
            <a:ext cx="405353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spc="120">
                <a:solidFill>
                  <a:srgbClr val="06E288"/>
                </a:solidFill>
                <a:latin typeface="Plus Jakarta Sans"/>
              </a:rPr>
              <a:t>src/lib/bluetooth.js  ·  src/App.jsx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651760"/>
            <a:ext cx="4053535" cy="320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>
                <a:solidFill>
                  <a:srgbClr val="D7E0F2"/>
                </a:solidFill>
                <a:latin typeface="JetBrains Mono"/>
              </a:rPr>
              <a:t>const flags = dv.getUint8(0)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>
                <a:solidFill>
                  <a:srgbClr val="D7E0F2"/>
                </a:solidFill>
                <a:latin typeface="JetBrains Mono"/>
              </a:rPr>
              <a:t>const bpm = flags &amp; 0x1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>
                <a:solidFill>
                  <a:srgbClr val="D7E0F2"/>
                </a:solidFill>
                <a:latin typeface="JetBrains Mono"/>
              </a:rPr>
              <a:t>  ? dv.getUint16(1, true)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>
                <a:solidFill>
                  <a:srgbClr val="D7E0F2"/>
                </a:solidFill>
                <a:latin typeface="JetBrains Mono"/>
              </a:rPr>
              <a:t>  : dv.getUint8(1)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>
                <a:solidFill>
                  <a:srgbClr val="D7E0F2"/>
                </a:solidFill>
                <a:latin typeface="JetBrains Mono"/>
              </a:rPr>
              <a:t>if (bpm &gt; 20 &amp;&amp; bpm &lt; 250) onReading(bpm)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>
                <a:solidFill>
                  <a:srgbClr val="D7E0F2"/>
                </a:solidFill>
                <a:latin typeface="JetBrains Mono"/>
              </a:rPr>
              <a:t>const source =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>
                <a:solidFill>
                  <a:srgbClr val="D7E0F2"/>
                </a:solidFill>
                <a:latin typeface="JetBrains Mono"/>
              </a:rPr>
              <a:t>  hrModeRef.current === 'live'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>
                <a:solidFill>
                  <a:srgbClr val="D7E0F2"/>
                </a:solidFill>
                <a:latin typeface="JetBrains Mono"/>
              </a:rPr>
              <a:t>    ? 'LIVE_BLE' : 'SIMULATED'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>
                <a:solidFill>
                  <a:srgbClr val="D7E0F2"/>
                </a:solidFill>
                <a:latin typeface="JetBrains Mono"/>
              </a:rPr>
              <a:t>if (generation !==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>
                <a:solidFill>
                  <a:srgbClr val="D7E0F2"/>
                </a:solidFill>
                <a:latin typeface="JetBrains Mono"/>
              </a:rPr>
              <a:t>    hrConnectionGenerationRef.current)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>
                <a:solidFill>
                  <a:srgbClr val="D7E0F2"/>
                </a:solidFill>
                <a:latin typeface="JetBrains Mono"/>
              </a:rPr>
              <a:t>  return</a:t>
            </a:r>
          </a:p>
        </p:txBody>
      </p:sp>
      <p:pic>
        <p:nvPicPr>
          <p:cNvPr id="18" name="Picture 17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6382512"/>
            <a:ext cx="237744" cy="237744"/>
          </a:xfrm>
          <a:prstGeom prst="roundRect">
            <a:avLst>
              <a:gd name="adj" fmla="val 26923"/>
            </a:avLst>
          </a:prstGeom>
        </p:spPr>
      </p:pic>
      <p:sp>
        <p:nvSpPr>
          <p:cNvPr id="19" name="TextBox 18"/>
          <p:cNvSpPr txBox="1"/>
          <p:nvPr/>
        </p:nvSpPr>
        <p:spPr>
          <a:xfrm>
            <a:off x="1060704" y="640080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spc="60">
                <a:solidFill>
                  <a:srgbClr val="5F7299"/>
                </a:solidFill>
                <a:latin typeface="Plus Jakarta Sans"/>
              </a:rPr>
              <a:t>CareSphere 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88575" y="640080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spc="60">
                <a:solidFill>
                  <a:srgbClr val="5F7299"/>
                </a:solidFill>
                <a:latin typeface="Plus Jakarta Sans Medium"/>
              </a:rPr>
              <a:t>11  /  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B1733"/>
            </a:gs>
            <a:gs pos="100000">
              <a:srgbClr val="0F2659"/>
            </a:gs>
          </a:gsLst>
          <a:lin scaled="0" ang="54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644652"/>
            <a:ext cx="256032" cy="32004"/>
          </a:xfrm>
          <a:prstGeom prst="roundRect">
            <a:avLst>
              <a:gd name="adj" fmla="val 50000"/>
            </a:avLst>
          </a:prstGeom>
          <a:solidFill>
            <a:srgbClr val="06E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97280" y="5303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spc="160">
                <a:solidFill>
                  <a:srgbClr val="06E288"/>
                </a:solidFill>
                <a:latin typeface="Plus Jakarta Sans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>
                <a:solidFill>
                  <a:srgbClr val="FFFFFF"/>
                </a:solidFill>
                <a:latin typeface="Plus Jakarta Sans"/>
              </a:rPr>
              <a:t>Shipped and tested. Next: built with the people it serves.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14400" y="2642616"/>
            <a:ext cx="10362895" cy="0"/>
          </a:xfrm>
          <a:prstGeom prst="line">
            <a:avLst/>
          </a:prstGeom>
          <a:ln w="19050">
            <a:solidFill>
              <a:srgbClr val="FFFFFF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786384" y="2514600"/>
            <a:ext cx="256032" cy="256032"/>
          </a:xfrm>
          <a:prstGeom prst="ellipse">
            <a:avLst/>
          </a:prstGeom>
          <a:solidFill>
            <a:srgbClr val="06E288"/>
          </a:solidFill>
          <a:ln w="25400">
            <a:solidFill>
              <a:srgbClr val="06E2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34440" y="2478024"/>
            <a:ext cx="2783738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spc="140">
                <a:solidFill>
                  <a:srgbClr val="06E288"/>
                </a:solidFill>
                <a:latin typeface="Plus Jakarta Sans"/>
              </a:rPr>
              <a:t>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3108960"/>
            <a:ext cx="305805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>
                <a:solidFill>
                  <a:srgbClr val="FFFFFF"/>
                </a:solidFill>
                <a:latin typeface="Plus Jakarta Sans"/>
              </a:rPr>
              <a:t>v2.2 on GitHub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3703320"/>
            <a:ext cx="2966618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>
                <a:solidFill>
                  <a:srgbClr val="93A4C7"/>
                </a:solidFill>
                <a:latin typeface="Plus Jakarta Sans"/>
              </a:rPr>
              <a:t>3 releases · 17 tests · CI for web and iOS</a:t>
            </a:r>
          </a:p>
        </p:txBody>
      </p:sp>
      <p:sp>
        <p:nvSpPr>
          <p:cNvPr id="10" name="Oval 9"/>
          <p:cNvSpPr/>
          <p:nvPr/>
        </p:nvSpPr>
        <p:spPr>
          <a:xfrm>
            <a:off x="4484522" y="2514600"/>
            <a:ext cx="256032" cy="256032"/>
          </a:xfrm>
          <a:prstGeom prst="ellipse">
            <a:avLst/>
          </a:prstGeom>
          <a:solidFill>
            <a:srgbClr val="0A1324"/>
          </a:solidFill>
          <a:ln w="25400">
            <a:solidFill>
              <a:srgbClr val="06E2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932578" y="2478024"/>
            <a:ext cx="2783738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spc="140">
                <a:solidFill>
                  <a:srgbClr val="06E288"/>
                </a:solidFill>
                <a:latin typeface="Plus Jakarta Sans"/>
              </a:rPr>
              <a:t>NEXT · V2.0 OF THIS ENTRY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4522" y="3108960"/>
            <a:ext cx="305805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>
                <a:solidFill>
                  <a:srgbClr val="FFFFFF"/>
                </a:solidFill>
                <a:latin typeface="Plus Jakarta Sans"/>
              </a:rPr>
              <a:t>Co-design &amp; TestFlight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4522" y="3703320"/>
            <a:ext cx="2966618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>
                <a:solidFill>
                  <a:srgbClr val="93A4C7"/>
                </a:solidFill>
                <a:latin typeface="Plus Jakarta Sans"/>
              </a:rPr>
              <a:t>sessions with autistic people, people with dementia, caregivers</a:t>
            </a:r>
          </a:p>
        </p:txBody>
      </p:sp>
      <p:sp>
        <p:nvSpPr>
          <p:cNvPr id="14" name="Oval 13"/>
          <p:cNvSpPr/>
          <p:nvPr/>
        </p:nvSpPr>
        <p:spPr>
          <a:xfrm>
            <a:off x="8182660" y="2514600"/>
            <a:ext cx="256032" cy="256032"/>
          </a:xfrm>
          <a:prstGeom prst="ellipse">
            <a:avLst/>
          </a:prstGeom>
          <a:solidFill>
            <a:srgbClr val="0A1324"/>
          </a:solidFill>
          <a:ln w="25400">
            <a:solidFill>
              <a:srgbClr val="06E2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630716" y="2478024"/>
            <a:ext cx="2783738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spc="140">
                <a:solidFill>
                  <a:srgbClr val="06E288"/>
                </a:solidFill>
                <a:latin typeface="Plus Jakarta Sans"/>
              </a:rPr>
              <a:t>THEN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2660" y="3108960"/>
            <a:ext cx="305805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>
                <a:solidFill>
                  <a:srgbClr val="FFFFFF"/>
                </a:solidFill>
                <a:latin typeface="Plus Jakarta Sans"/>
              </a:rPr>
              <a:t>Real data, no server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2660" y="3703320"/>
            <a:ext cx="2966618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>
                <a:solidFill>
                  <a:srgbClr val="93A4C7"/>
                </a:solidFill>
                <a:latin typeface="Plus Jakarta Sans"/>
              </a:rPr>
              <a:t>sensor history in the visit brief · trends only from real readings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212080"/>
            <a:ext cx="10728655" cy="731520"/>
          </a:xfrm>
          <a:prstGeom prst="roundRect">
            <a:avLst>
              <a:gd name="adj" fmla="val 25000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97280" y="521208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spc="140">
                <a:solidFill>
                  <a:srgbClr val="06E288"/>
                </a:solidFill>
                <a:latin typeface="Plus Jakarta Sans"/>
              </a:rPr>
              <a:t>RELEASES · 2026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74720" y="5413248"/>
            <a:ext cx="1335024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474720" y="5413248"/>
            <a:ext cx="1335024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spc="100">
                <a:solidFill>
                  <a:srgbClr val="FFFFFF"/>
                </a:solidFill>
                <a:latin typeface="Plus Jakarta Sans"/>
              </a:rPr>
              <a:t>V1.0 · SEP 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10912" y="5413248"/>
            <a:ext cx="1354074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010912" y="5413248"/>
            <a:ext cx="1354074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spc="100">
                <a:solidFill>
                  <a:srgbClr val="FFFFFF"/>
                </a:solidFill>
                <a:latin typeface="Plus Jakarta Sans"/>
              </a:rPr>
              <a:t>V2.0 · SEP 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66153" y="5413248"/>
            <a:ext cx="1404874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566153" y="5413248"/>
            <a:ext cx="1404874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spc="100">
                <a:solidFill>
                  <a:srgbClr val="FFFFFF"/>
                </a:solidFill>
                <a:latin typeface="Plus Jakarta Sans"/>
              </a:rPr>
              <a:t>V2.1 · SEP 28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72195" y="5413248"/>
            <a:ext cx="2065274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172195" y="5413248"/>
            <a:ext cx="2065274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spc="100">
                <a:solidFill>
                  <a:srgbClr val="FFFFFF"/>
                </a:solidFill>
                <a:latin typeface="Plus Jakarta Sans"/>
              </a:rPr>
              <a:t>V2.2 · BUILDING IN CI</a:t>
            </a:r>
          </a:p>
        </p:txBody>
      </p:sp>
      <p:pic>
        <p:nvPicPr>
          <p:cNvPr id="28" name="Picture 27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6382512"/>
            <a:ext cx="237744" cy="237744"/>
          </a:xfrm>
          <a:prstGeom prst="roundRect">
            <a:avLst>
              <a:gd name="adj" fmla="val 26923"/>
            </a:avLst>
          </a:prstGeom>
        </p:spPr>
      </p:pic>
      <p:sp>
        <p:nvSpPr>
          <p:cNvPr id="29" name="TextBox 28"/>
          <p:cNvSpPr txBox="1"/>
          <p:nvPr/>
        </p:nvSpPr>
        <p:spPr>
          <a:xfrm>
            <a:off x="1060704" y="640080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spc="60">
                <a:solidFill>
                  <a:srgbClr val="5F7299"/>
                </a:solidFill>
                <a:latin typeface="Plus Jakarta Sans"/>
              </a:rPr>
              <a:t>CareSphere 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88575" y="640080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spc="60">
                <a:solidFill>
                  <a:srgbClr val="5F7299"/>
                </a:solidFill>
                <a:latin typeface="Plus Jakarta Sans Medium"/>
              </a:rPr>
              <a:t>12  /  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B1733"/>
            </a:gs>
            <a:gs pos="100000">
              <a:srgbClr val="0F2659"/>
            </a:gs>
          </a:gsLst>
          <a:lin scaled="0" ang="5400000"/>
        </a:gra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926080" y="-3108960"/>
            <a:ext cx="8686800" cy="8686800"/>
          </a:xfrm>
          <a:prstGeom prst="rect">
            <a:avLst/>
          </a:prstGeom>
        </p:spPr>
      </p:pic>
      <p:pic>
        <p:nvPicPr>
          <p:cNvPr id="3" name="Picture 2" descr="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234440"/>
            <a:ext cx="914400" cy="914400"/>
          </a:xfrm>
          <a:prstGeom prst="roundRect">
            <a:avLst>
              <a:gd name="adj" fmla="val 24000"/>
            </a:avLst>
          </a:prstGeom>
        </p:spPr>
      </p:pic>
      <p:sp>
        <p:nvSpPr>
          <p:cNvPr id="4" name="TextBox 3"/>
          <p:cNvSpPr txBox="1"/>
          <p:nvPr/>
        </p:nvSpPr>
        <p:spPr>
          <a:xfrm>
            <a:off x="731520" y="2423160"/>
            <a:ext cx="7863840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6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5400" b="0">
                <a:solidFill>
                  <a:srgbClr val="FFFFFF"/>
                </a:solidFill>
                <a:latin typeface="Plus Jakarta Sans ExtraBold"/>
              </a:rPr>
              <a:t>Care that stays yours.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11880"/>
            <a:ext cx="676656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D7E0F2"/>
                </a:solidFill>
                <a:latin typeface="Plus Jakarta Sans"/>
              </a:rPr>
              <a:t>Connected, calm and private — with no account, no server and no fabricated number.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892040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06E288"/>
                </a:solidFill>
                <a:latin typeface="Plus Jakarta Sans"/>
              </a:rPr>
              <a:t>Try the web app  ·  read the code  ·  watch the 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03520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FFFFFF"/>
                </a:solidFill>
                <a:latin typeface="Plus Jakarta Sans Medium"/>
              </a:rPr>
              <a:t>github.com/engineer2025-sudo/Care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806440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>
                <a:solidFill>
                  <a:srgbClr val="93A4C7"/>
                </a:solidFill>
                <a:latin typeface="Plus Jakarta Sans"/>
              </a:rPr>
              <a:t>Arnav Kochar  ·  kochar4646@gmail.com  ·  [School], [City], California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34095" y="1600200"/>
            <a:ext cx="2926080" cy="3657600"/>
          </a:xfrm>
          <a:prstGeom prst="roundRect">
            <a:avLst>
              <a:gd name="adj" fmla="val 6250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q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5575" y="1874519"/>
            <a:ext cx="2103120" cy="2103120"/>
          </a:xfrm>
          <a:prstGeom prst="roundRect">
            <a:avLst>
              <a:gd name="adj" fmla="val 6086"/>
            </a:avLst>
          </a:prstGeom>
        </p:spPr>
      </p:pic>
      <p:sp>
        <p:nvSpPr>
          <p:cNvPr id="11" name="TextBox 10"/>
          <p:cNvSpPr txBox="1"/>
          <p:nvPr/>
        </p:nvSpPr>
        <p:spPr>
          <a:xfrm>
            <a:off x="8534095" y="420624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6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Plus Jakarta Sans"/>
              </a:rPr>
              <a:t>Source, docs &amp; install guide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34095" y="452628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>
                <a:solidFill>
                  <a:srgbClr val="93A4C7"/>
                </a:solidFill>
                <a:latin typeface="Plus Jakarta Sans"/>
              </a:rPr>
              <a:t>Demo video: [YouTube link]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 thruBlk="1"/>
      </p:transition>
    </mc:Choice>
    <mc:Fallback>
      <p:transition spd="slow">
        <p:fade thruBlk="1"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