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[0:00–0:15] Hi, I'm [NAME], a [GRADE] at [SCHOOL] in [CITY], California. This is CareSphere AI — a private care companion for older adults, autistic people and the families who look after them, on iPhone and on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[0:15–0:31] One in four older adults is socially isolated — a twenty-nine percent higher risk of early death. One in thirty-one children is autistic, and they become adults who still need support. Half of long-term medications aren't taken as prescribed. And sixty-three million family caregivers hold it all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[0:31–0:43] Today a family juggles a medication app, a video app, a health portal and a family-update site — four accounts, four clouds — and none was designed for autistic users. (Optional: one sentence on why you built it.)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[0:43–0:53] CareSphere is one calm app with five tabs — Overview for routines, mood and medication check-ins; Activities with sensory and memory tools; Coffee Circles, live video rooms; Care Circle for notes and visit prep; and Vitals with real Bluetooth heart rate — on iPhone and on the web, with no server behind any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[0:53–1:40] Let me show you. (Switch to the screen recording — six shots, see VIDEO_SCRIPT.md: mood check-in and routine; medication reminder and Taken; Bluetooth pairing or the labeled demo plus Export CSV; Pattern Recall and the Rain soundscape; join a Coffee Circle; build and download a visit brief.)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[1:40–1:51] What makes it different isn't a feature — it's four rules in the code: never fabricate a reading (cancel a pairing and the card stays blank); never send anything automatically — briefs, texts and SOS messages end with a human tap; calm by default — reduce-motion and high-contrast built in; private by architecture — no account, no server, AI that runs on the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[1:51–1:58] Three people who rarely get the same app: older adults living independently, autistic teens and adults, and the family caregivers who support them — in large type, with no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[1:58–2:09] Everything stays on the device: AES-256 encryption with a key that cannot be exported, Bluetooth and HealthKit read locally, and a 1.5-billion-parameter model that answers health questions offline. Zero accounts, zero servers, zero trackers. Why now: phones can finally run a useful language model offline, so private AI help no longer needs a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[2:09–2:20] It's React and JavaScript on the web, Swift and SwiftUI on iPhone — Web Bluetooth, HealthKit, CryptoKit and llama.cpp. Eleven thousand lines, seventeen tests, two CI pipelines, three public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[2:20–2:33] The hardest problem was keeping Bluetooth honest. Notifications arrive late and out of order, so I parse the standard heart-rate profile, label every sample live or simulated at the source — the tag follows it into the CSV export — and drop stale sessions with a generation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[2:33–2:45] Version 2.2 is on GitHub with three public releases and seventeen tests. Version 2.0 of this entry starts with co-design sessions with autistic people, people living with dementia and caregivers, then a TestFlight beta and sensor history in the visit brief — still with no server. Deliberately not planned: cloud sync, a clinician portal or a drug-interaction checker — not without clinical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[2:45–2:51] CareSphere AI — care that stays yours. The code and install guide are on GitHub.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-2377440"/>
            <a:ext cx="9144000" cy="9144000"/>
          </a:xfrm>
          <a:prstGeom prst="rect">
            <a:avLst/>
          </a:prstGeom>
        </p:spPr>
      </p:pic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960120" cy="960120"/>
          </a:xfrm>
          <a:prstGeom prst="roundRect">
            <a:avLst>
              <a:gd name="adj" fmla="val 22857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77440"/>
            <a:ext cx="7132320" cy="11887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7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400" b="1" i="0">
                <a:solidFill>
                  <a:srgbClr val="FFFFFF"/>
                </a:solidFill>
                <a:latin typeface="Arial"/>
              </a:rPr>
              <a:t>CareSphere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661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0" i="0">
                <a:solidFill>
                  <a:srgbClr val="4ADE80"/>
                </a:solidFill>
                <a:latin typeface="Arial"/>
              </a:rPr>
              <a:t>Connected care for independent living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C7D7F2"/>
                </a:solidFill>
                <a:latin typeface="Arial"/>
              </a:rPr>
              <a:t>A private care companion for older adults, autistic people and their families.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Arial"/>
              </a:rPr>
              <a:t>[Student Name]  ·  [School], [City], CA  ·  [email@example.com]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A6BBE0"/>
                </a:solidFill>
                <a:latin typeface="Arial"/>
              </a:rPr>
              <a:t>Congressional App Challenge 2026  ·  [CA-XX]</a:t>
            </a:r>
          </a:p>
        </p:txBody>
      </p:sp>
      <p:pic>
        <p:nvPicPr>
          <p:cNvPr id="9" name="Picture 8" descr="phone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502920"/>
            <a:ext cx="2679202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50" b="1" i="0">
                <a:solidFill>
                  <a:srgbClr val="FFFFFF"/>
                </a:solidFill>
                <a:latin typeface="Arial"/>
              </a:rPr>
              <a:t>Growing older — or growing up autistic — often means facing care alone.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3332378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0" b="1" i="0">
                <a:solidFill>
                  <a:srgbClr val="4ADE80"/>
                </a:solidFill>
                <a:latin typeface="Arial"/>
              </a:rPr>
              <a:t>1 in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333237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EAF0FB"/>
                </a:solidFill>
                <a:latin typeface="Arial"/>
              </a:rPr>
              <a:t>older adults are socially 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0916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7F98C6"/>
                </a:solidFill>
                <a:latin typeface="Arial"/>
              </a:rPr>
              <a:t>NASEM,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9658" y="2377440"/>
            <a:ext cx="3332378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0" b="1" i="0">
                <a:solidFill>
                  <a:srgbClr val="B8A6FF"/>
                </a:solidFill>
                <a:latin typeface="Arial"/>
              </a:rPr>
              <a:t>1 in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9658" y="3749039"/>
            <a:ext cx="333237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EAF0FB"/>
                </a:solidFill>
                <a:latin typeface="Arial"/>
              </a:rPr>
              <a:t>children are autistic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9658" y="470916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7F98C6"/>
                </a:solidFill>
                <a:latin typeface="Arial"/>
              </a:rPr>
              <a:t>CDC,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9236" y="2377440"/>
            <a:ext cx="3332378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0" b="1" i="0">
                <a:solidFill>
                  <a:srgbClr val="FFC94D"/>
                </a:solidFill>
                <a:latin typeface="Arial"/>
              </a:rPr>
              <a:t>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19236" y="3749039"/>
            <a:ext cx="3332378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EAF0FB"/>
                </a:solidFill>
                <a:latin typeface="Arial"/>
              </a:rPr>
              <a:t>of long-term medicines are not taken as prescribed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9236" y="4709160"/>
            <a:ext cx="333237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7F98C6"/>
                </a:solidFill>
                <a:latin typeface="Arial"/>
              </a:rPr>
              <a:t>WHO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A6BBE0"/>
                </a:solidFill>
                <a:latin typeface="Arial"/>
              </a:rPr>
              <a:t>Behind them: 63 million family caregivers.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567842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7F98C6"/>
                </a:solidFill>
                <a:latin typeface="Arial"/>
              </a:rPr>
              <a:t>AARP &amp; NAC,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Four apps. Four accounts. Four clouds.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514600"/>
            <a:ext cx="1737360" cy="192024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Medication</a:t>
            </a:r>
          </a:p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8608" y="2514600"/>
            <a:ext cx="1737360" cy="192024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852928" y="2788920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Video</a:t>
            </a:r>
          </a:p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2928" y="3886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2514600"/>
            <a:ext cx="1737360" cy="192024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791456" y="2788920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Health</a:t>
            </a:r>
          </a:p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3886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55664" y="2514600"/>
            <a:ext cx="1737360" cy="1920240"/>
          </a:xfrm>
          <a:prstGeom prst="roundRect">
            <a:avLst>
              <a:gd name="adj" fmla="val 1052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29984" y="2788920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Family</a:t>
            </a:r>
          </a:p>
          <a:p>
            <a:pPr algn="l">
              <a:lnSpc>
                <a:spcPts val="23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9984" y="38862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7B7B"/>
                </a:solidFill>
                <a:latin typeface="Arial"/>
              </a:rPr>
              <a:t>account · cloud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02751" y="3474720"/>
            <a:ext cx="548640" cy="0"/>
          </a:xfrm>
          <a:prstGeom prst="line">
            <a:avLst/>
          </a:prstGeom>
          <a:ln w="31750">
            <a:solidFill>
              <a:srgbClr val="4ADE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34272" y="2286000"/>
            <a:ext cx="2517343" cy="2377440"/>
          </a:xfrm>
          <a:prstGeom prst="roundRect">
            <a:avLst>
              <a:gd name="adj" fmla="val 7692"/>
            </a:avLst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08592" y="2468880"/>
            <a:ext cx="206014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CareSphere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3017520"/>
            <a:ext cx="2060143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  <a:r>
              <a:rPr sz="2200" b="0" i="0">
                <a:solidFill>
                  <a:srgbClr val="EAF0FB"/>
                </a:solidFill>
                <a:latin typeface="Arial"/>
              </a:rPr>
              <a:t> app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0</a:t>
            </a:r>
            <a:r>
              <a:rPr sz="2200" b="0" i="0">
                <a:solidFill>
                  <a:srgbClr val="EAF0FB"/>
                </a:solidFill>
                <a:latin typeface="Arial"/>
              </a:rPr>
              <a:t> accounts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0</a:t>
            </a:r>
            <a:r>
              <a:rPr sz="2200" b="0" i="0">
                <a:solidFill>
                  <a:srgbClr val="EAF0FB"/>
                </a:solidFill>
                <a:latin typeface="Arial"/>
              </a:rPr>
              <a:t> clouds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6BBE0"/>
                </a:solidFill>
                <a:latin typeface="Arial"/>
              </a:rPr>
              <a:t>Medisafe · FaceTime · MyChart · CaringBridge — none designed for autistic users.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One calm app. Five tabs. Zero servers.</a:t>
            </a:r>
          </a:p>
        </p:txBody>
      </p:sp>
      <p:pic>
        <p:nvPicPr>
          <p:cNvPr id="4" name="Picture 3" descr="phon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124" y="1783080"/>
            <a:ext cx="1806431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Overview</a:t>
            </a:r>
          </a:p>
        </p:txBody>
      </p:sp>
      <p:pic>
        <p:nvPicPr>
          <p:cNvPr id="6" name="Picture 5" descr="phone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377" y="1783080"/>
            <a:ext cx="1806431" cy="4069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99333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pic>
        <p:nvPicPr>
          <p:cNvPr id="8" name="Picture 7" descr="phone-cir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631" y="1783080"/>
            <a:ext cx="1806431" cy="4069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58587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Coffee Circles</a:t>
            </a:r>
          </a:p>
        </p:txBody>
      </p:sp>
      <p:pic>
        <p:nvPicPr>
          <p:cNvPr id="10" name="Picture 9" descr="phone-c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1885" y="1783080"/>
            <a:ext cx="1806431" cy="4069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7841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Care Circle</a:t>
            </a:r>
          </a:p>
        </p:txBody>
      </p:sp>
      <p:pic>
        <p:nvPicPr>
          <p:cNvPr id="12" name="Picture 11" descr="phone-vita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1139" y="1783080"/>
            <a:ext cx="1806431" cy="4069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77095" y="594360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</a:rPr>
              <a:t>Vitals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Let's see it.</a:t>
            </a:r>
          </a:p>
        </p:txBody>
      </p:sp>
      <p:pic>
        <p:nvPicPr>
          <p:cNvPr id="4" name="Picture 3" descr="web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48" y="1600200"/>
            <a:ext cx="6931463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220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Real video rooms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86000"/>
            <a:ext cx="33220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C7D7F2"/>
                </a:solidFill>
                <a:latin typeface="Arial"/>
              </a:rPr>
              <a:t>no account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291840"/>
            <a:ext cx="33220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Honest vitals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749039"/>
            <a:ext cx="33220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C7D7F2"/>
                </a:solidFill>
                <a:latin typeface="Arial"/>
              </a:rPr>
              <a:t>every card says LIVE or SIMULATED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754880"/>
            <a:ext cx="33220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A brief you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5212080"/>
            <a:ext cx="33220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C7D7F2"/>
                </a:solidFill>
                <a:latin typeface="Arial"/>
              </a:rPr>
              <a:t>pick · preview · download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309360"/>
            <a:ext cx="3642360" cy="274320"/>
          </a:xfrm>
          <a:prstGeom prst="roundRect">
            <a:avLst>
              <a:gd name="adj" fmla="val 50000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6309360"/>
            <a:ext cx="36423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FFC94D"/>
                </a:solidFill>
                <a:latin typeface="Arial"/>
              </a:rPr>
              <a:t>RECORDED ON THE REAL APP — NOTHING STAGED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Four rules, written into the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5272887" cy="1783080"/>
          </a:xfrm>
          <a:prstGeom prst="roundRect">
            <a:avLst>
              <a:gd name="adj" fmla="val 102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Arial"/>
              </a:rPr>
              <a:t>Never fabricate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every reading says LIVE or SIMULATED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965960"/>
            <a:ext cx="5272887" cy="1783080"/>
          </a:xfrm>
          <a:prstGeom prst="roundRect">
            <a:avLst>
              <a:gd name="adj" fmla="val 102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278727" y="228600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735927" y="2331720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Arial"/>
              </a:rPr>
              <a:t>Nothing sent automatically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5927" y="2926080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a person always taps Send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5272887" cy="1783080"/>
          </a:xfrm>
          <a:prstGeom prst="roundRect">
            <a:avLst>
              <a:gd name="adj" fmla="val 102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0080" y="4389119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B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97280" y="4434840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Arial"/>
              </a:rPr>
              <a:t>Calm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199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no timers, scores or auto-advance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4069079"/>
            <a:ext cx="5272887" cy="1783080"/>
          </a:xfrm>
          <a:prstGeom prst="roundRect">
            <a:avLst>
              <a:gd name="adj" fmla="val 10256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278727" y="4389119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FFC9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735927" y="4434840"/>
            <a:ext cx="454136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>
                <a:solidFill>
                  <a:srgbClr val="FFFFFF"/>
                </a:solidFill>
                <a:latin typeface="Arial"/>
              </a:rPr>
              <a:t>Private by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5029199"/>
            <a:ext cx="454136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no account, no server, encrypted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WHO IT'S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Three people who rarely get the same app.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3393338" cy="4114800"/>
          </a:xfrm>
          <a:prstGeom prst="roundRect">
            <a:avLst>
              <a:gd name="adj" fmla="val 5389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19" y="22402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Older adults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19" y="2743200"/>
            <a:ext cx="275325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C7D7F2"/>
                </a:solidFill>
                <a:latin typeface="Arial"/>
              </a:rPr>
              <a:t>routines, reminders, real company</a:t>
            </a:r>
          </a:p>
        </p:txBody>
      </p:sp>
      <p:pic>
        <p:nvPicPr>
          <p:cNvPr id="7" name="Picture 6" descr="crop-rou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782795"/>
            <a:ext cx="2753258" cy="2023644"/>
          </a:xfrm>
          <a:prstGeom prst="roundRect">
            <a:avLst>
              <a:gd name="adj" fmla="val 5442"/>
            </a:avLst>
          </a:prstGeom>
        </p:spPr>
      </p:pic>
      <p:sp>
        <p:nvSpPr>
          <p:cNvPr id="8" name="Rounded Rectangle 7"/>
          <p:cNvSpPr/>
          <p:nvPr/>
        </p:nvSpPr>
        <p:spPr>
          <a:xfrm>
            <a:off x="4399178" y="1965960"/>
            <a:ext cx="3393338" cy="4114800"/>
          </a:xfrm>
          <a:prstGeom prst="roundRect">
            <a:avLst>
              <a:gd name="adj" fmla="val 5389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19218" y="22402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50" b="1" i="0">
                <a:solidFill>
                  <a:srgbClr val="FFFFFF"/>
                </a:solidFill>
                <a:latin typeface="Arial"/>
              </a:rPr>
              <a:t>Autistic teens &amp; adults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9218" y="2743200"/>
            <a:ext cx="275325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C7D7F2"/>
                </a:solidFill>
                <a:latin typeface="Arial"/>
              </a:rPr>
              <a:t>predictable, untimed, sensory-calm</a:t>
            </a:r>
          </a:p>
        </p:txBody>
      </p:sp>
      <p:pic>
        <p:nvPicPr>
          <p:cNvPr id="11" name="Picture 10" descr="crop-soundsc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218" y="3892925"/>
            <a:ext cx="2753258" cy="1913514"/>
          </a:xfrm>
          <a:prstGeom prst="roundRect">
            <a:avLst>
              <a:gd name="adj" fmla="val 5755"/>
            </a:avLst>
          </a:prstGeom>
        </p:spPr>
      </p:pic>
      <p:sp>
        <p:nvSpPr>
          <p:cNvPr id="12" name="Rounded Rectangle 11"/>
          <p:cNvSpPr/>
          <p:nvPr/>
        </p:nvSpPr>
        <p:spPr>
          <a:xfrm>
            <a:off x="8158276" y="1965960"/>
            <a:ext cx="3393338" cy="4114800"/>
          </a:xfrm>
          <a:prstGeom prst="roundRect">
            <a:avLst>
              <a:gd name="adj" fmla="val 5389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78316" y="2240280"/>
            <a:ext cx="27532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>
                <a:solidFill>
                  <a:srgbClr val="FFFFFF"/>
                </a:solidFill>
                <a:latin typeface="Arial"/>
              </a:rPr>
              <a:t>Family caregivers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8316" y="2743200"/>
            <a:ext cx="2753258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C7D7F2"/>
                </a:solidFill>
                <a:latin typeface="Arial"/>
              </a:rPr>
              <a:t>notes and a brief they can trust</a:t>
            </a:r>
          </a:p>
        </p:txBody>
      </p:sp>
      <p:pic>
        <p:nvPicPr>
          <p:cNvPr id="15" name="Picture 14" descr="crop-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493" y="3657600"/>
            <a:ext cx="2636904" cy="2148840"/>
          </a:xfrm>
          <a:prstGeom prst="roundRect">
            <a:avLst>
              <a:gd name="adj" fmla="val 4908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PRIVACY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Everything stays on the device.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2103120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0" b="1" i="0">
                <a:solidFill>
                  <a:srgbClr val="4ADE8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918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EAF0FB"/>
                </a:solidFill>
                <a:latin typeface="Arial"/>
              </a:rPr>
              <a:t>accounts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920240"/>
            <a:ext cx="2103120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0" b="1" i="0">
                <a:solidFill>
                  <a:srgbClr val="4ADE80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2918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EAF0FB"/>
                </a:solidFill>
                <a:latin typeface="Arial"/>
              </a:rPr>
              <a:t>servers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2103120" cy="1371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400" b="1" i="0">
                <a:solidFill>
                  <a:srgbClr val="4ADE8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32918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>
                <a:solidFill>
                  <a:srgbClr val="EAF0FB"/>
                </a:solidFill>
                <a:latin typeface="Arial"/>
              </a:rPr>
              <a:t>trackers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2103120"/>
            <a:ext cx="36576" cy="2377440"/>
          </a:xfrm>
          <a:prstGeom prst="rect">
            <a:avLst/>
          </a:prstGeom>
          <a:solidFill>
            <a:srgbClr val="2E5C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55279" y="2057400"/>
            <a:ext cx="3596335" cy="256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i="0">
                <a:solidFill>
                  <a:srgbClr val="C7D7F2"/>
                </a:solidFill>
                <a:latin typeface="Arial"/>
              </a:rPr>
              <a:t>AES-256 encrypted store</a:t>
            </a:r>
          </a:p>
          <a:p>
            <a:pPr algn="l">
              <a:lnSpc>
                <a:spcPts val="25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i="0">
                <a:solidFill>
                  <a:srgbClr val="C7D7F2"/>
                </a:solidFill>
                <a:latin typeface="Arial"/>
              </a:rPr>
              <a:t>AI runs on the phone</a:t>
            </a:r>
          </a:p>
          <a:p>
            <a:pPr algn="l">
              <a:lnSpc>
                <a:spcPts val="25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i="0">
                <a:solidFill>
                  <a:srgbClr val="C7D7F2"/>
                </a:solidFill>
                <a:latin typeface="Arial"/>
              </a:rPr>
              <a:t>Bluetooth &amp; HealthKit read locally</a:t>
            </a:r>
          </a:p>
          <a:p>
            <a:pPr algn="l">
              <a:lnSpc>
                <a:spcPts val="25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i="0">
                <a:solidFill>
                  <a:srgbClr val="C7D7F2"/>
                </a:solidFill>
                <a:latin typeface="Arial"/>
              </a:rPr>
              <a:t>Face ID lock · export · erase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A6BBE0"/>
                </a:solidFill>
                <a:latin typeface="Arial"/>
              </a:rPr>
              <a:t>Only live video calls and a message you tap to send ever leave the phone.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HOW IT'S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Two clients. One promise. No server.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272887" cy="2377440"/>
          </a:xfrm>
          <a:prstGeom prst="roundRect">
            <a:avLst>
              <a:gd name="adj" fmla="val 7692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51560" y="2194560"/>
            <a:ext cx="444992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Arial"/>
              </a:rPr>
              <a:t>Web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38447" y="225856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38447" y="2258568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7CC4FF"/>
                </a:solidFill>
                <a:latin typeface="Arial"/>
              </a:rPr>
              <a:t>JAVASCRIPT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4449927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19456" indent="-219456">
              <a:lnSpc>
                <a:spcPts val="2196"/>
              </a:lnSpc>
              <a:spcBef>
                <a:spcPts val="0"/>
              </a:spcBef>
              <a:spcAft>
                <a:spcPts val="600"/>
              </a:spcAft>
              <a:buClr>
                <a:srgbClr val="4ADE80"/>
              </a:buClr>
              <a:buFont typeface="Arial"/>
              <a:buChar char="•"/>
            </a:pPr>
            <a:r>
              <a:rPr sz="1800" b="0" i="0">
                <a:solidFill>
                  <a:srgbClr val="C7D7F2"/>
                </a:solidFill>
                <a:latin typeface="Arial"/>
              </a:rPr>
              <a:t>React · Vite · Tailwind</a:t>
            </a:r>
          </a:p>
          <a:p>
            <a:pPr algn="l" marL="219456" indent="-219456">
              <a:lnSpc>
                <a:spcPts val="2196"/>
              </a:lnSpc>
              <a:spcBef>
                <a:spcPts val="0"/>
              </a:spcBef>
              <a:spcAft>
                <a:spcPts val="600"/>
              </a:spcAft>
              <a:buClr>
                <a:srgbClr val="4ADE80"/>
              </a:buClr>
              <a:buFont typeface="Arial"/>
              <a:buChar char="•"/>
            </a:pPr>
            <a:r>
              <a:rPr sz="1800" b="0" i="0">
                <a:solidFill>
                  <a:srgbClr val="C7D7F2"/>
                </a:solidFill>
                <a:latin typeface="Arial"/>
              </a:rPr>
              <a:t>Web Bluetooth · Web Audio</a:t>
            </a:r>
          </a:p>
          <a:p>
            <a:pPr algn="l" marL="219456" indent="-219456">
              <a:lnSpc>
                <a:spcPts val="2196"/>
              </a:lnSpc>
              <a:spcBef>
                <a:spcPts val="0"/>
              </a:spcBef>
              <a:spcAft>
                <a:spcPts val="600"/>
              </a:spcAft>
              <a:buClr>
                <a:srgbClr val="4ADE80"/>
              </a:buClr>
              <a:buFont typeface="Arial"/>
              <a:buChar char="•"/>
            </a:pPr>
            <a:r>
              <a:rPr sz="1800" b="0" i="0">
                <a:solidFill>
                  <a:srgbClr val="C7D7F2"/>
                </a:solidFill>
                <a:latin typeface="Arial"/>
              </a:rPr>
              <a:t>Web Crypto · installable PWA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920240"/>
            <a:ext cx="5272887" cy="2377440"/>
          </a:xfrm>
          <a:prstGeom prst="roundRect">
            <a:avLst>
              <a:gd name="adj" fmla="val 7692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90207" y="2194560"/>
            <a:ext cx="444992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FFFFFF"/>
                </a:solidFill>
                <a:latin typeface="Arial"/>
              </a:rPr>
              <a:t>iPhone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77095" y="225856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677095" y="2258568"/>
            <a:ext cx="146304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SWIFT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788920"/>
            <a:ext cx="4449927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19456" indent="-219456">
              <a:lnSpc>
                <a:spcPts val="2196"/>
              </a:lnSpc>
              <a:spcBef>
                <a:spcPts val="0"/>
              </a:spcBef>
              <a:spcAft>
                <a:spcPts val="600"/>
              </a:spcAft>
              <a:buClr>
                <a:srgbClr val="4ADE80"/>
              </a:buClr>
              <a:buFont typeface="Arial"/>
              <a:buChar char="•"/>
            </a:pPr>
            <a:r>
              <a:rPr sz="1800" b="0" i="0">
                <a:solidFill>
                  <a:srgbClr val="C7D7F2"/>
                </a:solidFill>
                <a:latin typeface="Arial"/>
              </a:rPr>
              <a:t>SwiftUI · HealthKit · CoreBluetooth</a:t>
            </a:r>
          </a:p>
          <a:p>
            <a:pPr algn="l" marL="219456" indent="-219456">
              <a:lnSpc>
                <a:spcPts val="2196"/>
              </a:lnSpc>
              <a:spcBef>
                <a:spcPts val="0"/>
              </a:spcBef>
              <a:spcAft>
                <a:spcPts val="600"/>
              </a:spcAft>
              <a:buClr>
                <a:srgbClr val="4ADE80"/>
              </a:buClr>
              <a:buFont typeface="Arial"/>
              <a:buChar char="•"/>
            </a:pPr>
            <a:r>
              <a:rPr sz="1800" b="0" i="0">
                <a:solidFill>
                  <a:srgbClr val="C7D7F2"/>
                </a:solidFill>
                <a:latin typeface="Arial"/>
              </a:rPr>
              <a:t>CryptoKit · Face ID</a:t>
            </a:r>
          </a:p>
          <a:p>
            <a:pPr algn="l" marL="219456" indent="-219456">
              <a:lnSpc>
                <a:spcPts val="2196"/>
              </a:lnSpc>
              <a:spcBef>
                <a:spcPts val="0"/>
              </a:spcBef>
              <a:spcAft>
                <a:spcPts val="600"/>
              </a:spcAft>
              <a:buClr>
                <a:srgbClr val="4ADE80"/>
              </a:buClr>
              <a:buFont typeface="Arial"/>
              <a:buChar char="•"/>
            </a:pPr>
            <a:r>
              <a:rPr sz="1800" b="0" i="0">
                <a:solidFill>
                  <a:srgbClr val="C7D7F2"/>
                </a:solidFill>
                <a:latin typeface="Arial"/>
              </a:rPr>
              <a:t>llama.cpp · Sherpa-ONNX · Jitsi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7720"/>
            <a:ext cx="245356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4ADE80"/>
                </a:solidFill>
                <a:latin typeface="Arial"/>
              </a:rPr>
              <a:t>11,400+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6BBE0"/>
                </a:solidFill>
                <a:latin typeface="Arial"/>
              </a:rPr>
              <a:t>lines of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03" y="4617720"/>
            <a:ext cx="245356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4ADE80"/>
                </a:solidFill>
                <a:latin typeface="Arial"/>
              </a:rPr>
              <a:t>17 / 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9403" y="544068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6BBE0"/>
                </a:solidFill>
                <a:latin typeface="Arial"/>
              </a:rPr>
              <a:t>tests passing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4617720"/>
            <a:ext cx="245356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4ADE80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544068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6BBE0"/>
                </a:solidFill>
                <a:latin typeface="Arial"/>
              </a:rPr>
              <a:t>CI pipelines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051" y="4617720"/>
            <a:ext cx="245356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1" i="0">
                <a:solidFill>
                  <a:srgbClr val="FFC94D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051" y="5440680"/>
            <a:ext cx="245356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A6BBE0"/>
                </a:solidFill>
                <a:latin typeface="Arial"/>
              </a:rPr>
              <a:t>public releases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HARDEST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Arial"/>
              </a:rPr>
              <a:t>Making Bluetooth honest.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 i="0">
                <a:solidFill>
                  <a:srgbClr val="C7D7F2"/>
                </a:solidFill>
                <a:latin typeface="Arial"/>
              </a:rPr>
              <a:t>Heart-rate notifications arrive late and out of order — a stale sensor could repaint a new card.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3393338" cy="2331720"/>
          </a:xfrm>
          <a:prstGeom prst="roundRect">
            <a:avLst>
              <a:gd name="adj" fmla="val 7843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880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400" b="1" i="0">
                <a:solidFill>
                  <a:srgbClr val="4ADE8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26618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Parse the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23360"/>
            <a:ext cx="26618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C7D7F2"/>
                </a:solidFill>
                <a:latin typeface="Arial"/>
              </a:rPr>
              <a:t>service 0x180D · flags byte → 8/16-bit BPM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697480"/>
            <a:ext cx="3393338" cy="2331720"/>
          </a:xfrm>
          <a:prstGeom prst="roundRect">
            <a:avLst>
              <a:gd name="adj" fmla="val 7843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64938" y="2880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400" b="1" i="0">
                <a:solidFill>
                  <a:srgbClr val="4ADE80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938" y="3566160"/>
            <a:ext cx="26618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Label at the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4938" y="4023360"/>
            <a:ext cx="26618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C7D7F2"/>
                </a:solidFill>
                <a:latin typeface="Arial"/>
              </a:rPr>
              <a:t>each sample born LIVE or SIMULATED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697480"/>
            <a:ext cx="3393338" cy="2331720"/>
          </a:xfrm>
          <a:prstGeom prst="roundRect">
            <a:avLst>
              <a:gd name="adj" fmla="val 7843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24036" y="2880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400" b="1" i="0">
                <a:solidFill>
                  <a:srgbClr val="4ADE8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4036" y="3566160"/>
            <a:ext cx="26618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Drop stale sessions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4036" y="4023360"/>
            <a:ext cx="26618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i="0">
                <a:solidFill>
                  <a:srgbClr val="C7D7F2"/>
                </a:solidFill>
                <a:latin typeface="Arial"/>
              </a:rPr>
              <a:t>a generation counter ignores old pairings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49240"/>
            <a:ext cx="10911535" cy="777240"/>
          </a:xfrm>
          <a:prstGeom prst="roundRect">
            <a:avLst>
              <a:gd name="adj" fmla="val 23529"/>
            </a:avLst>
          </a:prstGeom>
          <a:solidFill>
            <a:srgbClr val="1B4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10362895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 i="0">
                <a:solidFill>
                  <a:srgbClr val="4ADE80"/>
                </a:solidFill>
                <a:latin typeface="Courier New"/>
              </a:rPr>
              <a:t>const bpm = flags &amp; 0x1 ? dv.getUint16(1, true) : dv.getUint8(1)   // src/lib/bluetooth.js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50" b="1" i="0">
                <a:solidFill>
                  <a:srgbClr val="FFFFFF"/>
                </a:solidFill>
                <a:latin typeface="Arial"/>
              </a:rPr>
              <a:t>Shipped and tested. Next: built with the people it serves.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2295144"/>
            <a:ext cx="10362895" cy="0"/>
          </a:xfrm>
          <a:prstGeom prst="line">
            <a:avLst/>
          </a:prstGeom>
          <a:ln w="25400">
            <a:solidFill>
              <a:srgbClr val="2E5C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04671" y="2148840"/>
            <a:ext cx="292608" cy="2926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280160" y="2103120"/>
            <a:ext cx="275325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2788920"/>
            <a:ext cx="3119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Arial"/>
              </a:rPr>
              <a:t>v2.2 on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3383280"/>
            <a:ext cx="302757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3 releases · 17 tests · CI for web and iOS</a:t>
            </a:r>
          </a:p>
        </p:txBody>
      </p:sp>
      <p:sp>
        <p:nvSpPr>
          <p:cNvPr id="9" name="Oval 8"/>
          <p:cNvSpPr/>
          <p:nvPr/>
        </p:nvSpPr>
        <p:spPr>
          <a:xfrm>
            <a:off x="4563770" y="2148840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39258" y="2103120"/>
            <a:ext cx="275325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7CC4FF"/>
                </a:solidFill>
                <a:latin typeface="Arial"/>
              </a:rPr>
              <a:t>NEXT · V2.0 OF THIS ENTRY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3770" y="2788920"/>
            <a:ext cx="3119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>
                <a:solidFill>
                  <a:srgbClr val="FFFFFF"/>
                </a:solidFill>
                <a:latin typeface="Arial"/>
              </a:rPr>
              <a:t>Co-design &amp; TestFlight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3770" y="3383280"/>
            <a:ext cx="302757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sessions with autistic people, people with dementia, caregivers</a:t>
            </a:r>
          </a:p>
        </p:txBody>
      </p:sp>
      <p:sp>
        <p:nvSpPr>
          <p:cNvPr id="13" name="Oval 12"/>
          <p:cNvSpPr/>
          <p:nvPr/>
        </p:nvSpPr>
        <p:spPr>
          <a:xfrm>
            <a:off x="8322868" y="2148840"/>
            <a:ext cx="292608" cy="292608"/>
          </a:xfrm>
          <a:prstGeom prst="ellipse">
            <a:avLst/>
          </a:prstGeom>
          <a:solidFill>
            <a:srgbClr val="B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98356" y="2103120"/>
            <a:ext cx="275325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B8A6FF"/>
                </a:solidFill>
                <a:latin typeface="Arial"/>
              </a:rPr>
              <a:t>THEN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2868" y="2788920"/>
            <a:ext cx="311901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Arial"/>
              </a:rPr>
              <a:t>Real data, no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2868" y="3383280"/>
            <a:ext cx="302757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>
                <a:solidFill>
                  <a:srgbClr val="C7D7F2"/>
                </a:solidFill>
                <a:latin typeface="Arial"/>
              </a:rPr>
              <a:t>sensor history in the visit brief · encrypted backup · Spanish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74920"/>
            <a:ext cx="10911535" cy="713232"/>
          </a:xfrm>
          <a:prstGeom prst="roundRect">
            <a:avLst>
              <a:gd name="adj" fmla="val 25641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60119" y="5074920"/>
            <a:ext cx="2377440" cy="7132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4ADE80"/>
                </a:solidFill>
                <a:latin typeface="Arial"/>
              </a:rPr>
              <a:t>RELEASES ·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39" y="5276088"/>
            <a:ext cx="1159510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91839" y="5276088"/>
            <a:ext cx="115951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V1.0 · SEP 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79950" y="5276088"/>
            <a:ext cx="1159510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79950" y="5276088"/>
            <a:ext cx="115951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V2.0 · SEP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68060" y="5276088"/>
            <a:ext cx="1235709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068060" y="5276088"/>
            <a:ext cx="1235709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4ADE80"/>
                </a:solidFill>
                <a:latin typeface="Arial"/>
              </a:rPr>
              <a:t>V2.1 · SEP 28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32370" y="5276088"/>
            <a:ext cx="1794510" cy="310896"/>
          </a:xfrm>
          <a:prstGeom prst="roundRect">
            <a:avLst>
              <a:gd name="adj" fmla="val 50000"/>
            </a:avLst>
          </a:prstGeom>
          <a:solidFill>
            <a:srgbClr val="0C2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532370" y="5276088"/>
            <a:ext cx="179451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7CC4FF"/>
                </a:solidFill>
                <a:latin typeface="Arial"/>
              </a:rPr>
              <a:t>V2.2 · BUILDING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0015" y="644652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>
                <a:solidFill>
                  <a:srgbClr val="7F98C6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D6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00" y="-2743200"/>
            <a:ext cx="9144000" cy="9144000"/>
          </a:xfrm>
          <a:prstGeom prst="rect">
            <a:avLst/>
          </a:prstGeom>
        </p:spPr>
      </p:pic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1005840" cy="1005840"/>
          </a:xfrm>
          <a:prstGeom prst="roundRect">
            <a:avLst>
              <a:gd name="adj" fmla="val 22727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640080" y="228600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600" b="1" i="0">
                <a:solidFill>
                  <a:srgbClr val="FFFFFF"/>
                </a:solidFill>
                <a:latin typeface="Arial"/>
              </a:rPr>
              <a:t>Care that stays yours.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C7D7F2"/>
                </a:solidFill>
                <a:latin typeface="Arial"/>
              </a:rPr>
              <a:t>Connected, calm and private — with no account, no server and no fabricated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4ADE80"/>
                </a:solidFill>
                <a:latin typeface="Arial"/>
              </a:rPr>
              <a:t>Try the web app  ·  read the code  ·  watch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Arial"/>
              </a:rPr>
              <a:t>github.com/engineer2025-sudo/Care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>
                <a:solidFill>
                  <a:srgbClr val="A6BBE0"/>
                </a:solidFill>
                <a:latin typeface="Arial"/>
              </a:rPr>
              <a:t>[Student Name]  ·  [email@example.com]  ·  [School], [City], CA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34095" y="1554480"/>
            <a:ext cx="3017520" cy="3749039"/>
          </a:xfrm>
          <a:prstGeom prst="roundRect">
            <a:avLst>
              <a:gd name="adj" fmla="val 6060"/>
            </a:avLst>
          </a:prstGeom>
          <a:solidFill>
            <a:srgbClr val="154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5575" y="1828800"/>
            <a:ext cx="2194560" cy="2194560"/>
          </a:xfrm>
          <a:prstGeom prst="roundRect">
            <a:avLst>
              <a:gd name="adj" fmla="val 6250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534095" y="42062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Source, docs &amp; install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452628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A6BBE0"/>
                </a:solidFill>
                <a:latin typeface="Arial"/>
              </a:rPr>
              <a:t>Demo video: [YouTube link]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