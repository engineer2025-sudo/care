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embeddedFontLst>
    <p:embeddedFont>
      <p:font typeface="Plus Jakarta Sans" panose="00000000000000000000" pitchFamily="34" charset="0"/>
      <p:regular r:id="rId21"/>
      <p:bold r:id="rId22"/>
    </p:embeddedFont>
    <p:embeddedFont>
      <p:font typeface="Plus Jakarta Sans Medium" panose="00000000000000000000" pitchFamily="34" charset="0"/>
      <p:regular r:id="rId23"/>
    </p:embeddedFont>
    <p:embeddedFont>
      <p:font typeface="Plus Jakarta Sans ExtraBold" panose="00000000000000000000" pitchFamily="34" charset="0"/>
      <p:regular r:id="rId24"/>
    </p:embeddedFont>
    <p:embeddedFont>
      <p:font typeface="JetBrains Mono" panose="02000009000000000000" pitchFamily="49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[0:00–0:14] Hi, I'm Arnav Kochar, a [GRADE] at [SCHOOL] in [CITY], California. This is CareSphere AI — a private care companion for older adults, autistic people and their families, on iPhone and on the web.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CareSphere was designed around everyday moments: remembering medication, following a routine and reaching someone. Add your own truthful personal motivation when narrating; no personal story has been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[0:26–0:39] One in four older adults is socially isolated — a twenty-nine percent higher risk of early death. One in thirty-one children is autistic. Half of long-term medications aren't taken as prescribed. And sixty-three million family caregivers hold it all together.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actual CareSphere web-app screenshots showing medication self-check-ins, daily routines and Coffee Circles. The displayed entries are sample data. Coffee Circles uses external Jitsi infrastructure; no CareSphere care-data backend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[0:47–0:57] CareSphere is one calm app with five tabs — Overview, Activities, Coffee Circles, Care Circle and Vitals — with no server behind any of it.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[0:57–1:42] Let me show you. (Switch to the screen recording — six shots, see VIDEO_SCRIPT.md: mood check-in and routine; medication reminder and Taken; Bluetooth pairing or the labeled demo plus Export CSV; Pattern Recall and the Rain soundscape; join a Coffee Circle; build and download a visit brief.)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[1:42–1:53] What makes it different isn't a feature — it's four rules in the code: never fabricate a reading, never send anything automatically, calm by default, private by architecture.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[1:53–2:01] It's built for three people at once: older adults, autistic teens and adults, and the caregivers who support them.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[2:01–2:12] Everything stays on the device: AES-256 encryption, Bluetooth and HealthKit read locally, and a 1.5-billion-parameter model that answers health questions offline. Zero accounts, zero servers, zero trackers.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[2:12–2:23] It's React and JavaScript on the web, Swift and SwiftUI on iPhone — Web Bluetooth, HealthKit, CryptoKit and llama.cpp. Eleven thousand lines, seventeen tests, three public releases.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[2:23–2:35] The hardest problem was keeping Bluetooth honest: notifications arrive late and out of order, so I label every sample live or simulated at the source and drop stale sessions with a generation counter.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[2:35–2:47] Version 2.0 starts with co-design sessions with autistic people, people living with dementia and caregivers, then a TestFlight beta and sensor history in the visit brief — still with no server. (Deliberately not planned: cloud sync, a clinician portal or a drug-interaction checker — not without clinical review.)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[2:47–2:53] CareSphere AI — care that stays yours. The code and install guide are on GitHub. Thank you.</a:t>
            </a:r>
          </a:p>
          <a:p/>
          <a:p>
            <a:r>
              <a:t>VISUAL PROVENANCE: Real CareSphere web-app screenshots with seeded demonstration data, framed with script-drawn shapes. Not native iOS screenshots. No AI-generated imagery. No claimed user outcomes or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-2194560"/>
            <a:ext cx="8229600" cy="8229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421892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9264" y="13350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CONGRESSIONAL APP CHALLENGE 2026  ·  CA-10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0">
                <a:solidFill>
                  <a:srgbClr val="FFFFFF"/>
                </a:solidFill>
                <a:latin typeface="Plus Jakarta Sans ExtraBold"/>
              </a:rPr>
              <a:t>CareSphere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6E288"/>
                </a:solidFill>
                <a:latin typeface="Plus Jakarta Sans Medium"/>
              </a:rPr>
              <a:t>Connected care for independent living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A private care companion for older adults, autistic people and the families who care for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81728"/>
            <a:ext cx="457200" cy="36576"/>
          </a:xfrm>
          <a:prstGeom prst="roundRect">
            <a:avLst>
              <a:gd name="adj" fmla="val 50000"/>
            </a:avLst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Arnav Kochar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CA-10  ·  kochar4646@gmail.com</a:t>
            </a:r>
          </a:p>
        </p:txBody>
      </p:sp>
      <p:pic>
        <p:nvPicPr>
          <p:cNvPr id="12" name="Picture 11" descr="phone-vi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6949440" y="1325880"/>
            <a:ext cx="2932206" cy="5760720"/>
          </a:xfrm>
          <a:prstGeom prst="rect">
            <a:avLst/>
          </a:prstGeom>
        </p:spPr>
      </p:pic>
      <p:pic>
        <p:nvPicPr>
          <p:cNvPr id="13" name="Picture 12" descr="phone-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914400"/>
            <a:ext cx="3258007" cy="640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DESIGN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Small moments.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More independence.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>
                <a:solidFill>
                  <a:srgbClr val="FFFFFF"/>
                </a:solidFill>
                <a:latin typeface="Plus Jakarta Sans Medium"/>
              </a:rPr>
              <a:t>A reminder you can act on.
A routine you can finish.
A person you can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>
                <a:solidFill>
                  <a:srgbClr val="D7E0F2"/>
                </a:solidFill>
                <a:latin typeface="Plus Jakarta Sans"/>
              </a:rPr>
              <a:t>CareSphere brings everyday support together — without making care feel like another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26748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26748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100">
                <a:solidFill>
                  <a:srgbClr val="06E288"/>
                </a:solidFill>
                <a:latin typeface="Plus Jakarta Sans"/>
              </a:rPr>
              <a:t>CALM · HONEST · PRIVATE</a:t>
            </a:r>
          </a:p>
        </p:txBody>
      </p:sp>
      <p:pic>
        <p:nvPicPr>
          <p:cNvPr id="10" name="Picture 9" descr="phone-to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19"/>
            <a:ext cx="2303876" cy="4526280"/>
          </a:xfrm>
          <a:prstGeom prst="rect">
            <a:avLst/>
          </a:prstGeom>
        </p:spPr>
      </p:pic>
      <p:pic>
        <p:nvPicPr>
          <p:cNvPr id="11" name="Picture 10" descr="crop-rou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743200"/>
            <a:ext cx="2606040" cy="1915439"/>
          </a:xfrm>
          <a:prstGeom prst="roundRect">
            <a:avLst>
              <a:gd name="adj" fmla="val 5442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02</a:t>
            </a:r>
          </a:p>
        </p:txBody>
      </p:sp>
      <p:pic>
        <p:nvPicPr>
          <p:cNvPr id="14" name="Picture 13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5" name="TextBox 14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Growing older — or growing up autistic — too often means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facing care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1 in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older adults are socially isolated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NASEM ·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19218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1 in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218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children are autistic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9218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CDC ·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86876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of long-term medicines aren’t taken as prescribed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876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WHO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59552"/>
            <a:ext cx="54864" cy="384048"/>
          </a:xfrm>
          <a:prstGeom prst="roundRect">
            <a:avLst>
              <a:gd name="adj" fmla="val 50000"/>
            </a:avLst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559552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Behind them: </a:t>
            </a:r>
            <a:r>
              <a:rPr sz="1700" b="1">
                <a:solidFill>
                  <a:srgbClr val="FFFFFF"/>
                </a:solidFill>
                <a:latin typeface="Plus Jakarta Sans"/>
              </a:rPr>
              <a:t>63 million</a:t>
            </a:r>
            <a:r>
              <a:rPr sz="1700" b="0">
                <a:solidFill>
                  <a:srgbClr val="D7E0F2"/>
                </a:solidFill>
                <a:latin typeface="Plus Jakarta Sans"/>
              </a:rPr>
              <a:t> family caregivers.  </a:t>
            </a:r>
            <a:r>
              <a:rPr sz="1700" b="0">
                <a:solidFill>
                  <a:srgbClr val="93A4C7"/>
                </a:solidFill>
                <a:latin typeface="Plus Jakarta Sans"/>
              </a:rPr>
              <a:t>AARP &amp; NAC,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03</a:t>
            </a:r>
          </a:p>
        </p:txBody>
      </p:sp>
      <p:pic>
        <p:nvPicPr>
          <p:cNvPr id="22" name="Picture 21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EVERYDAY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From a reminder to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a real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93338" cy="4069080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01 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"/>
              </a:rPr>
              <a:t>Medication self-check-ins</a:t>
            </a:r>
          </a:p>
        </p:txBody>
      </p:sp>
      <p:pic>
        <p:nvPicPr>
          <p:cNvPr id="9" name="Picture 8" descr="crop-m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29000"/>
            <a:ext cx="2936138" cy="2158061"/>
          </a:xfrm>
          <a:prstGeom prst="roundRect">
            <a:avLst>
              <a:gd name="adj" fmla="val 5442"/>
            </a:avLst>
          </a:prstGeom>
        </p:spPr>
      </p:pic>
      <p:sp>
        <p:nvSpPr>
          <p:cNvPr id="10" name="Rounded Rectangle 9"/>
          <p:cNvSpPr/>
          <p:nvPr/>
        </p:nvSpPr>
        <p:spPr>
          <a:xfrm>
            <a:off x="4399178" y="2011680"/>
            <a:ext cx="3393338" cy="4069080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267712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02  Find a rhythm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743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"/>
              </a:rPr>
              <a:t>Simple daily routines</a:t>
            </a:r>
          </a:p>
        </p:txBody>
      </p:sp>
      <p:pic>
        <p:nvPicPr>
          <p:cNvPr id="13" name="Picture 12" descr="crop-rou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778" y="3429000"/>
            <a:ext cx="2936138" cy="2158061"/>
          </a:xfrm>
          <a:prstGeom prst="roundRect">
            <a:avLst>
              <a:gd name="adj" fmla="val 5442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8066836" y="2011680"/>
            <a:ext cx="3393338" cy="4069080"/>
          </a:xfrm>
          <a:prstGeom prst="roundRect">
            <a:avLst>
              <a:gd name="adj" fmla="val 5928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5436" y="2267712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03  Reach someone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74320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"/>
              </a:rPr>
              <a:t>Coffee Circles via Jitsi</a:t>
            </a:r>
          </a:p>
        </p:txBody>
      </p:sp>
      <p:pic>
        <p:nvPicPr>
          <p:cNvPr id="17" name="Picture 16" descr="phone-circ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850" y="3291840"/>
            <a:ext cx="1349745" cy="2651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04</a:t>
            </a:r>
          </a:p>
        </p:txBody>
      </p:sp>
      <p:pic>
        <p:nvPicPr>
          <p:cNvPr id="20" name="Picture 19" descr="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One calm app.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Five familiar places.</a:t>
            </a:r>
          </a:p>
        </p:txBody>
      </p:sp>
      <p:pic>
        <p:nvPicPr>
          <p:cNvPr id="6" name="Picture 5" descr="phon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965960" cy="38623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69212" y="1874519"/>
            <a:ext cx="12905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212" y="1874519"/>
            <a:ext cx="12905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OVERVIEW</a:t>
            </a:r>
          </a:p>
        </p:txBody>
      </p:sp>
      <p:pic>
        <p:nvPicPr>
          <p:cNvPr id="9" name="Picture 8" descr="phone-activ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193" y="2606040"/>
            <a:ext cx="1965960" cy="38623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40836" y="1874519"/>
            <a:ext cx="13286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0836" y="1874519"/>
            <a:ext cx="13286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ACTIVITIES</a:t>
            </a:r>
          </a:p>
        </p:txBody>
      </p:sp>
      <p:pic>
        <p:nvPicPr>
          <p:cNvPr id="12" name="Picture 11" descr="phone-circ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867" y="2331720"/>
            <a:ext cx="1965960" cy="38623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83860" y="1874519"/>
            <a:ext cx="1823973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83860" y="1874519"/>
            <a:ext cx="182397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COFFEE CIRCLES</a:t>
            </a:r>
          </a:p>
        </p:txBody>
      </p:sp>
      <p:pic>
        <p:nvPicPr>
          <p:cNvPr id="15" name="Picture 14" descr="phone-c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541" y="2606040"/>
            <a:ext cx="1965960" cy="38623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533284" y="1874519"/>
            <a:ext cx="15064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33284" y="1874519"/>
            <a:ext cx="15064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CARE CIRCLE</a:t>
            </a:r>
          </a:p>
        </p:txBody>
      </p:sp>
      <p:pic>
        <p:nvPicPr>
          <p:cNvPr id="18" name="Picture 17" descr="phone-vita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4215" y="2331720"/>
            <a:ext cx="1965960" cy="38623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981133" y="1874519"/>
            <a:ext cx="9921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81133" y="1874519"/>
            <a:ext cx="9921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VITALS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05</a:t>
            </a:r>
          </a:p>
        </p:txBody>
      </p:sp>
      <p:pic>
        <p:nvPicPr>
          <p:cNvPr id="23" name="Picture 22" descr="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Let’s see it.</a:t>
            </a:r>
          </a:p>
        </p:txBody>
      </p:sp>
      <p:pic>
        <p:nvPicPr>
          <p:cNvPr id="6" name="Picture 5" descr="web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83080"/>
            <a:ext cx="6766560" cy="4819916"/>
          </a:xfrm>
          <a:prstGeom prst="rect">
            <a:avLst/>
          </a:prstGeom>
        </p:spPr>
      </p:pic>
      <p:pic>
        <p:nvPicPr>
          <p:cNvPr id="7" name="Picture 6" descr="phone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57400"/>
            <a:ext cx="230387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2520" y="1874519"/>
            <a:ext cx="2727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SIX SHOTS · ONE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860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Mood check-in &amp; routine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79806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98064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Reminder → Taken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310128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Pair a sensor · export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822191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822191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Pattern Recall · 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33425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334256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Join a Coffee Circle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8463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46320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Build the visit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5532120"/>
            <a:ext cx="26113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32520" y="5532120"/>
            <a:ext cx="26113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spc="100">
                <a:solidFill>
                  <a:srgbClr val="06E288"/>
                </a:solidFill>
                <a:latin typeface="Plus Jakarta Sans"/>
              </a:rPr>
              <a:t>REAL WEB APP · SAMPLE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06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push dir="l"/>
      </p:transition>
    </mc:Choice>
    <mc:Fallback>
      <p:transition spd="med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Four rules,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written into the code.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3317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060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328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Never fabricate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5786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every reading labeled where it is born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596896"/>
            <a:ext cx="229209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2596896"/>
            <a:ext cx="229209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'LIVE_BLE' : 'SIMULATED'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2461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5204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472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Nothing sent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4930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93A4C7"/>
                </a:solidFill>
                <a:latin typeface="Plus Jakarta Sans"/>
              </a:rPr>
              <a:t>a person always taps Send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511296"/>
            <a:ext cx="270484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40" y="3511296"/>
            <a:ext cx="270484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navigator.share() · ShareLink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1605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434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616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Calm by default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44074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no timers, scores or auto-advance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425696"/>
            <a:ext cx="187934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4425696"/>
            <a:ext cx="187934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Untimed · No scores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0749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49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760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Private by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53218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93A4C7"/>
                </a:solidFill>
                <a:latin typeface="Plus Jakarta Sans"/>
              </a:rPr>
              <a:t>no account, no server, encrypted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5340096"/>
            <a:ext cx="2126996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5340096"/>
            <a:ext cx="212699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'AES-GCM', length: 256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59893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07</a:t>
            </a:r>
          </a:p>
        </p:txBody>
      </p:sp>
      <p:pic>
        <p:nvPicPr>
          <p:cNvPr id="33" name="Picture 32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34" name="TextBox 33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WHO IT’S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Built for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three people</a:t>
            </a:r>
            <a:r>
              <a:rPr sz="3800" b="0">
                <a:solidFill>
                  <a:srgbClr val="FFFFFF"/>
                </a:solidFill>
                <a:latin typeface="Plus Jakarta Sans ExtraBold"/>
              </a:rPr>
              <a:t> at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Older adults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routines, reminders, real company</a:t>
            </a:r>
          </a:p>
        </p:txBody>
      </p:sp>
      <p:pic>
        <p:nvPicPr>
          <p:cNvPr id="9" name="Picture 8" descr="phone-overview.png"/>
          <p:cNvPicPr>
            <a:picLocks noChangeAspect="1"/>
          </p:cNvPicPr>
          <p:nvPr/>
        </p:nvPicPr>
        <p:blipFill>
          <a:blip r:embed="rId3"/>
          <a:srcRect b="50025"/>
          <a:stretch>
            <a:fillRect/>
          </a:stretch>
        </p:blipFill>
        <p:spPr>
          <a:xfrm>
            <a:off x="1155649" y="3611880"/>
            <a:ext cx="251460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14418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34458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Autistic teens &amp; adults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predictable, untimed, sensory-calm</a:t>
            </a:r>
          </a:p>
        </p:txBody>
      </p:sp>
      <p:pic>
        <p:nvPicPr>
          <p:cNvPr id="13" name="Picture 12" descr="phone-activities.png"/>
          <p:cNvPicPr>
            <a:picLocks noChangeAspect="1"/>
          </p:cNvPicPr>
          <p:nvPr/>
        </p:nvPicPr>
        <p:blipFill>
          <a:blip r:embed="rId4"/>
          <a:srcRect b="50025"/>
          <a:stretch>
            <a:fillRect/>
          </a:stretch>
        </p:blipFill>
        <p:spPr>
          <a:xfrm>
            <a:off x="4838547" y="3611880"/>
            <a:ext cx="2514600" cy="2468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97316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7356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Family caregivers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notes and a brief they can trust</a:t>
            </a:r>
          </a:p>
        </p:txBody>
      </p:sp>
      <p:pic>
        <p:nvPicPr>
          <p:cNvPr id="17" name="Picture 16" descr="phone-visitbrief.png"/>
          <p:cNvPicPr>
            <a:picLocks noChangeAspect="1"/>
          </p:cNvPicPr>
          <p:nvPr/>
        </p:nvPicPr>
        <p:blipFill>
          <a:blip r:embed="rId5"/>
          <a:srcRect b="50025"/>
          <a:stretch>
            <a:fillRect/>
          </a:stretch>
        </p:blipFill>
        <p:spPr>
          <a:xfrm>
            <a:off x="8521446" y="3611880"/>
            <a:ext cx="251460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08</a:t>
            </a:r>
          </a:p>
        </p:txBody>
      </p:sp>
      <p:pic>
        <p:nvPicPr>
          <p:cNvPr id="20" name="Picture 19" descr="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Local care data.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You choose what to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6675120" cy="3794760"/>
          </a:xfrm>
          <a:prstGeom prst="roundRect">
            <a:avLst>
              <a:gd name="adj" fmla="val 10843"/>
            </a:avLst>
          </a:prstGeom>
          <a:solidFill>
            <a:srgbClr val="0A1324">
              <a:alpha val="35000"/>
            </a:srgbClr>
          </a:solidFill>
          <a:ln w="19050">
            <a:solidFill>
              <a:srgbClr val="06E288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1538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538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spc="100">
                <a:solidFill>
                  <a:srgbClr val="06E288"/>
                </a:solidFill>
                <a:latin typeface="Plus Jakarta Sans"/>
              </a:rPr>
              <a:t>ON THE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5272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BLE 0x180D · HealthKit, read-only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420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2536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Health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536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Qwen2.5-1.5B · llama.cpp, offline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684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9800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Plus Jakarta Sans"/>
              </a:rPr>
              <a:t>Encrypted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AES-256-GCM · Face ID 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272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Web Audio · untimed, unscored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420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2536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Visit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536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fields you pick · exact preview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684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9800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Coffee Circles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800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links to real Jitsi 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28600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EXTERNAL CONNECTIONS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299008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269748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Calls &amp; 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4495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Jitsi calls and online reference requests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06640" y="385876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09560" y="356616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A visit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91363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only when you choose to 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52628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CARESPHERE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care backends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trackers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09</a:t>
            </a:r>
          </a:p>
        </p:txBody>
      </p:sp>
      <p:pic>
        <p:nvPicPr>
          <p:cNvPr id="43" name="Picture 42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4" name="TextBox 43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HOW IT’S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Two clients.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Local-first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Web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9013" y="2615184"/>
            <a:ext cx="13667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49013" y="2615184"/>
            <a:ext cx="13667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154680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React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6196" y="3154680"/>
            <a:ext cx="736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76196" y="3154680"/>
            <a:ext cx="736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Vite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3982" y="3154680"/>
            <a:ext cx="10665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03982" y="3154680"/>
            <a:ext cx="10665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Tailwind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1968" y="3154680"/>
            <a:ext cx="14602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61968" y="3154680"/>
            <a:ext cx="14602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Bluetooth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557016"/>
            <a:ext cx="11490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3557016"/>
            <a:ext cx="11490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Audio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92096" y="3557016"/>
            <a:ext cx="1244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292096" y="3557016"/>
            <a:ext cx="1244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Crypto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27882" y="3557016"/>
            <a:ext cx="14792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27882" y="3557016"/>
            <a:ext cx="14792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installable PWA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75907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iPhone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36911" y="2615184"/>
            <a:ext cx="903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36911" y="2615184"/>
            <a:ext cx="903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SWIFT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5907" y="3154680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75907" y="3154680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SwiftUI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7043" y="3154680"/>
            <a:ext cx="10157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37043" y="3154680"/>
            <a:ext cx="10157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HealthKit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4229" y="31546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44229" y="3154680"/>
            <a:ext cx="1453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CoreBluetooth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5907" y="3557016"/>
            <a:ext cx="1060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75907" y="3557016"/>
            <a:ext cx="1060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CryptoKit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7543" y="3557016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27543" y="3557016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Face 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8679" y="3557016"/>
            <a:ext cx="1072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88679" y="3557016"/>
            <a:ext cx="1072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llama.cpp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75907" y="3959352"/>
            <a:ext cx="14221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75907" y="3959352"/>
            <a:ext cx="14221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Sherpa-ONNX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9493" y="3959352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89493" y="3959352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Jitsi SDK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05840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11,400+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lines of code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82263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756583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17 / 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6583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tests passing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3007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07327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07327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CI pipelines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3751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258071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8071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public releases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10</a:t>
            </a:r>
          </a:p>
        </p:txBody>
      </p:sp>
      <p:pic>
        <p:nvPicPr>
          <p:cNvPr id="58" name="Picture 57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59" name="TextBox 58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HARDEST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Making Bluetooth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D7E0F2"/>
                </a:solidFill>
                <a:latin typeface="Plus Jakarta Sans"/>
              </a:rPr>
              <a:t>Heart-rate notifications arrive late and out of order — a stale sensor could repaint a new card with a wrong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564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1071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Parse the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947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service 0x180D · flags byte → 8/16-bit BPM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251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7939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Label at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634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each sample is born LIVE or SIMULATED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937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4807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Drop stale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321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a generation counter ignores old pairings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5059375" cy="3200400"/>
          </a:xfrm>
          <a:prstGeom prst="roundRect">
            <a:avLst>
              <a:gd name="adj" fmla="val 6285"/>
            </a:avLst>
          </a:prstGeom>
          <a:solidFill>
            <a:srgbClr val="0A1324">
              <a:alpha val="7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0" y="2267712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6E288"/>
                </a:solidFill>
                <a:latin typeface="JetBrains Mono"/>
              </a:rPr>
              <a:t>src/lib/bluetooth.js  </a:t>
            </a:r>
            <a:r>
              <a:rPr sz="1100" b="0">
                <a:solidFill>
                  <a:srgbClr val="93A4C7"/>
                </a:solidFill>
                <a:latin typeface="JetBrains Mono"/>
              </a:rPr>
              <a:t>·  src/App.jsx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33472"/>
            <a:ext cx="4327855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flags = dv.getUint8(0)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bpm = flags &amp; 0x1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? dv.getUint16(1, true)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: dv.getUint8(1)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(bpm &gt; 20 &amp;&amp; bpm &lt; 250) onReading(bpm)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source 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hrModeRef.current === 'live'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? 'LIVE_BLE' : 'SIMULATED'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(generation !==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hrConnectionGenerationRef.current)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return</a:t>
            </a:r>
          </a:p>
        </p:txBody>
      </p:sp>
      <p:pic>
        <p:nvPicPr>
          <p:cNvPr id="19" name="Picture 18" descr="crop-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975" y="4846320"/>
            <a:ext cx="2743200" cy="1664255"/>
          </a:xfrm>
          <a:prstGeom prst="roundRect">
            <a:avLst>
              <a:gd name="adj" fmla="val 6593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11</a:t>
            </a:r>
          </a:p>
        </p:txBody>
      </p:sp>
      <p:pic>
        <p:nvPicPr>
          <p:cNvPr id="22" name="Picture 21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WHERE IT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Built. Tested.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Ready for co-design.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246120"/>
            <a:ext cx="6718810" cy="0"/>
          </a:xfrm>
          <a:prstGeom prst="line">
            <a:avLst/>
          </a:prstGeom>
          <a:ln w="25400">
            <a:solidFill>
              <a:srgbClr val="06E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24650" y="3246120"/>
            <a:ext cx="3461205" cy="0"/>
          </a:xfrm>
          <a:prstGeom prst="line">
            <a:avLst/>
          </a:prstGeom>
          <a:ln w="15875">
            <a:solidFill>
              <a:srgbClr val="FFFFFF">
                <a:alpha val="3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25641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5443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65245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5046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4848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465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6803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6406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601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Oct 14</a:t>
            </a:r>
          </a:p>
        </p:txBody>
      </p:sp>
      <p:sp>
        <p:nvSpPr>
          <p:cNvPr id="19" name="Oval 18"/>
          <p:cNvSpPr/>
          <p:nvPr/>
        </p:nvSpPr>
        <p:spPr>
          <a:xfrm>
            <a:off x="90525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First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repo created</a:t>
            </a:r>
          </a:p>
        </p:txBody>
      </p:sp>
      <p:sp>
        <p:nvSpPr>
          <p:cNvPr id="22" name="Oval 21"/>
          <p:cNvSpPr/>
          <p:nvPr/>
        </p:nvSpPr>
        <p:spPr>
          <a:xfrm>
            <a:off x="186508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27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v1.0 + v2.0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27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first public releases</a:t>
            </a:r>
          </a:p>
        </p:txBody>
      </p:sp>
      <p:sp>
        <p:nvSpPr>
          <p:cNvPr id="25" name="Oval 24"/>
          <p:cNvSpPr/>
          <p:nvPr/>
        </p:nvSpPr>
        <p:spPr>
          <a:xfrm>
            <a:off x="5064519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250703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0703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release · Sep 28</a:t>
            </a:r>
          </a:p>
        </p:txBody>
      </p:sp>
      <p:sp>
        <p:nvSpPr>
          <p:cNvPr id="28" name="Oval 27"/>
          <p:cNvSpPr/>
          <p:nvPr/>
        </p:nvSpPr>
        <p:spPr>
          <a:xfrm>
            <a:off x="762406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1025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025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iOS + web, building in CI</a:t>
            </a:r>
          </a:p>
        </p:txBody>
      </p:sp>
      <p:sp>
        <p:nvSpPr>
          <p:cNvPr id="31" name="Oval 30"/>
          <p:cNvSpPr/>
          <p:nvPr/>
        </p:nvSpPr>
        <p:spPr>
          <a:xfrm>
            <a:off x="11094415" y="3154679"/>
            <a:ext cx="182880" cy="182880"/>
          </a:xfrm>
          <a:prstGeom prst="ellipse">
            <a:avLst/>
          </a:prstGeom>
          <a:solidFill>
            <a:srgbClr val="0A1324"/>
          </a:solidFill>
          <a:ln w="15875">
            <a:solidFill>
              <a:srgbClr val="06E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905695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6E288"/>
                </a:solidFill>
                <a:latin typeface="Plus Jakarta Sans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co-design → TestFlight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12700">
            <a:solidFill>
              <a:srgbClr val="06E2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5840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06E288"/>
                </a:solidFill>
                <a:latin typeface="Plus Jakarta Sans"/>
              </a:rPr>
              <a:t>NEXT · V2.0 OF THIS ENTRY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Co-design sessions with autistic people, people living with dementia and caregivers; TestFlight beta.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99178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73498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THEN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3498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Apple Health and Bluetooth history in the visit brief, with true source labels · non-diagnostic trends only from real readings.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6836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41156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DELIBERATELY NOT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Cloud sync, a clinician portal or a drug-interaction checker — not without clinical review.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415" y="64739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93A4C7"/>
                </a:solidFill>
                <a:latin typeface="Plus Jakarta Sans"/>
              </a:rPr>
              <a:t>REAL WEB-APP CAPTURES · SAMPLE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12</a:t>
            </a:r>
          </a:p>
        </p:txBody>
      </p:sp>
      <p:pic>
        <p:nvPicPr>
          <p:cNvPr id="45" name="Picture 44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6" name="TextBox 45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7" y="-3291840"/>
            <a:ext cx="8686800" cy="8686800"/>
          </a:xfrm>
          <a:prstGeom prst="rect">
            <a:avLst/>
          </a:prstGeom>
        </p:spPr>
      </p:pic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67" y="1143000"/>
            <a:ext cx="822960" cy="822960"/>
          </a:xfrm>
          <a:prstGeom prst="roundRect">
            <a:avLst>
              <a:gd name="adj" fmla="val 24444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731520" y="2240280"/>
            <a:ext cx="1072865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0" b="0">
                <a:solidFill>
                  <a:srgbClr val="FFFFFF"/>
                </a:solidFill>
                <a:latin typeface="Plus Jakarta Sans ExtraBold"/>
              </a:rPr>
              <a:t>Care that stays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291840"/>
            <a:ext cx="798545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7E0F2"/>
                </a:solidFill>
                <a:latin typeface="Plus Jakarta Sans"/>
              </a:rPr>
              <a:t>Connected, calm and local-first — with real readings or clearly labeled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4131" y="4206240"/>
            <a:ext cx="23065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034131" y="4206240"/>
            <a:ext cx="23065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EXPLORE THE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23585" y="4206240"/>
            <a:ext cx="17350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23585" y="4206240"/>
            <a:ext cx="17350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READ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1539" y="4206240"/>
            <a:ext cx="17160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41539" y="4206240"/>
            <a:ext cx="17160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BUILD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github.com/engineer2025-sudo/Care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Arnav Kochar  ·  CA-10  ·  kochar4646@gmail.com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5F7299"/>
                </a:solidFill>
                <a:latin typeface="Plus Jakarta Sans"/>
              </a:rPr>
              <a:t>Explore the source, build instructions and project documentation.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4295" y="685800"/>
            <a:ext cx="1325880" cy="1645920"/>
          </a:xfrm>
          <a:prstGeom prst="roundRect">
            <a:avLst>
              <a:gd name="adj" fmla="val 15172"/>
            </a:avLst>
          </a:prstGeom>
          <a:solidFill>
            <a:srgbClr val="0A1324">
              <a:alpha val="5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9743" y="841248"/>
            <a:ext cx="1014984" cy="1014984"/>
          </a:xfrm>
          <a:prstGeom prst="roundRect">
            <a:avLst>
              <a:gd name="adj" fmla="val 7207"/>
            </a:avLst>
          </a:prstGeom>
        </p:spPr>
      </p:pic>
      <p:sp>
        <p:nvSpPr>
          <p:cNvPr id="18" name="TextBox 17"/>
          <p:cNvSpPr txBox="1"/>
          <p:nvPr/>
        </p:nvSpPr>
        <p:spPr>
          <a:xfrm>
            <a:off x="10134295" y="1929384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spc="80">
                <a:solidFill>
                  <a:srgbClr val="5F7299"/>
                </a:solidFill>
                <a:latin typeface="Plus Jakarta Sans"/>
              </a:rPr>
              <a:t>scan for source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 thruBlk="1"/>
      </p:transition>
    </mc:Choice>
    <mc:Fallback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